
<file path=[Content_Types].xml><?xml version="1.0" encoding="utf-8"?>
<Types xmlns="http://schemas.openxmlformats.org/package/2006/content-types">
  <Default ContentType="application/xml" Extension="xml"/>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29.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31.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1.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31.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 id="286" r:id="rId35"/>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36" roundtripDataSignature="AMtx7mjBbEr1+XDvCwTEl4X8e6AQP0ciIg=="/>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22" Type="http://schemas.openxmlformats.org/officeDocument/2006/relationships/slide" Target="slides/slide18.xml"/><Relationship Id="rId21" Type="http://schemas.openxmlformats.org/officeDocument/2006/relationships/slide" Target="slides/slide17.xml"/><Relationship Id="rId24" Type="http://schemas.openxmlformats.org/officeDocument/2006/relationships/slide" Target="slides/slide20.xml"/><Relationship Id="rId23" Type="http://schemas.openxmlformats.org/officeDocument/2006/relationships/slide" Target="slides/slide19.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26" Type="http://schemas.openxmlformats.org/officeDocument/2006/relationships/slide" Target="slides/slide22.xml"/><Relationship Id="rId25" Type="http://schemas.openxmlformats.org/officeDocument/2006/relationships/slide" Target="slides/slide21.xml"/><Relationship Id="rId28" Type="http://schemas.openxmlformats.org/officeDocument/2006/relationships/slide" Target="slides/slide24.xml"/><Relationship Id="rId27" Type="http://schemas.openxmlformats.org/officeDocument/2006/relationships/slide" Target="slides/slide23.xml"/><Relationship Id="rId5" Type="http://schemas.openxmlformats.org/officeDocument/2006/relationships/slide" Target="slides/slide1.xml"/><Relationship Id="rId6" Type="http://schemas.openxmlformats.org/officeDocument/2006/relationships/slide" Target="slides/slide2.xml"/><Relationship Id="rId29" Type="http://schemas.openxmlformats.org/officeDocument/2006/relationships/slide" Target="slides/slide25.xml"/><Relationship Id="rId7" Type="http://schemas.openxmlformats.org/officeDocument/2006/relationships/slide" Target="slides/slide3.xml"/><Relationship Id="rId8" Type="http://schemas.openxmlformats.org/officeDocument/2006/relationships/slide" Target="slides/slide4.xml"/><Relationship Id="rId31" Type="http://schemas.openxmlformats.org/officeDocument/2006/relationships/slide" Target="slides/slide27.xml"/><Relationship Id="rId30" Type="http://schemas.openxmlformats.org/officeDocument/2006/relationships/slide" Target="slides/slide26.xml"/><Relationship Id="rId11" Type="http://schemas.openxmlformats.org/officeDocument/2006/relationships/slide" Target="slides/slide7.xml"/><Relationship Id="rId33" Type="http://schemas.openxmlformats.org/officeDocument/2006/relationships/slide" Target="slides/slide29.xml"/><Relationship Id="rId10" Type="http://schemas.openxmlformats.org/officeDocument/2006/relationships/slide" Target="slides/slide6.xml"/><Relationship Id="rId32" Type="http://schemas.openxmlformats.org/officeDocument/2006/relationships/slide" Target="slides/slide28.xml"/><Relationship Id="rId13" Type="http://schemas.openxmlformats.org/officeDocument/2006/relationships/slide" Target="slides/slide9.xml"/><Relationship Id="rId35" Type="http://schemas.openxmlformats.org/officeDocument/2006/relationships/slide" Target="slides/slide31.xml"/><Relationship Id="rId12" Type="http://schemas.openxmlformats.org/officeDocument/2006/relationships/slide" Target="slides/slide8.xml"/><Relationship Id="rId34" Type="http://schemas.openxmlformats.org/officeDocument/2006/relationships/slide" Target="slides/slide30.xml"/><Relationship Id="rId15" Type="http://schemas.openxmlformats.org/officeDocument/2006/relationships/slide" Target="slides/slide11.xml"/><Relationship Id="rId14" Type="http://schemas.openxmlformats.org/officeDocument/2006/relationships/slide" Target="slides/slide10.xml"/><Relationship Id="rId36" Type="http://customschemas.google.com/relationships/presentationmetadata" Target="metadata"/><Relationship Id="rId17" Type="http://schemas.openxmlformats.org/officeDocument/2006/relationships/slide" Target="slides/slide13.xml"/><Relationship Id="rId16" Type="http://schemas.openxmlformats.org/officeDocument/2006/relationships/slide" Target="slides/slide12.xml"/><Relationship Id="rId19" Type="http://schemas.openxmlformats.org/officeDocument/2006/relationships/slide" Target="slides/slide15.xml"/><Relationship Id="rId18"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4" name="Google Shape;4;n"/>
          <p:cNvSpPr txBox="1"/>
          <p:nvPr>
            <p:ph idx="10" type="dt"/>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5" name="Google Shape;5;n"/>
          <p:cNvSpPr/>
          <p:nvPr>
            <p:ph idx="3"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 name="Google Shape;6;n"/>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lvl1pPr>
            <a:lvl2pPr indent="-228600" lvl="1" marL="914400">
              <a:spcBef>
                <a:spcPts val="0"/>
              </a:spcBef>
              <a:spcAft>
                <a:spcPts val="0"/>
              </a:spcAft>
              <a:buSzPts val="1400"/>
              <a:buNone/>
              <a:defRPr sz="1800"/>
            </a:lvl2pPr>
            <a:lvl3pPr indent="-228600" lvl="2" marL="1371600">
              <a:spcBef>
                <a:spcPts val="0"/>
              </a:spcBef>
              <a:spcAft>
                <a:spcPts val="0"/>
              </a:spcAft>
              <a:buSzPts val="1400"/>
              <a:buNone/>
              <a:defRPr sz="1800"/>
            </a:lvl3pPr>
            <a:lvl4pPr indent="-228600" lvl="3" marL="1828800">
              <a:spcBef>
                <a:spcPts val="0"/>
              </a:spcBef>
              <a:spcAft>
                <a:spcPts val="0"/>
              </a:spcAft>
              <a:buSzPts val="1400"/>
              <a:buNone/>
              <a:defRPr sz="1800"/>
            </a:lvl4pPr>
            <a:lvl5pPr indent="-228600" lvl="4" marL="2286000">
              <a:spcBef>
                <a:spcPts val="0"/>
              </a:spcBef>
              <a:spcAft>
                <a:spcPts val="0"/>
              </a:spcAft>
              <a:buSzPts val="1400"/>
              <a:buNone/>
              <a:defRPr sz="1800"/>
            </a:lvl5pPr>
            <a:lvl6pPr indent="-228600" lvl="5" marL="2743200">
              <a:spcBef>
                <a:spcPts val="0"/>
              </a:spcBef>
              <a:spcAft>
                <a:spcPts val="0"/>
              </a:spcAft>
              <a:buSzPts val="1400"/>
              <a:buNone/>
              <a:defRPr sz="1800"/>
            </a:lvl6pPr>
            <a:lvl7pPr indent="-228600" lvl="6" marL="3200400">
              <a:spcBef>
                <a:spcPts val="0"/>
              </a:spcBef>
              <a:spcAft>
                <a:spcPts val="0"/>
              </a:spcAft>
              <a:buSzPts val="1400"/>
              <a:buNone/>
              <a:defRPr sz="1800"/>
            </a:lvl7pPr>
            <a:lvl8pPr indent="-228600" lvl="7" marL="3657600">
              <a:spcBef>
                <a:spcPts val="0"/>
              </a:spcBef>
              <a:spcAft>
                <a:spcPts val="0"/>
              </a:spcAft>
              <a:buSzPts val="1400"/>
              <a:buNone/>
              <a:defRPr sz="1800"/>
            </a:lvl8pPr>
            <a:lvl9pPr indent="-228600" lvl="8" marL="4114800">
              <a:spcBef>
                <a:spcPts val="0"/>
              </a:spcBef>
              <a:spcAft>
                <a:spcPts val="0"/>
              </a:spcAft>
              <a:buSzPts val="1400"/>
              <a:buNone/>
              <a:defRPr sz="1800"/>
            </a:lvl9pPr>
          </a:lstStyle>
          <a:p/>
        </p:txBody>
      </p:sp>
      <p:sp>
        <p:nvSpPr>
          <p:cNvPr id="7" name="Google Shape;7;n"/>
          <p:cNvSpPr txBox="1"/>
          <p:nvPr>
            <p:ph idx="11" type="ftr"/>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8" name="Google Shape;8;n"/>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 name="Shape 11"/>
        <p:cNvGrpSpPr/>
        <p:nvPr/>
      </p:nvGrpSpPr>
      <p:grpSpPr>
        <a:xfrm>
          <a:off x="0" y="0"/>
          <a:ext cx="0" cy="0"/>
          <a:chOff x="0" y="0"/>
          <a:chExt cx="0" cy="0"/>
        </a:xfrm>
      </p:grpSpPr>
      <p:sp>
        <p:nvSpPr>
          <p:cNvPr id="12" name="Google Shape;12;p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3" name="Google Shape;13;p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t>PRD Orchestrator is a governed multi-agent system that transforms fragmented stakeholder evidence into a validated PRD, delivery hierarchy, and story-sizing guidance—while preserving human approval and source traceability.</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en-US" sz="1200"/>
              <a:t>[Sources]</a:t>
            </a:r>
            <a:endParaRPr/>
          </a:p>
          <a:p>
            <a:pPr indent="0" lvl="0" marL="0" rtl="0" algn="l">
              <a:spcBef>
                <a:spcPts val="0"/>
              </a:spcBef>
              <a:spcAft>
                <a:spcPts val="0"/>
              </a:spcAft>
              <a:buNone/>
            </a:pPr>
            <a:r>
              <a:rPr lang="en-US" sz="1200"/>
              <a:t>- Internal project evidence: https://vjra.us/prd-genie-vp.html#q3-build-architecture</a:t>
            </a:r>
            <a:endParaRPr/>
          </a:p>
        </p:txBody>
      </p:sp>
      <p:sp>
        <p:nvSpPr>
          <p:cNvPr id="14" name="Google Shape;14;p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 name="Shape 36"/>
        <p:cNvGrpSpPr/>
        <p:nvPr/>
      </p:nvGrpSpPr>
      <p:grpSpPr>
        <a:xfrm>
          <a:off x="0" y="0"/>
          <a:ext cx="0" cy="0"/>
          <a:chOff x="0" y="0"/>
          <a:chExt cx="0" cy="0"/>
        </a:xfrm>
      </p:grpSpPr>
      <p:sp>
        <p:nvSpPr>
          <p:cNvPr id="37" name="Google Shape;37;p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8" name="Google Shape;38;p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t>Product teams currently spend substantial time reconciling fragmented evidence into consistent PRDs and delivery backlogs.</a:t>
            </a:r>
            <a:endParaRPr/>
          </a:p>
          <a:p>
            <a:pPr indent="0" lvl="0" marL="0" rtl="0" algn="l">
              <a:spcBef>
                <a:spcPts val="0"/>
              </a:spcBef>
              <a:spcAft>
                <a:spcPts val="0"/>
              </a:spcAft>
              <a:buNone/>
            </a:pPr>
            <a:r>
              <a:rPr lang="en-US" sz="1200"/>
              <a:t>PRD Orchestrator replaces that manual translation path with nine coordinated workflows while preserving human approval and source lineage.</a:t>
            </a:r>
            <a:endParaRPr/>
          </a:p>
          <a:p>
            <a:pPr indent="0" lvl="0" marL="0" rtl="0" algn="l">
              <a:spcBef>
                <a:spcPts val="0"/>
              </a:spcBef>
              <a:spcAft>
                <a:spcPts val="0"/>
              </a:spcAft>
              <a:buNone/>
            </a:pPr>
            <a:r>
              <a:rPr lang="en-US" sz="1200"/>
              <a:t>The accepted v0.3.8 candidate produced a corrected PRD, a dynamic 3/7/11 delivery hierarchy, complete story sizing, zero orphaned governed records, and seven validated artifacts.</a:t>
            </a:r>
            <a:endParaRPr/>
          </a:p>
          <a:p>
            <a:pPr indent="0" lvl="0" marL="0" rtl="0" algn="l">
              <a:spcBef>
                <a:spcPts val="0"/>
              </a:spcBef>
              <a:spcAft>
                <a:spcPts val="0"/>
              </a:spcAft>
              <a:buNone/>
            </a:pPr>
            <a:r>
              <a:rPr lang="en-US" sz="1200"/>
              <a:t>The Agreement Gate authorized release only after the evidence contracts reconciled.</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en-US" sz="1200"/>
              <a:t>Sources:</a:t>
            </a:r>
            <a:endParaRPr/>
          </a:p>
          <a:p>
            <a:pPr indent="0" lvl="0" marL="0" rtl="0" algn="l">
              <a:spcBef>
                <a:spcPts val="0"/>
              </a:spcBef>
              <a:spcAft>
                <a:spcPts val="0"/>
              </a:spcAft>
              <a:buNone/>
            </a:pPr>
            <a:r>
              <a:rPr lang="en-US" sz="1200"/>
              <a:t>- PRD Orchestrator v0.3.8 accepted-run evidence and Q3 submission content: https://vjra.us/prd-genie-vp.html</a:t>
            </a:r>
            <a:endParaRPr/>
          </a:p>
        </p:txBody>
      </p:sp>
      <p:sp>
        <p:nvSpPr>
          <p:cNvPr id="39" name="Google Shape;39;p2: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 name="Shape 60"/>
        <p:cNvGrpSpPr/>
        <p:nvPr/>
      </p:nvGrpSpPr>
      <p:grpSpPr>
        <a:xfrm>
          <a:off x="0" y="0"/>
          <a:ext cx="0" cy="0"/>
          <a:chOff x="0" y="0"/>
          <a:chExt cx="0" cy="0"/>
        </a:xfrm>
      </p:grpSpPr>
      <p:sp>
        <p:nvSpPr>
          <p:cNvPr id="61" name="Google Shape;61;p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2" name="Google Shape;62;p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t>NeuronForge's product-documentation process begins with fragmented evidence spread across interviews, briefs, notes, and stakeholder decisions.</a:t>
            </a:r>
            <a:endParaRPr/>
          </a:p>
          <a:p>
            <a:pPr indent="0" lvl="0" marL="0" rtl="0" algn="l">
              <a:spcBef>
                <a:spcPts val="0"/>
              </a:spcBef>
              <a:spcAft>
                <a:spcPts val="0"/>
              </a:spcAft>
              <a:buNone/>
            </a:pPr>
            <a:r>
              <a:rPr lang="en-US" sz="1200"/>
              <a:t>Product managers manually reconcile and interpret that material before drafting the PRD and delivery backlog.</a:t>
            </a:r>
            <a:endParaRPr/>
          </a:p>
          <a:p>
            <a:pPr indent="0" lvl="0" marL="0" rtl="0" algn="l">
              <a:spcBef>
                <a:spcPts val="0"/>
              </a:spcBef>
              <a:spcAft>
                <a:spcPts val="0"/>
              </a:spcAft>
              <a:buNone/>
            </a:pPr>
            <a:r>
              <a:rPr lang="en-US" sz="1200"/>
              <a:t>The process creates repeated clarification, inconsistent interpretation, and weak lineage between sources, requirements, and stories.</a:t>
            </a:r>
            <a:endParaRPr/>
          </a:p>
          <a:p>
            <a:pPr indent="0" lvl="0" marL="0" rtl="0" algn="l">
              <a:spcBef>
                <a:spcPts val="0"/>
              </a:spcBef>
              <a:spcAft>
                <a:spcPts val="0"/>
              </a:spcAft>
              <a:buNone/>
            </a:pPr>
            <a:r>
              <a:rPr lang="en-US" sz="1200"/>
              <a:t>The business consequence is slower planning, more rework, unsupported scope, and lower confidence for engineering and delivery teams.</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en-US" sz="1200"/>
              <a:t>Sources:</a:t>
            </a:r>
            <a:endParaRPr/>
          </a:p>
          <a:p>
            <a:pPr indent="0" lvl="0" marL="0" rtl="0" algn="l">
              <a:spcBef>
                <a:spcPts val="0"/>
              </a:spcBef>
              <a:spcAft>
                <a:spcPts val="0"/>
              </a:spcAft>
              <a:buNone/>
            </a:pPr>
            <a:r>
              <a:rPr lang="en-US" sz="1200"/>
              <a:t>- Q1 Ideation and problem-statement content, PRD Orchestrator submission package.</a:t>
            </a:r>
            <a:endParaRPr/>
          </a:p>
          <a:p>
            <a:pPr indent="0" lvl="0" marL="0" rtl="0" algn="l">
              <a:spcBef>
                <a:spcPts val="0"/>
              </a:spcBef>
              <a:spcAft>
                <a:spcPts val="0"/>
              </a:spcAft>
              <a:buNone/>
            </a:pPr>
            <a:r>
              <a:rPr lang="en-US" sz="1200"/>
              <a:t>- PRD Orchestrator overview: https://vjra.us/prd-genie-vp.html</a:t>
            </a:r>
            <a:endParaRPr/>
          </a:p>
        </p:txBody>
      </p:sp>
      <p:sp>
        <p:nvSpPr>
          <p:cNvPr id="63" name="Google Shape;63;p3: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9" name="Google Shape;99;p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t>This mapping shows that each manual pain point has a specific governed capability rather than a single unrestricted generation step.</a:t>
            </a:r>
            <a:endParaRPr/>
          </a:p>
          <a:p>
            <a:pPr indent="0" lvl="0" marL="0" rtl="0" algn="l">
              <a:spcBef>
                <a:spcPts val="0"/>
              </a:spcBef>
              <a:spcAft>
                <a:spcPts val="0"/>
              </a:spcAft>
              <a:buNone/>
            </a:pPr>
            <a:r>
              <a:rPr lang="en-US" sz="1200"/>
              <a:t>Drive intake establishes the evidence boundary. Extraction and gap analysis preserve citations and expose uncertainty. Human approval determines which evidence may proceed.</a:t>
            </a:r>
            <a:endParaRPr/>
          </a:p>
          <a:p>
            <a:pPr indent="0" lvl="0" marL="0" rtl="0" algn="l">
              <a:spcBef>
                <a:spcPts val="0"/>
              </a:spcBef>
              <a:spcAft>
                <a:spcPts val="0"/>
              </a:spcAft>
              <a:buNone/>
            </a:pPr>
            <a:r>
              <a:rPr lang="en-US" sz="1200"/>
              <a:t>The PRD and story agents generate planning artifacts from approved evidence, while the final validator reconciles IDs and acceptance criteria before export.</a:t>
            </a:r>
            <a:endParaRPr/>
          </a:p>
          <a:p>
            <a:pPr indent="0" lvl="0" marL="0" rtl="0" algn="l">
              <a:spcBef>
                <a:spcPts val="0"/>
              </a:spcBef>
              <a:spcAft>
                <a:spcPts val="0"/>
              </a:spcAft>
              <a:buNone/>
            </a:pPr>
            <a:r>
              <a:rPr lang="en-US" sz="1200"/>
              <a:t>Sizing remains a post-story, non-blocking planning aid. The central principle is that automation accelerates the work, but governance determines what may be delivered.</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en-US" sz="1200"/>
              <a:t>Sources:</a:t>
            </a:r>
            <a:endParaRPr/>
          </a:p>
          <a:p>
            <a:pPr indent="0" lvl="0" marL="0" rtl="0" algn="l">
              <a:spcBef>
                <a:spcPts val="0"/>
              </a:spcBef>
              <a:spcAft>
                <a:spcPts val="0"/>
              </a:spcAft>
              <a:buNone/>
            </a:pPr>
            <a:r>
              <a:rPr lang="en-US" sz="1200"/>
              <a:t>- Q1 Ideation: manual-step-to-agent-solution mapping, PRD Orchestrator submission package.</a:t>
            </a:r>
            <a:endParaRPr/>
          </a:p>
          <a:p>
            <a:pPr indent="0" lvl="0" marL="0" rtl="0" algn="l">
              <a:spcBef>
                <a:spcPts val="0"/>
              </a:spcBef>
              <a:spcAft>
                <a:spcPts val="0"/>
              </a:spcAft>
              <a:buNone/>
            </a:pPr>
            <a:r>
              <a:rPr lang="en-US" sz="1200"/>
              <a:t>- PRD Orchestrator v0.3.8 architecture and workflow inventory: https://vjra.us/prd-genie-vp.html</a:t>
            </a:r>
            <a:endParaRPr/>
          </a:p>
        </p:txBody>
      </p:sp>
      <p:sp>
        <p:nvSpPr>
          <p:cNvPr id="100" name="Google Shape;100;p4: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 name="Shape 150"/>
        <p:cNvGrpSpPr/>
        <p:nvPr/>
      </p:nvGrpSpPr>
      <p:grpSpPr>
        <a:xfrm>
          <a:off x="0" y="0"/>
          <a:ext cx="0" cy="0"/>
          <a:chOff x="0" y="0"/>
          <a:chExt cx="0" cy="0"/>
        </a:xfrm>
      </p:grpSpPr>
      <p:sp>
        <p:nvSpPr>
          <p:cNvPr id="151" name="Google Shape;151;p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52" name="Google Shape;152;p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t>The charter positions PRD Orchestrator as a controlled product-documentation program, not an autonomous decision maker.</a:t>
            </a:r>
            <a:endParaRPr/>
          </a:p>
          <a:p>
            <a:pPr indent="0" lvl="0" marL="0" rtl="0" algn="l">
              <a:spcBef>
                <a:spcPts val="0"/>
              </a:spcBef>
              <a:spcAft>
                <a:spcPts val="0"/>
              </a:spcAft>
              <a:buNone/>
            </a:pPr>
            <a:r>
              <a:rPr lang="en-US" sz="1200"/>
              <a:t>Its vision is to transform fragmented evidence into trusted planning artifacts while retaining visible human control.</a:t>
            </a:r>
            <a:endParaRPr/>
          </a:p>
          <a:p>
            <a:pPr indent="0" lvl="0" marL="0" rtl="0" algn="l">
              <a:spcBef>
                <a:spcPts val="0"/>
              </a:spcBef>
              <a:spcAft>
                <a:spcPts val="0"/>
              </a:spcAft>
              <a:buNone/>
            </a:pPr>
            <a:r>
              <a:rPr lang="en-US" sz="1200"/>
              <a:t>The three objectives are to reduce translation effort, preserve decision lineage, and increase delivery confidence through governed release controls.</a:t>
            </a:r>
            <a:endParaRPr/>
          </a:p>
          <a:p>
            <a:pPr indent="0" lvl="0" marL="0" rtl="0" algn="l">
              <a:spcBef>
                <a:spcPts val="0"/>
              </a:spcBef>
              <a:spcAft>
                <a:spcPts val="0"/>
              </a:spcAft>
              <a:buNone/>
            </a:pPr>
            <a:r>
              <a:rPr lang="en-US" sz="1200"/>
              <a:t>Success is measurable through complete ID reconciliation, zero orphaned delivery records, sizing coverage for all eleven stories, and three validated planning artifacts.</a:t>
            </a:r>
            <a:endParaRPr/>
          </a:p>
          <a:p>
            <a:pPr indent="0" lvl="0" marL="0" rtl="0" algn="l">
              <a:spcBef>
                <a:spcPts val="0"/>
              </a:spcBef>
              <a:spcAft>
                <a:spcPts val="0"/>
              </a:spcAft>
              <a:buNone/>
            </a:pPr>
            <a:r>
              <a:rPr lang="en-US" sz="1200"/>
              <a:t>The scope boundary is intentional: the system supports evidence processing and planning documentation, but it does not replace product ownership, make autonomous scope decisions, or convert sizing into delivery commitments.</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en-US" sz="1200"/>
              <a:t>Sources:</a:t>
            </a:r>
            <a:endParaRPr/>
          </a:p>
          <a:p>
            <a:pPr indent="0" lvl="0" marL="0" rtl="0" algn="l">
              <a:spcBef>
                <a:spcPts val="0"/>
              </a:spcBef>
              <a:spcAft>
                <a:spcPts val="0"/>
              </a:spcAft>
              <a:buNone/>
            </a:pPr>
            <a:r>
              <a:rPr lang="en-US" sz="1200"/>
              <a:t>- Q2 Program Charter, PRD Orchestrator submission package.</a:t>
            </a:r>
            <a:endParaRPr/>
          </a:p>
          <a:p>
            <a:pPr indent="0" lvl="0" marL="0" rtl="0" algn="l">
              <a:spcBef>
                <a:spcPts val="0"/>
              </a:spcBef>
              <a:spcAft>
                <a:spcPts val="0"/>
              </a:spcAft>
              <a:buNone/>
            </a:pPr>
            <a:r>
              <a:rPr lang="en-US" sz="1200"/>
              <a:t>- Accepted v0.3.8 run evidence: https://vjra.us/prd-genie-vp.html</a:t>
            </a:r>
            <a:endParaRPr/>
          </a:p>
        </p:txBody>
      </p:sp>
      <p:sp>
        <p:nvSpPr>
          <p:cNvPr id="153" name="Google Shape;153;p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3" name="Shape 193"/>
        <p:cNvGrpSpPr/>
        <p:nvPr/>
      </p:nvGrpSpPr>
      <p:grpSpPr>
        <a:xfrm>
          <a:off x="0" y="0"/>
          <a:ext cx="0" cy="0"/>
          <a:chOff x="0" y="0"/>
          <a:chExt cx="0" cy="0"/>
        </a:xfrm>
      </p:grpSpPr>
      <p:sp>
        <p:nvSpPr>
          <p:cNvPr id="194" name="Google Shape;194;p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95" name="Google Shape;195;p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t>The rollout plan is staged so governance grows with capability.</a:t>
            </a:r>
            <a:endParaRPr/>
          </a:p>
          <a:p>
            <a:pPr indent="0" lvl="0" marL="0" rtl="0" algn="l">
              <a:spcBef>
                <a:spcPts val="0"/>
              </a:spcBef>
              <a:spcAft>
                <a:spcPts val="0"/>
              </a:spcAft>
              <a:buNone/>
            </a:pPr>
            <a:r>
              <a:rPr lang="en-US" sz="1200"/>
              <a:t>Discovery establishes the evidence boundary and measurable outcomes. Build creates the specialized agents and their contracts. Validation uses T1 through T12, Langfuse evaluators, traceability checks, and controlled canaries.</a:t>
            </a:r>
            <a:endParaRPr/>
          </a:p>
          <a:p>
            <a:pPr indent="0" lvl="0" marL="0" rtl="0" algn="l">
              <a:spcBef>
                <a:spcPts val="0"/>
              </a:spcBef>
              <a:spcAft>
                <a:spcPts val="0"/>
              </a:spcAft>
              <a:buNone/>
            </a:pPr>
            <a:r>
              <a:rPr lang="en-US" sz="1200"/>
              <a:t>Operation begins with a manual production trigger and monitored promotion rather than unattended automation.</a:t>
            </a:r>
            <a:endParaRPr/>
          </a:p>
          <a:p>
            <a:pPr indent="0" lvl="0" marL="0" rtl="0" algn="l">
              <a:spcBef>
                <a:spcPts val="0"/>
              </a:spcBef>
              <a:spcAft>
                <a:spcPts val="0"/>
              </a:spcAft>
              <a:buNone/>
            </a:pPr>
            <a:r>
              <a:rPr lang="en-US" sz="1200"/>
              <a:t>Accountability remains distributed: the product owner controls scope and release; SMEs validate evidence; engineering tests artifact usability; and the workflow owner manages credentials, monitoring, and rollback.</a:t>
            </a:r>
            <a:endParaRPr/>
          </a:p>
          <a:p>
            <a:pPr indent="0" lvl="0" marL="0" rtl="0" algn="l">
              <a:spcBef>
                <a:spcPts val="0"/>
              </a:spcBef>
              <a:spcAft>
                <a:spcPts val="0"/>
              </a:spcAft>
              <a:buNone/>
            </a:pPr>
            <a:r>
              <a:rPr lang="en-US" sz="1200"/>
              <a:t>The primary risks—unsupported requirements, automation bias, regression, and evaluator cost—each have explicit controls.</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en-US" sz="1200"/>
              <a:t>Sources:</a:t>
            </a:r>
            <a:endParaRPr/>
          </a:p>
          <a:p>
            <a:pPr indent="0" lvl="0" marL="0" rtl="0" algn="l">
              <a:spcBef>
                <a:spcPts val="0"/>
              </a:spcBef>
              <a:spcAft>
                <a:spcPts val="0"/>
              </a:spcAft>
              <a:buNone/>
            </a:pPr>
            <a:r>
              <a:rPr lang="en-US" sz="1200"/>
              <a:t>- Q2 Program Charter: timeline, stakeholders, risk register, and rollout plan.</a:t>
            </a:r>
            <a:endParaRPr/>
          </a:p>
          <a:p>
            <a:pPr indent="0" lvl="0" marL="0" rtl="0" algn="l">
              <a:spcBef>
                <a:spcPts val="0"/>
              </a:spcBef>
              <a:spcAft>
                <a:spcPts val="0"/>
              </a:spcAft>
              <a:buNone/>
            </a:pPr>
            <a:r>
              <a:rPr lang="en-US" sz="1200"/>
              <a:t>- PRD Orchestrator v0.3.8 operating evidence: https://vjra.us/prd-genie-vp.html</a:t>
            </a:r>
            <a:endParaRPr/>
          </a:p>
        </p:txBody>
      </p:sp>
      <p:sp>
        <p:nvSpPr>
          <p:cNvPr id="196" name="Google Shape;196;p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1" name="Shape 251"/>
        <p:cNvGrpSpPr/>
        <p:nvPr/>
      </p:nvGrpSpPr>
      <p:grpSpPr>
        <a:xfrm>
          <a:off x="0" y="0"/>
          <a:ext cx="0" cy="0"/>
          <a:chOff x="0" y="0"/>
          <a:chExt cx="0" cy="0"/>
        </a:xfrm>
      </p:grpSpPr>
      <p:sp>
        <p:nvSpPr>
          <p:cNvPr id="252" name="Google Shape;252;p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53" name="Google Shape;253;p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t>This is the audience-facing view of the v0.3.8 architecture.</a:t>
            </a:r>
            <a:endParaRPr/>
          </a:p>
          <a:p>
            <a:pPr indent="0" lvl="0" marL="0" rtl="0" algn="l">
              <a:spcBef>
                <a:spcPts val="0"/>
              </a:spcBef>
              <a:spcAft>
                <a:spcPts val="0"/>
              </a:spcAft>
              <a:buNone/>
            </a:pPr>
            <a:r>
              <a:rPr lang="en-US" sz="1200"/>
              <a:t>Google Drive is the runtime source and output boundary. A manually triggered parent creates one run identity and dynamically invokes the governed workflow set by ID.</a:t>
            </a:r>
            <a:endParaRPr/>
          </a:p>
          <a:p>
            <a:pPr indent="0" lvl="0" marL="0" rtl="0" algn="l">
              <a:spcBef>
                <a:spcPts val="0"/>
              </a:spcBef>
              <a:spcAft>
                <a:spcPts val="0"/>
              </a:spcAft>
              <a:buNone/>
            </a:pPr>
            <a:r>
              <a:rPr lang="en-US" sz="1200"/>
              <a:t>The execution path moves through intake, extraction, gap analysis, human approval, PRD generation, story breakdown, and final validation and export. Story sizing follows Stage 7 as a non-blocking planning aid.</a:t>
            </a:r>
            <a:endParaRPr/>
          </a:p>
          <a:p>
            <a:pPr indent="0" lvl="0" marL="0" rtl="0" algn="l">
              <a:spcBef>
                <a:spcPts val="0"/>
              </a:spcBef>
              <a:spcAft>
                <a:spcPts val="0"/>
              </a:spcAft>
              <a:buNone/>
            </a:pPr>
            <a:r>
              <a:rPr lang="en-US" sz="1200"/>
              <a:t>GPT-5.6 Terra is the principal intelligence model for the reasoning-intensive stages. It was selected because this is a low-volume, high-consequence workflow that must reconcile evidence across documents, preserve uncertainty, and generate grounded planning artifacts.</a:t>
            </a:r>
            <a:endParaRPr/>
          </a:p>
          <a:p>
            <a:pPr indent="0" lvl="0" marL="0" rtl="0" algn="l">
              <a:spcBef>
                <a:spcPts val="0"/>
              </a:spcBef>
              <a:spcAft>
                <a:spcPts val="0"/>
              </a:spcAft>
              <a:buNone/>
            </a:pPr>
            <a:r>
              <a:rPr lang="en-US" sz="1200"/>
              <a:t>Langfuse supplies traces and evaluator evidence, while governance controls enforce citations, approval, reconciliation, release authorization, and rollback.</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en-US" sz="1200"/>
              <a:t>Sources:</a:t>
            </a:r>
            <a:endParaRPr/>
          </a:p>
          <a:p>
            <a:pPr indent="0" lvl="0" marL="0" rtl="0" algn="l">
              <a:spcBef>
                <a:spcPts val="0"/>
              </a:spcBef>
              <a:spcAft>
                <a:spcPts val="0"/>
              </a:spcAft>
              <a:buNone/>
            </a:pPr>
            <a:r>
              <a:rPr lang="en-US" sz="1200"/>
              <a:t>- Capstone Project Playbook, section 2.2: smarter models for complex reasoning and PRD generation.</a:t>
            </a:r>
            <a:endParaRPr/>
          </a:p>
          <a:p>
            <a:pPr indent="0" lvl="0" marL="0" rtl="0" algn="l">
              <a:spcBef>
                <a:spcPts val="0"/>
              </a:spcBef>
              <a:spcAft>
                <a:spcPts val="0"/>
              </a:spcAft>
              <a:buNone/>
            </a:pPr>
            <a:r>
              <a:rPr lang="en-US" sz="1200"/>
              <a:t>- PRD Orchestrator v0.3.8 system architecture: https://vjra.us/prd-genie-vp.html#architecture</a:t>
            </a:r>
            <a:endParaRPr/>
          </a:p>
        </p:txBody>
      </p:sp>
      <p:sp>
        <p:nvSpPr>
          <p:cNvPr id="254" name="Google Shape;254;p7: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8" name="Shape 318"/>
        <p:cNvGrpSpPr/>
        <p:nvPr/>
      </p:nvGrpSpPr>
      <p:grpSpPr>
        <a:xfrm>
          <a:off x="0" y="0"/>
          <a:ext cx="0" cy="0"/>
          <a:chOff x="0" y="0"/>
          <a:chExt cx="0" cy="0"/>
        </a:xfrm>
      </p:grpSpPr>
      <p:sp>
        <p:nvSpPr>
          <p:cNvPr id="319" name="Google Shape;319;p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20" name="Google Shape;320;p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t>This slide makes the responsibility boundary explicit across all nine workflows.</a:t>
            </a:r>
            <a:endParaRPr/>
          </a:p>
          <a:p>
            <a:pPr indent="0" lvl="0" marL="0" rtl="0" algn="l">
              <a:spcBef>
                <a:spcPts val="0"/>
              </a:spcBef>
              <a:spcAft>
                <a:spcPts val="0"/>
              </a:spcAft>
              <a:buNone/>
            </a:pPr>
            <a:r>
              <a:rPr lang="en-US" sz="1200"/>
              <a:t>GPT-5.6 Terra is used where semantic reasoning is material: requirement extraction, gap and conflict analysis, grounded PRD generation, story decomposition, and advisory sizing.</a:t>
            </a:r>
            <a:endParaRPr/>
          </a:p>
          <a:p>
            <a:pPr indent="0" lvl="0" marL="0" rtl="0" algn="l">
              <a:spcBef>
                <a:spcPts val="0"/>
              </a:spcBef>
              <a:spcAft>
                <a:spcPts val="0"/>
              </a:spcAft>
              <a:buNone/>
            </a:pPr>
            <a:r>
              <a:rPr lang="en-US" sz="1200"/>
              <a:t>The choice is deliberate. These stages must integrate evidence across six files, distinguish facts from ambiguity, preserve citations, and generate structured delivery content without unsupported invention.</a:t>
            </a:r>
            <a:endParaRPr/>
          </a:p>
          <a:p>
            <a:pPr indent="0" lvl="0" marL="0" rtl="0" algn="l">
              <a:spcBef>
                <a:spcPts val="0"/>
              </a:spcBef>
              <a:spcAft>
                <a:spcPts val="0"/>
              </a:spcAft>
              <a:buNone/>
            </a:pPr>
            <a:r>
              <a:rPr lang="en-US" sz="1200"/>
              <a:t>The model does not control release. n8n coordinates the run, deterministic code validates contracts, Human Approval authorizes business scope, and the Agreement Gate controls delivery.</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en-US" sz="1200"/>
              <a:t>Sources:</a:t>
            </a:r>
            <a:endParaRPr/>
          </a:p>
          <a:p>
            <a:pPr indent="0" lvl="0" marL="0" rtl="0" algn="l">
              <a:spcBef>
                <a:spcPts val="0"/>
              </a:spcBef>
              <a:spcAft>
                <a:spcPts val="0"/>
              </a:spcAft>
              <a:buNone/>
            </a:pPr>
            <a:r>
              <a:rPr lang="en-US" sz="1200"/>
              <a:t>- Capstone Project Playbook, section 2.2: model-selection rationale for complex reasoning and PRD generation.</a:t>
            </a:r>
            <a:endParaRPr/>
          </a:p>
          <a:p>
            <a:pPr indent="0" lvl="0" marL="0" rtl="0" algn="l">
              <a:spcBef>
                <a:spcPts val="0"/>
              </a:spcBef>
              <a:spcAft>
                <a:spcPts val="0"/>
              </a:spcAft>
              <a:buNone/>
            </a:pPr>
            <a:r>
              <a:rPr lang="en-US" sz="1200"/>
              <a:t>- PRD Orchestrator v0.3.8 workflow inventory and agent contracts.</a:t>
            </a:r>
            <a:endParaRPr/>
          </a:p>
        </p:txBody>
      </p:sp>
      <p:sp>
        <p:nvSpPr>
          <p:cNvPr id="321" name="Google Shape;321;p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9" name="Shape 419"/>
        <p:cNvGrpSpPr/>
        <p:nvPr/>
      </p:nvGrpSpPr>
      <p:grpSpPr>
        <a:xfrm>
          <a:off x="0" y="0"/>
          <a:ext cx="0" cy="0"/>
          <a:chOff x="0" y="0"/>
          <a:chExt cx="0" cy="0"/>
        </a:xfrm>
      </p:grpSpPr>
      <p:sp>
        <p:nvSpPr>
          <p:cNvPr id="420" name="Google Shape;420;p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21" name="Google Shape;421;p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t>This slide shows the fail-closed assurance path that prevents unsupported requirements from reaching delivery.</a:t>
            </a:r>
            <a:endParaRPr/>
          </a:p>
          <a:p>
            <a:pPr indent="0" lvl="0" marL="0" rtl="0" algn="l">
              <a:spcBef>
                <a:spcPts val="0"/>
              </a:spcBef>
              <a:spcAft>
                <a:spcPts val="0"/>
              </a:spcAft>
              <a:buNone/>
            </a:pPr>
            <a:r>
              <a:rPr lang="en-US" sz="1200"/>
              <a:t>Every requirement begins with an authoritative source record and an exact citation. The Gap Analyzer exposes ambiguity, conflicts, and missing information instead of resolving them silently.</a:t>
            </a:r>
            <a:endParaRPr/>
          </a:p>
          <a:p>
            <a:pPr indent="0" lvl="0" marL="0" rtl="0" algn="l">
              <a:spcBef>
                <a:spcPts val="0"/>
              </a:spcBef>
              <a:spcAft>
                <a:spcPts val="0"/>
              </a:spcAft>
              <a:buNone/>
            </a:pPr>
            <a:r>
              <a:rPr lang="en-US" sz="1200"/>
              <a:t>Human Approval determines the authorized scope before PRD or story generation. Generated planning elements then carry stable identifiers and mapped acceptance criteria.</a:t>
            </a:r>
            <a:endParaRPr/>
          </a:p>
          <a:p>
            <a:pPr indent="0" lvl="0" marL="0" rtl="0" algn="l">
              <a:spcBef>
                <a:spcPts val="0"/>
              </a:spcBef>
              <a:spcAft>
                <a:spcPts val="0"/>
              </a:spcAft>
              <a:buNone/>
            </a:pPr>
            <a:r>
              <a:rPr lang="en-US" sz="1200"/>
              <a:t>The Agreement Gate checks set equality and orphan prevention before export. If the evidence, approval, or reconciliation contract fails, delivery does not proceed.</a:t>
            </a:r>
            <a:endParaRPr/>
          </a:p>
          <a:p>
            <a:pPr indent="0" lvl="0" marL="0" rtl="0" algn="l">
              <a:spcBef>
                <a:spcPts val="0"/>
              </a:spcBef>
              <a:spcAft>
                <a:spcPts val="0"/>
              </a:spcAft>
              <a:buNone/>
            </a:pPr>
            <a:r>
              <a:rPr lang="en-US" sz="1200"/>
              <a:t>For the accepted v0.3.8 evidence, all 145 citation dispositions reconciled, governed IDs matched completely, zero orphaned records remained, and the Agreement Gate authorized release.</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en-US" sz="1200"/>
              <a:t>Sources:</a:t>
            </a:r>
            <a:endParaRPr/>
          </a:p>
          <a:p>
            <a:pPr indent="0" lvl="0" marL="0" rtl="0" algn="l">
              <a:spcBef>
                <a:spcPts val="0"/>
              </a:spcBef>
              <a:spcAft>
                <a:spcPts val="0"/>
              </a:spcAft>
              <a:buNone/>
            </a:pPr>
            <a:r>
              <a:rPr lang="en-US" sz="1200"/>
              <a:t>- PRD Orchestrator v0.3.8 governance, traceability, and accepted-run evidence: https://vjra.us/prd-genie-vp.html#q3-build-architecture</a:t>
            </a:r>
            <a:endParaRPr/>
          </a:p>
          <a:p>
            <a:pPr indent="0" lvl="0" marL="0" rtl="0" algn="l">
              <a:spcBef>
                <a:spcPts val="0"/>
              </a:spcBef>
              <a:spcAft>
                <a:spcPts val="0"/>
              </a:spcAft>
              <a:buNone/>
            </a:pPr>
            <a:r>
              <a:rPr lang="en-US" sz="1200"/>
              <a:t>- Source-to-delivery citation reconciliation matrix and final validator evidence.</a:t>
            </a:r>
            <a:endParaRPr/>
          </a:p>
        </p:txBody>
      </p:sp>
      <p:sp>
        <p:nvSpPr>
          <p:cNvPr id="422" name="Google Shape;422;p9: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4" name="Shape 474"/>
        <p:cNvGrpSpPr/>
        <p:nvPr/>
      </p:nvGrpSpPr>
      <p:grpSpPr>
        <a:xfrm>
          <a:off x="0" y="0"/>
          <a:ext cx="0" cy="0"/>
          <a:chOff x="0" y="0"/>
          <a:chExt cx="0" cy="0"/>
        </a:xfrm>
      </p:grpSpPr>
      <p:sp>
        <p:nvSpPr>
          <p:cNvPr id="475" name="Google Shape;475;p1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76" name="Google Shape;476;p1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t>The pipeline produces three primary planning-ready documents.</a:t>
            </a:r>
            <a:endParaRPr/>
          </a:p>
          <a:p>
            <a:pPr indent="0" lvl="0" marL="0" rtl="0" algn="l">
              <a:spcBef>
                <a:spcPts val="0"/>
              </a:spcBef>
              <a:spcAft>
                <a:spcPts val="0"/>
              </a:spcAft>
              <a:buNone/>
            </a:pPr>
            <a:r>
              <a:rPr lang="en-US" sz="1200"/>
              <a:t>The corrected PRD follows the required ten-section structure and places acceptance criteria at the feature level, where Epics and Stories do not yet exist.</a:t>
            </a:r>
            <a:endParaRPr/>
          </a:p>
          <a:p>
            <a:pPr indent="0" lvl="0" marL="0" rtl="0" algn="l">
              <a:spcBef>
                <a:spcPts val="0"/>
              </a:spcBef>
              <a:spcAft>
                <a:spcPts val="0"/>
              </a:spcAft>
              <a:buNone/>
            </a:pPr>
            <a:r>
              <a:rPr lang="en-US" sz="1200"/>
              <a:t>The delivery document creates a dynamic hierarchy of three Epics, seven Features, and eleven User Stories, with source mapping and acceptance criteria for every story.</a:t>
            </a:r>
            <a:endParaRPr/>
          </a:p>
          <a:p>
            <a:pPr indent="0" lvl="0" marL="0" rtl="0" algn="l">
              <a:spcBef>
                <a:spcPts val="0"/>
              </a:spcBef>
              <a:spcAft>
                <a:spcPts val="0"/>
              </a:spcAft>
              <a:buNone/>
            </a:pPr>
            <a:r>
              <a:rPr lang="en-US" sz="1200"/>
              <a:t>The sizing document covers all eleven stories and reports proposed size, confidence, rationale, and items requiring refinement. It remains advisory and non-blocking.</a:t>
            </a:r>
            <a:endParaRPr/>
          </a:p>
          <a:p>
            <a:pPr indent="0" lvl="0" marL="0" rtl="0" algn="l">
              <a:spcBef>
                <a:spcPts val="0"/>
              </a:spcBef>
              <a:spcAft>
                <a:spcPts val="0"/>
              </a:spcAft>
              <a:buNone/>
            </a:pPr>
            <a:r>
              <a:rPr lang="en-US" sz="1200"/>
              <a:t>These three Markdown documents are accompanied by structured summary and lineage artifacts, producing seven validated run-specific delivery files.</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en-US" sz="1200"/>
              <a:t>Sources:</a:t>
            </a:r>
            <a:endParaRPr/>
          </a:p>
          <a:p>
            <a:pPr indent="0" lvl="0" marL="0" rtl="0" algn="l">
              <a:spcBef>
                <a:spcPts val="0"/>
              </a:spcBef>
              <a:spcAft>
                <a:spcPts val="0"/>
              </a:spcAft>
              <a:buNone/>
            </a:pPr>
            <a:r>
              <a:rPr lang="en-US" sz="1200"/>
              <a:t>- Accepted v0.3.8 PRD, Epic/Feature/User Story, and T-shirt Sizing artifacts.</a:t>
            </a:r>
            <a:endParaRPr/>
          </a:p>
          <a:p>
            <a:pPr indent="0" lvl="0" marL="0" rtl="0" algn="l">
              <a:spcBef>
                <a:spcPts val="0"/>
              </a:spcBef>
              <a:spcAft>
                <a:spcPts val="0"/>
              </a:spcAft>
              <a:buNone/>
            </a:pPr>
            <a:r>
              <a:rPr lang="en-US" sz="1200"/>
              <a:t>- PRD Orchestrator delivery and Q3 evidence: https://vjra.us/prd-genie-vp.html#q3-build-architecture</a:t>
            </a:r>
            <a:endParaRPr/>
          </a:p>
        </p:txBody>
      </p:sp>
      <p:sp>
        <p:nvSpPr>
          <p:cNvPr id="477" name="Google Shape;477;p10: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7" name="Shape 517"/>
        <p:cNvGrpSpPr/>
        <p:nvPr/>
      </p:nvGrpSpPr>
      <p:grpSpPr>
        <a:xfrm>
          <a:off x="0" y="0"/>
          <a:ext cx="0" cy="0"/>
          <a:chOff x="0" y="0"/>
          <a:chExt cx="0" cy="0"/>
        </a:xfrm>
      </p:grpSpPr>
      <p:sp>
        <p:nvSpPr>
          <p:cNvPr id="518" name="Google Shape;518;p1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19" name="Google Shape;519;p1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t>The baseline contains twelve prescribed scenarios and all twelve are approved.</a:t>
            </a:r>
            <a:endParaRPr/>
          </a:p>
          <a:p>
            <a:pPr indent="0" lvl="0" marL="0" rtl="0" algn="l">
              <a:spcBef>
                <a:spcPts val="0"/>
              </a:spcBef>
              <a:spcAft>
                <a:spcPts val="0"/>
              </a:spcAft>
              <a:buNone/>
            </a:pPr>
            <a:r>
              <a:rPr lang="en-US" sz="1200"/>
              <a:t>T1 through T10 exercise requirement extraction across clear, vague, contradictory, incomplete, persona-specific, technical, dependency, and empty-input conditions.</a:t>
            </a:r>
            <a:endParaRPr/>
          </a:p>
          <a:p>
            <a:pPr indent="0" lvl="0" marL="0" rtl="0" algn="l">
              <a:spcBef>
                <a:spcPts val="0"/>
              </a:spcBef>
              <a:spcAft>
                <a:spcPts val="0"/>
              </a:spcAft>
              <a:buNone/>
            </a:pPr>
            <a:r>
              <a:rPr lang="en-US" sz="1200"/>
              <a:t>T11 verifies that an approved evidence package becomes a grounded ten-section PRD.</a:t>
            </a:r>
            <a:endParaRPr/>
          </a:p>
          <a:p>
            <a:pPr indent="0" lvl="0" marL="0" rtl="0" algn="l">
              <a:spcBef>
                <a:spcPts val="0"/>
              </a:spcBef>
              <a:spcAft>
                <a:spcPts val="0"/>
              </a:spcAft>
              <a:buNone/>
            </a:pPr>
            <a:r>
              <a:rPr lang="en-US" sz="1200"/>
              <a:t>T12 verifies that the approved PRD decomposes into Epic, Feature, User Story, and acceptance-criteria structures.</a:t>
            </a:r>
            <a:endParaRPr/>
          </a:p>
          <a:p>
            <a:pPr indent="0" lvl="0" marL="0" rtl="0" algn="l">
              <a:spcBef>
                <a:spcPts val="0"/>
              </a:spcBef>
              <a:spcAft>
                <a:spcPts val="0"/>
              </a:spcAft>
              <a:buNone/>
            </a:pPr>
            <a:r>
              <a:rPr lang="en-US" sz="1200"/>
              <a:t>The purpose is not simply to count passes. The baseline demonstrates preservation of exact values, visible treatment of ambiguity, no unsupported invention, and evidence capture through n8n, Langfuse, and result files.</a:t>
            </a:r>
            <a:endParaRPr/>
          </a:p>
          <a:p>
            <a:pPr indent="0" lvl="0" marL="0" rtl="0" algn="l">
              <a:spcBef>
                <a:spcPts val="0"/>
              </a:spcBef>
              <a:spcAft>
                <a:spcPts val="0"/>
              </a:spcAft>
              <a:buNone/>
            </a:pPr>
            <a:r>
              <a:rPr lang="en-US" sz="1200"/>
              <a:t>The complete scenario-by-scenario matrix remains in Appendix A5 so the main presentation stays readable.</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en-US" sz="1200"/>
              <a:t>Sources:</a:t>
            </a:r>
            <a:endParaRPr/>
          </a:p>
          <a:p>
            <a:pPr indent="0" lvl="0" marL="0" rtl="0" algn="l">
              <a:spcBef>
                <a:spcPts val="0"/>
              </a:spcBef>
              <a:spcAft>
                <a:spcPts val="0"/>
              </a:spcAft>
              <a:buNone/>
            </a:pPr>
            <a:r>
              <a:rPr lang="en-US" sz="1200"/>
              <a:t>- PRD Orchestrator v0.3.8 Q3 baseline-testing evidence: https://vjra.us/prd-genie-vp.html#q3-build-architecture</a:t>
            </a:r>
            <a:endParaRPr/>
          </a:p>
          <a:p>
            <a:pPr indent="0" lvl="0" marL="0" rtl="0" algn="l">
              <a:spcBef>
                <a:spcPts val="0"/>
              </a:spcBef>
              <a:spcAft>
                <a:spcPts val="0"/>
              </a:spcAft>
              <a:buNone/>
            </a:pPr>
            <a:r>
              <a:rPr lang="en-US" sz="1200"/>
              <a:t>- Accepted T1–T12 ground-truth datasets and documented output evidence.</a:t>
            </a:r>
            <a:endParaRPr/>
          </a:p>
        </p:txBody>
      </p:sp>
      <p:sp>
        <p:nvSpPr>
          <p:cNvPr id="520" name="Google Shape;520;p1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6" name="Shape 556"/>
        <p:cNvGrpSpPr/>
        <p:nvPr/>
      </p:nvGrpSpPr>
      <p:grpSpPr>
        <a:xfrm>
          <a:off x="0" y="0"/>
          <a:ext cx="0" cy="0"/>
          <a:chOff x="0" y="0"/>
          <a:chExt cx="0" cy="0"/>
        </a:xfrm>
      </p:grpSpPr>
      <p:sp>
        <p:nvSpPr>
          <p:cNvPr id="557" name="Google Shape;557;p1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58" name="Google Shape;558;p1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t>The evaluation design separates exact assurance from contextual judgment.</a:t>
            </a:r>
            <a:endParaRPr/>
          </a:p>
          <a:p>
            <a:pPr indent="0" lvl="0" marL="0" rtl="0" algn="l">
              <a:spcBef>
                <a:spcPts val="0"/>
              </a:spcBef>
              <a:spcAft>
                <a:spcPts val="0"/>
              </a:spcAft>
              <a:buNone/>
            </a:pPr>
            <a:r>
              <a:rPr lang="en-US" sz="1200"/>
              <a:t>Deterministic controls verify schema, fields, counts, set equality, identifier validity, orphan prevention, and export rules.</a:t>
            </a:r>
            <a:endParaRPr/>
          </a:p>
          <a:p>
            <a:pPr indent="0" lvl="0" marL="0" rtl="0" algn="l">
              <a:spcBef>
                <a:spcPts val="0"/>
              </a:spcBef>
              <a:spcAft>
                <a:spcPts val="0"/>
              </a:spcAft>
              <a:buNone/>
            </a:pPr>
            <a:r>
              <a:rPr lang="en-US" sz="1200"/>
              <a:t>GPT-5.6 Terra evaluates semantic qualities that code cannot reliably judge: evidence faithfulness, unsupported invention, and sizing reasonableness across the full document context.</a:t>
            </a:r>
            <a:endParaRPr/>
          </a:p>
          <a:p>
            <a:pPr indent="0" lvl="0" marL="0" rtl="0" algn="l">
              <a:spcBef>
                <a:spcPts val="0"/>
              </a:spcBef>
              <a:spcAft>
                <a:spcPts val="0"/>
              </a:spcAft>
              <a:buNone/>
            </a:pPr>
            <a:r>
              <a:rPr lang="en-US" sz="1200"/>
              <a:t>This stronger model tier is appropriate because evaluator errors could incorrectly authorize or reject a release. Its judgment is therefore combined with deterministic controls rather than used alone.</a:t>
            </a:r>
            <a:endParaRPr/>
          </a:p>
          <a:p>
            <a:pPr indent="0" lvl="0" marL="0" rtl="0" algn="l">
              <a:spcBef>
                <a:spcPts val="0"/>
              </a:spcBef>
              <a:spcAft>
                <a:spcPts val="0"/>
              </a:spcAft>
              <a:buNone/>
            </a:pPr>
            <a:r>
              <a:rPr lang="en-US" sz="1200"/>
              <a:t>Hallucination remains governed by a maximum threshold of 0.15, and the Agreement Gate applies the release policy.</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en-US" sz="1200"/>
              <a:t>Sources:</a:t>
            </a:r>
            <a:endParaRPr/>
          </a:p>
          <a:p>
            <a:pPr indent="0" lvl="0" marL="0" rtl="0" algn="l">
              <a:spcBef>
                <a:spcPts val="0"/>
              </a:spcBef>
              <a:spcAft>
                <a:spcPts val="0"/>
              </a:spcAft>
              <a:buNone/>
            </a:pPr>
            <a:r>
              <a:rPr lang="en-US" sz="1200"/>
              <a:t>- Accepted v0.3.8 Langfuse evaluator configuration and receipts.</a:t>
            </a:r>
            <a:endParaRPr/>
          </a:p>
          <a:p>
            <a:pPr indent="0" lvl="0" marL="0" rtl="0" algn="l">
              <a:spcBef>
                <a:spcPts val="0"/>
              </a:spcBef>
              <a:spcAft>
                <a:spcPts val="0"/>
              </a:spcAft>
              <a:buNone/>
            </a:pPr>
            <a:r>
              <a:rPr lang="en-US" sz="1200"/>
              <a:t>- Capstone Project Playbook, section 2.2: smarter models for evaluation judging and quality-critical output.</a:t>
            </a:r>
            <a:endParaRPr/>
          </a:p>
        </p:txBody>
      </p:sp>
      <p:sp>
        <p:nvSpPr>
          <p:cNvPr id="559" name="Google Shape;559;p12: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9" name="Shape 609"/>
        <p:cNvGrpSpPr/>
        <p:nvPr/>
      </p:nvGrpSpPr>
      <p:grpSpPr>
        <a:xfrm>
          <a:off x="0" y="0"/>
          <a:ext cx="0" cy="0"/>
          <a:chOff x="0" y="0"/>
          <a:chExt cx="0" cy="0"/>
        </a:xfrm>
      </p:grpSpPr>
      <p:sp>
        <p:nvSpPr>
          <p:cNvPr id="610" name="Google Shape;610;p1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11" name="Google Shape;611;p1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t>This is the accepted v0.3.8 end-to-end candidate run.</a:t>
            </a:r>
            <a:endParaRPr/>
          </a:p>
          <a:p>
            <a:pPr indent="0" lvl="0" marL="0" rtl="0" algn="l">
              <a:spcBef>
                <a:spcPts val="0"/>
              </a:spcBef>
              <a:spcAft>
                <a:spcPts val="0"/>
              </a:spcAft>
              <a:buNone/>
            </a:pPr>
            <a:r>
              <a:rPr lang="en-US" sz="1200"/>
              <a:t>Parent execution 11901 created run identity RUN-S2-11902-16e7090e and completed in two minutes and 33.201 seconds.</a:t>
            </a:r>
            <a:endParaRPr/>
          </a:p>
          <a:p>
            <a:pPr indent="0" lvl="0" marL="0" rtl="0" algn="l">
              <a:spcBef>
                <a:spcPts val="0"/>
              </a:spcBef>
              <a:spcAft>
                <a:spcPts val="0"/>
              </a:spcAft>
              <a:buNone/>
            </a:pPr>
            <a:r>
              <a:rPr lang="en-US" sz="1200"/>
              <a:t>The Agreement Gate authorized release, the final validator passed, seven run-specific artifacts were delivered, and post-stage sizing completed for all eleven stories.</a:t>
            </a:r>
            <a:endParaRPr/>
          </a:p>
          <a:p>
            <a:pPr indent="0" lvl="0" marL="0" rtl="0" algn="l">
              <a:spcBef>
                <a:spcPts val="0"/>
              </a:spcBef>
              <a:spcAft>
                <a:spcPts val="0"/>
              </a:spcAft>
              <a:buNone/>
            </a:pPr>
            <a:r>
              <a:rPr lang="en-US" sz="1200"/>
              <a:t>The Production PRD passed its code controls with faithfulness 0.99 and hallucination 0.05.</a:t>
            </a:r>
            <a:endParaRPr/>
          </a:p>
          <a:p>
            <a:pPr indent="0" lvl="0" marL="0" rtl="0" algn="l">
              <a:spcBef>
                <a:spcPts val="0"/>
              </a:spcBef>
              <a:spcAft>
                <a:spcPts val="0"/>
              </a:spcAft>
              <a:buNone/>
            </a:pPr>
            <a:r>
              <a:rPr lang="en-US" sz="1200"/>
              <a:t>Story Breakdown scored 1.00 on code controls, 0.98 faithfulness, and 0.02 hallucination.</a:t>
            </a:r>
            <a:endParaRPr/>
          </a:p>
          <a:p>
            <a:pPr indent="0" lvl="0" marL="0" rtl="0" algn="l">
              <a:spcBef>
                <a:spcPts val="0"/>
              </a:spcBef>
              <a:spcAft>
                <a:spcPts val="0"/>
              </a:spcAft>
              <a:buNone/>
            </a:pPr>
            <a:r>
              <a:rPr lang="en-US" sz="1200"/>
              <a:t>Story Sizing scored 1.00 on code controls, faithfulness, and reasonableness, with hallucination 0.00.</a:t>
            </a:r>
            <a:endParaRPr/>
          </a:p>
          <a:p>
            <a:pPr indent="0" lvl="0" marL="0" rtl="0" algn="l">
              <a:spcBef>
                <a:spcPts val="0"/>
              </a:spcBef>
              <a:spcAft>
                <a:spcPts val="0"/>
              </a:spcAft>
              <a:buNone/>
            </a:pPr>
            <a:r>
              <a:rPr lang="en-US" sz="1200"/>
              <a:t>These results establish v0.3.8 as the submission candidate while v0.3.7 remains unchanged as the protected rollback checkpoint.</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en-US" sz="1200"/>
              <a:t>Sources:</a:t>
            </a:r>
            <a:endParaRPr/>
          </a:p>
          <a:p>
            <a:pPr indent="0" lvl="0" marL="0" rtl="0" algn="l">
              <a:spcBef>
                <a:spcPts val="0"/>
              </a:spcBef>
              <a:spcAft>
                <a:spcPts val="0"/>
              </a:spcAft>
              <a:buNone/>
            </a:pPr>
            <a:r>
              <a:rPr lang="en-US" sz="1200"/>
              <a:t>- Accepted v0.3.8 n8n parent execution 11901 and run RUN-S2-11902-16e7090e.</a:t>
            </a:r>
            <a:endParaRPr/>
          </a:p>
          <a:p>
            <a:pPr indent="0" lvl="0" marL="0" rtl="0" algn="l">
              <a:spcBef>
                <a:spcPts val="0"/>
              </a:spcBef>
              <a:spcAft>
                <a:spcPts val="0"/>
              </a:spcAft>
              <a:buNone/>
            </a:pPr>
            <a:r>
              <a:rPr lang="en-US" sz="1200"/>
              <a:t>- Accepted v0.3.8 Langfuse evaluator receipts and Overall Status snapshot.</a:t>
            </a:r>
            <a:endParaRPr/>
          </a:p>
          <a:p>
            <a:pPr indent="0" lvl="0" marL="0" rtl="0" algn="l">
              <a:spcBef>
                <a:spcPts val="0"/>
              </a:spcBef>
              <a:spcAft>
                <a:spcPts val="0"/>
              </a:spcAft>
              <a:buNone/>
            </a:pPr>
            <a:r>
              <a:rPr lang="en-US" sz="1200"/>
              <a:t>- PRD Orchestrator evidence dashboard: https://vjra.us/prd-genie-vp.html#q3-build-architecture</a:t>
            </a:r>
            <a:endParaRPr/>
          </a:p>
        </p:txBody>
      </p:sp>
      <p:sp>
        <p:nvSpPr>
          <p:cNvPr id="612" name="Google Shape;612;p13: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6" name="Shape 666"/>
        <p:cNvGrpSpPr/>
        <p:nvPr/>
      </p:nvGrpSpPr>
      <p:grpSpPr>
        <a:xfrm>
          <a:off x="0" y="0"/>
          <a:ext cx="0" cy="0"/>
          <a:chOff x="0" y="0"/>
          <a:chExt cx="0" cy="0"/>
        </a:xfrm>
      </p:grpSpPr>
      <p:sp>
        <p:nvSpPr>
          <p:cNvPr id="667" name="Google Shape;667;p1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68" name="Google Shape;668;p1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t>Traceability is enforced in both directions, not reconstructed after delivery.</a:t>
            </a:r>
            <a:endParaRPr/>
          </a:p>
          <a:p>
            <a:pPr indent="0" lvl="0" marL="0" rtl="0" algn="l">
              <a:spcBef>
                <a:spcPts val="0"/>
              </a:spcBef>
              <a:spcAft>
                <a:spcPts val="0"/>
              </a:spcAft>
              <a:buNone/>
            </a:pPr>
            <a:r>
              <a:rPr lang="en-US" sz="1200"/>
              <a:t>The example begins with an approved source segment identified as CIT-05-0016-13c3d894. It becomes requirement FR-001, the Dashboard Insights PRD feature, the Analytics Insights delivery group, and the user story to display five core metrics with testable criteria.</a:t>
            </a:r>
            <a:endParaRPr/>
          </a:p>
          <a:p>
            <a:pPr indent="0" lvl="0" marL="0" rtl="0" algn="l">
              <a:spcBef>
                <a:spcPts val="0"/>
              </a:spcBef>
              <a:spcAft>
                <a:spcPts val="0"/>
              </a:spcAft>
              <a:buNone/>
            </a:pPr>
            <a:r>
              <a:rPr lang="en-US" sz="1200"/>
              <a:t>The reverse path starts from the delivered story or acceptance criterion and resolves through Feature, Epic, PRD element, Requirement ID, and Citation ID back to the exact source segment.</a:t>
            </a:r>
            <a:endParaRPr/>
          </a:p>
          <a:p>
            <a:pPr indent="0" lvl="0" marL="0" rtl="0" algn="l">
              <a:spcBef>
                <a:spcPts val="0"/>
              </a:spcBef>
              <a:spcAft>
                <a:spcPts val="0"/>
              </a:spcAft>
              <a:buNone/>
            </a:pPr>
            <a:r>
              <a:rPr lang="en-US" sz="1200"/>
              <a:t>Across the accepted evidence set, 145 citations were indexed and all 145 received terminal dispositions.</a:t>
            </a:r>
            <a:endParaRPr/>
          </a:p>
          <a:p>
            <a:pPr indent="0" lvl="0" marL="0" rtl="0" algn="l">
              <a:spcBef>
                <a:spcPts val="0"/>
              </a:spcBef>
              <a:spcAft>
                <a:spcPts val="0"/>
              </a:spcAft>
              <a:buNone/>
            </a:pPr>
            <a:r>
              <a:rPr lang="en-US" sz="1200"/>
              <a:t>The reconciliation controls reported zero orphan citations, zero orphan PRD elements, and zero orphan delivery items.</a:t>
            </a:r>
            <a:endParaRPr/>
          </a:p>
          <a:p>
            <a:pPr indent="0" lvl="0" marL="0" rtl="0" algn="l">
              <a:spcBef>
                <a:spcPts val="0"/>
              </a:spcBef>
              <a:spcAft>
                <a:spcPts val="0"/>
              </a:spcAft>
              <a:buNone/>
            </a:pPr>
            <a:r>
              <a:rPr lang="en-US" sz="1200"/>
              <a:t>The final validator fails closed if these sets do not reconcile in both directions.</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en-US" sz="1200"/>
              <a:t>Sources:</a:t>
            </a:r>
            <a:endParaRPr/>
          </a:p>
          <a:p>
            <a:pPr indent="0" lvl="0" marL="0" rtl="0" algn="l">
              <a:spcBef>
                <a:spcPts val="0"/>
              </a:spcBef>
              <a:spcAft>
                <a:spcPts val="0"/>
              </a:spcAft>
              <a:buNone/>
            </a:pPr>
            <a:r>
              <a:rPr lang="en-US" sz="1200"/>
              <a:t>- Accepted v0.3.8 source-to-delivery citation traceability matrix.</a:t>
            </a:r>
            <a:endParaRPr/>
          </a:p>
          <a:p>
            <a:pPr indent="0" lvl="0" marL="0" rtl="0" algn="l">
              <a:spcBef>
                <a:spcPts val="0"/>
              </a:spcBef>
              <a:spcAft>
                <a:spcPts val="0"/>
              </a:spcAft>
              <a:buNone/>
            </a:pPr>
            <a:r>
              <a:rPr lang="en-US" sz="1200"/>
              <a:t>- Accepted v0.3.8 PRD, Epic/Feature/User Story, and final-validation evidence.</a:t>
            </a:r>
            <a:endParaRPr/>
          </a:p>
          <a:p>
            <a:pPr indent="0" lvl="0" marL="0" rtl="0" algn="l">
              <a:spcBef>
                <a:spcPts val="0"/>
              </a:spcBef>
              <a:spcAft>
                <a:spcPts val="0"/>
              </a:spcAft>
              <a:buNone/>
            </a:pPr>
            <a:r>
              <a:rPr lang="en-US" sz="1200"/>
              <a:t>- PRD Orchestrator evidence dashboard: https://vjra.us/prd-genie-vp.html#q3-build-architecture</a:t>
            </a:r>
            <a:endParaRPr/>
          </a:p>
        </p:txBody>
      </p:sp>
      <p:sp>
        <p:nvSpPr>
          <p:cNvPr id="669" name="Google Shape;669;p14: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5" name="Shape 735"/>
        <p:cNvGrpSpPr/>
        <p:nvPr/>
      </p:nvGrpSpPr>
      <p:grpSpPr>
        <a:xfrm>
          <a:off x="0" y="0"/>
          <a:ext cx="0" cy="0"/>
          <a:chOff x="0" y="0"/>
          <a:chExt cx="0" cy="0"/>
        </a:xfrm>
      </p:grpSpPr>
      <p:sp>
        <p:nvSpPr>
          <p:cNvPr id="736" name="Google Shape;736;p1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737" name="Google Shape;737;p1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t>The accepted v0.3.8 run consumed 545,467 observed tokens and cost 1.474409 dollars when generation and all invoked evaluators are included.</a:t>
            </a:r>
            <a:endParaRPr/>
          </a:p>
          <a:p>
            <a:pPr indent="0" lvl="0" marL="0" rtl="0" algn="l">
              <a:spcBef>
                <a:spcPts val="0"/>
              </a:spcBef>
              <a:spcAft>
                <a:spcPts val="0"/>
              </a:spcAft>
              <a:buNone/>
            </a:pPr>
            <a:r>
              <a:rPr lang="en-US" sz="1200"/>
              <a:t>GPT-5.6 Terra was selected as a quality-first baseline for a low-volume, high-consequence documentation workflow. Unsupported requirements can propagate directly into planning and delivery, so grounded reasoning is more important than minimizing the cost of an individual run.</a:t>
            </a:r>
            <a:endParaRPr/>
          </a:p>
          <a:p>
            <a:pPr indent="0" lvl="0" marL="0" rtl="0" algn="l">
              <a:spcBef>
                <a:spcPts val="0"/>
              </a:spcBef>
              <a:spcAft>
                <a:spcPts val="0"/>
              </a:spcAft>
              <a:buNone/>
            </a:pPr>
            <a:r>
              <a:rPr lang="en-US" sz="1200"/>
              <a:t>Core pipeline generation cost 0.228024 dollars. LLM evaluation cost 1.246385 dollars, or approximately 84.5 percent of the loaded cost.</a:t>
            </a:r>
            <a:endParaRPr/>
          </a:p>
          <a:p>
            <a:pPr indent="0" lvl="0" marL="0" rtl="0" algn="l">
              <a:spcBef>
                <a:spcPts val="0"/>
              </a:spcBef>
              <a:spcAft>
                <a:spcPts val="0"/>
              </a:spcAft>
              <a:buNone/>
            </a:pPr>
            <a:r>
              <a:rPr lang="en-US" sz="1200"/>
              <a:t>At one fully evaluated run per week, the modeled monthly cost is approximately 6.38 dollars per user.</a:t>
            </a:r>
            <a:endParaRPr/>
          </a:p>
          <a:p>
            <a:pPr indent="0" lvl="0" marL="0" rtl="0" algn="l">
              <a:spcBef>
                <a:spcPts val="0"/>
              </a:spcBef>
              <a:spcAft>
                <a:spcPts val="0"/>
              </a:spcAft>
              <a:buNone/>
            </a:pPr>
            <a:r>
              <a:rPr lang="en-US" sz="1200"/>
              <a:t>The v0.3.9 optimization plan will test lighter models on lower-risk tasks and retain GPT-5.6 Terra where reasoning or evaluation quality is release-critical.</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en-US" sz="1200"/>
              <a:t>Sources:</a:t>
            </a:r>
            <a:endParaRPr/>
          </a:p>
          <a:p>
            <a:pPr indent="0" lvl="0" marL="0" rtl="0" algn="l">
              <a:spcBef>
                <a:spcPts val="0"/>
              </a:spcBef>
              <a:spcAft>
                <a:spcPts val="0"/>
              </a:spcAft>
              <a:buNone/>
            </a:pPr>
            <a:r>
              <a:rPr lang="en-US" sz="1200"/>
              <a:t>- Accepted v0.3.8 Langfuse fully loaded token and cost evidence.</a:t>
            </a:r>
            <a:endParaRPr/>
          </a:p>
          <a:p>
            <a:pPr indent="0" lvl="0" marL="0" rtl="0" algn="l">
              <a:spcBef>
                <a:spcPts val="0"/>
              </a:spcBef>
              <a:spcAft>
                <a:spcPts val="0"/>
              </a:spcAft>
              <a:buNone/>
            </a:pPr>
            <a:r>
              <a:rPr lang="en-US" sz="1200"/>
              <a:t>- Capstone Project Playbook, section 2.2: model quality versus cost selection guidance.</a:t>
            </a:r>
            <a:endParaRPr/>
          </a:p>
        </p:txBody>
      </p:sp>
      <p:sp>
        <p:nvSpPr>
          <p:cNvPr id="738" name="Google Shape;738;p1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2" name="Shape 782"/>
        <p:cNvGrpSpPr/>
        <p:nvPr/>
      </p:nvGrpSpPr>
      <p:grpSpPr>
        <a:xfrm>
          <a:off x="0" y="0"/>
          <a:ext cx="0" cy="0"/>
          <a:chOff x="0" y="0"/>
          <a:chExt cx="0" cy="0"/>
        </a:xfrm>
      </p:grpSpPr>
      <p:sp>
        <p:nvSpPr>
          <p:cNvPr id="783" name="Google Shape;783;p1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784" name="Google Shape;784;p1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t>The principal learning was that trustworthy AI documentation comes from controlled iteration, not from one increasingly complex prompt.</a:t>
            </a:r>
            <a:endParaRPr/>
          </a:p>
          <a:p>
            <a:pPr indent="0" lvl="0" marL="0" rtl="0" algn="l">
              <a:spcBef>
                <a:spcPts val="0"/>
              </a:spcBef>
              <a:spcAft>
                <a:spcPts val="0"/>
              </a:spcAft>
              <a:buNone/>
            </a:pPr>
            <a:r>
              <a:rPr lang="en-US" sz="1200"/>
              <a:t>v0.3.4 was frozen as a validated checkpoint. v0.3.5 corrected the PRD and delivery-document contracts. v0.3.6 added advisory sizing without allowing it to block release. v0.3.7 corrected acceptance-criteria placement, traceability, and dynamic requirement mappings. v0.3.8 restored sizing evaluation, removed duplicate semantic scoring, and captured fully loaded token and cost evidence.</a:t>
            </a:r>
            <a:endParaRPr/>
          </a:p>
          <a:p>
            <a:pPr indent="0" lvl="0" marL="0" rtl="0" algn="l">
              <a:spcBef>
                <a:spcPts val="0"/>
              </a:spcBef>
              <a:spcAft>
                <a:spcPts val="0"/>
              </a:spcAft>
              <a:buNone/>
            </a:pPr>
            <a:r>
              <a:rPr lang="en-US" sz="1200"/>
              <a:t>Three risks remain important. AI can introduce plausible unsupported detail; mappings can silently disappear across transformation stages; and semantic evaluation can become the dominant operating cost.</a:t>
            </a:r>
            <a:endParaRPr/>
          </a:p>
          <a:p>
            <a:pPr indent="0" lvl="0" marL="0" rtl="0" algn="l">
              <a:spcBef>
                <a:spcPts val="0"/>
              </a:spcBef>
              <a:spcAft>
                <a:spcPts val="0"/>
              </a:spcAft>
              <a:buNone/>
            </a:pPr>
            <a:r>
              <a:rPr lang="en-US" sz="1200"/>
              <a:t>The control response is explicit grounding and uncertainty, bidirectional reconciliation, and a hybrid evaluation strategy that uses deterministic code for exact checks and LLM judges only for semantic quality.</a:t>
            </a:r>
            <a:endParaRPr/>
          </a:p>
          <a:p>
            <a:pPr indent="0" lvl="0" marL="0" rtl="0" algn="l">
              <a:spcBef>
                <a:spcPts val="0"/>
              </a:spcBef>
              <a:spcAft>
                <a:spcPts val="0"/>
              </a:spcAft>
              <a:buNone/>
            </a:pPr>
            <a:r>
              <a:rPr lang="en-US" sz="1200"/>
              <a:t>v0.3.8 is the submission candidate. The next iteration, v0.3.9, will test lighter models on lower-risk tasks while retaining GPT-5.6 Terra for reasoning that remains release-critical.</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en-US" sz="1200"/>
              <a:t>Sources:</a:t>
            </a:r>
            <a:endParaRPr/>
          </a:p>
          <a:p>
            <a:pPr indent="0" lvl="0" marL="0" rtl="0" algn="l">
              <a:spcBef>
                <a:spcPts val="0"/>
              </a:spcBef>
              <a:spcAft>
                <a:spcPts val="0"/>
              </a:spcAft>
              <a:buNone/>
            </a:pPr>
            <a:r>
              <a:rPr lang="en-US" sz="1200"/>
              <a:t>- PRD Orchestrator v0.3.4 through v0.3.8 workflow inventories, validation snapshots, and accepted-run evidence.</a:t>
            </a:r>
            <a:endParaRPr/>
          </a:p>
          <a:p>
            <a:pPr indent="0" lvl="0" marL="0" rtl="0" algn="l">
              <a:spcBef>
                <a:spcPts val="0"/>
              </a:spcBef>
              <a:spcAft>
                <a:spcPts val="0"/>
              </a:spcAft>
              <a:buNone/>
            </a:pPr>
            <a:r>
              <a:rPr lang="en-US" sz="1200"/>
              <a:t>- Q4 Reflection writeup and v0.3.9 improvement plan.</a:t>
            </a:r>
            <a:endParaRPr/>
          </a:p>
        </p:txBody>
      </p:sp>
      <p:sp>
        <p:nvSpPr>
          <p:cNvPr id="785" name="Google Shape;785;p1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4" name="Shape 844"/>
        <p:cNvGrpSpPr/>
        <p:nvPr/>
      </p:nvGrpSpPr>
      <p:grpSpPr>
        <a:xfrm>
          <a:off x="0" y="0"/>
          <a:ext cx="0" cy="0"/>
          <a:chOff x="0" y="0"/>
          <a:chExt cx="0" cy="0"/>
        </a:xfrm>
      </p:grpSpPr>
      <p:sp>
        <p:nvSpPr>
          <p:cNvPr id="845" name="Google Shape;845;p1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46" name="Google Shape;846;p1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t>The submission package is designed so a reviewer does not need to trust the presentation alone.</a:t>
            </a:r>
            <a:endParaRPr/>
          </a:p>
          <a:p>
            <a:pPr indent="0" lvl="0" marL="0" rtl="0" algn="l">
              <a:spcBef>
                <a:spcPts val="0"/>
              </a:spcBef>
              <a:spcAft>
                <a:spcPts val="0"/>
              </a:spcAft>
              <a:buNone/>
            </a:pPr>
            <a:r>
              <a:rPr lang="en-US" sz="1200"/>
              <a:t>The implementation set contains the complete v0.3.8 workflow definitions and inventory. The written set contains Q1 through Q4, the README, and the rubric cross-reference. Baseline testing preserves the T1 through T12 scenarios and results. Product outputs include the corrected PRD, the Epic / Feature / User Story document, and the sizing report. Runtime evidence links n8n execution identity to Langfuse quality, token, latency, and cost records. The presentation and five-minute demo provide the audience-facing walkthrough.</a:t>
            </a:r>
            <a:endParaRPr/>
          </a:p>
          <a:p>
            <a:pPr indent="0" lvl="0" marL="0" rtl="0" algn="l">
              <a:spcBef>
                <a:spcPts val="0"/>
              </a:spcBef>
              <a:spcAft>
                <a:spcPts val="0"/>
              </a:spcAft>
              <a:buNone/>
            </a:pPr>
            <a:r>
              <a:rPr lang="en-US" sz="1200"/>
              <a:t>Together these artifacts let a reviewer rebuild the topology, inspect the accepted run, trace a delivered story back to its source evidence, and independently verify the reported quality and fully loaded cost.</a:t>
            </a:r>
            <a:endParaRPr/>
          </a:p>
          <a:p>
            <a:pPr indent="0" lvl="0" marL="0" rtl="0" algn="l">
              <a:spcBef>
                <a:spcPts val="0"/>
              </a:spcBef>
              <a:spcAft>
                <a:spcPts val="0"/>
              </a:spcAft>
              <a:buNone/>
            </a:pPr>
            <a:r>
              <a:rPr lang="en-US" sz="1200"/>
              <a:t>The evidence is already preserved locally and in n8n, Langfuse, Drive, and Obsidian records. The remaining assembly step is to publish the curated repository and accessible demo link without changing the accepted v0.3.8 candidate evidence.</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en-US" sz="1200"/>
              <a:t>Sources:</a:t>
            </a:r>
            <a:endParaRPr/>
          </a:p>
          <a:p>
            <a:pPr indent="0" lvl="0" marL="0" rtl="0" algn="l">
              <a:spcBef>
                <a:spcPts val="0"/>
              </a:spcBef>
              <a:spcAft>
                <a:spcPts val="0"/>
              </a:spcAft>
              <a:buNone/>
            </a:pPr>
            <a:r>
              <a:rPr lang="en-US" sz="1200"/>
              <a:t>- PRD Orchestrator Final Submission strategy and Set 1 / Set 2 evidence inventory.</a:t>
            </a:r>
            <a:endParaRPr/>
          </a:p>
          <a:p>
            <a:pPr indent="0" lvl="0" marL="0" rtl="0" algn="l">
              <a:spcBef>
                <a:spcPts val="0"/>
              </a:spcBef>
              <a:spcAft>
                <a:spcPts val="0"/>
              </a:spcAft>
              <a:buNone/>
            </a:pPr>
            <a:r>
              <a:rPr lang="en-US" sz="1200"/>
              <a:t>- Accepted v0.3.8 run snapshot: parent execution 11901; RUN-S2-11902-16e7090e.</a:t>
            </a:r>
            <a:endParaRPr/>
          </a:p>
          <a:p>
            <a:pPr indent="0" lvl="0" marL="0" rtl="0" algn="l">
              <a:spcBef>
                <a:spcPts val="0"/>
              </a:spcBef>
              <a:spcAft>
                <a:spcPts val="0"/>
              </a:spcAft>
              <a:buNone/>
            </a:pPr>
            <a:r>
              <a:rPr lang="en-US" sz="1200"/>
              <a:t>- v0.3.8 workflow exports, T1–T12 evidence, output artifacts, n8n executions, and Langfuse evaluation records.</a:t>
            </a:r>
            <a:endParaRPr/>
          </a:p>
        </p:txBody>
      </p:sp>
      <p:sp>
        <p:nvSpPr>
          <p:cNvPr id="847" name="Google Shape;847;p17: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7" name="Shape 917"/>
        <p:cNvGrpSpPr/>
        <p:nvPr/>
      </p:nvGrpSpPr>
      <p:grpSpPr>
        <a:xfrm>
          <a:off x="0" y="0"/>
          <a:ext cx="0" cy="0"/>
          <a:chOff x="0" y="0"/>
          <a:chExt cx="0" cy="0"/>
        </a:xfrm>
      </p:grpSpPr>
      <p:sp>
        <p:nvSpPr>
          <p:cNvPr id="918" name="Google Shape;918;p1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19" name="Google Shape;919;p1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t>PRD Orchestrator demonstrates that AI-generated product documentation can be useful without becoming ungoverned.</a:t>
            </a:r>
            <a:endParaRPr/>
          </a:p>
          <a:p>
            <a:pPr indent="0" lvl="0" marL="0" rtl="0" algn="l">
              <a:spcBef>
                <a:spcPts val="0"/>
              </a:spcBef>
              <a:spcAft>
                <a:spcPts val="0"/>
              </a:spcAft>
              <a:buNone/>
            </a:pPr>
            <a:r>
              <a:rPr lang="en-US" sz="1200"/>
              <a:t>The accepted v0.3.8 candidate preserves evidence across extraction, gap analysis, human approval, PRD generation, story decomposition, final validation, sizing, and delivery.</a:t>
            </a:r>
            <a:endParaRPr/>
          </a:p>
          <a:p>
            <a:pPr indent="0" lvl="0" marL="0" rtl="0" algn="l">
              <a:spcBef>
                <a:spcPts val="0"/>
              </a:spcBef>
              <a:spcAft>
                <a:spcPts val="0"/>
              </a:spcAft>
              <a:buNone/>
            </a:pPr>
            <a:r>
              <a:rPr lang="en-US" sz="1200"/>
              <a:t>The recommendation is to accept v0.3.8 as the submission candidate while retaining v0.3.7 as the protected rollback checkpoint.</a:t>
            </a:r>
            <a:endParaRPr/>
          </a:p>
          <a:p>
            <a:pPr indent="0" lvl="0" marL="0" rtl="0" algn="l">
              <a:spcBef>
                <a:spcPts val="0"/>
              </a:spcBef>
              <a:spcAft>
                <a:spcPts val="0"/>
              </a:spcAft>
              <a:buNone/>
            </a:pPr>
            <a:r>
              <a:rPr lang="en-US" sz="1200"/>
              <a:t>Three conclusions support that recommendation. First, evidence remains connected: 145 indexed citations have terminal dispositions, with no orphan citations, PRD elements, or delivery items. Second, release remains controlled through human approval, deterministic controls, semantic evaluation, the Agreement Gate, and fail-closed export. Third, the system produces the three planning-ready artifacts required for product delivery: a corrected PRD, the Epic / Feature / User Story document, and advisory sizing.</a:t>
            </a:r>
            <a:endParaRPr/>
          </a:p>
          <a:p>
            <a:pPr indent="0" lvl="0" marL="0" rtl="0" algn="l">
              <a:spcBef>
                <a:spcPts val="0"/>
              </a:spcBef>
              <a:spcAft>
                <a:spcPts val="0"/>
              </a:spcAft>
              <a:buNone/>
            </a:pPr>
            <a:r>
              <a:rPr lang="en-US" sz="1200"/>
              <a:t>The next phase is controlled optimization, not feature expansion: test lighter models on lower-risk tasks while retaining GPT-5.6 Terra where reasoning remains release-critical.</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en-US" sz="1200"/>
              <a:t>Sources:</a:t>
            </a:r>
            <a:endParaRPr/>
          </a:p>
          <a:p>
            <a:pPr indent="0" lvl="0" marL="0" rtl="0" algn="l">
              <a:spcBef>
                <a:spcPts val="0"/>
              </a:spcBef>
              <a:spcAft>
                <a:spcPts val="0"/>
              </a:spcAft>
              <a:buNone/>
            </a:pPr>
            <a:r>
              <a:rPr lang="en-US" sz="1200"/>
              <a:t>- Accepted v0.3.8 candidate snapshot: parent execution 11901; RUN-S2-11902-16e7090e.</a:t>
            </a:r>
            <a:endParaRPr/>
          </a:p>
          <a:p>
            <a:pPr indent="0" lvl="0" marL="0" rtl="0" algn="l">
              <a:spcBef>
                <a:spcPts val="0"/>
              </a:spcBef>
              <a:spcAft>
                <a:spcPts val="0"/>
              </a:spcAft>
              <a:buNone/>
            </a:pPr>
            <a:r>
              <a:rPr lang="en-US" sz="1200"/>
              <a:t>- v0.3.8 traceability, Agreement Gate, artifact-delivery, and sizing evidence.</a:t>
            </a:r>
            <a:endParaRPr/>
          </a:p>
          <a:p>
            <a:pPr indent="0" lvl="0" marL="0" rtl="0" algn="l">
              <a:spcBef>
                <a:spcPts val="0"/>
              </a:spcBef>
              <a:spcAft>
                <a:spcPts val="0"/>
              </a:spcAft>
              <a:buNone/>
            </a:pPr>
            <a:r>
              <a:rPr lang="en-US" sz="1200"/>
              <a:t>- Q4 Reflection and v0.3.9 improvement plan.</a:t>
            </a:r>
            <a:endParaRPr/>
          </a:p>
        </p:txBody>
      </p:sp>
      <p:sp>
        <p:nvSpPr>
          <p:cNvPr id="920" name="Google Shape;920;p1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4" name="Shape 954"/>
        <p:cNvGrpSpPr/>
        <p:nvPr/>
      </p:nvGrpSpPr>
      <p:grpSpPr>
        <a:xfrm>
          <a:off x="0" y="0"/>
          <a:ext cx="0" cy="0"/>
          <a:chOff x="0" y="0"/>
          <a:chExt cx="0" cy="0"/>
        </a:xfrm>
      </p:grpSpPr>
      <p:sp>
        <p:nvSpPr>
          <p:cNvPr id="955" name="Google Shape;955;p1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56" name="Google Shape;956;p1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t>This separator introduces the supporting appendix after the 18-slide main narrative.</a:t>
            </a:r>
            <a:endParaRPr/>
          </a:p>
          <a:p>
            <a:pPr indent="0" lvl="0" marL="0" rtl="0" algn="l">
              <a:spcBef>
                <a:spcPts val="0"/>
              </a:spcBef>
              <a:spcAft>
                <a:spcPts val="0"/>
              </a:spcAft>
              <a:buNone/>
            </a:pPr>
            <a:r>
              <a:rPr lang="en-US" sz="1200"/>
              <a:t>The appendix provides detailed workflow, architecture, evaluation, traceability, cost, artifact, and release evidence.</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en-US" sz="1200"/>
              <a:t>Sources:</a:t>
            </a:r>
            <a:endParaRPr/>
          </a:p>
          <a:p>
            <a:pPr indent="0" lvl="0" marL="0" rtl="0" algn="l">
              <a:spcBef>
                <a:spcPts val="0"/>
              </a:spcBef>
              <a:spcAft>
                <a:spcPts val="0"/>
              </a:spcAft>
              <a:buNone/>
            </a:pPr>
            <a:r>
              <a:rPr lang="en-US" sz="1200"/>
              <a:t>- PRD Orchestrator submission deck and accepted v0.3.8 evidence package.</a:t>
            </a:r>
            <a:endParaRPr/>
          </a:p>
        </p:txBody>
      </p:sp>
      <p:sp>
        <p:nvSpPr>
          <p:cNvPr id="957" name="Google Shape;957;p19: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4" name="Shape 974"/>
        <p:cNvGrpSpPr/>
        <p:nvPr/>
      </p:nvGrpSpPr>
      <p:grpSpPr>
        <a:xfrm>
          <a:off x="0" y="0"/>
          <a:ext cx="0" cy="0"/>
          <a:chOff x="0" y="0"/>
          <a:chExt cx="0" cy="0"/>
        </a:xfrm>
      </p:grpSpPr>
      <p:sp>
        <p:nvSpPr>
          <p:cNvPr id="975" name="Google Shape;975;p2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76" name="Google Shape;976;p2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t>Appendix A1 is the master rubric-to-evidence map for the 80-point assignment.</a:t>
            </a:r>
            <a:endParaRPr/>
          </a:p>
          <a:p>
            <a:pPr indent="0" lvl="0" marL="0" rtl="0" algn="l">
              <a:spcBef>
                <a:spcPts val="0"/>
              </a:spcBef>
              <a:spcAft>
                <a:spcPts val="0"/>
              </a:spcAft>
              <a:buNone/>
            </a:pPr>
            <a:r>
              <a:rPr lang="en-US" sz="1200"/>
              <a:t>Q1 maps to Slides 3 and 4 and the structured pain-point analysis. Q2 maps to Slides 5 and 6 and the program charter. Q3 maps to Slides 7 through 15 and the full implementation, test, evaluation, traceability, and cost evidence. Q4 maps to Slide 16 and the reflection and improvement plan.</a:t>
            </a:r>
            <a:endParaRPr/>
          </a:p>
          <a:p>
            <a:pPr indent="0" lvl="0" marL="0" rtl="0" algn="l">
              <a:spcBef>
                <a:spcPts val="0"/>
              </a:spcBef>
              <a:spcAft>
                <a:spcPts val="0"/>
              </a:spcAft>
              <a:buNone/>
            </a:pPr>
            <a:r>
              <a:rPr lang="en-US" sz="1200"/>
              <a:t>The right-hand panel expands the 45-point build section so each scoring dimension has an explicit slide location and supporting evidence path.</a:t>
            </a:r>
            <a:endParaRPr/>
          </a:p>
          <a:p>
            <a:pPr indent="0" lvl="0" marL="0" rtl="0" algn="l">
              <a:spcBef>
                <a:spcPts val="0"/>
              </a:spcBef>
              <a:spcAft>
                <a:spcPts val="0"/>
              </a:spcAft>
              <a:buNone/>
            </a:pPr>
            <a:r>
              <a:rPr lang="en-US" sz="1200"/>
              <a:t>The package is organized so the deck presents the argument, while the PDFs, Markdown files, workflow JSONs, n8n execution records, Langfuse traces, and product artifacts support independent verification.</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en-US" sz="1200"/>
              <a:t>Sources:</a:t>
            </a:r>
            <a:endParaRPr/>
          </a:p>
          <a:p>
            <a:pPr indent="0" lvl="0" marL="0" rtl="0" algn="l">
              <a:spcBef>
                <a:spcPts val="0"/>
              </a:spcBef>
              <a:spcAft>
                <a:spcPts val="0"/>
              </a:spcAft>
              <a:buNone/>
            </a:pPr>
            <a:r>
              <a:rPr lang="en-US" sz="1200"/>
              <a:t>- Problem Statement — PRD Genie: assignment scoring for Q1–Q4.</a:t>
            </a:r>
            <a:endParaRPr/>
          </a:p>
          <a:p>
            <a:pPr indent="0" lvl="0" marL="0" rtl="0" algn="l">
              <a:spcBef>
                <a:spcPts val="0"/>
              </a:spcBef>
              <a:spcAft>
                <a:spcPts val="0"/>
              </a:spcAft>
              <a:buNone/>
            </a:pPr>
            <a:r>
              <a:rPr lang="en-US" sz="1200"/>
              <a:t>- Capstone Project Playbook: submission guidance and evidence expectations.</a:t>
            </a:r>
            <a:endParaRPr/>
          </a:p>
          <a:p>
            <a:pPr indent="0" lvl="0" marL="0" rtl="0" algn="l">
              <a:spcBef>
                <a:spcPts val="0"/>
              </a:spcBef>
              <a:spcAft>
                <a:spcPts val="0"/>
              </a:spcAft>
              <a:buNone/>
            </a:pPr>
            <a:r>
              <a:rPr lang="en-US" sz="1200"/>
              <a:t>- PRD Orchestrator High-Level Submission Strategy and 18-slide deck plan.</a:t>
            </a:r>
            <a:endParaRPr/>
          </a:p>
        </p:txBody>
      </p:sp>
      <p:sp>
        <p:nvSpPr>
          <p:cNvPr id="977" name="Google Shape;977;p20: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5" name="Shape 1055"/>
        <p:cNvGrpSpPr/>
        <p:nvPr/>
      </p:nvGrpSpPr>
      <p:grpSpPr>
        <a:xfrm>
          <a:off x="0" y="0"/>
          <a:ext cx="0" cy="0"/>
          <a:chOff x="0" y="0"/>
          <a:chExt cx="0" cy="0"/>
        </a:xfrm>
      </p:grpSpPr>
      <p:sp>
        <p:nvSpPr>
          <p:cNvPr id="1056" name="Google Shape;1056;p2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057" name="Google Shape;1057;p2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t>Appendix A2 records the complete nine-workflow v0.3.8 candidate set and distinguishes it from the authoritative runtime call graph.</a:t>
            </a:r>
            <a:endParaRPr/>
          </a:p>
          <a:p>
            <a:pPr indent="0" lvl="0" marL="0" rtl="0" algn="l">
              <a:spcBef>
                <a:spcPts val="0"/>
              </a:spcBef>
              <a:spcAft>
                <a:spcPts val="0"/>
              </a:spcAft>
              <a:buNone/>
            </a:pPr>
            <a:r>
              <a:rPr lang="en-US" sz="1200"/>
              <a:t>The candidate export set contains a versioned copy of the parent and every stage so the submission can be reconstructed without ambiguity.</a:t>
            </a:r>
            <a:endParaRPr/>
          </a:p>
          <a:p>
            <a:pPr indent="0" lvl="0" marL="0" rtl="0" algn="l">
              <a:spcBef>
                <a:spcPts val="0"/>
              </a:spcBef>
              <a:spcAft>
                <a:spcPts val="0"/>
              </a:spcAft>
              <a:buNone/>
            </a:pPr>
            <a:r>
              <a:rPr lang="en-US" sz="1200"/>
              <a:t>The accepted parent intentionally uses a minimal-change hybrid path. Stable intake, approval, and final-export controls remain referenced by their proven runtime IDs. The corrected Production PRD, Story Breakdown, and telemetry-enabled Story Sizing workflows use the v0.3.8 candidate IDs.</a:t>
            </a:r>
            <a:endParaRPr/>
          </a:p>
          <a:p>
            <a:pPr indent="0" lvl="0" marL="0" rtl="0" algn="l">
              <a:spcBef>
                <a:spcPts val="0"/>
              </a:spcBef>
              <a:spcAft>
                <a:spcPts val="0"/>
              </a:spcAft>
              <a:buNone/>
            </a:pPr>
            <a:r>
              <a:rPr lang="en-US" sz="1200"/>
              <a:t>This distinction matters: a candidate-package copy proves completeness, while an invoked runtime ID proves what actually executed in the accepted run.</a:t>
            </a:r>
            <a:endParaRPr/>
          </a:p>
          <a:p>
            <a:pPr indent="0" lvl="0" marL="0" rtl="0" algn="l">
              <a:spcBef>
                <a:spcPts val="0"/>
              </a:spcBef>
              <a:spcAft>
                <a:spcPts val="0"/>
              </a:spcAft>
              <a:buNone/>
            </a:pPr>
            <a:r>
              <a:rPr lang="en-US" sz="1200"/>
              <a:t>The authoritative accepted evidence is parent execution 11901 and correlated run RUN-S2-11902-16e7090e.</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en-US" sz="1200"/>
              <a:t>Sources:</a:t>
            </a:r>
            <a:endParaRPr/>
          </a:p>
          <a:p>
            <a:pPr indent="0" lvl="0" marL="0" rtl="0" algn="l">
              <a:spcBef>
                <a:spcPts val="0"/>
              </a:spcBef>
              <a:spcAft>
                <a:spcPts val="0"/>
              </a:spcAft>
              <a:buNone/>
            </a:pPr>
            <a:r>
              <a:rPr lang="en-US" sz="1200"/>
              <a:t>- PRD Genie — n8n Workflow Inventory for candidate v0.3.8, verified 2026-08-17.</a:t>
            </a:r>
            <a:endParaRPr/>
          </a:p>
          <a:p>
            <a:pPr indent="0" lvl="0" marL="0" rtl="0" algn="l">
              <a:spcBef>
                <a:spcPts val="0"/>
              </a:spcBef>
              <a:spcAft>
                <a:spcPts val="0"/>
              </a:spcAft>
              <a:buNone/>
            </a:pPr>
            <a:r>
              <a:rPr lang="en-US" sz="1200"/>
              <a:t>- Accepted v0.3.8 parent execution 11901 and RUN-S2-11902-16e7090e.</a:t>
            </a:r>
            <a:endParaRPr/>
          </a:p>
          <a:p>
            <a:pPr indent="0" lvl="0" marL="0" rtl="0" algn="l">
              <a:spcBef>
                <a:spcPts val="0"/>
              </a:spcBef>
              <a:spcAft>
                <a:spcPts val="0"/>
              </a:spcAft>
              <a:buNone/>
            </a:pPr>
            <a:r>
              <a:rPr lang="en-US" sz="1200"/>
              <a:t>- Final nine-workflow local JSON check-in: v0.3.8 Check_In.</a:t>
            </a:r>
            <a:endParaRPr/>
          </a:p>
        </p:txBody>
      </p:sp>
      <p:sp>
        <p:nvSpPr>
          <p:cNvPr id="1058" name="Google Shape;1058;p2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3" name="Shape 1183"/>
        <p:cNvGrpSpPr/>
        <p:nvPr/>
      </p:nvGrpSpPr>
      <p:grpSpPr>
        <a:xfrm>
          <a:off x="0" y="0"/>
          <a:ext cx="0" cy="0"/>
          <a:chOff x="0" y="0"/>
          <a:chExt cx="0" cy="0"/>
        </a:xfrm>
      </p:grpSpPr>
      <p:sp>
        <p:nvSpPr>
          <p:cNvPr id="1184" name="Google Shape;1184;p2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185" name="Google Shape;1185;p2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t>Appendix A3 shows the technical call graph for the accepted v0.3.8 parent execution.</a:t>
            </a:r>
            <a:endParaRPr/>
          </a:p>
          <a:p>
            <a:pPr indent="0" lvl="0" marL="0" rtl="0" algn="l">
              <a:spcBef>
                <a:spcPts val="0"/>
              </a:spcBef>
              <a:spcAft>
                <a:spcPts val="0"/>
              </a:spcAft>
              <a:buNone/>
            </a:pPr>
            <a:r>
              <a:rPr lang="en-US" sz="1200"/>
              <a:t>The continuous 01-to-08 row shows the complete logical sequence. The parent directly invokes six child workflows by immutable n8n workflow ID: Drive and Clarification, Human Approval, Production PRD, Story Breakdown, Final Validator and Export, and non-blocking Story Sizing.</a:t>
            </a:r>
            <a:endParaRPr/>
          </a:p>
          <a:p>
            <a:pPr indent="0" lvl="0" marL="0" rtl="0" algn="l">
              <a:spcBef>
                <a:spcPts val="0"/>
              </a:spcBef>
              <a:spcAft>
                <a:spcPts val="0"/>
              </a:spcAft>
              <a:buNone/>
            </a:pPr>
            <a:r>
              <a:rPr lang="en-US" sz="1200"/>
              <a:t>Requirement Extraction and Gap Analysis remain distinct logical agent contracts within the retained analysis path. Their labels distinguish logical contracts from direct parent calls without interrupting the sequence or implying extra runtime invocations.</a:t>
            </a:r>
            <a:endParaRPr/>
          </a:p>
          <a:p>
            <a:pPr indent="0" lvl="0" marL="0" rtl="0" algn="l">
              <a:spcBef>
                <a:spcPts val="0"/>
              </a:spcBef>
              <a:spcAft>
                <a:spcPts val="0"/>
              </a:spcAft>
              <a:buNone/>
            </a:pPr>
            <a:r>
              <a:rPr lang="en-US" sz="1200"/>
              <a:t>Every handoff carries the correlated run and trace identity together with approved evidence, decisions, and artifact identifiers. Langfuse observability and governance controls span the full execution.</a:t>
            </a:r>
            <a:endParaRPr/>
          </a:p>
          <a:p>
            <a:pPr indent="0" lvl="0" marL="0" rtl="0" algn="l">
              <a:spcBef>
                <a:spcPts val="0"/>
              </a:spcBef>
              <a:spcAft>
                <a:spcPts val="0"/>
              </a:spcAft>
              <a:buNone/>
            </a:pPr>
            <a:r>
              <a:rPr lang="en-US" sz="1200"/>
              <a:t>Blue identifies stable retained controls, green identifies v0.3.8 workflows invoked by the accepted parent, and purple identifies advisory post-export sizing.</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en-US" sz="1200"/>
              <a:t>Sources:</a:t>
            </a:r>
            <a:endParaRPr/>
          </a:p>
          <a:p>
            <a:pPr indent="0" lvl="0" marL="0" rtl="0" algn="l">
              <a:spcBef>
                <a:spcPts val="0"/>
              </a:spcBef>
              <a:spcAft>
                <a:spcPts val="0"/>
              </a:spcAft>
              <a:buNone/>
            </a:pPr>
            <a:r>
              <a:rPr lang="en-US" sz="1200"/>
              <a:t>- v0.3.8 Check_In/00-main-orchestrator.json direct executeWorkflow node references.</a:t>
            </a:r>
            <a:endParaRPr/>
          </a:p>
          <a:p>
            <a:pPr indent="0" lvl="0" marL="0" rtl="0" algn="l">
              <a:spcBef>
                <a:spcPts val="0"/>
              </a:spcBef>
              <a:spcAft>
                <a:spcPts val="0"/>
              </a:spcAft>
              <a:buNone/>
            </a:pPr>
            <a:r>
              <a:rPr lang="en-US" sz="1200"/>
              <a:t>- PRD Genie — n8n Workflow Inventory for candidate v0.3.8, authoritative runtime call graph.</a:t>
            </a:r>
            <a:endParaRPr/>
          </a:p>
          <a:p>
            <a:pPr indent="0" lvl="0" marL="0" rtl="0" algn="l">
              <a:spcBef>
                <a:spcPts val="0"/>
              </a:spcBef>
              <a:spcAft>
                <a:spcPts val="0"/>
              </a:spcAft>
              <a:buNone/>
            </a:pPr>
            <a:r>
              <a:rPr lang="en-US" sz="1200"/>
              <a:t>- Accepted execution 11901 / RUN-S2-11902-16e7090e.</a:t>
            </a:r>
            <a:endParaRPr/>
          </a:p>
        </p:txBody>
      </p:sp>
      <p:sp>
        <p:nvSpPr>
          <p:cNvPr id="1186" name="Google Shape;1186;p22: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03" name="Shape 1303"/>
        <p:cNvGrpSpPr/>
        <p:nvPr/>
      </p:nvGrpSpPr>
      <p:grpSpPr>
        <a:xfrm>
          <a:off x="0" y="0"/>
          <a:ext cx="0" cy="0"/>
          <a:chOff x="0" y="0"/>
          <a:chExt cx="0" cy="0"/>
        </a:xfrm>
      </p:grpSpPr>
      <p:sp>
        <p:nvSpPr>
          <p:cNvPr id="1304" name="Google Shape;1304;p2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305" name="Google Shape;1305;p2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t>Appendix A4 separates prompt instructions from independent enforcement controls.</a:t>
            </a:r>
            <a:endParaRPr/>
          </a:p>
          <a:p>
            <a:pPr indent="0" lvl="0" marL="0" rtl="0" algn="l">
              <a:spcBef>
                <a:spcPts val="0"/>
              </a:spcBef>
              <a:spcAft>
                <a:spcPts val="0"/>
              </a:spcAft>
              <a:buNone/>
            </a:pPr>
            <a:r>
              <a:rPr lang="en-US" sz="1200"/>
              <a:t>Prompts require approved evidence, exact citations, visible uncertainty, structured output, stable identifiers, and clear authority boundaries.</a:t>
            </a:r>
            <a:endParaRPr/>
          </a:p>
          <a:p>
            <a:pPr indent="0" lvl="0" marL="0" rtl="0" algn="l">
              <a:spcBef>
                <a:spcPts val="0"/>
              </a:spcBef>
              <a:spcAft>
                <a:spcPts val="0"/>
              </a:spcAft>
              <a:buNone/>
            </a:pPr>
            <a:r>
              <a:rPr lang="en-US" sz="1200"/>
              <a:t>The runtime does not rely on prompt compliance alone. Source integrity checks, deterministic validators, Human Approval, Langfuse semantic evaluation, and the Agreement Gate independently test each release condition.</a:t>
            </a:r>
            <a:endParaRPr/>
          </a:p>
          <a:p>
            <a:pPr indent="0" lvl="0" marL="0" rtl="0" algn="l">
              <a:spcBef>
                <a:spcPts val="0"/>
              </a:spcBef>
              <a:spcAft>
                <a:spcPts val="0"/>
              </a:spcAft>
              <a:buNone/>
            </a:pPr>
            <a:r>
              <a:rPr lang="en-US" sz="1200"/>
              <a:t>The accepted release condition is 100% groundedness, zero unsupported claims, and fail-closed behavior on any contract mismatch.</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en-US" sz="1200"/>
              <a:t>Sources:</a:t>
            </a:r>
            <a:endParaRPr/>
          </a:p>
          <a:p>
            <a:pPr indent="0" lvl="0" marL="0" rtl="0" algn="l">
              <a:spcBef>
                <a:spcPts val="0"/>
              </a:spcBef>
              <a:spcAft>
                <a:spcPts val="0"/>
              </a:spcAft>
              <a:buNone/>
            </a:pPr>
            <a:r>
              <a:rPr lang="en-US" sz="1200"/>
              <a:t>- docs/architecture/SOURCE_PACKET_CONTRACT.md.</a:t>
            </a:r>
            <a:endParaRPr/>
          </a:p>
          <a:p>
            <a:pPr indent="0" lvl="0" marL="0" rtl="0" algn="l">
              <a:spcBef>
                <a:spcPts val="0"/>
              </a:spcBef>
              <a:spcAft>
                <a:spcPts val="0"/>
              </a:spcAft>
              <a:buNone/>
            </a:pPr>
            <a:r>
              <a:rPr lang="en-US" sz="1200"/>
              <a:t>- docs/architecture/CONNECTED_ORCHESTRATION_DESIGN.md.</a:t>
            </a:r>
            <a:endParaRPr/>
          </a:p>
          <a:p>
            <a:pPr indent="0" lvl="0" marL="0" rtl="0" algn="l">
              <a:spcBef>
                <a:spcPts val="0"/>
              </a:spcBef>
              <a:spcAft>
                <a:spcPts val="0"/>
              </a:spcAft>
              <a:buNone/>
            </a:pPr>
            <a:r>
              <a:rPr lang="en-US" sz="1200"/>
              <a:t>- docs/submission/CAPSTONE_SUBMISSION_PACKAGE.md.</a:t>
            </a:r>
            <a:endParaRPr/>
          </a:p>
          <a:p>
            <a:pPr indent="0" lvl="0" marL="0" rtl="0" algn="l">
              <a:spcBef>
                <a:spcPts val="0"/>
              </a:spcBef>
              <a:spcAft>
                <a:spcPts val="0"/>
              </a:spcAft>
              <a:buNone/>
            </a:pPr>
            <a:r>
              <a:rPr lang="en-US" sz="1200"/>
              <a:t>- v0.3.8 accepted workflow exports and Langfuse evaluation evidence.</a:t>
            </a:r>
            <a:endParaRPr/>
          </a:p>
        </p:txBody>
      </p:sp>
      <p:sp>
        <p:nvSpPr>
          <p:cNvPr id="1306" name="Google Shape;1306;p23: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70" name="Shape 1370"/>
        <p:cNvGrpSpPr/>
        <p:nvPr/>
      </p:nvGrpSpPr>
      <p:grpSpPr>
        <a:xfrm>
          <a:off x="0" y="0"/>
          <a:ext cx="0" cy="0"/>
          <a:chOff x="0" y="0"/>
          <a:chExt cx="0" cy="0"/>
        </a:xfrm>
      </p:grpSpPr>
      <p:sp>
        <p:nvSpPr>
          <p:cNvPr id="1371" name="Google Shape;1371;p2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372" name="Google Shape;1372;p2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t>Appendix A5 provides the complete evaluator-facing T1-to-T12 baseline summary.</a:t>
            </a:r>
            <a:endParaRPr/>
          </a:p>
          <a:p>
            <a:pPr indent="0" lvl="0" marL="0" rtl="0" algn="l">
              <a:spcBef>
                <a:spcPts val="0"/>
              </a:spcBef>
              <a:spcAft>
                <a:spcPts val="0"/>
              </a:spcAft>
              <a:buNone/>
            </a:pPr>
            <a:r>
              <a:rPr lang="en-US" sz="1200"/>
              <a:t>T1-to-T10 evaluate Requirement Extraction across precise, vague, contradictory, incomplete, technical, persona, empty, and dependency-oriented inputs.</a:t>
            </a:r>
            <a:endParaRPr/>
          </a:p>
          <a:p>
            <a:pPr indent="0" lvl="0" marL="0" rtl="0" algn="l">
              <a:spcBef>
                <a:spcPts val="0"/>
              </a:spcBef>
              <a:spcAft>
                <a:spcPts val="0"/>
              </a:spcAft>
              <a:buNone/>
            </a:pPr>
            <a:r>
              <a:rPr lang="en-US" sz="1200"/>
              <a:t>T11 evaluates generation of the required ten-section PRD from the approved T1 package. T12 evaluates grounded epic, feature, story, and acceptance-criteria decomposition from the approved T11 PRD.</a:t>
            </a:r>
            <a:endParaRPr/>
          </a:p>
          <a:p>
            <a:pPr indent="0" lvl="0" marL="0" rtl="0" algn="l">
              <a:spcBef>
                <a:spcPts val="0"/>
              </a:spcBef>
              <a:spcAft>
                <a:spcPts val="0"/>
              </a:spcAft>
              <a:buNone/>
            </a:pPr>
            <a:r>
              <a:rPr lang="en-US" sz="1200"/>
              <a:t>Each expected output was human reviewed. All final preserved actual outputs passed at 100% groundedness with zero unsupported claims.</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en-US" sz="1200"/>
              <a:t>Sources:</a:t>
            </a:r>
            <a:endParaRPr/>
          </a:p>
          <a:p>
            <a:pPr indent="0" lvl="0" marL="0" rtl="0" algn="l">
              <a:spcBef>
                <a:spcPts val="0"/>
              </a:spcBef>
              <a:spcAft>
                <a:spcPts val="0"/>
              </a:spcAft>
              <a:buNone/>
            </a:pPr>
            <a:r>
              <a:rPr lang="en-US" sz="1200"/>
              <a:t>- evaluation/BASELINE_T1_T12_INPUT_OUTPUT_EVIDENCE.md.</a:t>
            </a:r>
            <a:endParaRPr/>
          </a:p>
          <a:p>
            <a:pPr indent="0" lvl="0" marL="0" rtl="0" algn="l">
              <a:spcBef>
                <a:spcPts val="0"/>
              </a:spcBef>
              <a:spcAft>
                <a:spcPts val="0"/>
              </a:spcAft>
              <a:buNone/>
            </a:pPr>
            <a:r>
              <a:rPr lang="en-US" sz="1200"/>
              <a:t>- evaluation/fixtures/t01-t10-extractor-cases.json.</a:t>
            </a:r>
            <a:endParaRPr/>
          </a:p>
          <a:p>
            <a:pPr indent="0" lvl="0" marL="0" rtl="0" algn="l">
              <a:spcBef>
                <a:spcPts val="0"/>
              </a:spcBef>
              <a:spcAft>
                <a:spcPts val="0"/>
              </a:spcAft>
              <a:buNone/>
            </a:pPr>
            <a:r>
              <a:rPr lang="en-US" sz="1200"/>
              <a:t>- evaluation/results/prd-generation-t11-v0.4-release-2026-08-05.md.</a:t>
            </a:r>
            <a:endParaRPr/>
          </a:p>
          <a:p>
            <a:pPr indent="0" lvl="0" marL="0" rtl="0" algn="l">
              <a:spcBef>
                <a:spcPts val="0"/>
              </a:spcBef>
              <a:spcAft>
                <a:spcPts val="0"/>
              </a:spcAft>
              <a:buNone/>
            </a:pPr>
            <a:r>
              <a:rPr lang="en-US" sz="1200"/>
              <a:t>- evaluation/results/story-breakdown-t12-v0.2-release-2026-08-05.md.</a:t>
            </a:r>
            <a:endParaRPr/>
          </a:p>
        </p:txBody>
      </p:sp>
      <p:sp>
        <p:nvSpPr>
          <p:cNvPr id="1373" name="Google Shape;1373;p24: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99" name="Shape 1499"/>
        <p:cNvGrpSpPr/>
        <p:nvPr/>
      </p:nvGrpSpPr>
      <p:grpSpPr>
        <a:xfrm>
          <a:off x="0" y="0"/>
          <a:ext cx="0" cy="0"/>
          <a:chOff x="0" y="0"/>
          <a:chExt cx="0" cy="0"/>
        </a:xfrm>
      </p:grpSpPr>
      <p:sp>
        <p:nvSpPr>
          <p:cNvPr id="1500" name="Google Shape;1500;p2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501" name="Google Shape;1501;p2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t>A6 documents exact inputs and preserved actual outputs for T1–T6.</a:t>
            </a:r>
            <a:endParaRPr/>
          </a:p>
          <a:p>
            <a:pPr indent="0" lvl="0" marL="0" rtl="0" algn="l">
              <a:spcBef>
                <a:spcPts val="0"/>
              </a:spcBef>
              <a:spcAft>
                <a:spcPts val="0"/>
              </a:spcAft>
              <a:buNone/>
            </a:pPr>
            <a:r>
              <a:rPr lang="en-US" sz="1200"/>
              <a:t>Full JSON outputs, evaluations, human reviews, run metadata, and complete Langfuse trace IDs are retained in the repository.</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en-US" sz="1200"/>
              <a:t>[Sources]</a:t>
            </a:r>
            <a:endParaRPr/>
          </a:p>
          <a:p>
            <a:pPr indent="0" lvl="0" marL="0" rtl="0" algn="l">
              <a:spcBef>
                <a:spcPts val="0"/>
              </a:spcBef>
              <a:spcAft>
                <a:spcPts val="0"/>
              </a:spcAft>
              <a:buNone/>
            </a:pPr>
            <a:r>
              <a:rPr lang="en-US" sz="1200"/>
              <a:t>- evaluation/BASELINE_T1_T12_INPUT_OUTPUT_EVIDENCE.md</a:t>
            </a:r>
            <a:endParaRPr/>
          </a:p>
          <a:p>
            <a:pPr indent="0" lvl="0" marL="0" rtl="0" algn="l">
              <a:spcBef>
                <a:spcPts val="0"/>
              </a:spcBef>
              <a:spcAft>
                <a:spcPts val="0"/>
              </a:spcAft>
              <a:buNone/>
            </a:pPr>
            <a:r>
              <a:rPr lang="en-US" sz="1200"/>
              <a:t>- evaluation/actual/requirement-extraction-v1.5-release/t01 through t06/output.json</a:t>
            </a:r>
            <a:endParaRPr/>
          </a:p>
          <a:p>
            <a:pPr indent="0" lvl="0" marL="0" rtl="0" algn="l">
              <a:spcBef>
                <a:spcPts val="0"/>
              </a:spcBef>
              <a:spcAft>
                <a:spcPts val="0"/>
              </a:spcAft>
              <a:buNone/>
            </a:pPr>
            <a:r>
              <a:rPr lang="en-US" sz="1200"/>
              <a:t>- evaluation/actual/requirement-extraction-v1.5-release/t01 through t06/run-metadata.json</a:t>
            </a:r>
            <a:endParaRPr/>
          </a:p>
        </p:txBody>
      </p:sp>
      <p:sp>
        <p:nvSpPr>
          <p:cNvPr id="1502" name="Google Shape;1502;p2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5" name="Shape 1565"/>
        <p:cNvGrpSpPr/>
        <p:nvPr/>
      </p:nvGrpSpPr>
      <p:grpSpPr>
        <a:xfrm>
          <a:off x="0" y="0"/>
          <a:ext cx="0" cy="0"/>
          <a:chOff x="0" y="0"/>
          <a:chExt cx="0" cy="0"/>
        </a:xfrm>
      </p:grpSpPr>
      <p:sp>
        <p:nvSpPr>
          <p:cNvPr id="1566" name="Google Shape;1566;p2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567" name="Google Shape;1567;p2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t>A7 documents exact inputs and preserved actual outputs for T7–T12.</a:t>
            </a:r>
            <a:endParaRPr/>
          </a:p>
          <a:p>
            <a:pPr indent="0" lvl="0" marL="0" rtl="0" algn="l">
              <a:spcBef>
                <a:spcPts val="0"/>
              </a:spcBef>
              <a:spcAft>
                <a:spcPts val="0"/>
              </a:spcAft>
              <a:buNone/>
            </a:pPr>
            <a:r>
              <a:rPr lang="en-US" sz="1200"/>
              <a:t>T11 and T12 include n8n workflow execution receipts and Langfuse trace evidence.</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en-US" sz="1200"/>
              <a:t>[Sources]</a:t>
            </a:r>
            <a:endParaRPr/>
          </a:p>
          <a:p>
            <a:pPr indent="0" lvl="0" marL="0" rtl="0" algn="l">
              <a:spcBef>
                <a:spcPts val="0"/>
              </a:spcBef>
              <a:spcAft>
                <a:spcPts val="0"/>
              </a:spcAft>
              <a:buNone/>
            </a:pPr>
            <a:r>
              <a:rPr lang="en-US" sz="1200"/>
              <a:t>- evaluation/BASELINE_T1_T12_INPUT_OUTPUT_EVIDENCE.md</a:t>
            </a:r>
            <a:endParaRPr/>
          </a:p>
          <a:p>
            <a:pPr indent="0" lvl="0" marL="0" rtl="0" algn="l">
              <a:spcBef>
                <a:spcPts val="0"/>
              </a:spcBef>
              <a:spcAft>
                <a:spcPts val="0"/>
              </a:spcAft>
              <a:buNone/>
            </a:pPr>
            <a:r>
              <a:rPr lang="en-US" sz="1200"/>
              <a:t>- evaluation/actual/requirement-extraction-v1.5-release/t07 through t10/output.json</a:t>
            </a:r>
            <a:endParaRPr/>
          </a:p>
          <a:p>
            <a:pPr indent="0" lvl="0" marL="0" rtl="0" algn="l">
              <a:spcBef>
                <a:spcPts val="0"/>
              </a:spcBef>
              <a:spcAft>
                <a:spcPts val="0"/>
              </a:spcAft>
              <a:buNone/>
            </a:pPr>
            <a:r>
              <a:rPr lang="en-US" sz="1200"/>
              <a:t>- evaluation/actual/prd-generation/t11/output.json</a:t>
            </a:r>
            <a:endParaRPr/>
          </a:p>
          <a:p>
            <a:pPr indent="0" lvl="0" marL="0" rtl="0" algn="l">
              <a:spcBef>
                <a:spcPts val="0"/>
              </a:spcBef>
              <a:spcAft>
                <a:spcPts val="0"/>
              </a:spcAft>
              <a:buNone/>
            </a:pPr>
            <a:r>
              <a:rPr lang="en-US" sz="1200"/>
              <a:t>- evaluation/actual/story-breakdown/t12/output.json</a:t>
            </a:r>
            <a:endParaRPr/>
          </a:p>
        </p:txBody>
      </p:sp>
      <p:sp>
        <p:nvSpPr>
          <p:cNvPr id="1568" name="Google Shape;1568;p2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31" name="Shape 1631"/>
        <p:cNvGrpSpPr/>
        <p:nvPr/>
      </p:nvGrpSpPr>
      <p:grpSpPr>
        <a:xfrm>
          <a:off x="0" y="0"/>
          <a:ext cx="0" cy="0"/>
          <a:chOff x="0" y="0"/>
          <a:chExt cx="0" cy="0"/>
        </a:xfrm>
      </p:grpSpPr>
      <p:sp>
        <p:nvSpPr>
          <p:cNvPr id="1632" name="Google Shape;1632;p2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633" name="Google Shape;1633;p2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t>A8 documents evaluator-level coverage and results for accepted v0.3.8 parent execution 11901 / RUN-S2-11902-16e7090e.</a:t>
            </a:r>
            <a:endParaRPr/>
          </a:p>
          <a:p>
            <a:pPr indent="0" lvl="0" marL="0" rtl="0" algn="l">
              <a:spcBef>
                <a:spcPts val="0"/>
              </a:spcBef>
              <a:spcAft>
                <a:spcPts val="0"/>
              </a:spcAft>
              <a:buNone/>
            </a:pPr>
            <a:r>
              <a:rPr lang="en-US" sz="1200"/>
              <a:t>Requirement Extractor uses deterministic controls only. Gap Analyzer, Human Approval, and Production PRD use generic semantic evaluators. Story Breakdown and sizing use stage-specific semantic evaluators.</a:t>
            </a:r>
            <a:endParaRPr/>
          </a:p>
          <a:p>
            <a:pPr indent="0" lvl="0" marL="0" rtl="0" algn="l">
              <a:spcBef>
                <a:spcPts val="0"/>
              </a:spcBef>
              <a:spcAft>
                <a:spcPts val="0"/>
              </a:spcAft>
              <a:buNone/>
            </a:pPr>
            <a:r>
              <a:rPr lang="en-US" sz="1200"/>
              <a:t>The automated Agreement Gate enforced the Story Breakdown trace and authorized release after one complete current-run score set with no duplicates.</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en-US" sz="1200"/>
              <a:t>[Sources]</a:t>
            </a:r>
            <a:endParaRPr/>
          </a:p>
          <a:p>
            <a:pPr indent="0" lvl="0" marL="0" rtl="0" algn="l">
              <a:spcBef>
                <a:spcPts val="0"/>
              </a:spcBef>
              <a:spcAft>
                <a:spcPts val="0"/>
              </a:spcAft>
              <a:buNone/>
            </a:pPr>
            <a:r>
              <a:rPr lang="en-US" sz="1200"/>
              <a:t>- Overall Status/PRD Genie - Snapshot - v0.3.8 Candidate Run - 2026-08-17 2007 PDT.md</a:t>
            </a:r>
            <a:endParaRPr/>
          </a:p>
          <a:p>
            <a:pPr indent="0" lvl="0" marL="0" rtl="0" algn="l">
              <a:spcBef>
                <a:spcPts val="0"/>
              </a:spcBef>
              <a:spcAft>
                <a:spcPts val="0"/>
              </a:spcAft>
              <a:buNone/>
            </a:pPr>
            <a:r>
              <a:rPr lang="en-US" sz="1200"/>
              <a:t>- Final Submission/Set 1 — Written Submission/06 — Evaluation, Observability and Cost.md</a:t>
            </a:r>
            <a:endParaRPr/>
          </a:p>
          <a:p>
            <a:pPr indent="0" lvl="0" marL="0" rtl="0" algn="l">
              <a:spcBef>
                <a:spcPts val="0"/>
              </a:spcBef>
              <a:spcAft>
                <a:spcPts val="0"/>
              </a:spcAft>
              <a:buNone/>
            </a:pPr>
            <a:r>
              <a:rPr lang="en-US" sz="1200"/>
              <a:t>- https://us.cloud.langfuse.com/project/cms9sudes0u9rad0h4fvs3r6n/evals</a:t>
            </a:r>
            <a:endParaRPr/>
          </a:p>
        </p:txBody>
      </p:sp>
      <p:sp>
        <p:nvSpPr>
          <p:cNvPr id="1634" name="Google Shape;1634;p27: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04" name="Shape 1704"/>
        <p:cNvGrpSpPr/>
        <p:nvPr/>
      </p:nvGrpSpPr>
      <p:grpSpPr>
        <a:xfrm>
          <a:off x="0" y="0"/>
          <a:ext cx="0" cy="0"/>
          <a:chOff x="0" y="0"/>
          <a:chExt cx="0" cy="0"/>
        </a:xfrm>
      </p:grpSpPr>
      <p:sp>
        <p:nvSpPr>
          <p:cNvPr id="1705" name="Google Shape;1705;p2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706" name="Google Shape;1706;p2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t>A9 records actual fully loaded Langfuse usage for accepted v0.3.8 execution 11901.</a:t>
            </a:r>
            <a:endParaRPr/>
          </a:p>
          <a:p>
            <a:pPr indent="0" lvl="0" marL="0" rtl="0" algn="l">
              <a:spcBef>
                <a:spcPts val="0"/>
              </a:spcBef>
              <a:spcAft>
                <a:spcPts val="0"/>
              </a:spcAft>
              <a:buNone/>
            </a:pPr>
            <a:r>
              <a:rPr lang="en-US" sz="1200"/>
              <a:t>The two pipeline model calls used 59,922 tokens and cost $0.228024. Forty-one completed LLM evaluator calls used 485,545 tokens and cost $1.246385.</a:t>
            </a:r>
            <a:endParaRPr/>
          </a:p>
          <a:p>
            <a:pPr indent="0" lvl="0" marL="0" rtl="0" algn="l">
              <a:spcBef>
                <a:spcPts val="0"/>
              </a:spcBef>
              <a:spcAft>
                <a:spcPts val="0"/>
              </a:spcAft>
              <a:buNone/>
            </a:pPr>
            <a:r>
              <a:rPr lang="en-US" sz="1200"/>
              <a:t>The resulting fully loaded total is 545,467 tokens and $1.474409. At one fully evaluated run per week, 4.33 runs per month produces an estimated monthly model-and-evaluation cost of approximately $6.38 per user.</a:t>
            </a:r>
            <a:endParaRPr/>
          </a:p>
          <a:p>
            <a:pPr indent="0" lvl="0" marL="0" rtl="0" algn="l">
              <a:spcBef>
                <a:spcPts val="0"/>
              </a:spcBef>
              <a:spcAft>
                <a:spcPts val="0"/>
              </a:spcAft>
              <a:buNone/>
            </a:pPr>
            <a:r>
              <a:rPr lang="en-US" sz="1200"/>
              <a:t>Deterministic code controls incur no LLM charge. Semantic evaluation is therefore the principal cost-optimization target, while full evaluation remains appropriate for candidate acceptance.</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en-US" sz="1200"/>
              <a:t>[Sources]</a:t>
            </a:r>
            <a:endParaRPr/>
          </a:p>
          <a:p>
            <a:pPr indent="0" lvl="0" marL="0" rtl="0" algn="l">
              <a:spcBef>
                <a:spcPts val="0"/>
              </a:spcBef>
              <a:spcAft>
                <a:spcPts val="0"/>
              </a:spcAft>
              <a:buNone/>
            </a:pPr>
            <a:r>
              <a:rPr lang="en-US" sz="1200"/>
              <a:t>- Overall Status/PRD Genie - Snapshot - v0.3.8 Candidate Run - 2026-08-17 2007 PDT.md</a:t>
            </a:r>
            <a:endParaRPr/>
          </a:p>
          <a:p>
            <a:pPr indent="0" lvl="0" marL="0" rtl="0" algn="l">
              <a:spcBef>
                <a:spcPts val="0"/>
              </a:spcBef>
              <a:spcAft>
                <a:spcPts val="0"/>
              </a:spcAft>
              <a:buNone/>
            </a:pPr>
            <a:r>
              <a:rPr lang="en-US" sz="1200"/>
              <a:t>- Final Submission/Set 1 — Written Submission/06 — Evaluation, Observability and Cost.md</a:t>
            </a:r>
            <a:endParaRPr/>
          </a:p>
          <a:p>
            <a:pPr indent="0" lvl="0" marL="0" rtl="0" algn="l">
              <a:spcBef>
                <a:spcPts val="0"/>
              </a:spcBef>
              <a:spcAft>
                <a:spcPts val="0"/>
              </a:spcAft>
              <a:buNone/>
            </a:pPr>
            <a:r>
              <a:rPr lang="en-US" sz="1200"/>
              <a:t>- Accepted v0.3.8 Langfuse usage and evaluator receipts for execution 11901.</a:t>
            </a:r>
            <a:endParaRPr/>
          </a:p>
        </p:txBody>
      </p:sp>
      <p:sp>
        <p:nvSpPr>
          <p:cNvPr id="1707" name="Google Shape;1707;p2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83" name="Shape 1783"/>
        <p:cNvGrpSpPr/>
        <p:nvPr/>
      </p:nvGrpSpPr>
      <p:grpSpPr>
        <a:xfrm>
          <a:off x="0" y="0"/>
          <a:ext cx="0" cy="0"/>
          <a:chOff x="0" y="0"/>
          <a:chExt cx="0" cy="0"/>
        </a:xfrm>
      </p:grpSpPr>
      <p:sp>
        <p:nvSpPr>
          <p:cNvPr id="1784" name="Google Shape;1784;p2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785" name="Google Shape;1785;p2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t>A10 reproduces the complete active-delivery forward trace for accepted v0.3.8 execution 11901 / RUN-S2-11902-16e7090e.</a:t>
            </a:r>
            <a:endParaRPr/>
          </a:p>
          <a:p>
            <a:pPr indent="0" lvl="0" marL="0" rtl="0" algn="l">
              <a:spcBef>
                <a:spcPts val="0"/>
              </a:spcBef>
              <a:spcAft>
                <a:spcPts val="0"/>
              </a:spcAft>
              <a:buNone/>
            </a:pPr>
            <a:r>
              <a:rPr lang="en-US" sz="1200"/>
              <a:t>Each of the eleven delivery rows resolves from one or more citation IDs through a PRD requirement, Feature acceptance criterion, Epic, Feature, User Story, and Story acceptance criterion. Reading the identifiers in reverse provides backward traceability to the original evidence.</a:t>
            </a:r>
            <a:endParaRPr/>
          </a:p>
          <a:p>
            <a:pPr indent="0" lvl="0" marL="0" rtl="0" algn="l">
              <a:spcBef>
                <a:spcPts val="0"/>
              </a:spcBef>
              <a:spcAft>
                <a:spcPts val="0"/>
              </a:spcAft>
              <a:buNone/>
            </a:pPr>
            <a:r>
              <a:rPr lang="en-US" sz="1200"/>
              <a:t>The full disposition ledger separately records all 145 indexed citations, including contextual evidence and requirements intentionally retained as PRD-only, cross-cutting, prioritization, Nice-to-Have, or deferred content.</a:t>
            </a:r>
            <a:endParaRPr/>
          </a:p>
          <a:p>
            <a:pPr indent="0" lvl="0" marL="0" rtl="0" algn="l">
              <a:spcBef>
                <a:spcPts val="0"/>
              </a:spcBef>
              <a:spcAft>
                <a:spcPts val="0"/>
              </a:spcAft>
              <a:buNone/>
            </a:pPr>
            <a:r>
              <a:rPr lang="en-US" sz="1200"/>
              <a:t>The accepted run reports 100% groundedness, zero unsupported claims, and no orphan citation, PRD, or delivery records.</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en-US" sz="1200"/>
              <a:t>[Sources]</a:t>
            </a:r>
            <a:endParaRPr/>
          </a:p>
          <a:p>
            <a:pPr indent="0" lvl="0" marL="0" rtl="0" algn="l">
              <a:spcBef>
                <a:spcPts val="0"/>
              </a:spcBef>
              <a:spcAft>
                <a:spcPts val="0"/>
              </a:spcAft>
              <a:buNone/>
            </a:pPr>
            <a:r>
              <a:rPr lang="en-US" sz="1200"/>
              <a:t>- Evaluation Evidence/v0.3.8/PRD Genie — Source-to-Delivery Citation Traceability Matrix — RUN-S2-11902-16e7090e.md</a:t>
            </a:r>
            <a:endParaRPr/>
          </a:p>
          <a:p>
            <a:pPr indent="0" lvl="0" marL="0" rtl="0" algn="l">
              <a:spcBef>
                <a:spcPts val="0"/>
              </a:spcBef>
              <a:spcAft>
                <a:spcPts val="0"/>
              </a:spcAft>
              <a:buNone/>
            </a:pPr>
            <a:r>
              <a:rPr lang="en-US" sz="1200"/>
              <a:t>- Evaluation Evidence/v0.3.8/PRD Genie — Complete Citation Disposition Ledger — RUN-S2-11902-16e7090e.md</a:t>
            </a:r>
            <a:endParaRPr/>
          </a:p>
          <a:p>
            <a:pPr indent="0" lvl="0" marL="0" rtl="0" algn="l">
              <a:spcBef>
                <a:spcPts val="0"/>
              </a:spcBef>
              <a:spcAft>
                <a:spcPts val="0"/>
              </a:spcAft>
              <a:buNone/>
            </a:pPr>
            <a:r>
              <a:rPr lang="en-US" sz="1200"/>
              <a:t>- Accepted v0.3.8 traceability artifact: Google Drive file 1F92GAjQcMCKG-T-7EwBDslDRTDWwnG3N.</a:t>
            </a:r>
            <a:endParaRPr/>
          </a:p>
          <a:p>
            <a:pPr indent="0" lvl="0" marL="0" rtl="0" algn="l">
              <a:spcBef>
                <a:spcPts val="0"/>
              </a:spcBef>
              <a:spcAft>
                <a:spcPts val="0"/>
              </a:spcAft>
              <a:buNone/>
            </a:pPr>
            <a:r>
              <a:rPr lang="en-US" sz="1200"/>
              <a:t>GitHub evidence links</a:t>
            </a:r>
            <a:endParaRPr/>
          </a:p>
          <a:p>
            <a:pPr indent="0" lvl="0" marL="0" rtl="0" algn="l">
              <a:spcBef>
                <a:spcPts val="0"/>
              </a:spcBef>
              <a:spcAft>
                <a:spcPts val="0"/>
              </a:spcAft>
              <a:buNone/>
            </a:pPr>
            <a:r>
              <a:rPr lang="en-US" sz="1200"/>
              <a:t>- Complete 145-citation disposition ledger: https://github.com/vppuri-vjra/prd-genie/blob/main/releases/v0.3.8/evidence/PRD%20Genie%20%E2%80%94%20Complete%20Citation%20Disposition%20Ledger%20%E2%80%94%20RUN-S2-11902-16e7090e.md</a:t>
            </a:r>
            <a:endParaRPr/>
          </a:p>
          <a:p>
            <a:pPr indent="0" lvl="0" marL="0" rtl="0" algn="l">
              <a:spcBef>
                <a:spcPts val="0"/>
              </a:spcBef>
              <a:spcAft>
                <a:spcPts val="0"/>
              </a:spcAft>
              <a:buNone/>
            </a:pPr>
            <a:r>
              <a:rPr lang="en-US" sz="1200"/>
              <a:t>- Accepted v0.3.8 release commit: https://github.com/vppuri-vjra/prd-genie/commit/077f77c5aa71be97fa309b8b74ee01de15094388</a:t>
            </a:r>
            <a:endParaRPr/>
          </a:p>
        </p:txBody>
      </p:sp>
      <p:sp>
        <p:nvSpPr>
          <p:cNvPr id="1786" name="Google Shape;1786;p29: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20" name="Shape 1920"/>
        <p:cNvGrpSpPr/>
        <p:nvPr/>
      </p:nvGrpSpPr>
      <p:grpSpPr>
        <a:xfrm>
          <a:off x="0" y="0"/>
          <a:ext cx="0" cy="0"/>
          <a:chOff x="0" y="0"/>
          <a:chExt cx="0" cy="0"/>
        </a:xfrm>
      </p:grpSpPr>
      <p:sp>
        <p:nvSpPr>
          <p:cNvPr id="1921" name="Google Shape;1921;p3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922" name="Google Shape;1922;p3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t>A11 indexes the seven files exported by the first accepted v0.3.8 candidate execution 11901 / RUN-S2-11902-16e7090e.</a:t>
            </a:r>
            <a:endParaRPr/>
          </a:p>
          <a:p>
            <a:pPr indent="0" lvl="0" marL="0" rtl="0" algn="l">
              <a:spcBef>
                <a:spcPts val="0"/>
              </a:spcBef>
              <a:spcAft>
                <a:spcPts val="0"/>
              </a:spcAft>
              <a:buNone/>
            </a:pPr>
            <a:r>
              <a:rPr lang="en-US" sz="1200"/>
              <a:t>The three primary Markdown reviews are intended for human review. The four supporting files preserve machine-readable run, generation, story, and traceability evidence.</a:t>
            </a:r>
            <a:endParaRPr/>
          </a:p>
          <a:p>
            <a:pPr indent="0" lvl="0" marL="0" rtl="0" algn="l">
              <a:spcBef>
                <a:spcPts val="0"/>
              </a:spcBef>
              <a:spcAft>
                <a:spcPts val="0"/>
              </a:spcAft>
              <a:buNone/>
            </a:pPr>
            <a:r>
              <a:rPr lang="en-US" sz="1200"/>
              <a:t>The artifact IDs shown are the authoritative Google Drive records captured in the v0.3.8 workflow inventory and accepted-run snapshot.</a:t>
            </a:r>
            <a:endParaRPr/>
          </a:p>
          <a:p>
            <a:pPr indent="0" lvl="0" marL="0" rtl="0" algn="l">
              <a:spcBef>
                <a:spcPts val="0"/>
              </a:spcBef>
              <a:spcAft>
                <a:spcPts val="0"/>
              </a:spcAft>
              <a:buNone/>
            </a:pPr>
            <a:r>
              <a:rPr lang="en-US" sz="1200"/>
              <a:t>The complete 145-citation disposition ledger and accepted-run evidence package are now published on the repository's main branch.</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en-US" sz="1200"/>
              <a:t>[Sources]</a:t>
            </a:r>
            <a:endParaRPr/>
          </a:p>
          <a:p>
            <a:pPr indent="0" lvl="0" marL="0" rtl="0" algn="l">
              <a:spcBef>
                <a:spcPts val="0"/>
              </a:spcBef>
              <a:spcAft>
                <a:spcPts val="0"/>
              </a:spcAft>
              <a:buNone/>
            </a:pPr>
            <a:r>
              <a:rPr lang="en-US" sz="1200"/>
              <a:t>- Workflow Inventory/PRD Genie S2 - n8n Workflow Inventory - v0.3.8.md</a:t>
            </a:r>
            <a:endParaRPr/>
          </a:p>
          <a:p>
            <a:pPr indent="0" lvl="0" marL="0" rtl="0" algn="l">
              <a:spcBef>
                <a:spcPts val="0"/>
              </a:spcBef>
              <a:spcAft>
                <a:spcPts val="0"/>
              </a:spcAft>
              <a:buNone/>
            </a:pPr>
            <a:r>
              <a:rPr lang="en-US" sz="1200"/>
              <a:t>- Pre Overall Status/PRD Genie - Snapshot - v0.3.8 Candidate Run - 2026-08-17 2007 PDT.md</a:t>
            </a:r>
            <a:endParaRPr/>
          </a:p>
          <a:p>
            <a:pPr indent="0" lvl="0" marL="0" rtl="0" algn="l">
              <a:spcBef>
                <a:spcPts val="0"/>
              </a:spcBef>
              <a:spcAft>
                <a:spcPts val="0"/>
              </a:spcAft>
              <a:buNone/>
            </a:pPr>
            <a:r>
              <a:rPr lang="en-US" sz="1200"/>
              <a:t>- Evaluation Evidence/v0.3.8/PRD Genie — Validated Full PRD Review — RUN-S2-11902-16e7090e.md</a:t>
            </a:r>
            <a:endParaRPr/>
          </a:p>
          <a:p>
            <a:pPr indent="0" lvl="0" marL="0" rtl="0" algn="l">
              <a:spcBef>
                <a:spcPts val="0"/>
              </a:spcBef>
              <a:spcAft>
                <a:spcPts val="0"/>
              </a:spcAft>
              <a:buNone/>
            </a:pPr>
            <a:r>
              <a:rPr lang="en-US" sz="1200"/>
              <a:t>- Evaluation Evidence/v0.3.8/PRD Genie — Validated Epic Feature User Story Review — RUN-S2-11902-16e7090e.md</a:t>
            </a:r>
            <a:endParaRPr/>
          </a:p>
          <a:p>
            <a:pPr indent="0" lvl="0" marL="0" rtl="0" algn="l">
              <a:spcBef>
                <a:spcPts val="0"/>
              </a:spcBef>
              <a:spcAft>
                <a:spcPts val="0"/>
              </a:spcAft>
              <a:buNone/>
            </a:pPr>
            <a:r>
              <a:rPr lang="en-US" sz="1200"/>
              <a:t>- Evaluation Evidence/v0.3.8/PRD Genie — Proposed T-Shirt Sizing Review — RUN-S2-11902-16e7090e.md</a:t>
            </a:r>
            <a:endParaRPr/>
          </a:p>
          <a:p>
            <a:pPr indent="0" lvl="0" marL="0" rtl="0" algn="l">
              <a:spcBef>
                <a:spcPts val="0"/>
              </a:spcBef>
              <a:spcAft>
                <a:spcPts val="0"/>
              </a:spcAft>
              <a:buNone/>
            </a:pPr>
            <a:r>
              <a:rPr lang="en-US" sz="1200"/>
              <a:t>GitHub evidence links</a:t>
            </a:r>
            <a:endParaRPr/>
          </a:p>
          <a:p>
            <a:pPr indent="0" lvl="0" marL="0" rtl="0" algn="l">
              <a:spcBef>
                <a:spcPts val="0"/>
              </a:spcBef>
              <a:spcAft>
                <a:spcPts val="0"/>
              </a:spcAft>
              <a:buNone/>
            </a:pPr>
            <a:r>
              <a:rPr lang="en-US" sz="1200"/>
              <a:t>- Complete accepted-run evidence package: https://github.com/vppuri-vjra/prd-genie/tree/main/releases/v0.3.8/evidence</a:t>
            </a:r>
            <a:endParaRPr/>
          </a:p>
          <a:p>
            <a:pPr indent="0" lvl="0" marL="0" rtl="0" algn="l">
              <a:spcBef>
                <a:spcPts val="0"/>
              </a:spcBef>
              <a:spcAft>
                <a:spcPts val="0"/>
              </a:spcAft>
              <a:buNone/>
            </a:pPr>
            <a:r>
              <a:rPr lang="en-US" sz="1200"/>
              <a:t>- Accepted v0.3.8 release commit: https://github.com/vppuri-vjra/prd-genie/commit/077f77c5aa71be97fa309b8b74ee01de15094388</a:t>
            </a:r>
            <a:endParaRPr/>
          </a:p>
        </p:txBody>
      </p:sp>
      <p:sp>
        <p:nvSpPr>
          <p:cNvPr id="1923" name="Google Shape;1923;p30: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88" name="Shape 1988"/>
        <p:cNvGrpSpPr/>
        <p:nvPr/>
      </p:nvGrpSpPr>
      <p:grpSpPr>
        <a:xfrm>
          <a:off x="0" y="0"/>
          <a:ext cx="0" cy="0"/>
          <a:chOff x="0" y="0"/>
          <a:chExt cx="0" cy="0"/>
        </a:xfrm>
      </p:grpSpPr>
      <p:sp>
        <p:nvSpPr>
          <p:cNvPr id="1989" name="Google Shape;1989;p3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990" name="Google Shape;1990;p3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t>A12 documents the controlled version progression and the protected rollback checkpoint for the accepted v0.3.8 submission candidate.</a:t>
            </a:r>
            <a:endParaRPr/>
          </a:p>
          <a:p>
            <a:pPr indent="0" lvl="0" marL="0" rtl="0" algn="l">
              <a:spcBef>
                <a:spcPts val="0"/>
              </a:spcBef>
              <a:spcAft>
                <a:spcPts val="0"/>
              </a:spcAft>
              <a:buNone/>
            </a:pPr>
            <a:r>
              <a:rPr lang="en-US" sz="1200"/>
              <a:t>v0.3.7 remains unchanged as the last proven production workflow set. Commit c5ae311 captured the exact live workflows; merge commit 57618f6 (PR #16) preserved that checkpoint on main.</a:t>
            </a:r>
            <a:endParaRPr/>
          </a:p>
          <a:p>
            <a:pPr indent="0" lvl="0" marL="0" rtl="0" algn="l">
              <a:spcBef>
                <a:spcPts val="0"/>
              </a:spcBef>
              <a:spcAft>
                <a:spcPts val="0"/>
              </a:spcAft>
              <a:buNone/>
            </a:pPr>
            <a:r>
              <a:rPr lang="en-US" sz="1200"/>
              <a:t>The accepted v0.3.8 submission package is commit 077f77c. Its accepted run is execution 11901 / RUN-S2-11902-16e7090e, with seven exported artifacts, 11/11 sizing, and release authorization.</a:t>
            </a:r>
            <a:endParaRPr/>
          </a:p>
          <a:p>
            <a:pPr indent="0" lvl="0" marL="0" rtl="0" algn="l">
              <a:spcBef>
                <a:spcPts val="0"/>
              </a:spcBef>
              <a:spcAft>
                <a:spcPts val="0"/>
              </a:spcAft>
              <a:buNone/>
            </a:pPr>
            <a:r>
              <a:rPr lang="en-US" sz="1200"/>
              <a:t>No rollback action was executed; this slide documents recoverability and evidence preservation.</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en-US" sz="1200"/>
              <a:t>[Sources]</a:t>
            </a:r>
            <a:endParaRPr/>
          </a:p>
          <a:p>
            <a:pPr indent="0" lvl="0" marL="0" rtl="0" algn="l">
              <a:spcBef>
                <a:spcPts val="0"/>
              </a:spcBef>
              <a:spcAft>
                <a:spcPts val="0"/>
              </a:spcAft>
              <a:buNone/>
            </a:pPr>
            <a:r>
              <a:rPr lang="en-US" sz="1200"/>
              <a:t>- prd-genie-v0.3.8-inventory.md</a:t>
            </a:r>
            <a:endParaRPr/>
          </a:p>
          <a:p>
            <a:pPr indent="0" lvl="0" marL="0" rtl="0" algn="l">
              <a:spcBef>
                <a:spcPts val="0"/>
              </a:spcBef>
              <a:spcAft>
                <a:spcPts val="0"/>
              </a:spcAft>
              <a:buNone/>
            </a:pPr>
            <a:r>
              <a:rPr lang="en-US" sz="1200"/>
              <a:t>- https://github.com/vppuri-vjra/prd-genie/commit/077f77c5aa71be97fa309b8b74ee01de15094388</a:t>
            </a:r>
            <a:endParaRPr/>
          </a:p>
          <a:p>
            <a:pPr indent="0" lvl="0" marL="0" rtl="0" algn="l">
              <a:spcBef>
                <a:spcPts val="0"/>
              </a:spcBef>
              <a:spcAft>
                <a:spcPts val="0"/>
              </a:spcAft>
              <a:buNone/>
            </a:pPr>
            <a:r>
              <a:rPr lang="en-US" sz="1200"/>
              <a:t>- https://github.com/vppuri-vjra/prd-genie/commit/c5ae311</a:t>
            </a:r>
            <a:endParaRPr/>
          </a:p>
          <a:p>
            <a:pPr indent="0" lvl="0" marL="0" rtl="0" algn="l">
              <a:spcBef>
                <a:spcPts val="0"/>
              </a:spcBef>
              <a:spcAft>
                <a:spcPts val="0"/>
              </a:spcAft>
              <a:buNone/>
            </a:pPr>
            <a:r>
              <a:rPr lang="en-US" sz="1200"/>
              <a:t>- https://github.com/vppuri-vjra/prd-genie/commit/57618f6</a:t>
            </a:r>
            <a:endParaRPr/>
          </a:p>
        </p:txBody>
      </p:sp>
      <p:sp>
        <p:nvSpPr>
          <p:cNvPr id="1991" name="Google Shape;1991;p3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0" name="Shape 1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9"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4EE"/>
        </a:solidFill>
      </p:bgPr>
    </p:bg>
    <p:spTree>
      <p:nvGrpSpPr>
        <p:cNvPr id="15" name="Shape 15"/>
        <p:cNvGrpSpPr/>
        <p:nvPr/>
      </p:nvGrpSpPr>
      <p:grpSpPr>
        <a:xfrm>
          <a:off x="0" y="0"/>
          <a:ext cx="0" cy="0"/>
          <a:chOff x="0" y="0"/>
          <a:chExt cx="0" cy="0"/>
        </a:xfrm>
      </p:grpSpPr>
      <p:sp>
        <p:nvSpPr>
          <p:cNvPr id="16" name="Google Shape;16;p1"/>
          <p:cNvSpPr/>
          <p:nvPr/>
        </p:nvSpPr>
        <p:spPr>
          <a:xfrm>
            <a:off x="0" y="0"/>
            <a:ext cx="12192000" cy="76200"/>
          </a:xfrm>
          <a:prstGeom prst="rect">
            <a:avLst/>
          </a:prstGeom>
          <a:solidFill>
            <a:srgbClr val="B85042"/>
          </a:solidFill>
          <a:ln cap="flat" cmpd="sng" w="9525">
            <a:solidFill>
              <a:srgbClr val="B8504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 name="Google Shape;17;p1"/>
          <p:cNvSpPr/>
          <p:nvPr/>
        </p:nvSpPr>
        <p:spPr>
          <a:xfrm>
            <a:off x="819150" y="1638300"/>
            <a:ext cx="76200" cy="2038350"/>
          </a:xfrm>
          <a:prstGeom prst="rect">
            <a:avLst/>
          </a:prstGeom>
          <a:solidFill>
            <a:srgbClr val="B85042"/>
          </a:solidFill>
          <a:ln cap="flat" cmpd="sng" w="9525">
            <a:solidFill>
              <a:srgbClr val="B8504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 name="Google Shape;18;p1"/>
          <p:cNvSpPr/>
          <p:nvPr/>
        </p:nvSpPr>
        <p:spPr>
          <a:xfrm>
            <a:off x="1104900" y="1104900"/>
            <a:ext cx="4476750" cy="2857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B85042"/>
              </a:buClr>
              <a:buSzPts val="1125"/>
              <a:buFont typeface="Arial"/>
              <a:buNone/>
            </a:pPr>
            <a:r>
              <a:rPr b="1" lang="en-US" sz="1125">
                <a:solidFill>
                  <a:srgbClr val="B85042"/>
                </a:solidFill>
              </a:rPr>
              <a:t>v0.3.8  ·  SUBMISSION BASELINE</a:t>
            </a:r>
            <a:endParaRPr/>
          </a:p>
        </p:txBody>
      </p:sp>
      <p:sp>
        <p:nvSpPr>
          <p:cNvPr id="19" name="Google Shape;19;p1"/>
          <p:cNvSpPr/>
          <p:nvPr/>
        </p:nvSpPr>
        <p:spPr>
          <a:xfrm>
            <a:off x="1104900" y="1657350"/>
            <a:ext cx="9144000" cy="8763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4350"/>
              <a:buFont typeface="Arial"/>
              <a:buNone/>
            </a:pPr>
            <a:r>
              <a:rPr b="1" lang="en-US" sz="4350">
                <a:solidFill>
                  <a:srgbClr val="1A1A2E"/>
                </a:solidFill>
              </a:rPr>
              <a:t>PRD Genie</a:t>
            </a:r>
            <a:endParaRPr/>
          </a:p>
        </p:txBody>
      </p:sp>
      <p:sp>
        <p:nvSpPr>
          <p:cNvPr id="20" name="Google Shape;20;p1"/>
          <p:cNvSpPr/>
          <p:nvPr/>
        </p:nvSpPr>
        <p:spPr>
          <a:xfrm>
            <a:off x="1123950" y="2686050"/>
            <a:ext cx="8572500" cy="819150"/>
          </a:xfrm>
          <a:prstGeom prst="rect">
            <a:avLst/>
          </a:prstGeom>
          <a:noFill/>
          <a:ln>
            <a:noFill/>
          </a:ln>
        </p:spPr>
        <p:txBody>
          <a:bodyPr anchorCtr="0" anchor="t" bIns="45700" lIns="91425" spcFirstLastPara="1" rIns="91425" wrap="square" tIns="45700">
            <a:noAutofit/>
          </a:bodyPr>
          <a:lstStyle/>
          <a:p>
            <a:pPr indent="0" lvl="0" marL="0" marR="0" rtl="0" algn="l">
              <a:lnSpc>
                <a:spcPct val="112000"/>
              </a:lnSpc>
              <a:spcBef>
                <a:spcPts val="0"/>
              </a:spcBef>
              <a:spcAft>
                <a:spcPts val="0"/>
              </a:spcAft>
              <a:buClr>
                <a:srgbClr val="4F5563"/>
              </a:buClr>
              <a:buSzPts val="1875"/>
              <a:buFont typeface="Arial"/>
              <a:buNone/>
            </a:pPr>
            <a:r>
              <a:rPr lang="en-US" sz="1875">
                <a:solidFill>
                  <a:srgbClr val="4F5563"/>
                </a:solidFill>
              </a:rPr>
              <a:t>An evidence-governed multi-agent pipeline</a:t>
            </a:r>
            <a:endParaRPr/>
          </a:p>
          <a:p>
            <a:pPr indent="0" lvl="0" marL="0" marR="0" rtl="0" algn="l">
              <a:lnSpc>
                <a:spcPct val="112000"/>
              </a:lnSpc>
              <a:spcBef>
                <a:spcPts val="0"/>
              </a:spcBef>
              <a:spcAft>
                <a:spcPts val="0"/>
              </a:spcAft>
              <a:buClr>
                <a:srgbClr val="4F5563"/>
              </a:buClr>
              <a:buSzPts val="1875"/>
              <a:buFont typeface="Arial"/>
              <a:buNone/>
            </a:pPr>
            <a:r>
              <a:rPr lang="en-US" sz="1875">
                <a:solidFill>
                  <a:srgbClr val="4F5563"/>
                </a:solidFill>
              </a:rPr>
              <a:t>from source documents to planning-ready delivery.</a:t>
            </a:r>
            <a:endParaRPr/>
          </a:p>
        </p:txBody>
      </p:sp>
      <p:sp>
        <p:nvSpPr>
          <p:cNvPr id="21" name="Google Shape;21;p1"/>
          <p:cNvSpPr/>
          <p:nvPr/>
        </p:nvSpPr>
        <p:spPr>
          <a:xfrm>
            <a:off x="1123950" y="3943350"/>
            <a:ext cx="7810500" cy="2667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86B72"/>
              </a:buClr>
              <a:buSzPts val="1200"/>
              <a:buFont typeface="Arial"/>
              <a:buNone/>
            </a:pPr>
            <a:r>
              <a:rPr lang="en-US" sz="1200">
                <a:solidFill>
                  <a:srgbClr val="686B72"/>
                </a:solidFill>
              </a:rPr>
              <a:t>Vipin Puri   ·   IK S2 Capstone Program   ·   August 2026</a:t>
            </a:r>
            <a:endParaRPr/>
          </a:p>
        </p:txBody>
      </p:sp>
      <p:sp>
        <p:nvSpPr>
          <p:cNvPr id="22" name="Google Shape;22;p1"/>
          <p:cNvSpPr/>
          <p:nvPr/>
        </p:nvSpPr>
        <p:spPr>
          <a:xfrm>
            <a:off x="1123950" y="5505450"/>
            <a:ext cx="1619250" cy="247650"/>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Clr>
                <a:srgbClr val="1A1A2E"/>
              </a:buClr>
              <a:buSzPts val="1050"/>
              <a:buFont typeface="Arial"/>
              <a:buNone/>
            </a:pPr>
            <a:r>
              <a:rPr b="1" lang="en-US" sz="1050">
                <a:solidFill>
                  <a:srgbClr val="1A1A2E"/>
                </a:solidFill>
              </a:rPr>
              <a:t>Source evidence</a:t>
            </a:r>
            <a:endParaRPr/>
          </a:p>
        </p:txBody>
      </p:sp>
      <p:sp>
        <p:nvSpPr>
          <p:cNvPr id="23" name="Google Shape;23;p1"/>
          <p:cNvSpPr/>
          <p:nvPr/>
        </p:nvSpPr>
        <p:spPr>
          <a:xfrm>
            <a:off x="3105150" y="5505450"/>
            <a:ext cx="1428750" cy="247650"/>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Clr>
                <a:srgbClr val="1A1A2E"/>
              </a:buClr>
              <a:buSzPts val="1050"/>
              <a:buFont typeface="Arial"/>
              <a:buNone/>
            </a:pPr>
            <a:r>
              <a:rPr b="1" lang="en-US" sz="1050">
                <a:solidFill>
                  <a:srgbClr val="1A1A2E"/>
                </a:solidFill>
              </a:rPr>
              <a:t>Requirements</a:t>
            </a:r>
            <a:endParaRPr/>
          </a:p>
        </p:txBody>
      </p:sp>
      <p:sp>
        <p:nvSpPr>
          <p:cNvPr id="24" name="Google Shape;24;p1"/>
          <p:cNvSpPr/>
          <p:nvPr/>
        </p:nvSpPr>
        <p:spPr>
          <a:xfrm>
            <a:off x="4895850" y="5505450"/>
            <a:ext cx="685800" cy="247650"/>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Clr>
                <a:srgbClr val="1A1A2E"/>
              </a:buClr>
              <a:buSzPts val="1050"/>
              <a:buFont typeface="Arial"/>
              <a:buNone/>
            </a:pPr>
            <a:r>
              <a:rPr b="1" lang="en-US" sz="1050">
                <a:solidFill>
                  <a:srgbClr val="1A1A2E"/>
                </a:solidFill>
              </a:rPr>
              <a:t>PRD</a:t>
            </a:r>
            <a:endParaRPr/>
          </a:p>
        </p:txBody>
      </p:sp>
      <p:sp>
        <p:nvSpPr>
          <p:cNvPr id="25" name="Google Shape;25;p1"/>
          <p:cNvSpPr/>
          <p:nvPr/>
        </p:nvSpPr>
        <p:spPr>
          <a:xfrm>
            <a:off x="5943600" y="5505450"/>
            <a:ext cx="819150" cy="247650"/>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Clr>
                <a:srgbClr val="1A1A2E"/>
              </a:buClr>
              <a:buSzPts val="1050"/>
              <a:buFont typeface="Arial"/>
              <a:buNone/>
            </a:pPr>
            <a:r>
              <a:rPr b="1" lang="en-US" sz="1050">
                <a:solidFill>
                  <a:srgbClr val="1A1A2E"/>
                </a:solidFill>
              </a:rPr>
              <a:t>Stories</a:t>
            </a:r>
            <a:endParaRPr/>
          </a:p>
        </p:txBody>
      </p:sp>
      <p:sp>
        <p:nvSpPr>
          <p:cNvPr id="26" name="Google Shape;26;p1"/>
          <p:cNvSpPr/>
          <p:nvPr/>
        </p:nvSpPr>
        <p:spPr>
          <a:xfrm>
            <a:off x="7124700" y="5505450"/>
            <a:ext cx="1219200" cy="247650"/>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Clr>
                <a:srgbClr val="1A1A2E"/>
              </a:buClr>
              <a:buSzPts val="1050"/>
              <a:buFont typeface="Arial"/>
              <a:buNone/>
            </a:pPr>
            <a:r>
              <a:rPr b="1" lang="en-US" sz="1050">
                <a:solidFill>
                  <a:srgbClr val="1A1A2E"/>
                </a:solidFill>
              </a:rPr>
              <a:t>Validation</a:t>
            </a:r>
            <a:endParaRPr/>
          </a:p>
        </p:txBody>
      </p:sp>
      <p:sp>
        <p:nvSpPr>
          <p:cNvPr id="27" name="Google Shape;27;p1"/>
          <p:cNvSpPr/>
          <p:nvPr/>
        </p:nvSpPr>
        <p:spPr>
          <a:xfrm>
            <a:off x="8705850" y="5505450"/>
            <a:ext cx="781050" cy="247650"/>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Clr>
                <a:srgbClr val="1A1A2E"/>
              </a:buClr>
              <a:buSzPts val="1050"/>
              <a:buFont typeface="Arial"/>
              <a:buNone/>
            </a:pPr>
            <a:r>
              <a:rPr b="1" lang="en-US" sz="1050">
                <a:solidFill>
                  <a:srgbClr val="1A1A2E"/>
                </a:solidFill>
              </a:rPr>
              <a:t>Sizing</a:t>
            </a:r>
            <a:endParaRPr/>
          </a:p>
        </p:txBody>
      </p:sp>
      <p:sp>
        <p:nvSpPr>
          <p:cNvPr id="28" name="Google Shape;28;p1"/>
          <p:cNvSpPr/>
          <p:nvPr/>
        </p:nvSpPr>
        <p:spPr>
          <a:xfrm>
            <a:off x="9848850" y="5505450"/>
            <a:ext cx="952500" cy="247650"/>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Clr>
                <a:srgbClr val="1A1A2E"/>
              </a:buClr>
              <a:buSzPts val="1050"/>
              <a:buFont typeface="Arial"/>
              <a:buNone/>
            </a:pPr>
            <a:r>
              <a:rPr b="1" lang="en-US" sz="1050">
                <a:solidFill>
                  <a:srgbClr val="1A1A2E"/>
                </a:solidFill>
              </a:rPr>
              <a:t>Delivery</a:t>
            </a:r>
            <a:endParaRPr/>
          </a:p>
        </p:txBody>
      </p:sp>
      <p:sp>
        <p:nvSpPr>
          <p:cNvPr id="29" name="Google Shape;29;p1"/>
          <p:cNvSpPr/>
          <p:nvPr/>
        </p:nvSpPr>
        <p:spPr>
          <a:xfrm>
            <a:off x="2781300" y="5486400"/>
            <a:ext cx="266700" cy="266700"/>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Clr>
                <a:srgbClr val="B85042"/>
              </a:buClr>
              <a:buSzPts val="1500"/>
              <a:buFont typeface="Arial"/>
              <a:buNone/>
            </a:pPr>
            <a:r>
              <a:rPr b="1" lang="en-US" sz="1500">
                <a:solidFill>
                  <a:srgbClr val="B85042"/>
                </a:solidFill>
              </a:rPr>
              <a:t>→</a:t>
            </a:r>
            <a:endParaRPr/>
          </a:p>
        </p:txBody>
      </p:sp>
      <p:sp>
        <p:nvSpPr>
          <p:cNvPr id="30" name="Google Shape;30;p1"/>
          <p:cNvSpPr/>
          <p:nvPr/>
        </p:nvSpPr>
        <p:spPr>
          <a:xfrm>
            <a:off x="4610100" y="5486400"/>
            <a:ext cx="266700" cy="266700"/>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Clr>
                <a:srgbClr val="B85042"/>
              </a:buClr>
              <a:buSzPts val="1500"/>
              <a:buFont typeface="Arial"/>
              <a:buNone/>
            </a:pPr>
            <a:r>
              <a:rPr b="1" lang="en-US" sz="1500">
                <a:solidFill>
                  <a:srgbClr val="B85042"/>
                </a:solidFill>
              </a:rPr>
              <a:t>→</a:t>
            </a:r>
            <a:endParaRPr/>
          </a:p>
        </p:txBody>
      </p:sp>
      <p:sp>
        <p:nvSpPr>
          <p:cNvPr id="31" name="Google Shape;31;p1"/>
          <p:cNvSpPr/>
          <p:nvPr/>
        </p:nvSpPr>
        <p:spPr>
          <a:xfrm>
            <a:off x="5619750" y="5486400"/>
            <a:ext cx="266700" cy="266700"/>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Clr>
                <a:srgbClr val="B85042"/>
              </a:buClr>
              <a:buSzPts val="1500"/>
              <a:buFont typeface="Arial"/>
              <a:buNone/>
            </a:pPr>
            <a:r>
              <a:rPr b="1" lang="en-US" sz="1500">
                <a:solidFill>
                  <a:srgbClr val="B85042"/>
                </a:solidFill>
              </a:rPr>
              <a:t>→</a:t>
            </a:r>
            <a:endParaRPr/>
          </a:p>
        </p:txBody>
      </p:sp>
      <p:sp>
        <p:nvSpPr>
          <p:cNvPr id="32" name="Google Shape;32;p1"/>
          <p:cNvSpPr/>
          <p:nvPr/>
        </p:nvSpPr>
        <p:spPr>
          <a:xfrm>
            <a:off x="6819900" y="5486400"/>
            <a:ext cx="266700" cy="266700"/>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Clr>
                <a:srgbClr val="B85042"/>
              </a:buClr>
              <a:buSzPts val="1500"/>
              <a:buFont typeface="Arial"/>
              <a:buNone/>
            </a:pPr>
            <a:r>
              <a:rPr b="1" lang="en-US" sz="1500">
                <a:solidFill>
                  <a:srgbClr val="B85042"/>
                </a:solidFill>
              </a:rPr>
              <a:t>→</a:t>
            </a:r>
            <a:endParaRPr/>
          </a:p>
        </p:txBody>
      </p:sp>
      <p:sp>
        <p:nvSpPr>
          <p:cNvPr id="33" name="Google Shape;33;p1"/>
          <p:cNvSpPr/>
          <p:nvPr/>
        </p:nvSpPr>
        <p:spPr>
          <a:xfrm>
            <a:off x="8420100" y="5486400"/>
            <a:ext cx="266700" cy="266700"/>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Clr>
                <a:srgbClr val="B85042"/>
              </a:buClr>
              <a:buSzPts val="1500"/>
              <a:buFont typeface="Arial"/>
              <a:buNone/>
            </a:pPr>
            <a:r>
              <a:rPr b="1" lang="en-US" sz="1500">
                <a:solidFill>
                  <a:srgbClr val="B85042"/>
                </a:solidFill>
              </a:rPr>
              <a:t>→</a:t>
            </a:r>
            <a:endParaRPr/>
          </a:p>
        </p:txBody>
      </p:sp>
      <p:sp>
        <p:nvSpPr>
          <p:cNvPr id="34" name="Google Shape;34;p1"/>
          <p:cNvSpPr/>
          <p:nvPr/>
        </p:nvSpPr>
        <p:spPr>
          <a:xfrm>
            <a:off x="9563100" y="5486400"/>
            <a:ext cx="266700" cy="266700"/>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Clr>
                <a:srgbClr val="B85042"/>
              </a:buClr>
              <a:buSzPts val="1500"/>
              <a:buFont typeface="Arial"/>
              <a:buNone/>
            </a:pPr>
            <a:r>
              <a:rPr b="1" lang="en-US" sz="1500">
                <a:solidFill>
                  <a:srgbClr val="B85042"/>
                </a:solidFill>
              </a:rPr>
              <a:t>→</a:t>
            </a:r>
            <a:endParaRPr/>
          </a:p>
        </p:txBody>
      </p:sp>
      <p:sp>
        <p:nvSpPr>
          <p:cNvPr id="35" name="Google Shape;35;p1"/>
          <p:cNvSpPr/>
          <p:nvPr/>
        </p:nvSpPr>
        <p:spPr>
          <a:xfrm>
            <a:off x="1123950" y="5943600"/>
            <a:ext cx="2286000" cy="2095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898A8F"/>
              </a:buClr>
              <a:buSzPts val="900"/>
              <a:buFont typeface="Arial"/>
              <a:buNone/>
            </a:pPr>
            <a:r>
              <a:rPr i="1" lang="en-US" sz="900">
                <a:solidFill>
                  <a:srgbClr val="898A8F"/>
                </a:solidFill>
              </a:rPr>
              <a:t>Governed evidence lineage</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4EE"/>
        </a:solidFill>
      </p:bgPr>
    </p:bg>
    <p:spTree>
      <p:nvGrpSpPr>
        <p:cNvPr id="40" name="Shape 40"/>
        <p:cNvGrpSpPr/>
        <p:nvPr/>
      </p:nvGrpSpPr>
      <p:grpSpPr>
        <a:xfrm>
          <a:off x="0" y="0"/>
          <a:ext cx="0" cy="0"/>
          <a:chOff x="0" y="0"/>
          <a:chExt cx="0" cy="0"/>
        </a:xfrm>
      </p:grpSpPr>
      <p:sp>
        <p:nvSpPr>
          <p:cNvPr id="41" name="Google Shape;41;p2"/>
          <p:cNvSpPr/>
          <p:nvPr/>
        </p:nvSpPr>
        <p:spPr>
          <a:xfrm>
            <a:off x="0" y="0"/>
            <a:ext cx="12192000" cy="76200"/>
          </a:xfrm>
          <a:prstGeom prst="rect">
            <a:avLst/>
          </a:prstGeom>
          <a:solidFill>
            <a:srgbClr val="B85042"/>
          </a:solidFill>
          <a:ln cap="flat" cmpd="sng" w="9525">
            <a:solidFill>
              <a:srgbClr val="B8504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 name="Google Shape;42;p2"/>
          <p:cNvSpPr/>
          <p:nvPr/>
        </p:nvSpPr>
        <p:spPr>
          <a:xfrm>
            <a:off x="514350" y="742950"/>
            <a:ext cx="66675" cy="866775"/>
          </a:xfrm>
          <a:prstGeom prst="rect">
            <a:avLst/>
          </a:prstGeom>
          <a:solidFill>
            <a:srgbClr val="B85042"/>
          </a:solidFill>
          <a:ln cap="flat" cmpd="sng" w="9525">
            <a:solidFill>
              <a:srgbClr val="B8504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 name="Google Shape;43;p2"/>
          <p:cNvSpPr/>
          <p:nvPr/>
        </p:nvSpPr>
        <p:spPr>
          <a:xfrm>
            <a:off x="781050" y="552450"/>
            <a:ext cx="4095750" cy="2667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B85042"/>
              </a:buClr>
              <a:buSzPts val="975"/>
              <a:buFont typeface="Arial"/>
              <a:buNone/>
            </a:pPr>
            <a:r>
              <a:rPr b="1" lang="en-US" sz="975">
                <a:solidFill>
                  <a:srgbClr val="B85042"/>
                </a:solidFill>
              </a:rPr>
              <a:t>02  ·  EXECUTIVE SUMMARY</a:t>
            </a:r>
            <a:endParaRPr/>
          </a:p>
        </p:txBody>
      </p:sp>
      <p:sp>
        <p:nvSpPr>
          <p:cNvPr id="44" name="Google Shape;44;p2"/>
          <p:cNvSpPr/>
          <p:nvPr/>
        </p:nvSpPr>
        <p:spPr>
          <a:xfrm>
            <a:off x="781050" y="885825"/>
            <a:ext cx="10648950" cy="80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2550"/>
              <a:buFont typeface="Arial"/>
              <a:buNone/>
            </a:pPr>
            <a:r>
              <a:rPr b="1" lang="en-US" sz="2550">
                <a:solidFill>
                  <a:srgbClr val="1A1A2E"/>
                </a:solidFill>
              </a:rPr>
              <a:t>A governed pipeline turns fragmented evidence into traceable delivery</a:t>
            </a:r>
            <a:endParaRPr/>
          </a:p>
        </p:txBody>
      </p:sp>
      <p:sp>
        <p:nvSpPr>
          <p:cNvPr id="45" name="Google Shape;45;p2"/>
          <p:cNvSpPr/>
          <p:nvPr/>
        </p:nvSpPr>
        <p:spPr>
          <a:xfrm>
            <a:off x="781050" y="2171700"/>
            <a:ext cx="3143250" cy="2667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1050"/>
              <a:buFont typeface="Arial"/>
              <a:buNone/>
            </a:pPr>
            <a:r>
              <a:rPr b="1" lang="en-US" sz="1050">
                <a:solidFill>
                  <a:srgbClr val="666B70"/>
                </a:solidFill>
              </a:rPr>
              <a:t>THE CHALLENGE</a:t>
            </a:r>
            <a:endParaRPr/>
          </a:p>
        </p:txBody>
      </p:sp>
      <p:sp>
        <p:nvSpPr>
          <p:cNvPr id="46" name="Google Shape;46;p2"/>
          <p:cNvSpPr/>
          <p:nvPr/>
        </p:nvSpPr>
        <p:spPr>
          <a:xfrm>
            <a:off x="781050" y="2533650"/>
            <a:ext cx="3143250" cy="5905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1875"/>
              <a:buFont typeface="Arial"/>
              <a:buNone/>
            </a:pPr>
            <a:r>
              <a:rPr b="1" lang="en-US" sz="1875">
                <a:solidFill>
                  <a:srgbClr val="1A1A2E"/>
                </a:solidFill>
              </a:rPr>
              <a:t>Manual reconciliation slows delivery</a:t>
            </a:r>
            <a:endParaRPr/>
          </a:p>
        </p:txBody>
      </p:sp>
      <p:sp>
        <p:nvSpPr>
          <p:cNvPr id="47" name="Google Shape;47;p2"/>
          <p:cNvSpPr/>
          <p:nvPr/>
        </p:nvSpPr>
        <p:spPr>
          <a:xfrm>
            <a:off x="781050" y="3276600"/>
            <a:ext cx="3143250" cy="12001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1275"/>
              <a:buFont typeface="Arial"/>
              <a:buNone/>
            </a:pPr>
            <a:r>
              <a:rPr lang="en-US" sz="1275">
                <a:solidFill>
                  <a:srgbClr val="666B70"/>
                </a:solidFill>
              </a:rPr>
              <a:t>Transcripts, briefs, notes, and stakeholder decisions are reconciled by hand—creating delay, inconsistency, and weak source traceability.</a:t>
            </a:r>
            <a:endParaRPr/>
          </a:p>
        </p:txBody>
      </p:sp>
      <p:sp>
        <p:nvSpPr>
          <p:cNvPr id="48" name="Google Shape;48;p2"/>
          <p:cNvSpPr/>
          <p:nvPr/>
        </p:nvSpPr>
        <p:spPr>
          <a:xfrm>
            <a:off x="4162425" y="2171700"/>
            <a:ext cx="14288" cy="2724150"/>
          </a:xfrm>
          <a:prstGeom prst="rect">
            <a:avLst/>
          </a:prstGeom>
          <a:solidFill>
            <a:srgbClr val="DED8D0"/>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 name="Google Shape;49;p2"/>
          <p:cNvSpPr/>
          <p:nvPr/>
        </p:nvSpPr>
        <p:spPr>
          <a:xfrm>
            <a:off x="4419600" y="2171700"/>
            <a:ext cx="3143250" cy="2667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B85042"/>
              </a:buClr>
              <a:buSzPts val="1050"/>
              <a:buFont typeface="Arial"/>
              <a:buNone/>
            </a:pPr>
            <a:r>
              <a:rPr b="1" lang="en-US" sz="1050">
                <a:solidFill>
                  <a:srgbClr val="B85042"/>
                </a:solidFill>
              </a:rPr>
              <a:t>THE GOVERNED RESPONSE</a:t>
            </a:r>
            <a:endParaRPr/>
          </a:p>
        </p:txBody>
      </p:sp>
      <p:sp>
        <p:nvSpPr>
          <p:cNvPr id="50" name="Google Shape;50;p2"/>
          <p:cNvSpPr/>
          <p:nvPr/>
        </p:nvSpPr>
        <p:spPr>
          <a:xfrm>
            <a:off x="4419600" y="2533650"/>
            <a:ext cx="3143250" cy="5905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1875"/>
              <a:buFont typeface="Arial"/>
              <a:buNone/>
            </a:pPr>
            <a:r>
              <a:rPr b="1" lang="en-US" sz="1875">
                <a:solidFill>
                  <a:srgbClr val="1A1A2E"/>
                </a:solidFill>
              </a:rPr>
              <a:t>Specialized agents preserve evidence</a:t>
            </a:r>
            <a:endParaRPr/>
          </a:p>
        </p:txBody>
      </p:sp>
      <p:sp>
        <p:nvSpPr>
          <p:cNvPr id="51" name="Google Shape;51;p2"/>
          <p:cNvSpPr/>
          <p:nvPr/>
        </p:nvSpPr>
        <p:spPr>
          <a:xfrm>
            <a:off x="4419600" y="3276600"/>
            <a:ext cx="3143250" cy="12001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1275"/>
              <a:buFont typeface="Arial"/>
              <a:buNone/>
            </a:pPr>
            <a:r>
              <a:rPr lang="en-US" sz="1275">
                <a:solidFill>
                  <a:srgbClr val="666B70"/>
                </a:solidFill>
              </a:rPr>
              <a:t>Nine coordinated workflows ingest evidence, extract requirements, expose gaps, obtain human approval, generate artifacts, validate lineage, and size stories.</a:t>
            </a:r>
            <a:endParaRPr/>
          </a:p>
        </p:txBody>
      </p:sp>
      <p:sp>
        <p:nvSpPr>
          <p:cNvPr id="52" name="Google Shape;52;p2"/>
          <p:cNvSpPr/>
          <p:nvPr/>
        </p:nvSpPr>
        <p:spPr>
          <a:xfrm>
            <a:off x="7800975" y="2171700"/>
            <a:ext cx="14288" cy="2724150"/>
          </a:xfrm>
          <a:prstGeom prst="rect">
            <a:avLst/>
          </a:prstGeom>
          <a:solidFill>
            <a:srgbClr val="DED8D0"/>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 name="Google Shape;53;p2"/>
          <p:cNvSpPr/>
          <p:nvPr/>
        </p:nvSpPr>
        <p:spPr>
          <a:xfrm>
            <a:off x="8058150" y="2171700"/>
            <a:ext cx="3143250" cy="2667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F6F57"/>
              </a:buClr>
              <a:buSzPts val="1050"/>
              <a:buFont typeface="Arial"/>
              <a:buNone/>
            </a:pPr>
            <a:r>
              <a:rPr b="1" lang="en-US" sz="1050">
                <a:solidFill>
                  <a:srgbClr val="2F6F57"/>
                </a:solidFill>
              </a:rPr>
              <a:t>THE VALIDATED OUTCOME</a:t>
            </a:r>
            <a:endParaRPr/>
          </a:p>
        </p:txBody>
      </p:sp>
      <p:sp>
        <p:nvSpPr>
          <p:cNvPr id="54" name="Google Shape;54;p2"/>
          <p:cNvSpPr/>
          <p:nvPr/>
        </p:nvSpPr>
        <p:spPr>
          <a:xfrm>
            <a:off x="8058150" y="2533650"/>
            <a:ext cx="3143250" cy="5905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1875"/>
              <a:buFont typeface="Arial"/>
              <a:buNone/>
            </a:pPr>
            <a:r>
              <a:rPr b="1" lang="en-US" sz="1875">
                <a:solidFill>
                  <a:srgbClr val="1A1A2E"/>
                </a:solidFill>
              </a:rPr>
              <a:t>Planning-ready artifacts with controls</a:t>
            </a:r>
            <a:endParaRPr/>
          </a:p>
        </p:txBody>
      </p:sp>
      <p:sp>
        <p:nvSpPr>
          <p:cNvPr id="55" name="Google Shape;55;p2"/>
          <p:cNvSpPr/>
          <p:nvPr/>
        </p:nvSpPr>
        <p:spPr>
          <a:xfrm>
            <a:off x="8058150" y="3238500"/>
            <a:ext cx="3143250" cy="14097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1200"/>
              <a:buFont typeface="Arial"/>
              <a:buNone/>
            </a:pPr>
            <a:r>
              <a:rPr lang="en-US" sz="1200">
                <a:solidFill>
                  <a:srgbClr val="666B70"/>
                </a:solidFill>
              </a:rPr>
              <a:t>• Corrected ten-section PRD</a:t>
            </a:r>
            <a:endParaRPr/>
          </a:p>
          <a:p>
            <a:pPr indent="0" lvl="0" marL="0" marR="0" rtl="0" algn="l">
              <a:spcBef>
                <a:spcPts val="0"/>
              </a:spcBef>
              <a:spcAft>
                <a:spcPts val="0"/>
              </a:spcAft>
              <a:buClr>
                <a:srgbClr val="666B70"/>
              </a:buClr>
              <a:buSzPts val="1200"/>
              <a:buFont typeface="Arial"/>
              <a:buNone/>
            </a:pPr>
            <a:r>
              <a:rPr lang="en-US" sz="1200">
                <a:solidFill>
                  <a:srgbClr val="666B70"/>
                </a:solidFill>
              </a:rPr>
              <a:t>• 3 Epics · 7 Features · 11 Stories</a:t>
            </a:r>
            <a:endParaRPr/>
          </a:p>
          <a:p>
            <a:pPr indent="0" lvl="0" marL="0" marR="0" rtl="0" algn="l">
              <a:spcBef>
                <a:spcPts val="0"/>
              </a:spcBef>
              <a:spcAft>
                <a:spcPts val="0"/>
              </a:spcAft>
              <a:buClr>
                <a:srgbClr val="666B70"/>
              </a:buClr>
              <a:buSzPts val="1200"/>
              <a:buFont typeface="Arial"/>
              <a:buNone/>
            </a:pPr>
            <a:r>
              <a:rPr lang="en-US" sz="1200">
                <a:solidFill>
                  <a:srgbClr val="666B70"/>
                </a:solidFill>
              </a:rPr>
              <a:t>• Acceptance criteria for all stories</a:t>
            </a:r>
            <a:endParaRPr/>
          </a:p>
          <a:p>
            <a:pPr indent="0" lvl="0" marL="0" marR="0" rtl="0" algn="l">
              <a:spcBef>
                <a:spcPts val="0"/>
              </a:spcBef>
              <a:spcAft>
                <a:spcPts val="0"/>
              </a:spcAft>
              <a:buClr>
                <a:srgbClr val="666B70"/>
              </a:buClr>
              <a:buSzPts val="1200"/>
              <a:buFont typeface="Arial"/>
              <a:buNone/>
            </a:pPr>
            <a:r>
              <a:rPr lang="en-US" sz="1200">
                <a:solidFill>
                  <a:srgbClr val="666B70"/>
                </a:solidFill>
              </a:rPr>
              <a:t>• 11/11 stories sized</a:t>
            </a:r>
            <a:endParaRPr/>
          </a:p>
          <a:p>
            <a:pPr indent="0" lvl="0" marL="0" marR="0" rtl="0" algn="l">
              <a:spcBef>
                <a:spcPts val="0"/>
              </a:spcBef>
              <a:spcAft>
                <a:spcPts val="0"/>
              </a:spcAft>
              <a:buClr>
                <a:srgbClr val="666B70"/>
              </a:buClr>
              <a:buSzPts val="1200"/>
              <a:buFont typeface="Arial"/>
              <a:buNone/>
            </a:pPr>
            <a:r>
              <a:rPr lang="en-US" sz="1200">
                <a:solidFill>
                  <a:srgbClr val="666B70"/>
                </a:solidFill>
              </a:rPr>
              <a:t>• Zero orphaned governed records</a:t>
            </a:r>
            <a:endParaRPr/>
          </a:p>
        </p:txBody>
      </p:sp>
      <p:sp>
        <p:nvSpPr>
          <p:cNvPr id="56" name="Google Shape;56;p2"/>
          <p:cNvSpPr/>
          <p:nvPr/>
        </p:nvSpPr>
        <p:spPr>
          <a:xfrm>
            <a:off x="781050" y="5219700"/>
            <a:ext cx="10648950" cy="2857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F6F57"/>
              </a:buClr>
              <a:buSzPts val="1125"/>
              <a:buFont typeface="Arial"/>
              <a:buNone/>
            </a:pPr>
            <a:r>
              <a:rPr b="1" lang="en-US" sz="1125">
                <a:solidFill>
                  <a:srgbClr val="2F6F57"/>
                </a:solidFill>
              </a:rPr>
              <a:t>v0.3.8 accepted submission candidate  ·  Agreement Gate release authorized</a:t>
            </a:r>
            <a:endParaRPr/>
          </a:p>
        </p:txBody>
      </p:sp>
      <p:sp>
        <p:nvSpPr>
          <p:cNvPr id="57" name="Google Shape;57;p2"/>
          <p:cNvSpPr/>
          <p:nvPr/>
        </p:nvSpPr>
        <p:spPr>
          <a:xfrm>
            <a:off x="0" y="5695950"/>
            <a:ext cx="12192000" cy="1162050"/>
          </a:xfrm>
          <a:prstGeom prst="rect">
            <a:avLst/>
          </a:prstGeom>
          <a:solidFill>
            <a:srgbClr val="1A1A2E"/>
          </a:solidFill>
          <a:ln cap="flat" cmpd="sng" w="9525">
            <a:solidFill>
              <a:srgbClr val="1A1A2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 name="Google Shape;58;p2"/>
          <p:cNvSpPr/>
          <p:nvPr/>
        </p:nvSpPr>
        <p:spPr>
          <a:xfrm>
            <a:off x="781050" y="5829300"/>
            <a:ext cx="10648950" cy="2286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C9C6D8"/>
              </a:buClr>
              <a:buSzPts val="900"/>
              <a:buFont typeface="Arial"/>
              <a:buNone/>
            </a:pPr>
            <a:r>
              <a:rPr b="1" lang="en-US" sz="900">
                <a:solidFill>
                  <a:srgbClr val="C9C6D8"/>
                </a:solidFill>
              </a:rPr>
              <a:t>EVIDENCE AT A GLANCE</a:t>
            </a:r>
            <a:endParaRPr/>
          </a:p>
        </p:txBody>
      </p:sp>
      <p:sp>
        <p:nvSpPr>
          <p:cNvPr id="59" name="Google Shape;59;p2"/>
          <p:cNvSpPr/>
          <p:nvPr/>
        </p:nvSpPr>
        <p:spPr>
          <a:xfrm>
            <a:off x="781050" y="6153150"/>
            <a:ext cx="10648950" cy="4000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FFFFFF"/>
              </a:buClr>
              <a:buSzPts val="1575"/>
              <a:buFont typeface="Arial"/>
              <a:buNone/>
            </a:pPr>
            <a:r>
              <a:rPr b="1" lang="en-US" sz="1575">
                <a:solidFill>
                  <a:srgbClr val="FFFFFF"/>
                </a:solidFill>
              </a:rPr>
              <a:t>6 authoritative sources   →   9 coordinated workflows   →   3 / 7 / 11 hierarchy   →   7 validated artifacts</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4EE"/>
        </a:solidFill>
      </p:bgPr>
    </p:bg>
    <p:spTree>
      <p:nvGrpSpPr>
        <p:cNvPr id="64" name="Shape 64"/>
        <p:cNvGrpSpPr/>
        <p:nvPr/>
      </p:nvGrpSpPr>
      <p:grpSpPr>
        <a:xfrm>
          <a:off x="0" y="0"/>
          <a:ext cx="0" cy="0"/>
          <a:chOff x="0" y="0"/>
          <a:chExt cx="0" cy="0"/>
        </a:xfrm>
      </p:grpSpPr>
      <p:sp>
        <p:nvSpPr>
          <p:cNvPr id="65" name="Google Shape;65;p3"/>
          <p:cNvSpPr/>
          <p:nvPr/>
        </p:nvSpPr>
        <p:spPr>
          <a:xfrm>
            <a:off x="0" y="0"/>
            <a:ext cx="12192000" cy="76200"/>
          </a:xfrm>
          <a:prstGeom prst="rect">
            <a:avLst/>
          </a:prstGeom>
          <a:solidFill>
            <a:srgbClr val="B85042"/>
          </a:solidFill>
          <a:ln cap="flat" cmpd="sng" w="9525">
            <a:solidFill>
              <a:srgbClr val="B8504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 name="Google Shape;66;p3"/>
          <p:cNvSpPr/>
          <p:nvPr/>
        </p:nvSpPr>
        <p:spPr>
          <a:xfrm>
            <a:off x="514350" y="742950"/>
            <a:ext cx="66675" cy="866775"/>
          </a:xfrm>
          <a:prstGeom prst="rect">
            <a:avLst/>
          </a:prstGeom>
          <a:solidFill>
            <a:srgbClr val="B85042"/>
          </a:solidFill>
          <a:ln cap="flat" cmpd="sng" w="9525">
            <a:solidFill>
              <a:srgbClr val="B8504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 name="Google Shape;67;p3"/>
          <p:cNvSpPr/>
          <p:nvPr/>
        </p:nvSpPr>
        <p:spPr>
          <a:xfrm>
            <a:off x="781050" y="552450"/>
            <a:ext cx="4286250" cy="2667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B85042"/>
              </a:buClr>
              <a:buSzPts val="975"/>
              <a:buFont typeface="Arial"/>
              <a:buNone/>
            </a:pPr>
            <a:r>
              <a:rPr b="1" lang="en-US" sz="975">
                <a:solidFill>
                  <a:srgbClr val="B85042"/>
                </a:solidFill>
              </a:rPr>
              <a:t>03  ·  THE BUSINESS PROBLEM</a:t>
            </a:r>
            <a:endParaRPr/>
          </a:p>
        </p:txBody>
      </p:sp>
      <p:sp>
        <p:nvSpPr>
          <p:cNvPr id="68" name="Google Shape;68;p3"/>
          <p:cNvSpPr/>
          <p:nvPr/>
        </p:nvSpPr>
        <p:spPr>
          <a:xfrm>
            <a:off x="781050" y="885825"/>
            <a:ext cx="10648950" cy="80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2550"/>
              <a:buFont typeface="Arial"/>
              <a:buNone/>
            </a:pPr>
            <a:r>
              <a:rPr b="1" lang="en-US" sz="2550">
                <a:solidFill>
                  <a:srgbClr val="1A1A2E"/>
                </a:solidFill>
              </a:rPr>
              <a:t>Manual documentation creates delay and traceability risk</a:t>
            </a:r>
            <a:endParaRPr/>
          </a:p>
        </p:txBody>
      </p:sp>
      <p:sp>
        <p:nvSpPr>
          <p:cNvPr id="69" name="Google Shape;69;p3"/>
          <p:cNvSpPr/>
          <p:nvPr/>
        </p:nvSpPr>
        <p:spPr>
          <a:xfrm>
            <a:off x="781050" y="1724025"/>
            <a:ext cx="10648950" cy="4000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1275"/>
              <a:buFont typeface="Arial"/>
              <a:buNone/>
            </a:pPr>
            <a:r>
              <a:rPr lang="en-US" sz="1275">
                <a:solidFill>
                  <a:srgbClr val="666B70"/>
                </a:solidFill>
              </a:rPr>
              <a:t>At NeuronForge, product managers must translate fragmented stakeholder evidence into decisions that engineering can trust.</a:t>
            </a:r>
            <a:endParaRPr/>
          </a:p>
        </p:txBody>
      </p:sp>
      <p:sp>
        <p:nvSpPr>
          <p:cNvPr id="70" name="Google Shape;70;p3"/>
          <p:cNvSpPr/>
          <p:nvPr/>
        </p:nvSpPr>
        <p:spPr>
          <a:xfrm>
            <a:off x="781050" y="2552700"/>
            <a:ext cx="2324100" cy="1562100"/>
          </a:xfrm>
          <a:prstGeom prst="roundRect">
            <a:avLst>
              <a:gd fmla="val 4878" name="adj"/>
            </a:avLst>
          </a:prstGeom>
          <a:solidFill>
            <a:srgbClr val="FFFFFF"/>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 name="Google Shape;71;p3"/>
          <p:cNvSpPr/>
          <p:nvPr/>
        </p:nvSpPr>
        <p:spPr>
          <a:xfrm>
            <a:off x="952500" y="2686050"/>
            <a:ext cx="400050" cy="2286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975"/>
              <a:buFont typeface="Arial"/>
              <a:buNone/>
            </a:pPr>
            <a:r>
              <a:rPr b="1" lang="en-US" sz="975">
                <a:solidFill>
                  <a:srgbClr val="666B70"/>
                </a:solidFill>
              </a:rPr>
              <a:t>01</a:t>
            </a:r>
            <a:endParaRPr/>
          </a:p>
        </p:txBody>
      </p:sp>
      <p:sp>
        <p:nvSpPr>
          <p:cNvPr id="72" name="Google Shape;72;p3"/>
          <p:cNvSpPr/>
          <p:nvPr/>
        </p:nvSpPr>
        <p:spPr>
          <a:xfrm>
            <a:off x="952500" y="2971800"/>
            <a:ext cx="1981200" cy="4762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1425"/>
              <a:buFont typeface="Arial"/>
              <a:buNone/>
            </a:pPr>
            <a:r>
              <a:rPr b="1" lang="en-US" sz="1425">
                <a:solidFill>
                  <a:srgbClr val="1A1A2E"/>
                </a:solidFill>
              </a:rPr>
              <a:t>Evidence arrives fragmented</a:t>
            </a:r>
            <a:endParaRPr/>
          </a:p>
        </p:txBody>
      </p:sp>
      <p:sp>
        <p:nvSpPr>
          <p:cNvPr id="73" name="Google Shape;73;p3"/>
          <p:cNvSpPr/>
          <p:nvPr/>
        </p:nvSpPr>
        <p:spPr>
          <a:xfrm>
            <a:off x="952500" y="3467100"/>
            <a:ext cx="1981200" cy="552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1013"/>
              <a:buFont typeface="Arial"/>
              <a:buNone/>
            </a:pPr>
            <a:r>
              <a:rPr lang="en-US" sz="1013">
                <a:solidFill>
                  <a:srgbClr val="666B70"/>
                </a:solidFill>
              </a:rPr>
              <a:t>Interview transcripts, briefs, notes, and decisions live across separate files.</a:t>
            </a:r>
            <a:endParaRPr/>
          </a:p>
        </p:txBody>
      </p:sp>
      <p:sp>
        <p:nvSpPr>
          <p:cNvPr id="74" name="Google Shape;74;p3"/>
          <p:cNvSpPr/>
          <p:nvPr/>
        </p:nvSpPr>
        <p:spPr>
          <a:xfrm>
            <a:off x="3143250" y="3133725"/>
            <a:ext cx="304800" cy="3619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B85042"/>
              </a:buClr>
              <a:buSzPts val="1950"/>
              <a:buFont typeface="Arial"/>
              <a:buNone/>
            </a:pPr>
            <a:r>
              <a:rPr b="1" lang="en-US" sz="1950">
                <a:solidFill>
                  <a:srgbClr val="B85042"/>
                </a:solidFill>
              </a:rPr>
              <a:t>→</a:t>
            </a:r>
            <a:endParaRPr/>
          </a:p>
        </p:txBody>
      </p:sp>
      <p:sp>
        <p:nvSpPr>
          <p:cNvPr id="75" name="Google Shape;75;p3"/>
          <p:cNvSpPr/>
          <p:nvPr/>
        </p:nvSpPr>
        <p:spPr>
          <a:xfrm>
            <a:off x="3486150" y="2552700"/>
            <a:ext cx="2324100" cy="1562100"/>
          </a:xfrm>
          <a:prstGeom prst="roundRect">
            <a:avLst>
              <a:gd fmla="val 4878" name="adj"/>
            </a:avLst>
          </a:prstGeom>
          <a:solidFill>
            <a:srgbClr val="F3E6E2"/>
          </a:solidFill>
          <a:ln cap="flat" cmpd="sng" w="9525">
            <a:solidFill>
              <a:srgbClr val="B8504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 name="Google Shape;76;p3"/>
          <p:cNvSpPr/>
          <p:nvPr/>
        </p:nvSpPr>
        <p:spPr>
          <a:xfrm>
            <a:off x="3657600" y="2686050"/>
            <a:ext cx="400050" cy="2286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B85042"/>
              </a:buClr>
              <a:buSzPts val="975"/>
              <a:buFont typeface="Arial"/>
              <a:buNone/>
            </a:pPr>
            <a:r>
              <a:rPr b="1" lang="en-US" sz="975">
                <a:solidFill>
                  <a:srgbClr val="B85042"/>
                </a:solidFill>
              </a:rPr>
              <a:t>02</a:t>
            </a:r>
            <a:endParaRPr/>
          </a:p>
        </p:txBody>
      </p:sp>
      <p:sp>
        <p:nvSpPr>
          <p:cNvPr id="77" name="Google Shape;77;p3"/>
          <p:cNvSpPr/>
          <p:nvPr/>
        </p:nvSpPr>
        <p:spPr>
          <a:xfrm>
            <a:off x="3657600" y="2971800"/>
            <a:ext cx="1981200" cy="4762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1425"/>
              <a:buFont typeface="Arial"/>
              <a:buNone/>
            </a:pPr>
            <a:r>
              <a:rPr b="1" lang="en-US" sz="1425">
                <a:solidFill>
                  <a:srgbClr val="1A1A2E"/>
                </a:solidFill>
              </a:rPr>
              <a:t>PMs reconcile it manually</a:t>
            </a:r>
            <a:endParaRPr/>
          </a:p>
        </p:txBody>
      </p:sp>
      <p:sp>
        <p:nvSpPr>
          <p:cNvPr id="78" name="Google Shape;78;p3"/>
          <p:cNvSpPr/>
          <p:nvPr/>
        </p:nvSpPr>
        <p:spPr>
          <a:xfrm>
            <a:off x="3657600" y="3467100"/>
            <a:ext cx="1981200" cy="552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1013"/>
              <a:buFont typeface="Arial"/>
              <a:buNone/>
            </a:pPr>
            <a:r>
              <a:rPr lang="en-US" sz="1013">
                <a:solidFill>
                  <a:srgbClr val="666B70"/>
                </a:solidFill>
              </a:rPr>
              <a:t>Requirements are copied, interpreted, de-duplicated, and prioritized by hand.</a:t>
            </a:r>
            <a:endParaRPr/>
          </a:p>
        </p:txBody>
      </p:sp>
      <p:sp>
        <p:nvSpPr>
          <p:cNvPr id="79" name="Google Shape;79;p3"/>
          <p:cNvSpPr/>
          <p:nvPr/>
        </p:nvSpPr>
        <p:spPr>
          <a:xfrm>
            <a:off x="5848350" y="3133725"/>
            <a:ext cx="304800" cy="3619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B85042"/>
              </a:buClr>
              <a:buSzPts val="1950"/>
              <a:buFont typeface="Arial"/>
              <a:buNone/>
            </a:pPr>
            <a:r>
              <a:rPr b="1" lang="en-US" sz="1950">
                <a:solidFill>
                  <a:srgbClr val="B85042"/>
                </a:solidFill>
              </a:rPr>
              <a:t>→</a:t>
            </a:r>
            <a:endParaRPr/>
          </a:p>
        </p:txBody>
      </p:sp>
      <p:sp>
        <p:nvSpPr>
          <p:cNvPr id="80" name="Google Shape;80;p3"/>
          <p:cNvSpPr/>
          <p:nvPr/>
        </p:nvSpPr>
        <p:spPr>
          <a:xfrm>
            <a:off x="6191250" y="2552700"/>
            <a:ext cx="2324100" cy="1562100"/>
          </a:xfrm>
          <a:prstGeom prst="roundRect">
            <a:avLst>
              <a:gd fmla="val 4878" name="adj"/>
            </a:avLst>
          </a:prstGeom>
          <a:solidFill>
            <a:srgbClr val="FFFFFF"/>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 name="Google Shape;81;p3"/>
          <p:cNvSpPr/>
          <p:nvPr/>
        </p:nvSpPr>
        <p:spPr>
          <a:xfrm>
            <a:off x="6362700" y="2686050"/>
            <a:ext cx="400050" cy="2286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975"/>
              <a:buFont typeface="Arial"/>
              <a:buNone/>
            </a:pPr>
            <a:r>
              <a:rPr b="1" lang="en-US" sz="975">
                <a:solidFill>
                  <a:srgbClr val="666B70"/>
                </a:solidFill>
              </a:rPr>
              <a:t>03</a:t>
            </a:r>
            <a:endParaRPr/>
          </a:p>
        </p:txBody>
      </p:sp>
      <p:sp>
        <p:nvSpPr>
          <p:cNvPr id="82" name="Google Shape;82;p3"/>
          <p:cNvSpPr/>
          <p:nvPr/>
        </p:nvSpPr>
        <p:spPr>
          <a:xfrm>
            <a:off x="6362700" y="2971800"/>
            <a:ext cx="1981200" cy="4762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1425"/>
              <a:buFont typeface="Arial"/>
              <a:buNone/>
            </a:pPr>
            <a:r>
              <a:rPr b="1" lang="en-US" sz="1425">
                <a:solidFill>
                  <a:srgbClr val="1A1A2E"/>
                </a:solidFill>
              </a:rPr>
              <a:t>Reviews expose inconsistencies</a:t>
            </a:r>
            <a:endParaRPr/>
          </a:p>
        </p:txBody>
      </p:sp>
      <p:sp>
        <p:nvSpPr>
          <p:cNvPr id="83" name="Google Shape;83;p3"/>
          <p:cNvSpPr/>
          <p:nvPr/>
        </p:nvSpPr>
        <p:spPr>
          <a:xfrm>
            <a:off x="6362700" y="3467100"/>
            <a:ext cx="1981200" cy="552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1013"/>
              <a:buFont typeface="Arial"/>
              <a:buNone/>
            </a:pPr>
            <a:r>
              <a:rPr lang="en-US" sz="1013">
                <a:solidFill>
                  <a:srgbClr val="666B70"/>
                </a:solidFill>
              </a:rPr>
              <a:t>Missing context and unclear decisions trigger clarification and rework.</a:t>
            </a:r>
            <a:endParaRPr/>
          </a:p>
        </p:txBody>
      </p:sp>
      <p:sp>
        <p:nvSpPr>
          <p:cNvPr id="84" name="Google Shape;84;p3"/>
          <p:cNvSpPr/>
          <p:nvPr/>
        </p:nvSpPr>
        <p:spPr>
          <a:xfrm>
            <a:off x="8553450" y="3133725"/>
            <a:ext cx="304800" cy="3619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B85042"/>
              </a:buClr>
              <a:buSzPts val="1950"/>
              <a:buFont typeface="Arial"/>
              <a:buNone/>
            </a:pPr>
            <a:r>
              <a:rPr b="1" lang="en-US" sz="1950">
                <a:solidFill>
                  <a:srgbClr val="B85042"/>
                </a:solidFill>
              </a:rPr>
              <a:t>→</a:t>
            </a:r>
            <a:endParaRPr/>
          </a:p>
        </p:txBody>
      </p:sp>
      <p:sp>
        <p:nvSpPr>
          <p:cNvPr id="85" name="Google Shape;85;p3"/>
          <p:cNvSpPr/>
          <p:nvPr/>
        </p:nvSpPr>
        <p:spPr>
          <a:xfrm>
            <a:off x="8896350" y="2552700"/>
            <a:ext cx="2324100" cy="1562100"/>
          </a:xfrm>
          <a:prstGeom prst="roundRect">
            <a:avLst>
              <a:gd fmla="val 4878" name="adj"/>
            </a:avLst>
          </a:prstGeom>
          <a:solidFill>
            <a:srgbClr val="FFFFFF"/>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 name="Google Shape;86;p3"/>
          <p:cNvSpPr/>
          <p:nvPr/>
        </p:nvSpPr>
        <p:spPr>
          <a:xfrm>
            <a:off x="9067800" y="2686050"/>
            <a:ext cx="400050" cy="2286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975"/>
              <a:buFont typeface="Arial"/>
              <a:buNone/>
            </a:pPr>
            <a:r>
              <a:rPr b="1" lang="en-US" sz="975">
                <a:solidFill>
                  <a:srgbClr val="666B70"/>
                </a:solidFill>
              </a:rPr>
              <a:t>04</a:t>
            </a:r>
            <a:endParaRPr/>
          </a:p>
        </p:txBody>
      </p:sp>
      <p:sp>
        <p:nvSpPr>
          <p:cNvPr id="87" name="Google Shape;87;p3"/>
          <p:cNvSpPr/>
          <p:nvPr/>
        </p:nvSpPr>
        <p:spPr>
          <a:xfrm>
            <a:off x="9067800" y="2971800"/>
            <a:ext cx="1981200" cy="4762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1425"/>
              <a:buFont typeface="Arial"/>
              <a:buNone/>
            </a:pPr>
            <a:r>
              <a:rPr b="1" lang="en-US" sz="1425">
                <a:solidFill>
                  <a:srgbClr val="1A1A2E"/>
                </a:solidFill>
              </a:rPr>
              <a:t>Delivery loses lineage</a:t>
            </a:r>
            <a:endParaRPr/>
          </a:p>
        </p:txBody>
      </p:sp>
      <p:sp>
        <p:nvSpPr>
          <p:cNvPr id="88" name="Google Shape;88;p3"/>
          <p:cNvSpPr/>
          <p:nvPr/>
        </p:nvSpPr>
        <p:spPr>
          <a:xfrm>
            <a:off x="9067800" y="3467100"/>
            <a:ext cx="1981200" cy="552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1013"/>
              <a:buFont typeface="Arial"/>
              <a:buNone/>
            </a:pPr>
            <a:r>
              <a:rPr lang="en-US" sz="1013">
                <a:solidFill>
                  <a:srgbClr val="666B70"/>
                </a:solidFill>
              </a:rPr>
              <a:t>Teams struggle to trace PRD elements and stories back to their source evidence.</a:t>
            </a:r>
            <a:endParaRPr/>
          </a:p>
        </p:txBody>
      </p:sp>
      <p:sp>
        <p:nvSpPr>
          <p:cNvPr id="89" name="Google Shape;89;p3"/>
          <p:cNvSpPr/>
          <p:nvPr/>
        </p:nvSpPr>
        <p:spPr>
          <a:xfrm>
            <a:off x="781050" y="4495800"/>
            <a:ext cx="3238500" cy="2286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900"/>
              <a:buFont typeface="Arial"/>
              <a:buNone/>
            </a:pPr>
            <a:r>
              <a:rPr b="1" lang="en-US" sz="900">
                <a:solidFill>
                  <a:srgbClr val="666B70"/>
                </a:solidFill>
              </a:rPr>
              <a:t>WHO FEELS THE FRICTION</a:t>
            </a:r>
            <a:endParaRPr/>
          </a:p>
        </p:txBody>
      </p:sp>
      <p:sp>
        <p:nvSpPr>
          <p:cNvPr id="90" name="Google Shape;90;p3"/>
          <p:cNvSpPr/>
          <p:nvPr/>
        </p:nvSpPr>
        <p:spPr>
          <a:xfrm>
            <a:off x="781050" y="4791075"/>
            <a:ext cx="5334000" cy="5143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1350"/>
              <a:buFont typeface="Arial"/>
              <a:buNone/>
            </a:pPr>
            <a:r>
              <a:rPr b="1" lang="en-US" sz="1350">
                <a:solidFill>
                  <a:srgbClr val="1A1A2E"/>
                </a:solidFill>
              </a:rPr>
              <a:t>Product managers  ·  Engineering leads  ·  Reviewers  ·  Delivery teams</a:t>
            </a:r>
            <a:endParaRPr/>
          </a:p>
        </p:txBody>
      </p:sp>
      <p:sp>
        <p:nvSpPr>
          <p:cNvPr id="91" name="Google Shape;91;p3"/>
          <p:cNvSpPr/>
          <p:nvPr/>
        </p:nvSpPr>
        <p:spPr>
          <a:xfrm>
            <a:off x="6362700" y="4495800"/>
            <a:ext cx="14288" cy="857250"/>
          </a:xfrm>
          <a:prstGeom prst="rect">
            <a:avLst/>
          </a:prstGeom>
          <a:solidFill>
            <a:srgbClr val="DED8D0"/>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 name="Google Shape;92;p3"/>
          <p:cNvSpPr/>
          <p:nvPr/>
        </p:nvSpPr>
        <p:spPr>
          <a:xfrm>
            <a:off x="6705600" y="4495800"/>
            <a:ext cx="4095750" cy="2286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B85042"/>
              </a:buClr>
              <a:buSzPts val="900"/>
              <a:buFont typeface="Arial"/>
              <a:buNone/>
            </a:pPr>
            <a:r>
              <a:rPr b="1" lang="en-US" sz="900">
                <a:solidFill>
                  <a:srgbClr val="B85042"/>
                </a:solidFill>
              </a:rPr>
              <a:t>BUSINESS CONSEQUENCE</a:t>
            </a:r>
            <a:endParaRPr/>
          </a:p>
        </p:txBody>
      </p:sp>
      <p:sp>
        <p:nvSpPr>
          <p:cNvPr id="93" name="Google Shape;93;p3"/>
          <p:cNvSpPr/>
          <p:nvPr/>
        </p:nvSpPr>
        <p:spPr>
          <a:xfrm>
            <a:off x="6705600" y="4791075"/>
            <a:ext cx="4724400" cy="5143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1350"/>
              <a:buFont typeface="Arial"/>
              <a:buNone/>
            </a:pPr>
            <a:r>
              <a:rPr b="1" lang="en-US" sz="1350">
                <a:solidFill>
                  <a:srgbClr val="1A1A2E"/>
                </a:solidFill>
              </a:rPr>
              <a:t>Longer planning cycles  ·  Rework  ·  Unsupported scope  ·  Lower delivery confidence</a:t>
            </a:r>
            <a:endParaRPr/>
          </a:p>
        </p:txBody>
      </p:sp>
      <p:sp>
        <p:nvSpPr>
          <p:cNvPr id="94" name="Google Shape;94;p3"/>
          <p:cNvSpPr/>
          <p:nvPr/>
        </p:nvSpPr>
        <p:spPr>
          <a:xfrm>
            <a:off x="0" y="5695950"/>
            <a:ext cx="12192000" cy="1162050"/>
          </a:xfrm>
          <a:prstGeom prst="rect">
            <a:avLst/>
          </a:prstGeom>
          <a:solidFill>
            <a:srgbClr val="1A1A2E"/>
          </a:solidFill>
          <a:ln cap="flat" cmpd="sng" w="9525">
            <a:solidFill>
              <a:srgbClr val="1A1A2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 name="Google Shape;95;p3"/>
          <p:cNvSpPr/>
          <p:nvPr/>
        </p:nvSpPr>
        <p:spPr>
          <a:xfrm>
            <a:off x="781050" y="5857875"/>
            <a:ext cx="10648950" cy="2095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C9C6D8"/>
              </a:buClr>
              <a:buSzPts val="900"/>
              <a:buFont typeface="Arial"/>
              <a:buNone/>
            </a:pPr>
            <a:r>
              <a:rPr b="1" lang="en-US" sz="900">
                <a:solidFill>
                  <a:srgbClr val="C9C6D8"/>
                </a:solidFill>
              </a:rPr>
              <a:t>THE PROBLEM TO SOLVE</a:t>
            </a:r>
            <a:endParaRPr/>
          </a:p>
        </p:txBody>
      </p:sp>
      <p:sp>
        <p:nvSpPr>
          <p:cNvPr id="96" name="Google Shape;96;p3"/>
          <p:cNvSpPr/>
          <p:nvPr/>
        </p:nvSpPr>
        <p:spPr>
          <a:xfrm>
            <a:off x="1428750" y="6172200"/>
            <a:ext cx="9334500" cy="4000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FFFFFF"/>
              </a:buClr>
              <a:buSzPts val="1575"/>
              <a:buFont typeface="Arial"/>
              <a:buNone/>
            </a:pPr>
            <a:r>
              <a:rPr b="1" lang="en-US" sz="1575">
                <a:solidFill>
                  <a:srgbClr val="FFFFFF"/>
                </a:solidFill>
              </a:rPr>
              <a:t>Convert fragmented evidence into consistent planning artifacts—without losing decisions, ownership, or source lineage.</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4EE"/>
        </a:solidFill>
      </p:bgPr>
    </p:bg>
    <p:spTree>
      <p:nvGrpSpPr>
        <p:cNvPr id="101" name="Shape 101"/>
        <p:cNvGrpSpPr/>
        <p:nvPr/>
      </p:nvGrpSpPr>
      <p:grpSpPr>
        <a:xfrm>
          <a:off x="0" y="0"/>
          <a:ext cx="0" cy="0"/>
          <a:chOff x="0" y="0"/>
          <a:chExt cx="0" cy="0"/>
        </a:xfrm>
      </p:grpSpPr>
      <p:sp>
        <p:nvSpPr>
          <p:cNvPr id="102" name="Google Shape;102;p4"/>
          <p:cNvSpPr/>
          <p:nvPr/>
        </p:nvSpPr>
        <p:spPr>
          <a:xfrm>
            <a:off x="0" y="0"/>
            <a:ext cx="12192000" cy="76200"/>
          </a:xfrm>
          <a:prstGeom prst="rect">
            <a:avLst/>
          </a:prstGeom>
          <a:solidFill>
            <a:srgbClr val="B85042"/>
          </a:solidFill>
          <a:ln cap="flat" cmpd="sng" w="9525">
            <a:solidFill>
              <a:srgbClr val="B8504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 name="Google Shape;103;p4"/>
          <p:cNvSpPr/>
          <p:nvPr/>
        </p:nvSpPr>
        <p:spPr>
          <a:xfrm>
            <a:off x="514350" y="742950"/>
            <a:ext cx="66675" cy="866775"/>
          </a:xfrm>
          <a:prstGeom prst="rect">
            <a:avLst/>
          </a:prstGeom>
          <a:solidFill>
            <a:srgbClr val="B85042"/>
          </a:solidFill>
          <a:ln cap="flat" cmpd="sng" w="9525">
            <a:solidFill>
              <a:srgbClr val="B8504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 name="Google Shape;104;p4"/>
          <p:cNvSpPr/>
          <p:nvPr/>
        </p:nvSpPr>
        <p:spPr>
          <a:xfrm>
            <a:off x="781050" y="552450"/>
            <a:ext cx="4953000" cy="2667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B85042"/>
              </a:buClr>
              <a:buSzPts val="975"/>
              <a:buFont typeface="Arial"/>
              <a:buNone/>
            </a:pPr>
            <a:r>
              <a:rPr b="1" lang="en-US" sz="975">
                <a:solidFill>
                  <a:srgbClr val="B85042"/>
                </a:solidFill>
              </a:rPr>
              <a:t>04  ·  PAIN POINT TO CAPABILITY</a:t>
            </a:r>
            <a:endParaRPr/>
          </a:p>
        </p:txBody>
      </p:sp>
      <p:sp>
        <p:nvSpPr>
          <p:cNvPr id="105" name="Google Shape;105;p4"/>
          <p:cNvSpPr/>
          <p:nvPr/>
        </p:nvSpPr>
        <p:spPr>
          <a:xfrm>
            <a:off x="781050" y="885825"/>
            <a:ext cx="10648950" cy="80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2550"/>
              <a:buFont typeface="Arial"/>
              <a:buNone/>
            </a:pPr>
            <a:r>
              <a:rPr b="1" lang="en-US" sz="2550">
                <a:solidFill>
                  <a:srgbClr val="1A1A2E"/>
                </a:solidFill>
              </a:rPr>
              <a:t>Each manual pain point maps to a governed agent capability</a:t>
            </a:r>
            <a:endParaRPr/>
          </a:p>
        </p:txBody>
      </p:sp>
      <p:sp>
        <p:nvSpPr>
          <p:cNvPr id="106" name="Google Shape;106;p4"/>
          <p:cNvSpPr/>
          <p:nvPr/>
        </p:nvSpPr>
        <p:spPr>
          <a:xfrm>
            <a:off x="781050" y="1724025"/>
            <a:ext cx="10648950" cy="3429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1275"/>
              <a:buFont typeface="Arial"/>
              <a:buNone/>
            </a:pPr>
            <a:r>
              <a:rPr lang="en-US" sz="1275">
                <a:solidFill>
                  <a:srgbClr val="666B70"/>
                </a:solidFill>
              </a:rPr>
              <a:t>The design automates translation work while keeping evidence, decisions, and release authority visible.</a:t>
            </a:r>
            <a:endParaRPr/>
          </a:p>
        </p:txBody>
      </p:sp>
      <p:sp>
        <p:nvSpPr>
          <p:cNvPr id="107" name="Google Shape;107;p4"/>
          <p:cNvSpPr/>
          <p:nvPr/>
        </p:nvSpPr>
        <p:spPr>
          <a:xfrm>
            <a:off x="781050" y="2343150"/>
            <a:ext cx="2133600" cy="400050"/>
          </a:xfrm>
          <a:prstGeom prst="rect">
            <a:avLst/>
          </a:prstGeom>
          <a:solidFill>
            <a:srgbClr val="1A1A2E"/>
          </a:solidFill>
          <a:ln cap="flat" cmpd="sng" w="9525">
            <a:solidFill>
              <a:srgbClr val="1A1A2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 name="Google Shape;108;p4"/>
          <p:cNvSpPr/>
          <p:nvPr/>
        </p:nvSpPr>
        <p:spPr>
          <a:xfrm>
            <a:off x="904875" y="2381250"/>
            <a:ext cx="1885950" cy="3238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FFFFFF"/>
              </a:buClr>
              <a:buSzPts val="900"/>
              <a:buFont typeface="Arial"/>
              <a:buNone/>
            </a:pPr>
            <a:r>
              <a:rPr b="1" lang="en-US" sz="900">
                <a:solidFill>
                  <a:srgbClr val="FFFFFF"/>
                </a:solidFill>
              </a:rPr>
              <a:t>MANUAL FRICTION</a:t>
            </a:r>
            <a:endParaRPr/>
          </a:p>
        </p:txBody>
      </p:sp>
      <p:sp>
        <p:nvSpPr>
          <p:cNvPr id="109" name="Google Shape;109;p4"/>
          <p:cNvSpPr/>
          <p:nvPr/>
        </p:nvSpPr>
        <p:spPr>
          <a:xfrm>
            <a:off x="3105150" y="2343150"/>
            <a:ext cx="2381250" cy="400050"/>
          </a:xfrm>
          <a:prstGeom prst="rect">
            <a:avLst/>
          </a:prstGeom>
          <a:solidFill>
            <a:srgbClr val="B85042"/>
          </a:solidFill>
          <a:ln cap="flat" cmpd="sng" w="9525">
            <a:solidFill>
              <a:srgbClr val="B8504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 name="Google Shape;110;p4"/>
          <p:cNvSpPr/>
          <p:nvPr/>
        </p:nvSpPr>
        <p:spPr>
          <a:xfrm>
            <a:off x="3228975" y="2381250"/>
            <a:ext cx="2133600" cy="3238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FFFFFF"/>
              </a:buClr>
              <a:buSzPts val="900"/>
              <a:buFont typeface="Arial"/>
              <a:buNone/>
            </a:pPr>
            <a:r>
              <a:rPr b="1" lang="en-US" sz="900">
                <a:solidFill>
                  <a:srgbClr val="FFFFFF"/>
                </a:solidFill>
              </a:rPr>
              <a:t>GOVERNED CAPABILITY</a:t>
            </a:r>
            <a:endParaRPr/>
          </a:p>
        </p:txBody>
      </p:sp>
      <p:sp>
        <p:nvSpPr>
          <p:cNvPr id="111" name="Google Shape;111;p4"/>
          <p:cNvSpPr/>
          <p:nvPr/>
        </p:nvSpPr>
        <p:spPr>
          <a:xfrm>
            <a:off x="5676900" y="2343150"/>
            <a:ext cx="2228850" cy="400050"/>
          </a:xfrm>
          <a:prstGeom prst="rect">
            <a:avLst/>
          </a:prstGeom>
          <a:solidFill>
            <a:srgbClr val="1A1A2E"/>
          </a:solidFill>
          <a:ln cap="flat" cmpd="sng" w="9525">
            <a:solidFill>
              <a:srgbClr val="1A1A2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 name="Google Shape;112;p4"/>
          <p:cNvSpPr/>
          <p:nvPr/>
        </p:nvSpPr>
        <p:spPr>
          <a:xfrm>
            <a:off x="5800725" y="2381250"/>
            <a:ext cx="1981200" cy="3238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FFFFFF"/>
              </a:buClr>
              <a:buSzPts val="900"/>
              <a:buFont typeface="Arial"/>
              <a:buNone/>
            </a:pPr>
            <a:r>
              <a:rPr b="1" lang="en-US" sz="900">
                <a:solidFill>
                  <a:srgbClr val="FFFFFF"/>
                </a:solidFill>
              </a:rPr>
              <a:t>EVIDENCE FLOW</a:t>
            </a:r>
            <a:endParaRPr/>
          </a:p>
        </p:txBody>
      </p:sp>
      <p:sp>
        <p:nvSpPr>
          <p:cNvPr id="113" name="Google Shape;113;p4"/>
          <p:cNvSpPr/>
          <p:nvPr/>
        </p:nvSpPr>
        <p:spPr>
          <a:xfrm>
            <a:off x="8096250" y="2343150"/>
            <a:ext cx="3333750" cy="400050"/>
          </a:xfrm>
          <a:prstGeom prst="rect">
            <a:avLst/>
          </a:prstGeom>
          <a:solidFill>
            <a:srgbClr val="1A1A2E"/>
          </a:solidFill>
          <a:ln cap="flat" cmpd="sng" w="9525">
            <a:solidFill>
              <a:srgbClr val="1A1A2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 name="Google Shape;114;p4"/>
          <p:cNvSpPr/>
          <p:nvPr/>
        </p:nvSpPr>
        <p:spPr>
          <a:xfrm>
            <a:off x="8220075" y="2381250"/>
            <a:ext cx="3086100" cy="3238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FFFFFF"/>
              </a:buClr>
              <a:buSzPts val="900"/>
              <a:buFont typeface="Arial"/>
              <a:buNone/>
            </a:pPr>
            <a:r>
              <a:rPr b="1" lang="en-US" sz="900">
                <a:solidFill>
                  <a:srgbClr val="FFFFFF"/>
                </a:solidFill>
              </a:rPr>
              <a:t>RISK CONTROL</a:t>
            </a:r>
            <a:endParaRPr/>
          </a:p>
        </p:txBody>
      </p:sp>
      <p:sp>
        <p:nvSpPr>
          <p:cNvPr id="115" name="Google Shape;115;p4"/>
          <p:cNvSpPr/>
          <p:nvPr/>
        </p:nvSpPr>
        <p:spPr>
          <a:xfrm>
            <a:off x="781050" y="2743200"/>
            <a:ext cx="10648950" cy="704850"/>
          </a:xfrm>
          <a:prstGeom prst="rect">
            <a:avLst/>
          </a:prstGeom>
          <a:solidFill>
            <a:srgbClr val="FFFFFF"/>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 name="Google Shape;116;p4"/>
          <p:cNvSpPr/>
          <p:nvPr/>
        </p:nvSpPr>
        <p:spPr>
          <a:xfrm>
            <a:off x="904875" y="2819400"/>
            <a:ext cx="1885950" cy="552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1013"/>
              <a:buFont typeface="Arial"/>
              <a:buNone/>
            </a:pPr>
            <a:r>
              <a:rPr b="0" lang="en-US" sz="1013">
                <a:solidFill>
                  <a:srgbClr val="666B70"/>
                </a:solidFill>
              </a:rPr>
              <a:t>Files must be found and normalized</a:t>
            </a:r>
            <a:endParaRPr/>
          </a:p>
        </p:txBody>
      </p:sp>
      <p:sp>
        <p:nvSpPr>
          <p:cNvPr id="117" name="Google Shape;117;p4"/>
          <p:cNvSpPr/>
          <p:nvPr/>
        </p:nvSpPr>
        <p:spPr>
          <a:xfrm>
            <a:off x="3105150" y="2743200"/>
            <a:ext cx="9525" cy="704850"/>
          </a:xfrm>
          <a:prstGeom prst="rect">
            <a:avLst/>
          </a:prstGeom>
          <a:solidFill>
            <a:srgbClr val="DED8D0"/>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 name="Google Shape;118;p4"/>
          <p:cNvSpPr/>
          <p:nvPr/>
        </p:nvSpPr>
        <p:spPr>
          <a:xfrm>
            <a:off x="3228975" y="2819400"/>
            <a:ext cx="2133600" cy="552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1088"/>
              <a:buFont typeface="Arial"/>
              <a:buNone/>
            </a:pPr>
            <a:r>
              <a:rPr b="1" lang="en-US" sz="1088">
                <a:solidFill>
                  <a:srgbClr val="1A1A2E"/>
                </a:solidFill>
              </a:rPr>
              <a:t>Drive Intake + Clarification Gate</a:t>
            </a:r>
            <a:endParaRPr/>
          </a:p>
        </p:txBody>
      </p:sp>
      <p:sp>
        <p:nvSpPr>
          <p:cNvPr id="119" name="Google Shape;119;p4"/>
          <p:cNvSpPr/>
          <p:nvPr/>
        </p:nvSpPr>
        <p:spPr>
          <a:xfrm>
            <a:off x="5676900" y="2743200"/>
            <a:ext cx="9525" cy="704850"/>
          </a:xfrm>
          <a:prstGeom prst="rect">
            <a:avLst/>
          </a:prstGeom>
          <a:solidFill>
            <a:srgbClr val="DED8D0"/>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 name="Google Shape;120;p4"/>
          <p:cNvSpPr/>
          <p:nvPr/>
        </p:nvSpPr>
        <p:spPr>
          <a:xfrm>
            <a:off x="5800725" y="2819400"/>
            <a:ext cx="1981200" cy="552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1013"/>
              <a:buFont typeface="Arial"/>
              <a:buNone/>
            </a:pPr>
            <a:r>
              <a:rPr b="0" lang="en-US" sz="1013">
                <a:solidFill>
                  <a:srgbClr val="666B70"/>
                </a:solidFill>
              </a:rPr>
              <a:t>Source files → normalized evidence</a:t>
            </a:r>
            <a:endParaRPr/>
          </a:p>
        </p:txBody>
      </p:sp>
      <p:sp>
        <p:nvSpPr>
          <p:cNvPr id="121" name="Google Shape;121;p4"/>
          <p:cNvSpPr/>
          <p:nvPr/>
        </p:nvSpPr>
        <p:spPr>
          <a:xfrm>
            <a:off x="8096250" y="2743200"/>
            <a:ext cx="9525" cy="704850"/>
          </a:xfrm>
          <a:prstGeom prst="rect">
            <a:avLst/>
          </a:prstGeom>
          <a:solidFill>
            <a:srgbClr val="DED8D0"/>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 name="Google Shape;122;p4"/>
          <p:cNvSpPr/>
          <p:nvPr/>
        </p:nvSpPr>
        <p:spPr>
          <a:xfrm>
            <a:off x="8220075" y="2819400"/>
            <a:ext cx="3086100" cy="552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1013"/>
              <a:buFont typeface="Arial"/>
              <a:buNone/>
            </a:pPr>
            <a:r>
              <a:rPr b="0" lang="en-US" sz="1013">
                <a:solidFill>
                  <a:srgbClr val="666B70"/>
                </a:solidFill>
              </a:rPr>
              <a:t>Hashing, required-file checks, clarification gate</a:t>
            </a:r>
            <a:endParaRPr/>
          </a:p>
        </p:txBody>
      </p:sp>
      <p:sp>
        <p:nvSpPr>
          <p:cNvPr id="123" name="Google Shape;123;p4"/>
          <p:cNvSpPr/>
          <p:nvPr/>
        </p:nvSpPr>
        <p:spPr>
          <a:xfrm>
            <a:off x="781050" y="3448050"/>
            <a:ext cx="10648950" cy="704850"/>
          </a:xfrm>
          <a:prstGeom prst="rect">
            <a:avLst/>
          </a:prstGeom>
          <a:solidFill>
            <a:srgbClr val="F0EBE5"/>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4"/>
          <p:cNvSpPr/>
          <p:nvPr/>
        </p:nvSpPr>
        <p:spPr>
          <a:xfrm>
            <a:off x="904875" y="3524250"/>
            <a:ext cx="1885950" cy="552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1013"/>
              <a:buFont typeface="Arial"/>
              <a:buNone/>
            </a:pPr>
            <a:r>
              <a:rPr b="0" lang="en-US" sz="1013">
                <a:solidFill>
                  <a:srgbClr val="666B70"/>
                </a:solidFill>
              </a:rPr>
              <a:t>Requirements are interpreted by hand</a:t>
            </a:r>
            <a:endParaRPr/>
          </a:p>
        </p:txBody>
      </p:sp>
      <p:sp>
        <p:nvSpPr>
          <p:cNvPr id="125" name="Google Shape;125;p4"/>
          <p:cNvSpPr/>
          <p:nvPr/>
        </p:nvSpPr>
        <p:spPr>
          <a:xfrm>
            <a:off x="3105150" y="3448050"/>
            <a:ext cx="9525" cy="704850"/>
          </a:xfrm>
          <a:prstGeom prst="rect">
            <a:avLst/>
          </a:prstGeom>
          <a:solidFill>
            <a:srgbClr val="DED8D0"/>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 name="Google Shape;126;p4"/>
          <p:cNvSpPr/>
          <p:nvPr/>
        </p:nvSpPr>
        <p:spPr>
          <a:xfrm>
            <a:off x="3228975" y="3524250"/>
            <a:ext cx="2133600" cy="552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1088"/>
              <a:buFont typeface="Arial"/>
              <a:buNone/>
            </a:pPr>
            <a:r>
              <a:rPr b="1" lang="en-US" sz="1088">
                <a:solidFill>
                  <a:srgbClr val="1A1A2E"/>
                </a:solidFill>
              </a:rPr>
              <a:t>Requirement Extractor + Gap Analyzer</a:t>
            </a:r>
            <a:endParaRPr/>
          </a:p>
        </p:txBody>
      </p:sp>
      <p:sp>
        <p:nvSpPr>
          <p:cNvPr id="127" name="Google Shape;127;p4"/>
          <p:cNvSpPr/>
          <p:nvPr/>
        </p:nvSpPr>
        <p:spPr>
          <a:xfrm>
            <a:off x="5676900" y="3448050"/>
            <a:ext cx="9525" cy="704850"/>
          </a:xfrm>
          <a:prstGeom prst="rect">
            <a:avLst/>
          </a:prstGeom>
          <a:solidFill>
            <a:srgbClr val="DED8D0"/>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 name="Google Shape;128;p4"/>
          <p:cNvSpPr/>
          <p:nvPr/>
        </p:nvSpPr>
        <p:spPr>
          <a:xfrm>
            <a:off x="5800725" y="3524250"/>
            <a:ext cx="1981200" cy="552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1013"/>
              <a:buFont typeface="Arial"/>
              <a:buNone/>
            </a:pPr>
            <a:r>
              <a:rPr b="0" lang="en-US" sz="1013">
                <a:solidFill>
                  <a:srgbClr val="666B70"/>
                </a:solidFill>
              </a:rPr>
              <a:t>Citations → requirements → gaps</a:t>
            </a:r>
            <a:endParaRPr/>
          </a:p>
        </p:txBody>
      </p:sp>
      <p:sp>
        <p:nvSpPr>
          <p:cNvPr id="129" name="Google Shape;129;p4"/>
          <p:cNvSpPr/>
          <p:nvPr/>
        </p:nvSpPr>
        <p:spPr>
          <a:xfrm>
            <a:off x="8096250" y="3448050"/>
            <a:ext cx="9525" cy="704850"/>
          </a:xfrm>
          <a:prstGeom prst="rect">
            <a:avLst/>
          </a:prstGeom>
          <a:solidFill>
            <a:srgbClr val="DED8D0"/>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 name="Google Shape;130;p4"/>
          <p:cNvSpPr/>
          <p:nvPr/>
        </p:nvSpPr>
        <p:spPr>
          <a:xfrm>
            <a:off x="8220075" y="3524250"/>
            <a:ext cx="3086100" cy="552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1013"/>
              <a:buFont typeface="Arial"/>
              <a:buNone/>
            </a:pPr>
            <a:r>
              <a:rPr b="0" lang="en-US" sz="1013">
                <a:solidFill>
                  <a:srgbClr val="666B70"/>
                </a:solidFill>
              </a:rPr>
              <a:t>Citation IDs, confidence, contradiction and missing-data flags</a:t>
            </a:r>
            <a:endParaRPr/>
          </a:p>
        </p:txBody>
      </p:sp>
      <p:sp>
        <p:nvSpPr>
          <p:cNvPr id="131" name="Google Shape;131;p4"/>
          <p:cNvSpPr/>
          <p:nvPr/>
        </p:nvSpPr>
        <p:spPr>
          <a:xfrm>
            <a:off x="781050" y="4152900"/>
            <a:ext cx="10648950" cy="704850"/>
          </a:xfrm>
          <a:prstGeom prst="rect">
            <a:avLst/>
          </a:prstGeom>
          <a:solidFill>
            <a:srgbClr val="FFFFFF"/>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 name="Google Shape;132;p4"/>
          <p:cNvSpPr/>
          <p:nvPr/>
        </p:nvSpPr>
        <p:spPr>
          <a:xfrm>
            <a:off x="904875" y="4229100"/>
            <a:ext cx="1885950" cy="552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1013"/>
              <a:buFont typeface="Arial"/>
              <a:buNone/>
            </a:pPr>
            <a:r>
              <a:rPr b="0" lang="en-US" sz="1013">
                <a:solidFill>
                  <a:srgbClr val="666B70"/>
                </a:solidFill>
              </a:rPr>
              <a:t>PRDs and backlogs drift apart</a:t>
            </a:r>
            <a:endParaRPr/>
          </a:p>
        </p:txBody>
      </p:sp>
      <p:sp>
        <p:nvSpPr>
          <p:cNvPr id="133" name="Google Shape;133;p4"/>
          <p:cNvSpPr/>
          <p:nvPr/>
        </p:nvSpPr>
        <p:spPr>
          <a:xfrm>
            <a:off x="3105150" y="4152900"/>
            <a:ext cx="9525" cy="704850"/>
          </a:xfrm>
          <a:prstGeom prst="rect">
            <a:avLst/>
          </a:prstGeom>
          <a:solidFill>
            <a:srgbClr val="DED8D0"/>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 name="Google Shape;134;p4"/>
          <p:cNvSpPr/>
          <p:nvPr/>
        </p:nvSpPr>
        <p:spPr>
          <a:xfrm>
            <a:off x="3228975" y="4229100"/>
            <a:ext cx="2133600" cy="552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1088"/>
              <a:buFont typeface="Arial"/>
              <a:buNone/>
            </a:pPr>
            <a:r>
              <a:rPr b="1" lang="en-US" sz="1088">
                <a:solidFill>
                  <a:srgbClr val="1A1A2E"/>
                </a:solidFill>
              </a:rPr>
              <a:t>Production PRD + Story Breakdown</a:t>
            </a:r>
            <a:endParaRPr/>
          </a:p>
        </p:txBody>
      </p:sp>
      <p:sp>
        <p:nvSpPr>
          <p:cNvPr id="135" name="Google Shape;135;p4"/>
          <p:cNvSpPr/>
          <p:nvPr/>
        </p:nvSpPr>
        <p:spPr>
          <a:xfrm>
            <a:off x="5676900" y="4152900"/>
            <a:ext cx="9525" cy="704850"/>
          </a:xfrm>
          <a:prstGeom prst="rect">
            <a:avLst/>
          </a:prstGeom>
          <a:solidFill>
            <a:srgbClr val="DED8D0"/>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 name="Google Shape;136;p4"/>
          <p:cNvSpPr/>
          <p:nvPr/>
        </p:nvSpPr>
        <p:spPr>
          <a:xfrm>
            <a:off x="5800725" y="4229100"/>
            <a:ext cx="1981200" cy="552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1013"/>
              <a:buFont typeface="Arial"/>
              <a:buNone/>
            </a:pPr>
            <a:r>
              <a:rPr b="0" lang="en-US" sz="1013">
                <a:solidFill>
                  <a:srgbClr val="666B70"/>
                </a:solidFill>
              </a:rPr>
              <a:t>Approved evidence → PRD → 3/7/11 hierarchy</a:t>
            </a:r>
            <a:endParaRPr/>
          </a:p>
        </p:txBody>
      </p:sp>
      <p:sp>
        <p:nvSpPr>
          <p:cNvPr id="137" name="Google Shape;137;p4"/>
          <p:cNvSpPr/>
          <p:nvPr/>
        </p:nvSpPr>
        <p:spPr>
          <a:xfrm>
            <a:off x="8096250" y="4152900"/>
            <a:ext cx="9525" cy="704850"/>
          </a:xfrm>
          <a:prstGeom prst="rect">
            <a:avLst/>
          </a:prstGeom>
          <a:solidFill>
            <a:srgbClr val="DED8D0"/>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 name="Google Shape;138;p4"/>
          <p:cNvSpPr/>
          <p:nvPr/>
        </p:nvSpPr>
        <p:spPr>
          <a:xfrm>
            <a:off x="8220075" y="4229100"/>
            <a:ext cx="3086100" cy="552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1013"/>
              <a:buFont typeface="Arial"/>
              <a:buNone/>
            </a:pPr>
            <a:r>
              <a:rPr b="0" lang="en-US" sz="1013">
                <a:solidFill>
                  <a:srgbClr val="666B70"/>
                </a:solidFill>
              </a:rPr>
              <a:t>Human approval, acceptance-criteria mapping, stable IDs</a:t>
            </a:r>
            <a:endParaRPr/>
          </a:p>
        </p:txBody>
      </p:sp>
      <p:sp>
        <p:nvSpPr>
          <p:cNvPr id="139" name="Google Shape;139;p4"/>
          <p:cNvSpPr/>
          <p:nvPr/>
        </p:nvSpPr>
        <p:spPr>
          <a:xfrm>
            <a:off x="781050" y="4857750"/>
            <a:ext cx="10648950" cy="704850"/>
          </a:xfrm>
          <a:prstGeom prst="rect">
            <a:avLst/>
          </a:prstGeom>
          <a:solidFill>
            <a:srgbClr val="F0EBE5"/>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0" name="Google Shape;140;p4"/>
          <p:cNvSpPr/>
          <p:nvPr/>
        </p:nvSpPr>
        <p:spPr>
          <a:xfrm>
            <a:off x="904875" y="4933950"/>
            <a:ext cx="1885950" cy="552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1013"/>
              <a:buFont typeface="Arial"/>
              <a:buNone/>
            </a:pPr>
            <a:r>
              <a:rPr b="0" lang="en-US" sz="1013">
                <a:solidFill>
                  <a:srgbClr val="666B70"/>
                </a:solidFill>
              </a:rPr>
              <a:t>Release review is subjective</a:t>
            </a:r>
            <a:endParaRPr/>
          </a:p>
        </p:txBody>
      </p:sp>
      <p:sp>
        <p:nvSpPr>
          <p:cNvPr id="141" name="Google Shape;141;p4"/>
          <p:cNvSpPr/>
          <p:nvPr/>
        </p:nvSpPr>
        <p:spPr>
          <a:xfrm>
            <a:off x="3105150" y="4857750"/>
            <a:ext cx="9525" cy="704850"/>
          </a:xfrm>
          <a:prstGeom prst="rect">
            <a:avLst/>
          </a:prstGeom>
          <a:solidFill>
            <a:srgbClr val="DED8D0"/>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 name="Google Shape;142;p4"/>
          <p:cNvSpPr/>
          <p:nvPr/>
        </p:nvSpPr>
        <p:spPr>
          <a:xfrm>
            <a:off x="3228975" y="4933950"/>
            <a:ext cx="2133600" cy="552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1088"/>
              <a:buFont typeface="Arial"/>
              <a:buNone/>
            </a:pPr>
            <a:r>
              <a:rPr b="1" lang="en-US" sz="1088">
                <a:solidFill>
                  <a:srgbClr val="1A1A2E"/>
                </a:solidFill>
              </a:rPr>
              <a:t>Final Validator + Story Sizing</a:t>
            </a:r>
            <a:endParaRPr/>
          </a:p>
        </p:txBody>
      </p:sp>
      <p:sp>
        <p:nvSpPr>
          <p:cNvPr id="143" name="Google Shape;143;p4"/>
          <p:cNvSpPr/>
          <p:nvPr/>
        </p:nvSpPr>
        <p:spPr>
          <a:xfrm>
            <a:off x="5676900" y="4857750"/>
            <a:ext cx="9525" cy="704850"/>
          </a:xfrm>
          <a:prstGeom prst="rect">
            <a:avLst/>
          </a:prstGeom>
          <a:solidFill>
            <a:srgbClr val="DED8D0"/>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 name="Google Shape;144;p4"/>
          <p:cNvSpPr/>
          <p:nvPr/>
        </p:nvSpPr>
        <p:spPr>
          <a:xfrm>
            <a:off x="5800725" y="4933950"/>
            <a:ext cx="1981200" cy="552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1013"/>
              <a:buFont typeface="Arial"/>
              <a:buNone/>
            </a:pPr>
            <a:r>
              <a:rPr b="0" lang="en-US" sz="1013">
                <a:solidFill>
                  <a:srgbClr val="666B70"/>
                </a:solidFill>
              </a:rPr>
              <a:t>Artifacts → reconciliation → sizing → export</a:t>
            </a:r>
            <a:endParaRPr/>
          </a:p>
        </p:txBody>
      </p:sp>
      <p:sp>
        <p:nvSpPr>
          <p:cNvPr id="145" name="Google Shape;145;p4"/>
          <p:cNvSpPr/>
          <p:nvPr/>
        </p:nvSpPr>
        <p:spPr>
          <a:xfrm>
            <a:off x="8096250" y="4857750"/>
            <a:ext cx="9525" cy="704850"/>
          </a:xfrm>
          <a:prstGeom prst="rect">
            <a:avLst/>
          </a:prstGeom>
          <a:solidFill>
            <a:srgbClr val="DED8D0"/>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 name="Google Shape;146;p4"/>
          <p:cNvSpPr/>
          <p:nvPr/>
        </p:nvSpPr>
        <p:spPr>
          <a:xfrm>
            <a:off x="8220075" y="4933950"/>
            <a:ext cx="3086100" cy="552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1013"/>
              <a:buFont typeface="Arial"/>
              <a:buNone/>
            </a:pPr>
            <a:r>
              <a:rPr b="0" lang="en-US" sz="1013">
                <a:solidFill>
                  <a:srgbClr val="666B70"/>
                </a:solidFill>
              </a:rPr>
              <a:t>Set equality, Agreement Gate, fail-closed export, non-blocking sizing</a:t>
            </a:r>
            <a:endParaRPr/>
          </a:p>
        </p:txBody>
      </p:sp>
      <p:sp>
        <p:nvSpPr>
          <p:cNvPr id="147" name="Google Shape;147;p4"/>
          <p:cNvSpPr/>
          <p:nvPr/>
        </p:nvSpPr>
        <p:spPr>
          <a:xfrm>
            <a:off x="0" y="5829300"/>
            <a:ext cx="12192000" cy="1028700"/>
          </a:xfrm>
          <a:prstGeom prst="rect">
            <a:avLst/>
          </a:prstGeom>
          <a:solidFill>
            <a:srgbClr val="1A1A2E"/>
          </a:solidFill>
          <a:ln cap="flat" cmpd="sng" w="9525">
            <a:solidFill>
              <a:srgbClr val="1A1A2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 name="Google Shape;148;p4"/>
          <p:cNvSpPr/>
          <p:nvPr/>
        </p:nvSpPr>
        <p:spPr>
          <a:xfrm>
            <a:off x="781050" y="5981700"/>
            <a:ext cx="2571750" cy="2095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C9C6D8"/>
              </a:buClr>
              <a:buSzPts val="900"/>
              <a:buFont typeface="Arial"/>
              <a:buNone/>
            </a:pPr>
            <a:r>
              <a:rPr b="1" lang="en-US" sz="900">
                <a:solidFill>
                  <a:srgbClr val="C9C6D8"/>
                </a:solidFill>
              </a:rPr>
              <a:t>DESIGN PRINCIPLE</a:t>
            </a:r>
            <a:endParaRPr/>
          </a:p>
        </p:txBody>
      </p:sp>
      <p:sp>
        <p:nvSpPr>
          <p:cNvPr id="149" name="Google Shape;149;p4"/>
          <p:cNvSpPr/>
          <p:nvPr/>
        </p:nvSpPr>
        <p:spPr>
          <a:xfrm>
            <a:off x="781050" y="6229350"/>
            <a:ext cx="10648950" cy="3619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FFFFFF"/>
              </a:buClr>
              <a:buSzPts val="1650"/>
              <a:buFont typeface="Arial"/>
              <a:buNone/>
            </a:pPr>
            <a:r>
              <a:rPr b="1" lang="en-US" sz="1650">
                <a:solidFill>
                  <a:srgbClr val="FFFFFF"/>
                </a:solidFill>
              </a:rPr>
              <a:t>Automation accelerates the work; governance determines what may be delivered.</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4EE"/>
        </a:solidFill>
      </p:bgPr>
    </p:bg>
    <p:spTree>
      <p:nvGrpSpPr>
        <p:cNvPr id="154" name="Shape 154"/>
        <p:cNvGrpSpPr/>
        <p:nvPr/>
      </p:nvGrpSpPr>
      <p:grpSpPr>
        <a:xfrm>
          <a:off x="0" y="0"/>
          <a:ext cx="0" cy="0"/>
          <a:chOff x="0" y="0"/>
          <a:chExt cx="0" cy="0"/>
        </a:xfrm>
      </p:grpSpPr>
      <p:sp>
        <p:nvSpPr>
          <p:cNvPr id="155" name="Google Shape;155;p5"/>
          <p:cNvSpPr/>
          <p:nvPr/>
        </p:nvSpPr>
        <p:spPr>
          <a:xfrm>
            <a:off x="0" y="0"/>
            <a:ext cx="12192000" cy="76200"/>
          </a:xfrm>
          <a:prstGeom prst="rect">
            <a:avLst/>
          </a:prstGeom>
          <a:solidFill>
            <a:srgbClr val="B85042"/>
          </a:solidFill>
          <a:ln cap="flat" cmpd="sng" w="9525">
            <a:solidFill>
              <a:srgbClr val="B8504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6" name="Google Shape;156;p5"/>
          <p:cNvSpPr/>
          <p:nvPr/>
        </p:nvSpPr>
        <p:spPr>
          <a:xfrm>
            <a:off x="514350" y="742950"/>
            <a:ext cx="66675" cy="866775"/>
          </a:xfrm>
          <a:prstGeom prst="rect">
            <a:avLst/>
          </a:prstGeom>
          <a:solidFill>
            <a:srgbClr val="B85042"/>
          </a:solidFill>
          <a:ln cap="flat" cmpd="sng" w="9525">
            <a:solidFill>
              <a:srgbClr val="B8504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 name="Google Shape;157;p5"/>
          <p:cNvSpPr/>
          <p:nvPr/>
        </p:nvSpPr>
        <p:spPr>
          <a:xfrm>
            <a:off x="781050" y="552450"/>
            <a:ext cx="4476750" cy="2667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B85042"/>
              </a:buClr>
              <a:buSzPts val="975"/>
              <a:buFont typeface="Arial"/>
              <a:buNone/>
            </a:pPr>
            <a:r>
              <a:rPr b="1" lang="en-US" sz="975">
                <a:solidFill>
                  <a:srgbClr val="B85042"/>
                </a:solidFill>
              </a:rPr>
              <a:t>05  ·  PROGRAM CHARTER</a:t>
            </a:r>
            <a:endParaRPr/>
          </a:p>
        </p:txBody>
      </p:sp>
      <p:sp>
        <p:nvSpPr>
          <p:cNvPr id="158" name="Google Shape;158;p5"/>
          <p:cNvSpPr/>
          <p:nvPr/>
        </p:nvSpPr>
        <p:spPr>
          <a:xfrm>
            <a:off x="781050" y="885825"/>
            <a:ext cx="10648950" cy="80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2550"/>
              <a:buFont typeface="Arial"/>
              <a:buNone/>
            </a:pPr>
            <a:r>
              <a:rPr b="1" lang="en-US" sz="2550">
                <a:solidFill>
                  <a:srgbClr val="1A1A2E"/>
                </a:solidFill>
              </a:rPr>
              <a:t>The charter defines a controlled product-documentation program</a:t>
            </a:r>
            <a:endParaRPr/>
          </a:p>
        </p:txBody>
      </p:sp>
      <p:sp>
        <p:nvSpPr>
          <p:cNvPr id="159" name="Google Shape;159;p5"/>
          <p:cNvSpPr/>
          <p:nvPr/>
        </p:nvSpPr>
        <p:spPr>
          <a:xfrm>
            <a:off x="781050" y="1914525"/>
            <a:ext cx="10648950" cy="800100"/>
          </a:xfrm>
          <a:prstGeom prst="roundRect">
            <a:avLst>
              <a:gd fmla="val 9524" name="adj"/>
            </a:avLst>
          </a:prstGeom>
          <a:solidFill>
            <a:srgbClr val="1A1A2E"/>
          </a:solidFill>
          <a:ln cap="flat" cmpd="sng" w="9525">
            <a:solidFill>
              <a:srgbClr val="1A1A2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 name="Google Shape;160;p5"/>
          <p:cNvSpPr/>
          <p:nvPr/>
        </p:nvSpPr>
        <p:spPr>
          <a:xfrm>
            <a:off x="1009650" y="2057400"/>
            <a:ext cx="1047750" cy="2286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C9C6D8"/>
              </a:buClr>
              <a:buSzPts val="900"/>
              <a:buFont typeface="Arial"/>
              <a:buNone/>
            </a:pPr>
            <a:r>
              <a:rPr b="1" lang="en-US" sz="900">
                <a:solidFill>
                  <a:srgbClr val="C9C6D8"/>
                </a:solidFill>
              </a:rPr>
              <a:t>VISION</a:t>
            </a:r>
            <a:endParaRPr/>
          </a:p>
        </p:txBody>
      </p:sp>
      <p:sp>
        <p:nvSpPr>
          <p:cNvPr id="161" name="Google Shape;161;p5"/>
          <p:cNvSpPr/>
          <p:nvPr/>
        </p:nvSpPr>
        <p:spPr>
          <a:xfrm>
            <a:off x="2038350" y="2009775"/>
            <a:ext cx="9029700" cy="571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FFFFFF"/>
              </a:buClr>
              <a:buSzPts val="1500"/>
              <a:buFont typeface="Arial"/>
              <a:buNone/>
            </a:pPr>
            <a:r>
              <a:rPr b="1" lang="en-US" sz="1500">
                <a:solidFill>
                  <a:srgbClr val="FFFFFF"/>
                </a:solidFill>
              </a:rPr>
              <a:t>Transform fragmented stakeholder evidence into trusted, planning-ready product documentation with visible human control.</a:t>
            </a:r>
            <a:endParaRPr/>
          </a:p>
        </p:txBody>
      </p:sp>
      <p:sp>
        <p:nvSpPr>
          <p:cNvPr id="162" name="Google Shape;162;p5"/>
          <p:cNvSpPr/>
          <p:nvPr/>
        </p:nvSpPr>
        <p:spPr>
          <a:xfrm>
            <a:off x="781050" y="2962275"/>
            <a:ext cx="2857500" cy="2286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B85042"/>
              </a:buClr>
              <a:buSzPts val="900"/>
              <a:buFont typeface="Arial"/>
              <a:buNone/>
            </a:pPr>
            <a:r>
              <a:rPr b="1" lang="en-US" sz="900">
                <a:solidFill>
                  <a:srgbClr val="B85042"/>
                </a:solidFill>
              </a:rPr>
              <a:t>PROGRAM OBJECTIVES</a:t>
            </a:r>
            <a:endParaRPr/>
          </a:p>
        </p:txBody>
      </p:sp>
      <p:sp>
        <p:nvSpPr>
          <p:cNvPr id="163" name="Google Shape;163;p5"/>
          <p:cNvSpPr/>
          <p:nvPr/>
        </p:nvSpPr>
        <p:spPr>
          <a:xfrm>
            <a:off x="781050" y="3305175"/>
            <a:ext cx="2247900" cy="1638300"/>
          </a:xfrm>
          <a:prstGeom prst="roundRect">
            <a:avLst>
              <a:gd fmla="val 4651" name="adj"/>
            </a:avLst>
          </a:prstGeom>
          <a:solidFill>
            <a:srgbClr val="FFFFFF"/>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 name="Google Shape;164;p5"/>
          <p:cNvSpPr/>
          <p:nvPr/>
        </p:nvSpPr>
        <p:spPr>
          <a:xfrm>
            <a:off x="942975" y="3429000"/>
            <a:ext cx="381000" cy="2095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900"/>
              <a:buFont typeface="Arial"/>
              <a:buNone/>
            </a:pPr>
            <a:r>
              <a:rPr b="1" lang="en-US" sz="900">
                <a:solidFill>
                  <a:srgbClr val="666B70"/>
                </a:solidFill>
              </a:rPr>
              <a:t>01</a:t>
            </a:r>
            <a:endParaRPr/>
          </a:p>
        </p:txBody>
      </p:sp>
      <p:sp>
        <p:nvSpPr>
          <p:cNvPr id="165" name="Google Shape;165;p5"/>
          <p:cNvSpPr/>
          <p:nvPr/>
        </p:nvSpPr>
        <p:spPr>
          <a:xfrm>
            <a:off x="942975" y="3714750"/>
            <a:ext cx="1924050" cy="4000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1350"/>
              <a:buFont typeface="Arial"/>
              <a:buNone/>
            </a:pPr>
            <a:r>
              <a:rPr b="1" lang="en-US" sz="1350">
                <a:solidFill>
                  <a:srgbClr val="1A1A2E"/>
                </a:solidFill>
              </a:rPr>
              <a:t>Reduce translation effort</a:t>
            </a:r>
            <a:endParaRPr/>
          </a:p>
        </p:txBody>
      </p:sp>
      <p:sp>
        <p:nvSpPr>
          <p:cNvPr id="166" name="Google Shape;166;p5"/>
          <p:cNvSpPr/>
          <p:nvPr/>
        </p:nvSpPr>
        <p:spPr>
          <a:xfrm>
            <a:off x="942975" y="4133850"/>
            <a:ext cx="1924050" cy="6572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938"/>
              <a:buFont typeface="Arial"/>
              <a:buNone/>
            </a:pPr>
            <a:r>
              <a:rPr lang="en-US" sz="938">
                <a:solidFill>
                  <a:srgbClr val="666B70"/>
                </a:solidFill>
              </a:rPr>
              <a:t>Automate evidence intake, extraction, gap analysis, and artifact generation.</a:t>
            </a:r>
            <a:endParaRPr/>
          </a:p>
        </p:txBody>
      </p:sp>
      <p:sp>
        <p:nvSpPr>
          <p:cNvPr id="167" name="Google Shape;167;p5"/>
          <p:cNvSpPr/>
          <p:nvPr/>
        </p:nvSpPr>
        <p:spPr>
          <a:xfrm>
            <a:off x="3257550" y="3305175"/>
            <a:ext cx="2247900" cy="1638300"/>
          </a:xfrm>
          <a:prstGeom prst="roundRect">
            <a:avLst>
              <a:gd fmla="val 4651" name="adj"/>
            </a:avLst>
          </a:prstGeom>
          <a:solidFill>
            <a:srgbClr val="F3E6E2"/>
          </a:solidFill>
          <a:ln cap="flat" cmpd="sng" w="9525">
            <a:solidFill>
              <a:srgbClr val="B8504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 name="Google Shape;168;p5"/>
          <p:cNvSpPr/>
          <p:nvPr/>
        </p:nvSpPr>
        <p:spPr>
          <a:xfrm>
            <a:off x="3419475" y="3429000"/>
            <a:ext cx="381000" cy="2095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B85042"/>
              </a:buClr>
              <a:buSzPts val="900"/>
              <a:buFont typeface="Arial"/>
              <a:buNone/>
            </a:pPr>
            <a:r>
              <a:rPr b="1" lang="en-US" sz="900">
                <a:solidFill>
                  <a:srgbClr val="B85042"/>
                </a:solidFill>
              </a:rPr>
              <a:t>02</a:t>
            </a:r>
            <a:endParaRPr/>
          </a:p>
        </p:txBody>
      </p:sp>
      <p:sp>
        <p:nvSpPr>
          <p:cNvPr id="169" name="Google Shape;169;p5"/>
          <p:cNvSpPr/>
          <p:nvPr/>
        </p:nvSpPr>
        <p:spPr>
          <a:xfrm>
            <a:off x="3419475" y="3714750"/>
            <a:ext cx="1924050" cy="4000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1350"/>
              <a:buFont typeface="Arial"/>
              <a:buNone/>
            </a:pPr>
            <a:r>
              <a:rPr b="1" lang="en-US" sz="1350">
                <a:solidFill>
                  <a:srgbClr val="1A1A2E"/>
                </a:solidFill>
              </a:rPr>
              <a:t>Preserve decision lineage</a:t>
            </a:r>
            <a:endParaRPr/>
          </a:p>
        </p:txBody>
      </p:sp>
      <p:sp>
        <p:nvSpPr>
          <p:cNvPr id="170" name="Google Shape;170;p5"/>
          <p:cNvSpPr/>
          <p:nvPr/>
        </p:nvSpPr>
        <p:spPr>
          <a:xfrm>
            <a:off x="3419475" y="4133850"/>
            <a:ext cx="1924050" cy="6572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938"/>
              <a:buFont typeface="Arial"/>
              <a:buNone/>
            </a:pPr>
            <a:r>
              <a:rPr lang="en-US" sz="938">
                <a:solidFill>
                  <a:srgbClr val="666B70"/>
                </a:solidFill>
              </a:rPr>
              <a:t>Maintain source-to-requirement-to-story traceability across every stage.</a:t>
            </a:r>
            <a:endParaRPr/>
          </a:p>
        </p:txBody>
      </p:sp>
      <p:sp>
        <p:nvSpPr>
          <p:cNvPr id="171" name="Google Shape;171;p5"/>
          <p:cNvSpPr/>
          <p:nvPr/>
        </p:nvSpPr>
        <p:spPr>
          <a:xfrm>
            <a:off x="5734050" y="3305175"/>
            <a:ext cx="2247900" cy="1638300"/>
          </a:xfrm>
          <a:prstGeom prst="roundRect">
            <a:avLst>
              <a:gd fmla="val 4651" name="adj"/>
            </a:avLst>
          </a:prstGeom>
          <a:solidFill>
            <a:srgbClr val="FFFFFF"/>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 name="Google Shape;172;p5"/>
          <p:cNvSpPr/>
          <p:nvPr/>
        </p:nvSpPr>
        <p:spPr>
          <a:xfrm>
            <a:off x="5895975" y="3429000"/>
            <a:ext cx="381000" cy="2095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900"/>
              <a:buFont typeface="Arial"/>
              <a:buNone/>
            </a:pPr>
            <a:r>
              <a:rPr b="1" lang="en-US" sz="900">
                <a:solidFill>
                  <a:srgbClr val="666B70"/>
                </a:solidFill>
              </a:rPr>
              <a:t>03</a:t>
            </a:r>
            <a:endParaRPr/>
          </a:p>
        </p:txBody>
      </p:sp>
      <p:sp>
        <p:nvSpPr>
          <p:cNvPr id="173" name="Google Shape;173;p5"/>
          <p:cNvSpPr/>
          <p:nvPr/>
        </p:nvSpPr>
        <p:spPr>
          <a:xfrm>
            <a:off x="5895975" y="3714750"/>
            <a:ext cx="1924050" cy="4000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1350"/>
              <a:buFont typeface="Arial"/>
              <a:buNone/>
            </a:pPr>
            <a:r>
              <a:rPr b="1" lang="en-US" sz="1350">
                <a:solidFill>
                  <a:srgbClr val="1A1A2E"/>
                </a:solidFill>
              </a:rPr>
              <a:t>Increase delivery confidence</a:t>
            </a:r>
            <a:endParaRPr/>
          </a:p>
        </p:txBody>
      </p:sp>
      <p:sp>
        <p:nvSpPr>
          <p:cNvPr id="174" name="Google Shape;174;p5"/>
          <p:cNvSpPr/>
          <p:nvPr/>
        </p:nvSpPr>
        <p:spPr>
          <a:xfrm>
            <a:off x="5895975" y="4133850"/>
            <a:ext cx="1924050" cy="6572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938"/>
              <a:buFont typeface="Arial"/>
              <a:buNone/>
            </a:pPr>
            <a:r>
              <a:rPr lang="en-US" sz="938">
                <a:solidFill>
                  <a:srgbClr val="666B70"/>
                </a:solidFill>
              </a:rPr>
              <a:t>Release only reconciled artifacts that satisfy deterministic and semantic controls.</a:t>
            </a:r>
            <a:endParaRPr/>
          </a:p>
        </p:txBody>
      </p:sp>
      <p:sp>
        <p:nvSpPr>
          <p:cNvPr id="175" name="Google Shape;175;p5"/>
          <p:cNvSpPr/>
          <p:nvPr/>
        </p:nvSpPr>
        <p:spPr>
          <a:xfrm>
            <a:off x="8248650" y="2962275"/>
            <a:ext cx="3181350" cy="1809750"/>
          </a:xfrm>
          <a:prstGeom prst="roundRect">
            <a:avLst>
              <a:gd fmla="val 4211" name="adj"/>
            </a:avLst>
          </a:prstGeom>
          <a:solidFill>
            <a:srgbClr val="E6F0EB"/>
          </a:solidFill>
          <a:ln cap="flat" cmpd="sng" w="9525">
            <a:solidFill>
              <a:srgbClr val="2F6F5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 name="Google Shape;176;p5"/>
          <p:cNvSpPr/>
          <p:nvPr/>
        </p:nvSpPr>
        <p:spPr>
          <a:xfrm>
            <a:off x="8439150" y="3124200"/>
            <a:ext cx="2800350" cy="2095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F6F57"/>
              </a:buClr>
              <a:buSzPts val="900"/>
              <a:buFont typeface="Arial"/>
              <a:buNone/>
            </a:pPr>
            <a:r>
              <a:rPr b="1" lang="en-US" sz="900">
                <a:solidFill>
                  <a:srgbClr val="2F6F57"/>
                </a:solidFill>
              </a:rPr>
              <a:t>MEASURABLE SUCCESS</a:t>
            </a:r>
            <a:endParaRPr/>
          </a:p>
        </p:txBody>
      </p:sp>
      <p:sp>
        <p:nvSpPr>
          <p:cNvPr id="177" name="Google Shape;177;p5"/>
          <p:cNvSpPr/>
          <p:nvPr/>
        </p:nvSpPr>
        <p:spPr>
          <a:xfrm>
            <a:off x="8439150" y="3419475"/>
            <a:ext cx="1219200" cy="2667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F6F57"/>
              </a:buClr>
              <a:buSzPts val="1575"/>
              <a:buFont typeface="Arial"/>
              <a:buNone/>
            </a:pPr>
            <a:r>
              <a:rPr b="1" lang="en-US" sz="1575">
                <a:solidFill>
                  <a:srgbClr val="2F6F57"/>
                </a:solidFill>
              </a:rPr>
              <a:t>100%</a:t>
            </a:r>
            <a:endParaRPr/>
          </a:p>
        </p:txBody>
      </p:sp>
      <p:sp>
        <p:nvSpPr>
          <p:cNvPr id="178" name="Google Shape;178;p5"/>
          <p:cNvSpPr/>
          <p:nvPr/>
        </p:nvSpPr>
        <p:spPr>
          <a:xfrm>
            <a:off x="8439150" y="3686175"/>
            <a:ext cx="1219200" cy="2857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863"/>
              <a:buFont typeface="Arial"/>
              <a:buNone/>
            </a:pPr>
            <a:r>
              <a:rPr lang="en-US" sz="863">
                <a:solidFill>
                  <a:srgbClr val="666B70"/>
                </a:solidFill>
              </a:rPr>
              <a:t>governed ID reconciliation</a:t>
            </a:r>
            <a:endParaRPr/>
          </a:p>
        </p:txBody>
      </p:sp>
      <p:sp>
        <p:nvSpPr>
          <p:cNvPr id="179" name="Google Shape;179;p5"/>
          <p:cNvSpPr/>
          <p:nvPr/>
        </p:nvSpPr>
        <p:spPr>
          <a:xfrm>
            <a:off x="9829800" y="3419475"/>
            <a:ext cx="1219200" cy="2667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F6F57"/>
              </a:buClr>
              <a:buSzPts val="1575"/>
              <a:buFont typeface="Arial"/>
              <a:buNone/>
            </a:pPr>
            <a:r>
              <a:rPr b="1" lang="en-US" sz="1575">
                <a:solidFill>
                  <a:srgbClr val="2F6F57"/>
                </a:solidFill>
              </a:rPr>
              <a:t>0</a:t>
            </a:r>
            <a:endParaRPr/>
          </a:p>
        </p:txBody>
      </p:sp>
      <p:sp>
        <p:nvSpPr>
          <p:cNvPr id="180" name="Google Shape;180;p5"/>
          <p:cNvSpPr/>
          <p:nvPr/>
        </p:nvSpPr>
        <p:spPr>
          <a:xfrm>
            <a:off x="9829800" y="3686175"/>
            <a:ext cx="1219200" cy="2857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863"/>
              <a:buFont typeface="Arial"/>
              <a:buNone/>
            </a:pPr>
            <a:r>
              <a:rPr lang="en-US" sz="863">
                <a:solidFill>
                  <a:srgbClr val="666B70"/>
                </a:solidFill>
              </a:rPr>
              <a:t>orphaned delivery records</a:t>
            </a:r>
            <a:endParaRPr/>
          </a:p>
        </p:txBody>
      </p:sp>
      <p:sp>
        <p:nvSpPr>
          <p:cNvPr id="181" name="Google Shape;181;p5"/>
          <p:cNvSpPr/>
          <p:nvPr/>
        </p:nvSpPr>
        <p:spPr>
          <a:xfrm>
            <a:off x="8439150" y="4076700"/>
            <a:ext cx="1219200" cy="2667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F6F57"/>
              </a:buClr>
              <a:buSzPts val="1575"/>
              <a:buFont typeface="Arial"/>
              <a:buNone/>
            </a:pPr>
            <a:r>
              <a:rPr b="1" lang="en-US" sz="1575">
                <a:solidFill>
                  <a:srgbClr val="2F6F57"/>
                </a:solidFill>
              </a:rPr>
              <a:t>11/11</a:t>
            </a:r>
            <a:endParaRPr/>
          </a:p>
        </p:txBody>
      </p:sp>
      <p:sp>
        <p:nvSpPr>
          <p:cNvPr id="182" name="Google Shape;182;p5"/>
          <p:cNvSpPr/>
          <p:nvPr/>
        </p:nvSpPr>
        <p:spPr>
          <a:xfrm>
            <a:off x="8439150" y="4343400"/>
            <a:ext cx="1219200" cy="2857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863"/>
              <a:buFont typeface="Arial"/>
              <a:buNone/>
            </a:pPr>
            <a:r>
              <a:rPr lang="en-US" sz="863">
                <a:solidFill>
                  <a:srgbClr val="666B70"/>
                </a:solidFill>
              </a:rPr>
              <a:t>stories with sizing guidance</a:t>
            </a:r>
            <a:endParaRPr/>
          </a:p>
        </p:txBody>
      </p:sp>
      <p:sp>
        <p:nvSpPr>
          <p:cNvPr id="183" name="Google Shape;183;p5"/>
          <p:cNvSpPr/>
          <p:nvPr/>
        </p:nvSpPr>
        <p:spPr>
          <a:xfrm>
            <a:off x="9829800" y="4076700"/>
            <a:ext cx="1219200" cy="2667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F6F57"/>
              </a:buClr>
              <a:buSzPts val="1575"/>
              <a:buFont typeface="Arial"/>
              <a:buNone/>
            </a:pPr>
            <a:r>
              <a:rPr b="1" lang="en-US" sz="1575">
                <a:solidFill>
                  <a:srgbClr val="2F6F57"/>
                </a:solidFill>
              </a:rPr>
              <a:t>3</a:t>
            </a:r>
            <a:endParaRPr/>
          </a:p>
        </p:txBody>
      </p:sp>
      <p:sp>
        <p:nvSpPr>
          <p:cNvPr id="184" name="Google Shape;184;p5"/>
          <p:cNvSpPr/>
          <p:nvPr/>
        </p:nvSpPr>
        <p:spPr>
          <a:xfrm>
            <a:off x="9829800" y="4343400"/>
            <a:ext cx="1219200" cy="2857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863"/>
              <a:buFont typeface="Arial"/>
              <a:buNone/>
            </a:pPr>
            <a:r>
              <a:rPr lang="en-US" sz="863">
                <a:solidFill>
                  <a:srgbClr val="666B70"/>
                </a:solidFill>
              </a:rPr>
              <a:t>validated planning artifacts</a:t>
            </a:r>
            <a:endParaRPr/>
          </a:p>
        </p:txBody>
      </p:sp>
      <p:sp>
        <p:nvSpPr>
          <p:cNvPr id="185" name="Google Shape;185;p5"/>
          <p:cNvSpPr/>
          <p:nvPr/>
        </p:nvSpPr>
        <p:spPr>
          <a:xfrm>
            <a:off x="781050" y="5095875"/>
            <a:ext cx="5143500" cy="1066800"/>
          </a:xfrm>
          <a:prstGeom prst="roundRect">
            <a:avLst>
              <a:gd fmla="val 7143" name="adj"/>
            </a:avLst>
          </a:prstGeom>
          <a:solidFill>
            <a:srgbClr val="FFFFFF"/>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 name="Google Shape;186;p5"/>
          <p:cNvSpPr/>
          <p:nvPr/>
        </p:nvSpPr>
        <p:spPr>
          <a:xfrm>
            <a:off x="971550" y="5219700"/>
            <a:ext cx="1047750" cy="2095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F6F57"/>
              </a:buClr>
              <a:buSzPts val="900"/>
              <a:buFont typeface="Arial"/>
              <a:buNone/>
            </a:pPr>
            <a:r>
              <a:rPr b="1" lang="en-US" sz="900">
                <a:solidFill>
                  <a:srgbClr val="2F6F57"/>
                </a:solidFill>
              </a:rPr>
              <a:t>IN SCOPE</a:t>
            </a:r>
            <a:endParaRPr/>
          </a:p>
        </p:txBody>
      </p:sp>
      <p:sp>
        <p:nvSpPr>
          <p:cNvPr id="187" name="Google Shape;187;p5"/>
          <p:cNvSpPr/>
          <p:nvPr/>
        </p:nvSpPr>
        <p:spPr>
          <a:xfrm>
            <a:off x="971550" y="5495925"/>
            <a:ext cx="4762500" cy="4953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1125"/>
              <a:buFont typeface="Arial"/>
              <a:buNone/>
            </a:pPr>
            <a:r>
              <a:rPr b="1" lang="en-US" sz="1125">
                <a:solidFill>
                  <a:srgbClr val="1A1A2E"/>
                </a:solidFill>
              </a:rPr>
              <a:t>Evidence intake · requirement extraction · gap analysis · approval · PRD · stories · validation · sizing · export</a:t>
            </a:r>
            <a:endParaRPr/>
          </a:p>
        </p:txBody>
      </p:sp>
      <p:sp>
        <p:nvSpPr>
          <p:cNvPr id="188" name="Google Shape;188;p5"/>
          <p:cNvSpPr/>
          <p:nvPr/>
        </p:nvSpPr>
        <p:spPr>
          <a:xfrm>
            <a:off x="6191250" y="5095875"/>
            <a:ext cx="5238750" cy="1066800"/>
          </a:xfrm>
          <a:prstGeom prst="roundRect">
            <a:avLst>
              <a:gd fmla="val 7143" name="adj"/>
            </a:avLst>
          </a:prstGeom>
          <a:solidFill>
            <a:srgbClr val="F0EBE5"/>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 name="Google Shape;189;p5"/>
          <p:cNvSpPr/>
          <p:nvPr/>
        </p:nvSpPr>
        <p:spPr>
          <a:xfrm>
            <a:off x="6381750" y="5219700"/>
            <a:ext cx="1428750" cy="2095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B85042"/>
              </a:buClr>
              <a:buSzPts val="900"/>
              <a:buFont typeface="Arial"/>
              <a:buNone/>
            </a:pPr>
            <a:r>
              <a:rPr b="1" lang="en-US" sz="900">
                <a:solidFill>
                  <a:srgbClr val="B85042"/>
                </a:solidFill>
              </a:rPr>
              <a:t>OUT OF SCOPE</a:t>
            </a:r>
            <a:endParaRPr/>
          </a:p>
        </p:txBody>
      </p:sp>
      <p:sp>
        <p:nvSpPr>
          <p:cNvPr id="190" name="Google Shape;190;p5"/>
          <p:cNvSpPr/>
          <p:nvPr/>
        </p:nvSpPr>
        <p:spPr>
          <a:xfrm>
            <a:off x="6381750" y="5495925"/>
            <a:ext cx="4857750" cy="4953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1125"/>
              <a:buFont typeface="Arial"/>
              <a:buNone/>
            </a:pPr>
            <a:r>
              <a:rPr b="1" lang="en-US" sz="1125">
                <a:solidFill>
                  <a:srgbClr val="1A1A2E"/>
                </a:solidFill>
              </a:rPr>
              <a:t>Autonomous product decisions · automatic production triggers · engineering estimates as commitments · source-system replacement</a:t>
            </a:r>
            <a:endParaRPr/>
          </a:p>
        </p:txBody>
      </p:sp>
      <p:sp>
        <p:nvSpPr>
          <p:cNvPr id="191" name="Google Shape;191;p5"/>
          <p:cNvSpPr/>
          <p:nvPr/>
        </p:nvSpPr>
        <p:spPr>
          <a:xfrm>
            <a:off x="0" y="6572250"/>
            <a:ext cx="12192000" cy="285750"/>
          </a:xfrm>
          <a:prstGeom prst="rect">
            <a:avLst/>
          </a:prstGeom>
          <a:solidFill>
            <a:srgbClr val="1A1A2E"/>
          </a:solidFill>
          <a:ln cap="flat" cmpd="sng" w="9525">
            <a:solidFill>
              <a:srgbClr val="1A1A2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 name="Google Shape;192;p5"/>
          <p:cNvSpPr/>
          <p:nvPr/>
        </p:nvSpPr>
        <p:spPr>
          <a:xfrm>
            <a:off x="781050" y="6572250"/>
            <a:ext cx="10648950" cy="2857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FFFFFF"/>
              </a:buClr>
              <a:buSzPts val="975"/>
              <a:buFont typeface="Arial"/>
              <a:buNone/>
            </a:pPr>
            <a:r>
              <a:rPr b="1" lang="en-US" sz="975">
                <a:solidFill>
                  <a:srgbClr val="FFFFFF"/>
                </a:solidFill>
              </a:rPr>
              <a:t>A bounded charter protects both delivery speed and decision accountability.</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4EE"/>
        </a:solidFill>
      </p:bgPr>
    </p:bg>
    <p:spTree>
      <p:nvGrpSpPr>
        <p:cNvPr id="197" name="Shape 197"/>
        <p:cNvGrpSpPr/>
        <p:nvPr/>
      </p:nvGrpSpPr>
      <p:grpSpPr>
        <a:xfrm>
          <a:off x="0" y="0"/>
          <a:ext cx="0" cy="0"/>
          <a:chOff x="0" y="0"/>
          <a:chExt cx="0" cy="0"/>
        </a:xfrm>
      </p:grpSpPr>
      <p:sp>
        <p:nvSpPr>
          <p:cNvPr id="198" name="Google Shape;198;p6"/>
          <p:cNvSpPr/>
          <p:nvPr/>
        </p:nvSpPr>
        <p:spPr>
          <a:xfrm>
            <a:off x="0" y="0"/>
            <a:ext cx="12192000" cy="76200"/>
          </a:xfrm>
          <a:prstGeom prst="rect">
            <a:avLst/>
          </a:prstGeom>
          <a:solidFill>
            <a:srgbClr val="B85042"/>
          </a:solidFill>
          <a:ln cap="flat" cmpd="sng" w="9525">
            <a:solidFill>
              <a:srgbClr val="B8504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 name="Google Shape;199;p6"/>
          <p:cNvSpPr/>
          <p:nvPr/>
        </p:nvSpPr>
        <p:spPr>
          <a:xfrm>
            <a:off x="514350" y="742950"/>
            <a:ext cx="66675" cy="866775"/>
          </a:xfrm>
          <a:prstGeom prst="rect">
            <a:avLst/>
          </a:prstGeom>
          <a:solidFill>
            <a:srgbClr val="B85042"/>
          </a:solidFill>
          <a:ln cap="flat" cmpd="sng" w="9525">
            <a:solidFill>
              <a:srgbClr val="B8504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 name="Google Shape;200;p6"/>
          <p:cNvSpPr/>
          <p:nvPr/>
        </p:nvSpPr>
        <p:spPr>
          <a:xfrm>
            <a:off x="781050" y="552450"/>
            <a:ext cx="4953000" cy="2667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B85042"/>
              </a:buClr>
              <a:buSzPts val="975"/>
              <a:buFont typeface="Arial"/>
              <a:buNone/>
            </a:pPr>
            <a:r>
              <a:rPr b="1" lang="en-US" sz="975">
                <a:solidFill>
                  <a:srgbClr val="B85042"/>
                </a:solidFill>
              </a:rPr>
              <a:t>06  ·  GOVERNANCE &amp; ROLLOUT</a:t>
            </a:r>
            <a:endParaRPr/>
          </a:p>
        </p:txBody>
      </p:sp>
      <p:sp>
        <p:nvSpPr>
          <p:cNvPr id="201" name="Google Shape;201;p6"/>
          <p:cNvSpPr/>
          <p:nvPr/>
        </p:nvSpPr>
        <p:spPr>
          <a:xfrm>
            <a:off x="781050" y="885825"/>
            <a:ext cx="10648950" cy="80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2550"/>
              <a:buFont typeface="Arial"/>
              <a:buNone/>
            </a:pPr>
            <a:r>
              <a:rPr b="1" lang="en-US" sz="2550">
                <a:solidFill>
                  <a:srgbClr val="1A1A2E"/>
                </a:solidFill>
              </a:rPr>
              <a:t>Delivery is governed through ownership, stages, and rollout controls</a:t>
            </a:r>
            <a:endParaRPr/>
          </a:p>
        </p:txBody>
      </p:sp>
      <p:sp>
        <p:nvSpPr>
          <p:cNvPr id="202" name="Google Shape;202;p6"/>
          <p:cNvSpPr/>
          <p:nvPr/>
        </p:nvSpPr>
        <p:spPr>
          <a:xfrm>
            <a:off x="781050" y="1724025"/>
            <a:ext cx="10648950" cy="3429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1275"/>
              <a:buFont typeface="Arial"/>
              <a:buNone/>
            </a:pPr>
            <a:r>
              <a:rPr lang="en-US" sz="1275">
                <a:solidFill>
                  <a:srgbClr val="666B70"/>
                </a:solidFill>
              </a:rPr>
              <a:t>The program moves from discovery to controlled operation without bypassing human approval or evidence validation.</a:t>
            </a:r>
            <a:endParaRPr/>
          </a:p>
        </p:txBody>
      </p:sp>
      <p:sp>
        <p:nvSpPr>
          <p:cNvPr id="203" name="Google Shape;203;p6"/>
          <p:cNvSpPr/>
          <p:nvPr/>
        </p:nvSpPr>
        <p:spPr>
          <a:xfrm>
            <a:off x="781050" y="2276475"/>
            <a:ext cx="2857500" cy="2286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B85042"/>
              </a:buClr>
              <a:buSzPts val="900"/>
              <a:buFont typeface="Arial"/>
              <a:buNone/>
            </a:pPr>
            <a:r>
              <a:rPr b="1" lang="en-US" sz="900">
                <a:solidFill>
                  <a:srgbClr val="B85042"/>
                </a:solidFill>
              </a:rPr>
              <a:t>PHASED DELIVERY PLAN</a:t>
            </a:r>
            <a:endParaRPr/>
          </a:p>
        </p:txBody>
      </p:sp>
      <p:sp>
        <p:nvSpPr>
          <p:cNvPr id="204" name="Google Shape;204;p6"/>
          <p:cNvSpPr/>
          <p:nvPr/>
        </p:nvSpPr>
        <p:spPr>
          <a:xfrm>
            <a:off x="1285875" y="3000375"/>
            <a:ext cx="9620250" cy="38100"/>
          </a:xfrm>
          <a:prstGeom prst="rect">
            <a:avLst/>
          </a:prstGeom>
          <a:solidFill>
            <a:srgbClr val="DED8D0"/>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 name="Google Shape;205;p6"/>
          <p:cNvSpPr/>
          <p:nvPr/>
        </p:nvSpPr>
        <p:spPr>
          <a:xfrm>
            <a:off x="1638300" y="2838450"/>
            <a:ext cx="361950" cy="361950"/>
          </a:xfrm>
          <a:prstGeom prst="roundRect">
            <a:avLst>
              <a:gd fmla="val 21053" name="adj"/>
            </a:avLst>
          </a:prstGeom>
          <a:solidFill>
            <a:srgbClr val="B85042"/>
          </a:solidFill>
          <a:ln cap="flat" cmpd="sng" w="9525">
            <a:solidFill>
              <a:srgbClr val="B8504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6" name="Google Shape;206;p6"/>
          <p:cNvSpPr/>
          <p:nvPr/>
        </p:nvSpPr>
        <p:spPr>
          <a:xfrm>
            <a:off x="1638300" y="2847975"/>
            <a:ext cx="361950" cy="3429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FFFFFF"/>
              </a:buClr>
              <a:buSzPts val="900"/>
              <a:buFont typeface="Arial"/>
              <a:buNone/>
            </a:pPr>
            <a:r>
              <a:rPr b="1" lang="en-US" sz="900">
                <a:solidFill>
                  <a:srgbClr val="FFFFFF"/>
                </a:solidFill>
              </a:rPr>
              <a:t>01</a:t>
            </a:r>
            <a:endParaRPr/>
          </a:p>
        </p:txBody>
      </p:sp>
      <p:sp>
        <p:nvSpPr>
          <p:cNvPr id="207" name="Google Shape;207;p6"/>
          <p:cNvSpPr/>
          <p:nvPr/>
        </p:nvSpPr>
        <p:spPr>
          <a:xfrm>
            <a:off x="781050" y="3286125"/>
            <a:ext cx="2076450" cy="2286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B85042"/>
              </a:buClr>
              <a:buSzPts val="1050"/>
              <a:buFont typeface="Arial"/>
              <a:buNone/>
            </a:pPr>
            <a:r>
              <a:rPr b="1" lang="en-US" sz="1050">
                <a:solidFill>
                  <a:srgbClr val="B85042"/>
                </a:solidFill>
              </a:rPr>
              <a:t>DISCOVER</a:t>
            </a:r>
            <a:endParaRPr/>
          </a:p>
        </p:txBody>
      </p:sp>
      <p:sp>
        <p:nvSpPr>
          <p:cNvPr id="208" name="Google Shape;208;p6"/>
          <p:cNvSpPr/>
          <p:nvPr/>
        </p:nvSpPr>
        <p:spPr>
          <a:xfrm>
            <a:off x="781050" y="3524250"/>
            <a:ext cx="2076450" cy="2095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975"/>
              <a:buFont typeface="Arial"/>
              <a:buNone/>
            </a:pPr>
            <a:r>
              <a:rPr b="1" lang="en-US" sz="975">
                <a:solidFill>
                  <a:srgbClr val="1A1A2E"/>
                </a:solidFill>
              </a:rPr>
              <a:t>Weeks 1–2</a:t>
            </a:r>
            <a:endParaRPr/>
          </a:p>
        </p:txBody>
      </p:sp>
      <p:sp>
        <p:nvSpPr>
          <p:cNvPr id="209" name="Google Shape;209;p6"/>
          <p:cNvSpPr/>
          <p:nvPr/>
        </p:nvSpPr>
        <p:spPr>
          <a:xfrm>
            <a:off x="781050" y="3781425"/>
            <a:ext cx="2076450" cy="5143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938"/>
              <a:buFont typeface="Arial"/>
              <a:buNone/>
            </a:pPr>
            <a:r>
              <a:rPr lang="en-US" sz="938">
                <a:solidFill>
                  <a:srgbClr val="666B70"/>
                </a:solidFill>
              </a:rPr>
              <a:t>Baseline evidence, users, risks, and success measures</a:t>
            </a:r>
            <a:endParaRPr/>
          </a:p>
        </p:txBody>
      </p:sp>
      <p:sp>
        <p:nvSpPr>
          <p:cNvPr id="210" name="Google Shape;210;p6"/>
          <p:cNvSpPr/>
          <p:nvPr/>
        </p:nvSpPr>
        <p:spPr>
          <a:xfrm>
            <a:off x="4419600" y="2838450"/>
            <a:ext cx="361950" cy="361950"/>
          </a:xfrm>
          <a:prstGeom prst="roundRect">
            <a:avLst>
              <a:gd fmla="val 21053" name="adj"/>
            </a:avLst>
          </a:prstGeom>
          <a:solidFill>
            <a:srgbClr val="B85042"/>
          </a:solidFill>
          <a:ln cap="flat" cmpd="sng" w="9525">
            <a:solidFill>
              <a:srgbClr val="B8504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1" name="Google Shape;211;p6"/>
          <p:cNvSpPr/>
          <p:nvPr/>
        </p:nvSpPr>
        <p:spPr>
          <a:xfrm>
            <a:off x="4419600" y="2847975"/>
            <a:ext cx="361950" cy="3429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FFFFFF"/>
              </a:buClr>
              <a:buSzPts val="900"/>
              <a:buFont typeface="Arial"/>
              <a:buNone/>
            </a:pPr>
            <a:r>
              <a:rPr b="1" lang="en-US" sz="900">
                <a:solidFill>
                  <a:srgbClr val="FFFFFF"/>
                </a:solidFill>
              </a:rPr>
              <a:t>02</a:t>
            </a:r>
            <a:endParaRPr/>
          </a:p>
        </p:txBody>
      </p:sp>
      <p:sp>
        <p:nvSpPr>
          <p:cNvPr id="212" name="Google Shape;212;p6"/>
          <p:cNvSpPr/>
          <p:nvPr/>
        </p:nvSpPr>
        <p:spPr>
          <a:xfrm>
            <a:off x="3562350" y="3286125"/>
            <a:ext cx="2076450" cy="2286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B85042"/>
              </a:buClr>
              <a:buSzPts val="1050"/>
              <a:buFont typeface="Arial"/>
              <a:buNone/>
            </a:pPr>
            <a:r>
              <a:rPr b="1" lang="en-US" sz="1050">
                <a:solidFill>
                  <a:srgbClr val="B85042"/>
                </a:solidFill>
              </a:rPr>
              <a:t>BUILD</a:t>
            </a:r>
            <a:endParaRPr/>
          </a:p>
        </p:txBody>
      </p:sp>
      <p:sp>
        <p:nvSpPr>
          <p:cNvPr id="213" name="Google Shape;213;p6"/>
          <p:cNvSpPr/>
          <p:nvPr/>
        </p:nvSpPr>
        <p:spPr>
          <a:xfrm>
            <a:off x="3562350" y="3524250"/>
            <a:ext cx="2076450" cy="2095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975"/>
              <a:buFont typeface="Arial"/>
              <a:buNone/>
            </a:pPr>
            <a:r>
              <a:rPr b="1" lang="en-US" sz="975">
                <a:solidFill>
                  <a:srgbClr val="1A1A2E"/>
                </a:solidFill>
              </a:rPr>
              <a:t>Weeks 3–5</a:t>
            </a:r>
            <a:endParaRPr/>
          </a:p>
        </p:txBody>
      </p:sp>
      <p:sp>
        <p:nvSpPr>
          <p:cNvPr id="214" name="Google Shape;214;p6"/>
          <p:cNvSpPr/>
          <p:nvPr/>
        </p:nvSpPr>
        <p:spPr>
          <a:xfrm>
            <a:off x="3562350" y="3781425"/>
            <a:ext cx="2076450" cy="5143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938"/>
              <a:buFont typeface="Arial"/>
              <a:buNone/>
            </a:pPr>
            <a:r>
              <a:rPr lang="en-US" sz="938">
                <a:solidFill>
                  <a:srgbClr val="666B70"/>
                </a:solidFill>
              </a:rPr>
              <a:t>Core agents, prompts, handoffs, and artifact contracts</a:t>
            </a:r>
            <a:endParaRPr/>
          </a:p>
        </p:txBody>
      </p:sp>
      <p:sp>
        <p:nvSpPr>
          <p:cNvPr id="215" name="Google Shape;215;p6"/>
          <p:cNvSpPr/>
          <p:nvPr/>
        </p:nvSpPr>
        <p:spPr>
          <a:xfrm>
            <a:off x="7200900" y="2838450"/>
            <a:ext cx="361950" cy="361950"/>
          </a:xfrm>
          <a:prstGeom prst="roundRect">
            <a:avLst>
              <a:gd fmla="val 21053" name="adj"/>
            </a:avLst>
          </a:prstGeom>
          <a:solidFill>
            <a:srgbClr val="B85042"/>
          </a:solidFill>
          <a:ln cap="flat" cmpd="sng" w="9525">
            <a:solidFill>
              <a:srgbClr val="B8504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 name="Google Shape;216;p6"/>
          <p:cNvSpPr/>
          <p:nvPr/>
        </p:nvSpPr>
        <p:spPr>
          <a:xfrm>
            <a:off x="7200900" y="2847975"/>
            <a:ext cx="361950" cy="3429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FFFFFF"/>
              </a:buClr>
              <a:buSzPts val="900"/>
              <a:buFont typeface="Arial"/>
              <a:buNone/>
            </a:pPr>
            <a:r>
              <a:rPr b="1" lang="en-US" sz="900">
                <a:solidFill>
                  <a:srgbClr val="FFFFFF"/>
                </a:solidFill>
              </a:rPr>
              <a:t>03</a:t>
            </a:r>
            <a:endParaRPr/>
          </a:p>
        </p:txBody>
      </p:sp>
      <p:sp>
        <p:nvSpPr>
          <p:cNvPr id="217" name="Google Shape;217;p6"/>
          <p:cNvSpPr/>
          <p:nvPr/>
        </p:nvSpPr>
        <p:spPr>
          <a:xfrm>
            <a:off x="6343650" y="3286125"/>
            <a:ext cx="2076450" cy="2286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B85042"/>
              </a:buClr>
              <a:buSzPts val="1050"/>
              <a:buFont typeface="Arial"/>
              <a:buNone/>
            </a:pPr>
            <a:r>
              <a:rPr b="1" lang="en-US" sz="1050">
                <a:solidFill>
                  <a:srgbClr val="B85042"/>
                </a:solidFill>
              </a:rPr>
              <a:t>VALIDATE</a:t>
            </a:r>
            <a:endParaRPr/>
          </a:p>
        </p:txBody>
      </p:sp>
      <p:sp>
        <p:nvSpPr>
          <p:cNvPr id="218" name="Google Shape;218;p6"/>
          <p:cNvSpPr/>
          <p:nvPr/>
        </p:nvSpPr>
        <p:spPr>
          <a:xfrm>
            <a:off x="6343650" y="3524250"/>
            <a:ext cx="2076450" cy="2095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975"/>
              <a:buFont typeface="Arial"/>
              <a:buNone/>
            </a:pPr>
            <a:r>
              <a:rPr b="1" lang="en-US" sz="975">
                <a:solidFill>
                  <a:srgbClr val="1A1A2E"/>
                </a:solidFill>
              </a:rPr>
              <a:t>Weeks 6–7</a:t>
            </a:r>
            <a:endParaRPr/>
          </a:p>
        </p:txBody>
      </p:sp>
      <p:sp>
        <p:nvSpPr>
          <p:cNvPr id="219" name="Google Shape;219;p6"/>
          <p:cNvSpPr/>
          <p:nvPr/>
        </p:nvSpPr>
        <p:spPr>
          <a:xfrm>
            <a:off x="6343650" y="3781425"/>
            <a:ext cx="2076450" cy="5143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938"/>
              <a:buFont typeface="Arial"/>
              <a:buNone/>
            </a:pPr>
            <a:r>
              <a:rPr lang="en-US" sz="938">
                <a:solidFill>
                  <a:srgbClr val="666B70"/>
                </a:solidFill>
              </a:rPr>
              <a:t>T1–T12 tests, evaluators, traceability, and canaries</a:t>
            </a:r>
            <a:endParaRPr/>
          </a:p>
        </p:txBody>
      </p:sp>
      <p:sp>
        <p:nvSpPr>
          <p:cNvPr id="220" name="Google Shape;220;p6"/>
          <p:cNvSpPr/>
          <p:nvPr/>
        </p:nvSpPr>
        <p:spPr>
          <a:xfrm>
            <a:off x="9982200" y="2838450"/>
            <a:ext cx="361950" cy="361950"/>
          </a:xfrm>
          <a:prstGeom prst="roundRect">
            <a:avLst>
              <a:gd fmla="val 21053" name="adj"/>
            </a:avLst>
          </a:prstGeom>
          <a:solidFill>
            <a:srgbClr val="2F6F57"/>
          </a:solidFill>
          <a:ln cap="flat" cmpd="sng" w="9525">
            <a:solidFill>
              <a:srgbClr val="2F6F5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 name="Google Shape;221;p6"/>
          <p:cNvSpPr/>
          <p:nvPr/>
        </p:nvSpPr>
        <p:spPr>
          <a:xfrm>
            <a:off x="9982200" y="2847975"/>
            <a:ext cx="361950" cy="3429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FFFFFF"/>
              </a:buClr>
              <a:buSzPts val="900"/>
              <a:buFont typeface="Arial"/>
              <a:buNone/>
            </a:pPr>
            <a:r>
              <a:rPr b="1" lang="en-US" sz="900">
                <a:solidFill>
                  <a:srgbClr val="FFFFFF"/>
                </a:solidFill>
              </a:rPr>
              <a:t>04</a:t>
            </a:r>
            <a:endParaRPr/>
          </a:p>
        </p:txBody>
      </p:sp>
      <p:sp>
        <p:nvSpPr>
          <p:cNvPr id="222" name="Google Shape;222;p6"/>
          <p:cNvSpPr/>
          <p:nvPr/>
        </p:nvSpPr>
        <p:spPr>
          <a:xfrm>
            <a:off x="9124950" y="3286125"/>
            <a:ext cx="2076450" cy="2286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F6F57"/>
              </a:buClr>
              <a:buSzPts val="1050"/>
              <a:buFont typeface="Arial"/>
              <a:buNone/>
            </a:pPr>
            <a:r>
              <a:rPr b="1" lang="en-US" sz="1050">
                <a:solidFill>
                  <a:srgbClr val="2F6F57"/>
                </a:solidFill>
              </a:rPr>
              <a:t>OPERATE</a:t>
            </a:r>
            <a:endParaRPr/>
          </a:p>
        </p:txBody>
      </p:sp>
      <p:sp>
        <p:nvSpPr>
          <p:cNvPr id="223" name="Google Shape;223;p6"/>
          <p:cNvSpPr/>
          <p:nvPr/>
        </p:nvSpPr>
        <p:spPr>
          <a:xfrm>
            <a:off x="9124950" y="3524250"/>
            <a:ext cx="2076450" cy="2095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975"/>
              <a:buFont typeface="Arial"/>
              <a:buNone/>
            </a:pPr>
            <a:r>
              <a:rPr b="1" lang="en-US" sz="975">
                <a:solidFill>
                  <a:srgbClr val="1A1A2E"/>
                </a:solidFill>
              </a:rPr>
              <a:t>Week 8+</a:t>
            </a:r>
            <a:endParaRPr/>
          </a:p>
        </p:txBody>
      </p:sp>
      <p:sp>
        <p:nvSpPr>
          <p:cNvPr id="224" name="Google Shape;224;p6"/>
          <p:cNvSpPr/>
          <p:nvPr/>
        </p:nvSpPr>
        <p:spPr>
          <a:xfrm>
            <a:off x="9124950" y="3781425"/>
            <a:ext cx="2076450" cy="5143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938"/>
              <a:buFont typeface="Arial"/>
              <a:buNone/>
            </a:pPr>
            <a:r>
              <a:rPr lang="en-US" sz="938">
                <a:solidFill>
                  <a:srgbClr val="666B70"/>
                </a:solidFill>
              </a:rPr>
              <a:t>Manual trigger, monitored release, rollback, and iteration</a:t>
            </a:r>
            <a:endParaRPr/>
          </a:p>
        </p:txBody>
      </p:sp>
      <p:sp>
        <p:nvSpPr>
          <p:cNvPr id="225" name="Google Shape;225;p6"/>
          <p:cNvSpPr/>
          <p:nvPr/>
        </p:nvSpPr>
        <p:spPr>
          <a:xfrm>
            <a:off x="781050" y="4552950"/>
            <a:ext cx="4000500" cy="1657350"/>
          </a:xfrm>
          <a:prstGeom prst="roundRect">
            <a:avLst>
              <a:gd fmla="val 4598" name="adj"/>
            </a:avLst>
          </a:prstGeom>
          <a:solidFill>
            <a:srgbClr val="FFFFFF"/>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 name="Google Shape;226;p6"/>
          <p:cNvSpPr/>
          <p:nvPr/>
        </p:nvSpPr>
        <p:spPr>
          <a:xfrm>
            <a:off x="990600" y="4695825"/>
            <a:ext cx="3524250" cy="2095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F6F57"/>
              </a:buClr>
              <a:buSzPts val="900"/>
              <a:buFont typeface="Arial"/>
              <a:buNone/>
            </a:pPr>
            <a:r>
              <a:rPr b="1" lang="en-US" sz="900">
                <a:solidFill>
                  <a:srgbClr val="2F6F57"/>
                </a:solidFill>
              </a:rPr>
              <a:t>ACCOUNTABLE STAKEHOLDERS</a:t>
            </a:r>
            <a:endParaRPr/>
          </a:p>
        </p:txBody>
      </p:sp>
      <p:sp>
        <p:nvSpPr>
          <p:cNvPr id="227" name="Google Shape;227;p6"/>
          <p:cNvSpPr/>
          <p:nvPr/>
        </p:nvSpPr>
        <p:spPr>
          <a:xfrm>
            <a:off x="990600" y="5010150"/>
            <a:ext cx="1333500" cy="2095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975"/>
              <a:buFont typeface="Arial"/>
              <a:buNone/>
            </a:pPr>
            <a:r>
              <a:rPr b="1" lang="en-US" sz="975">
                <a:solidFill>
                  <a:srgbClr val="1A1A2E"/>
                </a:solidFill>
              </a:rPr>
              <a:t>Product owner</a:t>
            </a:r>
            <a:endParaRPr/>
          </a:p>
        </p:txBody>
      </p:sp>
      <p:sp>
        <p:nvSpPr>
          <p:cNvPr id="228" name="Google Shape;228;p6"/>
          <p:cNvSpPr/>
          <p:nvPr/>
        </p:nvSpPr>
        <p:spPr>
          <a:xfrm>
            <a:off x="2324100" y="5010150"/>
            <a:ext cx="2247900" cy="2095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938"/>
              <a:buFont typeface="Arial"/>
              <a:buNone/>
            </a:pPr>
            <a:r>
              <a:rPr lang="en-US" sz="938">
                <a:solidFill>
                  <a:srgbClr val="666B70"/>
                </a:solidFill>
              </a:rPr>
              <a:t>scope, approval, release decision</a:t>
            </a:r>
            <a:endParaRPr/>
          </a:p>
        </p:txBody>
      </p:sp>
      <p:sp>
        <p:nvSpPr>
          <p:cNvPr id="229" name="Google Shape;229;p6"/>
          <p:cNvSpPr/>
          <p:nvPr/>
        </p:nvSpPr>
        <p:spPr>
          <a:xfrm>
            <a:off x="990600" y="5276850"/>
            <a:ext cx="1333500" cy="2095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975"/>
              <a:buFont typeface="Arial"/>
              <a:buNone/>
            </a:pPr>
            <a:r>
              <a:rPr b="1" lang="en-US" sz="975">
                <a:solidFill>
                  <a:srgbClr val="1A1A2E"/>
                </a:solidFill>
              </a:rPr>
              <a:t>SME reviewers</a:t>
            </a:r>
            <a:endParaRPr/>
          </a:p>
        </p:txBody>
      </p:sp>
      <p:sp>
        <p:nvSpPr>
          <p:cNvPr id="230" name="Google Shape;230;p6"/>
          <p:cNvSpPr/>
          <p:nvPr/>
        </p:nvSpPr>
        <p:spPr>
          <a:xfrm>
            <a:off x="2324100" y="5276850"/>
            <a:ext cx="2247900" cy="2095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938"/>
              <a:buFont typeface="Arial"/>
              <a:buNone/>
            </a:pPr>
            <a:r>
              <a:rPr lang="en-US" sz="938">
                <a:solidFill>
                  <a:srgbClr val="666B70"/>
                </a:solidFill>
              </a:rPr>
              <a:t>evidence quality and clarification</a:t>
            </a:r>
            <a:endParaRPr/>
          </a:p>
        </p:txBody>
      </p:sp>
      <p:sp>
        <p:nvSpPr>
          <p:cNvPr id="231" name="Google Shape;231;p6"/>
          <p:cNvSpPr/>
          <p:nvPr/>
        </p:nvSpPr>
        <p:spPr>
          <a:xfrm>
            <a:off x="990600" y="5543550"/>
            <a:ext cx="1333500" cy="2095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975"/>
              <a:buFont typeface="Arial"/>
              <a:buNone/>
            </a:pPr>
            <a:r>
              <a:rPr b="1" lang="en-US" sz="975">
                <a:solidFill>
                  <a:srgbClr val="1A1A2E"/>
                </a:solidFill>
              </a:rPr>
              <a:t>Engineering team</a:t>
            </a:r>
            <a:endParaRPr/>
          </a:p>
        </p:txBody>
      </p:sp>
      <p:sp>
        <p:nvSpPr>
          <p:cNvPr id="232" name="Google Shape;232;p6"/>
          <p:cNvSpPr/>
          <p:nvPr/>
        </p:nvSpPr>
        <p:spPr>
          <a:xfrm>
            <a:off x="2324100" y="5543550"/>
            <a:ext cx="2247900" cy="2095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938"/>
              <a:buFont typeface="Arial"/>
              <a:buNone/>
            </a:pPr>
            <a:r>
              <a:rPr lang="en-US" sz="938">
                <a:solidFill>
                  <a:srgbClr val="666B70"/>
                </a:solidFill>
              </a:rPr>
              <a:t>artifact usability and feasibility</a:t>
            </a:r>
            <a:endParaRPr/>
          </a:p>
        </p:txBody>
      </p:sp>
      <p:sp>
        <p:nvSpPr>
          <p:cNvPr id="233" name="Google Shape;233;p6"/>
          <p:cNvSpPr/>
          <p:nvPr/>
        </p:nvSpPr>
        <p:spPr>
          <a:xfrm>
            <a:off x="990600" y="5810250"/>
            <a:ext cx="1333500" cy="2095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975"/>
              <a:buFont typeface="Arial"/>
              <a:buNone/>
            </a:pPr>
            <a:r>
              <a:rPr b="1" lang="en-US" sz="975">
                <a:solidFill>
                  <a:srgbClr val="1A1A2E"/>
                </a:solidFill>
              </a:rPr>
              <a:t>Workflow owner</a:t>
            </a:r>
            <a:endParaRPr/>
          </a:p>
        </p:txBody>
      </p:sp>
      <p:sp>
        <p:nvSpPr>
          <p:cNvPr id="234" name="Google Shape;234;p6"/>
          <p:cNvSpPr/>
          <p:nvPr/>
        </p:nvSpPr>
        <p:spPr>
          <a:xfrm>
            <a:off x="2324100" y="5810250"/>
            <a:ext cx="2247900" cy="2095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938"/>
              <a:buFont typeface="Arial"/>
              <a:buNone/>
            </a:pPr>
            <a:r>
              <a:rPr lang="en-US" sz="938">
                <a:solidFill>
                  <a:srgbClr val="666B70"/>
                </a:solidFill>
              </a:rPr>
              <a:t>operations, credentials, monitoring, rollback</a:t>
            </a:r>
            <a:endParaRPr/>
          </a:p>
        </p:txBody>
      </p:sp>
      <p:sp>
        <p:nvSpPr>
          <p:cNvPr id="235" name="Google Shape;235;p6"/>
          <p:cNvSpPr/>
          <p:nvPr/>
        </p:nvSpPr>
        <p:spPr>
          <a:xfrm>
            <a:off x="5048250" y="4552950"/>
            <a:ext cx="6381750" cy="1657350"/>
          </a:xfrm>
          <a:prstGeom prst="roundRect">
            <a:avLst>
              <a:gd fmla="val 4598" name="adj"/>
            </a:avLst>
          </a:prstGeom>
          <a:solidFill>
            <a:srgbClr val="F0EBE5"/>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 name="Google Shape;236;p6"/>
          <p:cNvSpPr/>
          <p:nvPr/>
        </p:nvSpPr>
        <p:spPr>
          <a:xfrm>
            <a:off x="5257800" y="4695825"/>
            <a:ext cx="5905500" cy="2095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B85042"/>
              </a:buClr>
              <a:buSzPts val="900"/>
              <a:buFont typeface="Arial"/>
              <a:buNone/>
            </a:pPr>
            <a:r>
              <a:rPr b="1" lang="en-US" sz="900">
                <a:solidFill>
                  <a:srgbClr val="B85042"/>
                </a:solidFill>
              </a:rPr>
              <a:t>PRINCIPAL RISKS → MITIGATIONS</a:t>
            </a:r>
            <a:endParaRPr/>
          </a:p>
        </p:txBody>
      </p:sp>
      <p:sp>
        <p:nvSpPr>
          <p:cNvPr id="237" name="Google Shape;237;p6"/>
          <p:cNvSpPr/>
          <p:nvPr/>
        </p:nvSpPr>
        <p:spPr>
          <a:xfrm>
            <a:off x="5257800" y="5010150"/>
            <a:ext cx="1771650" cy="2095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975"/>
              <a:buFont typeface="Arial"/>
              <a:buNone/>
            </a:pPr>
            <a:r>
              <a:rPr b="1" lang="en-US" sz="975">
                <a:solidFill>
                  <a:srgbClr val="1A1A2E"/>
                </a:solidFill>
              </a:rPr>
              <a:t>Unsupported requirements</a:t>
            </a:r>
            <a:endParaRPr/>
          </a:p>
        </p:txBody>
      </p:sp>
      <p:sp>
        <p:nvSpPr>
          <p:cNvPr id="238" name="Google Shape;238;p6"/>
          <p:cNvSpPr/>
          <p:nvPr/>
        </p:nvSpPr>
        <p:spPr>
          <a:xfrm>
            <a:off x="7029450" y="5010150"/>
            <a:ext cx="266700" cy="2095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B85042"/>
              </a:buClr>
              <a:buSzPts val="1125"/>
              <a:buFont typeface="Arial"/>
              <a:buNone/>
            </a:pPr>
            <a:r>
              <a:rPr b="1" lang="en-US" sz="1125">
                <a:solidFill>
                  <a:srgbClr val="B85042"/>
                </a:solidFill>
              </a:rPr>
              <a:t>→</a:t>
            </a:r>
            <a:endParaRPr/>
          </a:p>
        </p:txBody>
      </p:sp>
      <p:sp>
        <p:nvSpPr>
          <p:cNvPr id="239" name="Google Shape;239;p6"/>
          <p:cNvSpPr/>
          <p:nvPr/>
        </p:nvSpPr>
        <p:spPr>
          <a:xfrm>
            <a:off x="7334250" y="5010150"/>
            <a:ext cx="3829050" cy="2095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938"/>
              <a:buFont typeface="Arial"/>
              <a:buNone/>
            </a:pPr>
            <a:r>
              <a:rPr lang="en-US" sz="938">
                <a:solidFill>
                  <a:srgbClr val="666B70"/>
                </a:solidFill>
              </a:rPr>
              <a:t>citation IDs + faithfulness / hallucination checks</a:t>
            </a:r>
            <a:endParaRPr/>
          </a:p>
        </p:txBody>
      </p:sp>
      <p:sp>
        <p:nvSpPr>
          <p:cNvPr id="240" name="Google Shape;240;p6"/>
          <p:cNvSpPr/>
          <p:nvPr/>
        </p:nvSpPr>
        <p:spPr>
          <a:xfrm>
            <a:off x="5257800" y="5276850"/>
            <a:ext cx="1771650" cy="2095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975"/>
              <a:buFont typeface="Arial"/>
              <a:buNone/>
            </a:pPr>
            <a:r>
              <a:rPr b="1" lang="en-US" sz="975">
                <a:solidFill>
                  <a:srgbClr val="1A1A2E"/>
                </a:solidFill>
              </a:rPr>
              <a:t>Automation bias</a:t>
            </a:r>
            <a:endParaRPr/>
          </a:p>
        </p:txBody>
      </p:sp>
      <p:sp>
        <p:nvSpPr>
          <p:cNvPr id="241" name="Google Shape;241;p6"/>
          <p:cNvSpPr/>
          <p:nvPr/>
        </p:nvSpPr>
        <p:spPr>
          <a:xfrm>
            <a:off x="7029450" y="5276850"/>
            <a:ext cx="266700" cy="2095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B85042"/>
              </a:buClr>
              <a:buSzPts val="1125"/>
              <a:buFont typeface="Arial"/>
              <a:buNone/>
            </a:pPr>
            <a:r>
              <a:rPr b="1" lang="en-US" sz="1125">
                <a:solidFill>
                  <a:srgbClr val="B85042"/>
                </a:solidFill>
              </a:rPr>
              <a:t>→</a:t>
            </a:r>
            <a:endParaRPr/>
          </a:p>
        </p:txBody>
      </p:sp>
      <p:sp>
        <p:nvSpPr>
          <p:cNvPr id="242" name="Google Shape;242;p6"/>
          <p:cNvSpPr/>
          <p:nvPr/>
        </p:nvSpPr>
        <p:spPr>
          <a:xfrm>
            <a:off x="7334250" y="5276850"/>
            <a:ext cx="3829050" cy="2095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938"/>
              <a:buFont typeface="Arial"/>
              <a:buNone/>
            </a:pPr>
            <a:r>
              <a:rPr lang="en-US" sz="938">
                <a:solidFill>
                  <a:srgbClr val="666B70"/>
                </a:solidFill>
              </a:rPr>
              <a:t>mandatory human approval + visible uncertainty</a:t>
            </a:r>
            <a:endParaRPr/>
          </a:p>
        </p:txBody>
      </p:sp>
      <p:sp>
        <p:nvSpPr>
          <p:cNvPr id="243" name="Google Shape;243;p6"/>
          <p:cNvSpPr/>
          <p:nvPr/>
        </p:nvSpPr>
        <p:spPr>
          <a:xfrm>
            <a:off x="5257800" y="5543550"/>
            <a:ext cx="1771650" cy="2095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975"/>
              <a:buFont typeface="Arial"/>
              <a:buNone/>
            </a:pPr>
            <a:r>
              <a:rPr b="1" lang="en-US" sz="975">
                <a:solidFill>
                  <a:srgbClr val="1A1A2E"/>
                </a:solidFill>
              </a:rPr>
              <a:t>Workflow regression</a:t>
            </a:r>
            <a:endParaRPr/>
          </a:p>
        </p:txBody>
      </p:sp>
      <p:sp>
        <p:nvSpPr>
          <p:cNvPr id="244" name="Google Shape;244;p6"/>
          <p:cNvSpPr/>
          <p:nvPr/>
        </p:nvSpPr>
        <p:spPr>
          <a:xfrm>
            <a:off x="7029450" y="5543550"/>
            <a:ext cx="266700" cy="2095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B85042"/>
              </a:buClr>
              <a:buSzPts val="1125"/>
              <a:buFont typeface="Arial"/>
              <a:buNone/>
            </a:pPr>
            <a:r>
              <a:rPr b="1" lang="en-US" sz="1125">
                <a:solidFill>
                  <a:srgbClr val="B85042"/>
                </a:solidFill>
              </a:rPr>
              <a:t>→</a:t>
            </a:r>
            <a:endParaRPr/>
          </a:p>
        </p:txBody>
      </p:sp>
      <p:sp>
        <p:nvSpPr>
          <p:cNvPr id="245" name="Google Shape;245;p6"/>
          <p:cNvSpPr/>
          <p:nvPr/>
        </p:nvSpPr>
        <p:spPr>
          <a:xfrm>
            <a:off x="7334250" y="5543550"/>
            <a:ext cx="3829050" cy="2095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938"/>
              <a:buFont typeface="Arial"/>
              <a:buNone/>
            </a:pPr>
            <a:r>
              <a:rPr lang="en-US" sz="938">
                <a:solidFill>
                  <a:srgbClr val="666B70"/>
                </a:solidFill>
              </a:rPr>
              <a:t>versioned JSONs + canary evidence + v0.3.7 rollback</a:t>
            </a:r>
            <a:endParaRPr/>
          </a:p>
        </p:txBody>
      </p:sp>
      <p:sp>
        <p:nvSpPr>
          <p:cNvPr id="246" name="Google Shape;246;p6"/>
          <p:cNvSpPr/>
          <p:nvPr/>
        </p:nvSpPr>
        <p:spPr>
          <a:xfrm>
            <a:off x="5257800" y="5810250"/>
            <a:ext cx="1771650" cy="2095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975"/>
              <a:buFont typeface="Arial"/>
              <a:buNone/>
            </a:pPr>
            <a:r>
              <a:rPr b="1" lang="en-US" sz="975">
                <a:solidFill>
                  <a:srgbClr val="1A1A2E"/>
                </a:solidFill>
              </a:rPr>
              <a:t>Evaluator cost growth</a:t>
            </a:r>
            <a:endParaRPr/>
          </a:p>
        </p:txBody>
      </p:sp>
      <p:sp>
        <p:nvSpPr>
          <p:cNvPr id="247" name="Google Shape;247;p6"/>
          <p:cNvSpPr/>
          <p:nvPr/>
        </p:nvSpPr>
        <p:spPr>
          <a:xfrm>
            <a:off x="7029450" y="5810250"/>
            <a:ext cx="266700" cy="2095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B85042"/>
              </a:buClr>
              <a:buSzPts val="1125"/>
              <a:buFont typeface="Arial"/>
              <a:buNone/>
            </a:pPr>
            <a:r>
              <a:rPr b="1" lang="en-US" sz="1125">
                <a:solidFill>
                  <a:srgbClr val="B85042"/>
                </a:solidFill>
              </a:rPr>
              <a:t>→</a:t>
            </a:r>
            <a:endParaRPr/>
          </a:p>
        </p:txBody>
      </p:sp>
      <p:sp>
        <p:nvSpPr>
          <p:cNvPr id="248" name="Google Shape;248;p6"/>
          <p:cNvSpPr/>
          <p:nvPr/>
        </p:nvSpPr>
        <p:spPr>
          <a:xfrm>
            <a:off x="7334250" y="5810250"/>
            <a:ext cx="3829050" cy="2095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938"/>
              <a:buFont typeface="Arial"/>
              <a:buNone/>
            </a:pPr>
            <a:r>
              <a:rPr lang="en-US" sz="938">
                <a:solidFill>
                  <a:srgbClr val="666B70"/>
                </a:solidFill>
              </a:rPr>
              <a:t>deterministic-first controls + selective LLM evaluation</a:t>
            </a:r>
            <a:endParaRPr/>
          </a:p>
        </p:txBody>
      </p:sp>
      <p:sp>
        <p:nvSpPr>
          <p:cNvPr id="249" name="Google Shape;249;p6"/>
          <p:cNvSpPr/>
          <p:nvPr/>
        </p:nvSpPr>
        <p:spPr>
          <a:xfrm>
            <a:off x="0" y="6515100"/>
            <a:ext cx="12192000" cy="342900"/>
          </a:xfrm>
          <a:prstGeom prst="rect">
            <a:avLst/>
          </a:prstGeom>
          <a:solidFill>
            <a:srgbClr val="1A1A2E"/>
          </a:solidFill>
          <a:ln cap="flat" cmpd="sng" w="9525">
            <a:solidFill>
              <a:srgbClr val="1A1A2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0" name="Google Shape;250;p6"/>
          <p:cNvSpPr/>
          <p:nvPr/>
        </p:nvSpPr>
        <p:spPr>
          <a:xfrm>
            <a:off x="781050" y="6515100"/>
            <a:ext cx="10648950" cy="3429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FFFFFF"/>
              </a:buClr>
              <a:buSzPts val="1050"/>
              <a:buFont typeface="Arial"/>
              <a:buNone/>
            </a:pPr>
            <a:r>
              <a:rPr b="1" lang="en-US" sz="1050">
                <a:solidFill>
                  <a:srgbClr val="FFFFFF"/>
                </a:solidFill>
              </a:rPr>
              <a:t>Rollout policy: manual production trigger → controlled canary → Agreement Gate → monitored promotion.</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4EE"/>
        </a:solidFill>
      </p:bgPr>
    </p:bg>
    <p:spTree>
      <p:nvGrpSpPr>
        <p:cNvPr id="255" name="Shape 255"/>
        <p:cNvGrpSpPr/>
        <p:nvPr/>
      </p:nvGrpSpPr>
      <p:grpSpPr>
        <a:xfrm>
          <a:off x="0" y="0"/>
          <a:ext cx="0" cy="0"/>
          <a:chOff x="0" y="0"/>
          <a:chExt cx="0" cy="0"/>
        </a:xfrm>
      </p:grpSpPr>
      <p:sp>
        <p:nvSpPr>
          <p:cNvPr id="256" name="Google Shape;256;p7"/>
          <p:cNvSpPr/>
          <p:nvPr/>
        </p:nvSpPr>
        <p:spPr>
          <a:xfrm>
            <a:off x="0" y="0"/>
            <a:ext cx="12192000" cy="76200"/>
          </a:xfrm>
          <a:prstGeom prst="rect">
            <a:avLst/>
          </a:prstGeom>
          <a:solidFill>
            <a:srgbClr val="B85042"/>
          </a:solidFill>
          <a:ln cap="flat" cmpd="sng" w="9525">
            <a:solidFill>
              <a:srgbClr val="B8504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 name="Google Shape;257;p7"/>
          <p:cNvSpPr/>
          <p:nvPr/>
        </p:nvSpPr>
        <p:spPr>
          <a:xfrm>
            <a:off x="514350" y="742950"/>
            <a:ext cx="66675" cy="866775"/>
          </a:xfrm>
          <a:prstGeom prst="rect">
            <a:avLst/>
          </a:prstGeom>
          <a:solidFill>
            <a:srgbClr val="B85042"/>
          </a:solidFill>
          <a:ln cap="flat" cmpd="sng" w="9525">
            <a:solidFill>
              <a:srgbClr val="B8504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 name="Google Shape;258;p7"/>
          <p:cNvSpPr/>
          <p:nvPr/>
        </p:nvSpPr>
        <p:spPr>
          <a:xfrm>
            <a:off x="781050" y="552450"/>
            <a:ext cx="4953000" cy="2667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B85042"/>
              </a:buClr>
              <a:buSzPts val="975"/>
              <a:buFont typeface="Arial"/>
              <a:buNone/>
            </a:pPr>
            <a:r>
              <a:rPr b="1" lang="en-US" sz="975">
                <a:solidFill>
                  <a:srgbClr val="B85042"/>
                </a:solidFill>
              </a:rPr>
              <a:t>07  ·  SYSTEM ARCHITECTURE</a:t>
            </a:r>
            <a:endParaRPr/>
          </a:p>
        </p:txBody>
      </p:sp>
      <p:sp>
        <p:nvSpPr>
          <p:cNvPr id="259" name="Google Shape;259;p7"/>
          <p:cNvSpPr/>
          <p:nvPr/>
        </p:nvSpPr>
        <p:spPr>
          <a:xfrm>
            <a:off x="781050" y="885825"/>
            <a:ext cx="10648950" cy="80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2550"/>
              <a:buFont typeface="Arial"/>
              <a:buNone/>
            </a:pPr>
            <a:r>
              <a:rPr b="1" lang="en-US" sz="2550">
                <a:solidFill>
                  <a:srgbClr val="1A1A2E"/>
                </a:solidFill>
              </a:rPr>
              <a:t>A sequential multi-agent architecture preserves evidence through delivery</a:t>
            </a:r>
            <a:endParaRPr/>
          </a:p>
        </p:txBody>
      </p:sp>
      <p:sp>
        <p:nvSpPr>
          <p:cNvPr id="260" name="Google Shape;260;p7"/>
          <p:cNvSpPr/>
          <p:nvPr/>
        </p:nvSpPr>
        <p:spPr>
          <a:xfrm>
            <a:off x="781050" y="1885950"/>
            <a:ext cx="2400300" cy="914400"/>
          </a:xfrm>
          <a:prstGeom prst="roundRect">
            <a:avLst>
              <a:gd fmla="val 8333" name="adj"/>
            </a:avLst>
          </a:prstGeom>
          <a:solidFill>
            <a:srgbClr val="E8EFF9"/>
          </a:solidFill>
          <a:ln cap="flat" cmpd="sng" w="9525">
            <a:solidFill>
              <a:srgbClr val="3B6EB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1" name="Google Shape;261;p7"/>
          <p:cNvSpPr/>
          <p:nvPr/>
        </p:nvSpPr>
        <p:spPr>
          <a:xfrm>
            <a:off x="914400" y="1981200"/>
            <a:ext cx="2133600" cy="3048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3B6EBF"/>
              </a:buClr>
              <a:buSzPts val="810"/>
              <a:buFont typeface="Arial"/>
              <a:buNone/>
            </a:pPr>
            <a:r>
              <a:rPr b="1" lang="en-US" sz="810">
                <a:solidFill>
                  <a:srgbClr val="3B6EBF"/>
                </a:solidFill>
              </a:rPr>
              <a:t>GOOGLE DRIVE · AUTHORITATIVE INPUTS</a:t>
            </a:r>
            <a:endParaRPr/>
          </a:p>
        </p:txBody>
      </p:sp>
      <p:sp>
        <p:nvSpPr>
          <p:cNvPr id="262" name="Google Shape;262;p7"/>
          <p:cNvSpPr/>
          <p:nvPr/>
        </p:nvSpPr>
        <p:spPr>
          <a:xfrm>
            <a:off x="914400" y="2324100"/>
            <a:ext cx="2133600" cy="3619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863"/>
              <a:buFont typeface="Arial"/>
              <a:buNone/>
            </a:pPr>
            <a:r>
              <a:rPr b="1" lang="en-US" sz="863">
                <a:solidFill>
                  <a:srgbClr val="1A1A2E"/>
                </a:solidFill>
              </a:rPr>
              <a:t>6 approved files · current-run content</a:t>
            </a:r>
            <a:endParaRPr/>
          </a:p>
          <a:p>
            <a:pPr indent="0" lvl="0" marL="0" marR="0" rtl="0" algn="l">
              <a:spcBef>
                <a:spcPts val="0"/>
              </a:spcBef>
              <a:spcAft>
                <a:spcPts val="0"/>
              </a:spcAft>
              <a:buClr>
                <a:srgbClr val="1A1A2E"/>
              </a:buClr>
              <a:buSzPts val="863"/>
              <a:buFont typeface="Arial"/>
              <a:buNone/>
            </a:pPr>
            <a:r>
              <a:rPr b="1" lang="en-US" sz="863">
                <a:solidFill>
                  <a:srgbClr val="1A1A2E"/>
                </a:solidFill>
              </a:rPr>
              <a:t>SHA-256 hashes</a:t>
            </a:r>
            <a:endParaRPr/>
          </a:p>
        </p:txBody>
      </p:sp>
      <p:sp>
        <p:nvSpPr>
          <p:cNvPr id="263" name="Google Shape;263;p7"/>
          <p:cNvSpPr/>
          <p:nvPr/>
        </p:nvSpPr>
        <p:spPr>
          <a:xfrm>
            <a:off x="3733800" y="1885950"/>
            <a:ext cx="4724400" cy="914400"/>
          </a:xfrm>
          <a:prstGeom prst="roundRect">
            <a:avLst>
              <a:gd fmla="val 8333" name="adj"/>
            </a:avLst>
          </a:prstGeom>
          <a:solidFill>
            <a:srgbClr val="F3E6E2"/>
          </a:solidFill>
          <a:ln cap="flat" cmpd="sng" w="9525">
            <a:solidFill>
              <a:srgbClr val="B8504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4" name="Google Shape;264;p7"/>
          <p:cNvSpPr/>
          <p:nvPr/>
        </p:nvSpPr>
        <p:spPr>
          <a:xfrm>
            <a:off x="3943350" y="2028825"/>
            <a:ext cx="4305300" cy="2286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B85042"/>
              </a:buClr>
              <a:buSzPts val="1050"/>
              <a:buFont typeface="Arial"/>
              <a:buNone/>
            </a:pPr>
            <a:r>
              <a:rPr b="1" lang="en-US" sz="1050">
                <a:solidFill>
                  <a:srgbClr val="B85042"/>
                </a:solidFill>
              </a:rPr>
              <a:t>v0.3.8 CANDIDATE PARENT</a:t>
            </a:r>
            <a:endParaRPr/>
          </a:p>
        </p:txBody>
      </p:sp>
      <p:sp>
        <p:nvSpPr>
          <p:cNvPr id="265" name="Google Shape;265;p7"/>
          <p:cNvSpPr/>
          <p:nvPr/>
        </p:nvSpPr>
        <p:spPr>
          <a:xfrm>
            <a:off x="3943350" y="2324100"/>
            <a:ext cx="4305300" cy="3048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1013"/>
              <a:buFont typeface="Arial"/>
              <a:buNone/>
            </a:pPr>
            <a:r>
              <a:rPr b="1" lang="en-US" sz="1013">
                <a:solidFill>
                  <a:srgbClr val="1A1A2E"/>
                </a:solidFill>
              </a:rPr>
              <a:t>Manual trigger · run identity · dynamic stage contracts</a:t>
            </a:r>
            <a:endParaRPr/>
          </a:p>
        </p:txBody>
      </p:sp>
      <p:sp>
        <p:nvSpPr>
          <p:cNvPr id="266" name="Google Shape;266;p7"/>
          <p:cNvSpPr/>
          <p:nvPr/>
        </p:nvSpPr>
        <p:spPr>
          <a:xfrm>
            <a:off x="9010650" y="1885950"/>
            <a:ext cx="2419350" cy="914400"/>
          </a:xfrm>
          <a:prstGeom prst="roundRect">
            <a:avLst>
              <a:gd fmla="val 8333" name="adj"/>
            </a:avLst>
          </a:prstGeom>
          <a:solidFill>
            <a:srgbClr val="E6F0EB"/>
          </a:solidFill>
          <a:ln cap="flat" cmpd="sng" w="9525">
            <a:solidFill>
              <a:srgbClr val="2F6F5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7" name="Google Shape;267;p7"/>
          <p:cNvSpPr/>
          <p:nvPr/>
        </p:nvSpPr>
        <p:spPr>
          <a:xfrm>
            <a:off x="9144000" y="1981200"/>
            <a:ext cx="2152650" cy="3048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F6F57"/>
              </a:buClr>
              <a:buSzPts val="810"/>
              <a:buFont typeface="Arial"/>
              <a:buNone/>
            </a:pPr>
            <a:r>
              <a:rPr b="1" lang="en-US" sz="810">
                <a:solidFill>
                  <a:srgbClr val="2F6F57"/>
                </a:solidFill>
              </a:rPr>
              <a:t>GOOGLE DRIVE · CANDIDATE OUTPUTS</a:t>
            </a:r>
            <a:endParaRPr/>
          </a:p>
        </p:txBody>
      </p:sp>
      <p:sp>
        <p:nvSpPr>
          <p:cNvPr id="268" name="Google Shape;268;p7"/>
          <p:cNvSpPr/>
          <p:nvPr/>
        </p:nvSpPr>
        <p:spPr>
          <a:xfrm>
            <a:off x="9144000" y="2324100"/>
            <a:ext cx="2152650" cy="381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885"/>
              <a:buFont typeface="Arial"/>
              <a:buNone/>
            </a:pPr>
            <a:r>
              <a:rPr b="1" lang="en-US" sz="885">
                <a:solidFill>
                  <a:srgbClr val="1A1A2E"/>
                </a:solidFill>
              </a:rPr>
              <a:t>7 summary, PRD, story, sizing,</a:t>
            </a:r>
            <a:endParaRPr/>
          </a:p>
          <a:p>
            <a:pPr indent="0" lvl="0" marL="0" marR="0" rtl="0" algn="l">
              <a:spcBef>
                <a:spcPts val="0"/>
              </a:spcBef>
              <a:spcAft>
                <a:spcPts val="0"/>
              </a:spcAft>
              <a:buClr>
                <a:srgbClr val="1A1A2E"/>
              </a:buClr>
              <a:buSzPts val="885"/>
              <a:buFont typeface="Arial"/>
              <a:buNone/>
            </a:pPr>
            <a:r>
              <a:rPr b="1" lang="en-US" sz="885">
                <a:solidFill>
                  <a:srgbClr val="1A1A2E"/>
                </a:solidFill>
              </a:rPr>
              <a:t>and lineage artifacts</a:t>
            </a:r>
            <a:endParaRPr/>
          </a:p>
        </p:txBody>
      </p:sp>
      <p:cxnSp>
        <p:nvCxnSpPr>
          <p:cNvPr id="269" name="Google Shape;269;p7"/>
          <p:cNvCxnSpPr>
            <a:stCxn id="260" idx="3"/>
            <a:endCxn id="263" idx="1"/>
          </p:cNvCxnSpPr>
          <p:nvPr/>
        </p:nvCxnSpPr>
        <p:spPr>
          <a:xfrm>
            <a:off x="3181350" y="2343150"/>
            <a:ext cx="552600" cy="0"/>
          </a:xfrm>
          <a:prstGeom prst="straightConnector1">
            <a:avLst/>
          </a:prstGeom>
          <a:noFill/>
          <a:ln cap="flat" cmpd="sng" w="23800">
            <a:solidFill>
              <a:srgbClr val="B85042"/>
            </a:solidFill>
            <a:prstDash val="solid"/>
            <a:round/>
            <a:headEnd len="sm" w="sm" type="none"/>
            <a:tailEnd len="med" w="med" type="triangle"/>
          </a:ln>
        </p:spPr>
      </p:cxnSp>
      <p:cxnSp>
        <p:nvCxnSpPr>
          <p:cNvPr id="270" name="Google Shape;270;p7"/>
          <p:cNvCxnSpPr>
            <a:stCxn id="263" idx="3"/>
            <a:endCxn id="266" idx="1"/>
          </p:cNvCxnSpPr>
          <p:nvPr/>
        </p:nvCxnSpPr>
        <p:spPr>
          <a:xfrm>
            <a:off x="8458200" y="2343150"/>
            <a:ext cx="552600" cy="0"/>
          </a:xfrm>
          <a:prstGeom prst="straightConnector1">
            <a:avLst/>
          </a:prstGeom>
          <a:noFill/>
          <a:ln cap="flat" cmpd="sng" w="23800">
            <a:solidFill>
              <a:srgbClr val="B85042"/>
            </a:solidFill>
            <a:prstDash val="solid"/>
            <a:round/>
            <a:headEnd len="sm" w="sm" type="none"/>
            <a:tailEnd len="med" w="med" type="triangle"/>
          </a:ln>
        </p:spPr>
      </p:cxnSp>
      <p:sp>
        <p:nvSpPr>
          <p:cNvPr id="271" name="Google Shape;271;p7"/>
          <p:cNvSpPr/>
          <p:nvPr/>
        </p:nvSpPr>
        <p:spPr>
          <a:xfrm>
            <a:off x="781050" y="3009900"/>
            <a:ext cx="3048000" cy="2095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B85042"/>
              </a:buClr>
              <a:buSzPts val="900"/>
              <a:buFont typeface="Arial"/>
              <a:buNone/>
            </a:pPr>
            <a:r>
              <a:rPr b="1" lang="en-US" sz="900">
                <a:solidFill>
                  <a:srgbClr val="B85042"/>
                </a:solidFill>
              </a:rPr>
              <a:t>GOVERNED EXECUTION PATH</a:t>
            </a:r>
            <a:endParaRPr/>
          </a:p>
        </p:txBody>
      </p:sp>
      <p:sp>
        <p:nvSpPr>
          <p:cNvPr id="272" name="Google Shape;272;p7"/>
          <p:cNvSpPr/>
          <p:nvPr/>
        </p:nvSpPr>
        <p:spPr>
          <a:xfrm>
            <a:off x="781050" y="3371850"/>
            <a:ext cx="1104900" cy="1028700"/>
          </a:xfrm>
          <a:prstGeom prst="roundRect">
            <a:avLst>
              <a:gd fmla="val 7407" name="adj"/>
            </a:avLst>
          </a:prstGeom>
          <a:solidFill>
            <a:srgbClr val="FFFFFF"/>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3" name="Google Shape;273;p7"/>
          <p:cNvSpPr/>
          <p:nvPr/>
        </p:nvSpPr>
        <p:spPr>
          <a:xfrm>
            <a:off x="895350" y="3467100"/>
            <a:ext cx="876300" cy="190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B85042"/>
              </a:buClr>
              <a:buSzPts val="825"/>
              <a:buFont typeface="Arial"/>
              <a:buNone/>
            </a:pPr>
            <a:r>
              <a:rPr b="1" lang="en-US" sz="825">
                <a:solidFill>
                  <a:srgbClr val="B85042"/>
                </a:solidFill>
              </a:rPr>
              <a:t>01</a:t>
            </a:r>
            <a:endParaRPr/>
          </a:p>
        </p:txBody>
      </p:sp>
      <p:sp>
        <p:nvSpPr>
          <p:cNvPr id="274" name="Google Shape;274;p7"/>
          <p:cNvSpPr/>
          <p:nvPr/>
        </p:nvSpPr>
        <p:spPr>
          <a:xfrm>
            <a:off x="857250" y="3705225"/>
            <a:ext cx="952500" cy="4953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914"/>
              <a:buFont typeface="Arial"/>
              <a:buNone/>
            </a:pPr>
            <a:r>
              <a:rPr b="1" lang="en-US" sz="915">
                <a:solidFill>
                  <a:srgbClr val="1A1A2E"/>
                </a:solidFill>
              </a:rPr>
              <a:t>Drive +</a:t>
            </a:r>
            <a:endParaRPr/>
          </a:p>
          <a:p>
            <a:pPr indent="0" lvl="0" marL="0" marR="0" rtl="0" algn="l">
              <a:spcBef>
                <a:spcPts val="0"/>
              </a:spcBef>
              <a:spcAft>
                <a:spcPts val="0"/>
              </a:spcAft>
              <a:buClr>
                <a:srgbClr val="1A1A2E"/>
              </a:buClr>
              <a:buSzPts val="914"/>
              <a:buFont typeface="Arial"/>
              <a:buNone/>
            </a:pPr>
            <a:r>
              <a:rPr b="1" lang="en-US" sz="915">
                <a:solidFill>
                  <a:srgbClr val="1A1A2E"/>
                </a:solidFill>
              </a:rPr>
              <a:t>clarification gate</a:t>
            </a:r>
            <a:endParaRPr/>
          </a:p>
        </p:txBody>
      </p:sp>
      <p:sp>
        <p:nvSpPr>
          <p:cNvPr id="275" name="Google Shape;275;p7"/>
          <p:cNvSpPr/>
          <p:nvPr/>
        </p:nvSpPr>
        <p:spPr>
          <a:xfrm>
            <a:off x="2143125" y="3371850"/>
            <a:ext cx="1104900" cy="1028700"/>
          </a:xfrm>
          <a:prstGeom prst="roundRect">
            <a:avLst>
              <a:gd fmla="val 7407" name="adj"/>
            </a:avLst>
          </a:prstGeom>
          <a:solidFill>
            <a:srgbClr val="FFFFFF"/>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6" name="Google Shape;276;p7"/>
          <p:cNvSpPr/>
          <p:nvPr/>
        </p:nvSpPr>
        <p:spPr>
          <a:xfrm>
            <a:off x="2257425" y="3467100"/>
            <a:ext cx="876300" cy="190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B85042"/>
              </a:buClr>
              <a:buSzPts val="825"/>
              <a:buFont typeface="Arial"/>
              <a:buNone/>
            </a:pPr>
            <a:r>
              <a:rPr b="1" lang="en-US" sz="825">
                <a:solidFill>
                  <a:srgbClr val="B85042"/>
                </a:solidFill>
              </a:rPr>
              <a:t>02</a:t>
            </a:r>
            <a:endParaRPr/>
          </a:p>
        </p:txBody>
      </p:sp>
      <p:sp>
        <p:nvSpPr>
          <p:cNvPr id="277" name="Google Shape;277;p7"/>
          <p:cNvSpPr/>
          <p:nvPr/>
        </p:nvSpPr>
        <p:spPr>
          <a:xfrm>
            <a:off x="2219325" y="3705225"/>
            <a:ext cx="952500" cy="4953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914"/>
              <a:buFont typeface="Arial"/>
              <a:buNone/>
            </a:pPr>
            <a:r>
              <a:rPr b="1" lang="en-US" sz="915">
                <a:solidFill>
                  <a:srgbClr val="1A1A2E"/>
                </a:solidFill>
              </a:rPr>
              <a:t>Requirement</a:t>
            </a:r>
            <a:endParaRPr/>
          </a:p>
          <a:p>
            <a:pPr indent="0" lvl="0" marL="0" marR="0" rtl="0" algn="l">
              <a:spcBef>
                <a:spcPts val="0"/>
              </a:spcBef>
              <a:spcAft>
                <a:spcPts val="0"/>
              </a:spcAft>
              <a:buClr>
                <a:srgbClr val="1A1A2E"/>
              </a:buClr>
              <a:buSzPts val="914"/>
              <a:buFont typeface="Arial"/>
              <a:buNone/>
            </a:pPr>
            <a:r>
              <a:rPr b="1" lang="en-US" sz="915">
                <a:solidFill>
                  <a:srgbClr val="1A1A2E"/>
                </a:solidFill>
              </a:rPr>
              <a:t>extractor</a:t>
            </a:r>
            <a:endParaRPr/>
          </a:p>
        </p:txBody>
      </p:sp>
      <p:sp>
        <p:nvSpPr>
          <p:cNvPr id="278" name="Google Shape;278;p7"/>
          <p:cNvSpPr/>
          <p:nvPr/>
        </p:nvSpPr>
        <p:spPr>
          <a:xfrm>
            <a:off x="3505200" y="3371850"/>
            <a:ext cx="1104900" cy="1028700"/>
          </a:xfrm>
          <a:prstGeom prst="roundRect">
            <a:avLst>
              <a:gd fmla="val 7407" name="adj"/>
            </a:avLst>
          </a:prstGeom>
          <a:solidFill>
            <a:srgbClr val="FFFFFF"/>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9" name="Google Shape;279;p7"/>
          <p:cNvSpPr/>
          <p:nvPr/>
        </p:nvSpPr>
        <p:spPr>
          <a:xfrm>
            <a:off x="3619500" y="3467100"/>
            <a:ext cx="876300" cy="190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B85042"/>
              </a:buClr>
              <a:buSzPts val="825"/>
              <a:buFont typeface="Arial"/>
              <a:buNone/>
            </a:pPr>
            <a:r>
              <a:rPr b="1" lang="en-US" sz="825">
                <a:solidFill>
                  <a:srgbClr val="B85042"/>
                </a:solidFill>
              </a:rPr>
              <a:t>03</a:t>
            </a:r>
            <a:endParaRPr/>
          </a:p>
        </p:txBody>
      </p:sp>
      <p:sp>
        <p:nvSpPr>
          <p:cNvPr id="280" name="Google Shape;280;p7"/>
          <p:cNvSpPr/>
          <p:nvPr/>
        </p:nvSpPr>
        <p:spPr>
          <a:xfrm>
            <a:off x="3581400" y="3705225"/>
            <a:ext cx="952500" cy="4953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914"/>
              <a:buFont typeface="Arial"/>
              <a:buNone/>
            </a:pPr>
            <a:r>
              <a:rPr b="1" lang="en-US" sz="915">
                <a:solidFill>
                  <a:srgbClr val="1A1A2E"/>
                </a:solidFill>
              </a:rPr>
              <a:t>Gap</a:t>
            </a:r>
            <a:endParaRPr/>
          </a:p>
          <a:p>
            <a:pPr indent="0" lvl="0" marL="0" marR="0" rtl="0" algn="l">
              <a:spcBef>
                <a:spcPts val="0"/>
              </a:spcBef>
              <a:spcAft>
                <a:spcPts val="0"/>
              </a:spcAft>
              <a:buClr>
                <a:srgbClr val="1A1A2E"/>
              </a:buClr>
              <a:buSzPts val="914"/>
              <a:buFont typeface="Arial"/>
              <a:buNone/>
            </a:pPr>
            <a:r>
              <a:rPr b="1" lang="en-US" sz="915">
                <a:solidFill>
                  <a:srgbClr val="1A1A2E"/>
                </a:solidFill>
              </a:rPr>
              <a:t>analyzer</a:t>
            </a:r>
            <a:endParaRPr/>
          </a:p>
        </p:txBody>
      </p:sp>
      <p:sp>
        <p:nvSpPr>
          <p:cNvPr id="281" name="Google Shape;281;p7"/>
          <p:cNvSpPr/>
          <p:nvPr/>
        </p:nvSpPr>
        <p:spPr>
          <a:xfrm>
            <a:off x="4867275" y="3371850"/>
            <a:ext cx="1104900" cy="1028700"/>
          </a:xfrm>
          <a:prstGeom prst="roundRect">
            <a:avLst>
              <a:gd fmla="val 7407" name="adj"/>
            </a:avLst>
          </a:prstGeom>
          <a:solidFill>
            <a:srgbClr val="FFFFFF"/>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2" name="Google Shape;282;p7"/>
          <p:cNvSpPr/>
          <p:nvPr/>
        </p:nvSpPr>
        <p:spPr>
          <a:xfrm>
            <a:off x="4981575" y="3467100"/>
            <a:ext cx="876300" cy="190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B85042"/>
              </a:buClr>
              <a:buSzPts val="825"/>
              <a:buFont typeface="Arial"/>
              <a:buNone/>
            </a:pPr>
            <a:r>
              <a:rPr b="1" lang="en-US" sz="825">
                <a:solidFill>
                  <a:srgbClr val="B85042"/>
                </a:solidFill>
              </a:rPr>
              <a:t>04</a:t>
            </a:r>
            <a:endParaRPr/>
          </a:p>
        </p:txBody>
      </p:sp>
      <p:sp>
        <p:nvSpPr>
          <p:cNvPr id="283" name="Google Shape;283;p7"/>
          <p:cNvSpPr/>
          <p:nvPr/>
        </p:nvSpPr>
        <p:spPr>
          <a:xfrm>
            <a:off x="4943475" y="3705225"/>
            <a:ext cx="952500" cy="4953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914"/>
              <a:buFont typeface="Arial"/>
              <a:buNone/>
            </a:pPr>
            <a:r>
              <a:rPr b="1" lang="en-US" sz="915">
                <a:solidFill>
                  <a:srgbClr val="1A1A2E"/>
                </a:solidFill>
              </a:rPr>
              <a:t>Human</a:t>
            </a:r>
            <a:endParaRPr/>
          </a:p>
          <a:p>
            <a:pPr indent="0" lvl="0" marL="0" marR="0" rtl="0" algn="l">
              <a:spcBef>
                <a:spcPts val="0"/>
              </a:spcBef>
              <a:spcAft>
                <a:spcPts val="0"/>
              </a:spcAft>
              <a:buClr>
                <a:srgbClr val="1A1A2E"/>
              </a:buClr>
              <a:buSzPts val="914"/>
              <a:buFont typeface="Arial"/>
              <a:buNone/>
            </a:pPr>
            <a:r>
              <a:rPr b="1" lang="en-US" sz="915">
                <a:solidFill>
                  <a:srgbClr val="1A1A2E"/>
                </a:solidFill>
              </a:rPr>
              <a:t>approval</a:t>
            </a:r>
            <a:endParaRPr/>
          </a:p>
        </p:txBody>
      </p:sp>
      <p:sp>
        <p:nvSpPr>
          <p:cNvPr id="284" name="Google Shape;284;p7"/>
          <p:cNvSpPr/>
          <p:nvPr/>
        </p:nvSpPr>
        <p:spPr>
          <a:xfrm>
            <a:off x="6229350" y="3371850"/>
            <a:ext cx="1104900" cy="1028700"/>
          </a:xfrm>
          <a:prstGeom prst="roundRect">
            <a:avLst>
              <a:gd fmla="val 7407" name="adj"/>
            </a:avLst>
          </a:prstGeom>
          <a:solidFill>
            <a:srgbClr val="FFFFFF"/>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5" name="Google Shape;285;p7"/>
          <p:cNvSpPr/>
          <p:nvPr/>
        </p:nvSpPr>
        <p:spPr>
          <a:xfrm>
            <a:off x="6343650" y="3467100"/>
            <a:ext cx="876300" cy="190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B85042"/>
              </a:buClr>
              <a:buSzPts val="825"/>
              <a:buFont typeface="Arial"/>
              <a:buNone/>
            </a:pPr>
            <a:r>
              <a:rPr b="1" lang="en-US" sz="825">
                <a:solidFill>
                  <a:srgbClr val="B85042"/>
                </a:solidFill>
              </a:rPr>
              <a:t>05</a:t>
            </a:r>
            <a:endParaRPr/>
          </a:p>
        </p:txBody>
      </p:sp>
      <p:sp>
        <p:nvSpPr>
          <p:cNvPr id="286" name="Google Shape;286;p7"/>
          <p:cNvSpPr/>
          <p:nvPr/>
        </p:nvSpPr>
        <p:spPr>
          <a:xfrm>
            <a:off x="6305550" y="3705225"/>
            <a:ext cx="952500" cy="4953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914"/>
              <a:buFont typeface="Arial"/>
              <a:buNone/>
            </a:pPr>
            <a:r>
              <a:rPr b="1" lang="en-US" sz="915">
                <a:solidFill>
                  <a:srgbClr val="1A1A2E"/>
                </a:solidFill>
              </a:rPr>
              <a:t>Production</a:t>
            </a:r>
            <a:endParaRPr/>
          </a:p>
          <a:p>
            <a:pPr indent="0" lvl="0" marL="0" marR="0" rtl="0" algn="l">
              <a:spcBef>
                <a:spcPts val="0"/>
              </a:spcBef>
              <a:spcAft>
                <a:spcPts val="0"/>
              </a:spcAft>
              <a:buClr>
                <a:srgbClr val="1A1A2E"/>
              </a:buClr>
              <a:buSzPts val="914"/>
              <a:buFont typeface="Arial"/>
              <a:buNone/>
            </a:pPr>
            <a:r>
              <a:rPr b="1" lang="en-US" sz="915">
                <a:solidFill>
                  <a:srgbClr val="1A1A2E"/>
                </a:solidFill>
              </a:rPr>
              <a:t>PRD</a:t>
            </a:r>
            <a:endParaRPr/>
          </a:p>
        </p:txBody>
      </p:sp>
      <p:sp>
        <p:nvSpPr>
          <p:cNvPr id="287" name="Google Shape;287;p7"/>
          <p:cNvSpPr/>
          <p:nvPr/>
        </p:nvSpPr>
        <p:spPr>
          <a:xfrm>
            <a:off x="7591425" y="3371850"/>
            <a:ext cx="1104900" cy="1028700"/>
          </a:xfrm>
          <a:prstGeom prst="roundRect">
            <a:avLst>
              <a:gd fmla="val 7407" name="adj"/>
            </a:avLst>
          </a:prstGeom>
          <a:solidFill>
            <a:srgbClr val="FFFFFF"/>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8" name="Google Shape;288;p7"/>
          <p:cNvSpPr/>
          <p:nvPr/>
        </p:nvSpPr>
        <p:spPr>
          <a:xfrm>
            <a:off x="7705725" y="3467100"/>
            <a:ext cx="876300" cy="190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B85042"/>
              </a:buClr>
              <a:buSzPts val="825"/>
              <a:buFont typeface="Arial"/>
              <a:buNone/>
            </a:pPr>
            <a:r>
              <a:rPr b="1" lang="en-US" sz="825">
                <a:solidFill>
                  <a:srgbClr val="B85042"/>
                </a:solidFill>
              </a:rPr>
              <a:t>06</a:t>
            </a:r>
            <a:endParaRPr/>
          </a:p>
        </p:txBody>
      </p:sp>
      <p:sp>
        <p:nvSpPr>
          <p:cNvPr id="289" name="Google Shape;289;p7"/>
          <p:cNvSpPr/>
          <p:nvPr/>
        </p:nvSpPr>
        <p:spPr>
          <a:xfrm>
            <a:off x="7667625" y="3705225"/>
            <a:ext cx="952500" cy="4953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914"/>
              <a:buFont typeface="Arial"/>
              <a:buNone/>
            </a:pPr>
            <a:r>
              <a:rPr b="1" lang="en-US" sz="915">
                <a:solidFill>
                  <a:srgbClr val="1A1A2E"/>
                </a:solidFill>
              </a:rPr>
              <a:t>Story</a:t>
            </a:r>
            <a:endParaRPr/>
          </a:p>
          <a:p>
            <a:pPr indent="0" lvl="0" marL="0" marR="0" rtl="0" algn="l">
              <a:spcBef>
                <a:spcPts val="0"/>
              </a:spcBef>
              <a:spcAft>
                <a:spcPts val="0"/>
              </a:spcAft>
              <a:buClr>
                <a:srgbClr val="1A1A2E"/>
              </a:buClr>
              <a:buSzPts val="914"/>
              <a:buFont typeface="Arial"/>
              <a:buNone/>
            </a:pPr>
            <a:r>
              <a:rPr b="1" lang="en-US" sz="915">
                <a:solidFill>
                  <a:srgbClr val="1A1A2E"/>
                </a:solidFill>
              </a:rPr>
              <a:t>breakdown</a:t>
            </a:r>
            <a:endParaRPr/>
          </a:p>
        </p:txBody>
      </p:sp>
      <p:sp>
        <p:nvSpPr>
          <p:cNvPr id="290" name="Google Shape;290;p7"/>
          <p:cNvSpPr/>
          <p:nvPr/>
        </p:nvSpPr>
        <p:spPr>
          <a:xfrm>
            <a:off x="8953500" y="3371850"/>
            <a:ext cx="1104900" cy="1028700"/>
          </a:xfrm>
          <a:prstGeom prst="roundRect">
            <a:avLst>
              <a:gd fmla="val 7407" name="adj"/>
            </a:avLst>
          </a:prstGeom>
          <a:solidFill>
            <a:srgbClr val="FFFFFF"/>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1" name="Google Shape;291;p7"/>
          <p:cNvSpPr/>
          <p:nvPr/>
        </p:nvSpPr>
        <p:spPr>
          <a:xfrm>
            <a:off x="9067800" y="3467100"/>
            <a:ext cx="876300" cy="190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B85042"/>
              </a:buClr>
              <a:buSzPts val="825"/>
              <a:buFont typeface="Arial"/>
              <a:buNone/>
            </a:pPr>
            <a:r>
              <a:rPr b="1" lang="en-US" sz="825">
                <a:solidFill>
                  <a:srgbClr val="B85042"/>
                </a:solidFill>
              </a:rPr>
              <a:t>07</a:t>
            </a:r>
            <a:endParaRPr/>
          </a:p>
        </p:txBody>
      </p:sp>
      <p:sp>
        <p:nvSpPr>
          <p:cNvPr id="292" name="Google Shape;292;p7"/>
          <p:cNvSpPr/>
          <p:nvPr/>
        </p:nvSpPr>
        <p:spPr>
          <a:xfrm>
            <a:off x="9029700" y="3705225"/>
            <a:ext cx="952500" cy="4953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914"/>
              <a:buFont typeface="Arial"/>
              <a:buNone/>
            </a:pPr>
            <a:r>
              <a:rPr b="1" lang="en-US" sz="915">
                <a:solidFill>
                  <a:srgbClr val="1A1A2E"/>
                </a:solidFill>
              </a:rPr>
              <a:t>Validator</a:t>
            </a:r>
            <a:endParaRPr/>
          </a:p>
          <a:p>
            <a:pPr indent="0" lvl="0" marL="0" marR="0" rtl="0" algn="l">
              <a:spcBef>
                <a:spcPts val="0"/>
              </a:spcBef>
              <a:spcAft>
                <a:spcPts val="0"/>
              </a:spcAft>
              <a:buClr>
                <a:srgbClr val="1A1A2E"/>
              </a:buClr>
              <a:buSzPts val="914"/>
              <a:buFont typeface="Arial"/>
              <a:buNone/>
            </a:pPr>
            <a:r>
              <a:rPr b="1" lang="en-US" sz="915">
                <a:solidFill>
                  <a:srgbClr val="1A1A2E"/>
                </a:solidFill>
              </a:rPr>
              <a:t>+ export</a:t>
            </a:r>
            <a:endParaRPr/>
          </a:p>
        </p:txBody>
      </p:sp>
      <p:sp>
        <p:nvSpPr>
          <p:cNvPr id="293" name="Google Shape;293;p7"/>
          <p:cNvSpPr/>
          <p:nvPr/>
        </p:nvSpPr>
        <p:spPr>
          <a:xfrm>
            <a:off x="10315575" y="3371850"/>
            <a:ext cx="1104900" cy="1028700"/>
          </a:xfrm>
          <a:prstGeom prst="roundRect">
            <a:avLst>
              <a:gd fmla="val 7407" name="adj"/>
            </a:avLst>
          </a:prstGeom>
          <a:solidFill>
            <a:srgbClr val="E6F0EB"/>
          </a:solidFill>
          <a:ln cap="flat" cmpd="sng" w="9525">
            <a:solidFill>
              <a:srgbClr val="2F6F5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4" name="Google Shape;294;p7"/>
          <p:cNvSpPr/>
          <p:nvPr/>
        </p:nvSpPr>
        <p:spPr>
          <a:xfrm>
            <a:off x="10429875" y="3467100"/>
            <a:ext cx="876300" cy="190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F6F57"/>
              </a:buClr>
              <a:buSzPts val="825"/>
              <a:buFont typeface="Arial"/>
              <a:buNone/>
            </a:pPr>
            <a:r>
              <a:rPr b="1" lang="en-US" sz="825">
                <a:solidFill>
                  <a:srgbClr val="2F6F57"/>
                </a:solidFill>
              </a:rPr>
              <a:t>POST</a:t>
            </a:r>
            <a:endParaRPr/>
          </a:p>
        </p:txBody>
      </p:sp>
      <p:sp>
        <p:nvSpPr>
          <p:cNvPr id="295" name="Google Shape;295;p7"/>
          <p:cNvSpPr/>
          <p:nvPr/>
        </p:nvSpPr>
        <p:spPr>
          <a:xfrm>
            <a:off x="10391775" y="3705225"/>
            <a:ext cx="952500" cy="4953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914"/>
              <a:buFont typeface="Arial"/>
              <a:buNone/>
            </a:pPr>
            <a:r>
              <a:rPr b="1" lang="en-US" sz="915">
                <a:solidFill>
                  <a:srgbClr val="1A1A2E"/>
                </a:solidFill>
              </a:rPr>
              <a:t>T-shirt</a:t>
            </a:r>
            <a:endParaRPr/>
          </a:p>
          <a:p>
            <a:pPr indent="0" lvl="0" marL="0" marR="0" rtl="0" algn="l">
              <a:spcBef>
                <a:spcPts val="0"/>
              </a:spcBef>
              <a:spcAft>
                <a:spcPts val="0"/>
              </a:spcAft>
              <a:buClr>
                <a:srgbClr val="1A1A2E"/>
              </a:buClr>
              <a:buSzPts val="914"/>
              <a:buFont typeface="Arial"/>
              <a:buNone/>
            </a:pPr>
            <a:r>
              <a:rPr b="1" lang="en-US" sz="915">
                <a:solidFill>
                  <a:srgbClr val="1A1A2E"/>
                </a:solidFill>
              </a:rPr>
              <a:t>sizing</a:t>
            </a:r>
            <a:endParaRPr/>
          </a:p>
        </p:txBody>
      </p:sp>
      <p:sp>
        <p:nvSpPr>
          <p:cNvPr id="296" name="Google Shape;296;p7"/>
          <p:cNvSpPr/>
          <p:nvPr/>
        </p:nvSpPr>
        <p:spPr>
          <a:xfrm>
            <a:off x="6076950" y="3295650"/>
            <a:ext cx="38100" cy="381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297" name="Google Shape;297;p7"/>
          <p:cNvCxnSpPr>
            <a:stCxn id="263" idx="2"/>
            <a:endCxn id="296" idx="0"/>
          </p:cNvCxnSpPr>
          <p:nvPr/>
        </p:nvCxnSpPr>
        <p:spPr>
          <a:xfrm>
            <a:off x="6096000" y="2800350"/>
            <a:ext cx="0" cy="495300"/>
          </a:xfrm>
          <a:prstGeom prst="straightConnector1">
            <a:avLst/>
          </a:prstGeom>
          <a:noFill/>
          <a:ln cap="flat" cmpd="sng" w="23800">
            <a:solidFill>
              <a:srgbClr val="B85042"/>
            </a:solidFill>
            <a:prstDash val="solid"/>
            <a:round/>
            <a:headEnd len="sm" w="sm" type="none"/>
            <a:tailEnd len="med" w="med" type="triangle"/>
          </a:ln>
        </p:spPr>
      </p:cxnSp>
      <p:cxnSp>
        <p:nvCxnSpPr>
          <p:cNvPr id="298" name="Google Shape;298;p7"/>
          <p:cNvCxnSpPr>
            <a:stCxn id="272" idx="3"/>
            <a:endCxn id="275" idx="1"/>
          </p:cNvCxnSpPr>
          <p:nvPr/>
        </p:nvCxnSpPr>
        <p:spPr>
          <a:xfrm>
            <a:off x="1885950" y="3886200"/>
            <a:ext cx="257100" cy="0"/>
          </a:xfrm>
          <a:prstGeom prst="straightConnector1">
            <a:avLst/>
          </a:prstGeom>
          <a:noFill/>
          <a:ln cap="flat" cmpd="sng" w="21425">
            <a:solidFill>
              <a:srgbClr val="B85042"/>
            </a:solidFill>
            <a:prstDash val="solid"/>
            <a:round/>
            <a:headEnd len="sm" w="sm" type="none"/>
            <a:tailEnd len="med" w="med" type="triangle"/>
          </a:ln>
        </p:spPr>
      </p:cxnSp>
      <p:cxnSp>
        <p:nvCxnSpPr>
          <p:cNvPr id="299" name="Google Shape;299;p7"/>
          <p:cNvCxnSpPr>
            <a:stCxn id="275" idx="3"/>
            <a:endCxn id="278" idx="1"/>
          </p:cNvCxnSpPr>
          <p:nvPr/>
        </p:nvCxnSpPr>
        <p:spPr>
          <a:xfrm>
            <a:off x="3248025" y="3886200"/>
            <a:ext cx="257100" cy="0"/>
          </a:xfrm>
          <a:prstGeom prst="straightConnector1">
            <a:avLst/>
          </a:prstGeom>
          <a:noFill/>
          <a:ln cap="flat" cmpd="sng" w="21425">
            <a:solidFill>
              <a:srgbClr val="B85042"/>
            </a:solidFill>
            <a:prstDash val="solid"/>
            <a:round/>
            <a:headEnd len="sm" w="sm" type="none"/>
            <a:tailEnd len="med" w="med" type="triangle"/>
          </a:ln>
        </p:spPr>
      </p:cxnSp>
      <p:cxnSp>
        <p:nvCxnSpPr>
          <p:cNvPr id="300" name="Google Shape;300;p7"/>
          <p:cNvCxnSpPr>
            <a:stCxn id="278" idx="3"/>
            <a:endCxn id="281" idx="1"/>
          </p:cNvCxnSpPr>
          <p:nvPr/>
        </p:nvCxnSpPr>
        <p:spPr>
          <a:xfrm>
            <a:off x="4610100" y="3886200"/>
            <a:ext cx="257100" cy="0"/>
          </a:xfrm>
          <a:prstGeom prst="straightConnector1">
            <a:avLst/>
          </a:prstGeom>
          <a:noFill/>
          <a:ln cap="flat" cmpd="sng" w="21425">
            <a:solidFill>
              <a:srgbClr val="B85042"/>
            </a:solidFill>
            <a:prstDash val="solid"/>
            <a:round/>
            <a:headEnd len="sm" w="sm" type="none"/>
            <a:tailEnd len="med" w="med" type="triangle"/>
          </a:ln>
        </p:spPr>
      </p:cxnSp>
      <p:cxnSp>
        <p:nvCxnSpPr>
          <p:cNvPr id="301" name="Google Shape;301;p7"/>
          <p:cNvCxnSpPr>
            <a:stCxn id="281" idx="3"/>
            <a:endCxn id="284" idx="1"/>
          </p:cNvCxnSpPr>
          <p:nvPr/>
        </p:nvCxnSpPr>
        <p:spPr>
          <a:xfrm>
            <a:off x="5972175" y="3886200"/>
            <a:ext cx="257100" cy="0"/>
          </a:xfrm>
          <a:prstGeom prst="straightConnector1">
            <a:avLst/>
          </a:prstGeom>
          <a:noFill/>
          <a:ln cap="flat" cmpd="sng" w="21425">
            <a:solidFill>
              <a:srgbClr val="B85042"/>
            </a:solidFill>
            <a:prstDash val="solid"/>
            <a:round/>
            <a:headEnd len="sm" w="sm" type="none"/>
            <a:tailEnd len="med" w="med" type="triangle"/>
          </a:ln>
        </p:spPr>
      </p:cxnSp>
      <p:cxnSp>
        <p:nvCxnSpPr>
          <p:cNvPr id="302" name="Google Shape;302;p7"/>
          <p:cNvCxnSpPr>
            <a:stCxn id="284" idx="3"/>
            <a:endCxn id="287" idx="1"/>
          </p:cNvCxnSpPr>
          <p:nvPr/>
        </p:nvCxnSpPr>
        <p:spPr>
          <a:xfrm>
            <a:off x="7334250" y="3886200"/>
            <a:ext cx="257100" cy="0"/>
          </a:xfrm>
          <a:prstGeom prst="straightConnector1">
            <a:avLst/>
          </a:prstGeom>
          <a:noFill/>
          <a:ln cap="flat" cmpd="sng" w="21425">
            <a:solidFill>
              <a:srgbClr val="B85042"/>
            </a:solidFill>
            <a:prstDash val="solid"/>
            <a:round/>
            <a:headEnd len="sm" w="sm" type="none"/>
            <a:tailEnd len="med" w="med" type="triangle"/>
          </a:ln>
        </p:spPr>
      </p:cxnSp>
      <p:cxnSp>
        <p:nvCxnSpPr>
          <p:cNvPr id="303" name="Google Shape;303;p7"/>
          <p:cNvCxnSpPr>
            <a:stCxn id="287" idx="3"/>
            <a:endCxn id="290" idx="1"/>
          </p:cNvCxnSpPr>
          <p:nvPr/>
        </p:nvCxnSpPr>
        <p:spPr>
          <a:xfrm>
            <a:off x="8696325" y="3886200"/>
            <a:ext cx="257100" cy="0"/>
          </a:xfrm>
          <a:prstGeom prst="straightConnector1">
            <a:avLst/>
          </a:prstGeom>
          <a:noFill/>
          <a:ln cap="flat" cmpd="sng" w="21425">
            <a:solidFill>
              <a:srgbClr val="B85042"/>
            </a:solidFill>
            <a:prstDash val="solid"/>
            <a:round/>
            <a:headEnd len="sm" w="sm" type="none"/>
            <a:tailEnd len="med" w="med" type="triangle"/>
          </a:ln>
        </p:spPr>
      </p:cxnSp>
      <p:cxnSp>
        <p:nvCxnSpPr>
          <p:cNvPr id="304" name="Google Shape;304;p7"/>
          <p:cNvCxnSpPr>
            <a:stCxn id="290" idx="3"/>
            <a:endCxn id="293" idx="1"/>
          </p:cNvCxnSpPr>
          <p:nvPr/>
        </p:nvCxnSpPr>
        <p:spPr>
          <a:xfrm>
            <a:off x="10058400" y="3886200"/>
            <a:ext cx="257100" cy="0"/>
          </a:xfrm>
          <a:prstGeom prst="straightConnector1">
            <a:avLst/>
          </a:prstGeom>
          <a:noFill/>
          <a:ln cap="flat" cmpd="sng" w="21425">
            <a:solidFill>
              <a:srgbClr val="B85042"/>
            </a:solidFill>
            <a:prstDash val="solid"/>
            <a:round/>
            <a:headEnd len="sm" w="sm" type="none"/>
            <a:tailEnd len="med" w="med" type="triangle"/>
          </a:ln>
        </p:spPr>
      </p:cxnSp>
      <p:sp>
        <p:nvSpPr>
          <p:cNvPr id="305" name="Google Shape;305;p7"/>
          <p:cNvSpPr/>
          <p:nvPr/>
        </p:nvSpPr>
        <p:spPr>
          <a:xfrm>
            <a:off x="10239375" y="4467225"/>
            <a:ext cx="1190625" cy="171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F6F57"/>
              </a:buClr>
              <a:buSzPts val="788"/>
              <a:buFont typeface="Arial"/>
              <a:buNone/>
            </a:pPr>
            <a:r>
              <a:rPr b="1" lang="en-US" sz="788">
                <a:solidFill>
                  <a:srgbClr val="2F6F57"/>
                </a:solidFill>
              </a:rPr>
              <a:t>non-blocking</a:t>
            </a:r>
            <a:endParaRPr/>
          </a:p>
        </p:txBody>
      </p:sp>
      <p:sp>
        <p:nvSpPr>
          <p:cNvPr id="306" name="Google Shape;306;p7"/>
          <p:cNvSpPr/>
          <p:nvPr/>
        </p:nvSpPr>
        <p:spPr>
          <a:xfrm>
            <a:off x="781050" y="4781550"/>
            <a:ext cx="3429000" cy="2095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B85042"/>
              </a:buClr>
              <a:buSzPts val="900"/>
              <a:buFont typeface="Arial"/>
              <a:buNone/>
            </a:pPr>
            <a:r>
              <a:rPr b="1" lang="en-US" sz="900">
                <a:solidFill>
                  <a:srgbClr val="B85042"/>
                </a:solidFill>
              </a:rPr>
              <a:t>CROSS-CUTTING CONTROL LAYERS</a:t>
            </a:r>
            <a:endParaRPr/>
          </a:p>
        </p:txBody>
      </p:sp>
      <p:sp>
        <p:nvSpPr>
          <p:cNvPr id="307" name="Google Shape;307;p7"/>
          <p:cNvSpPr/>
          <p:nvPr/>
        </p:nvSpPr>
        <p:spPr>
          <a:xfrm>
            <a:off x="781050" y="5114925"/>
            <a:ext cx="3409950" cy="781050"/>
          </a:xfrm>
          <a:prstGeom prst="roundRect">
            <a:avLst>
              <a:gd fmla="val 9756" name="adj"/>
            </a:avLst>
          </a:prstGeom>
          <a:solidFill>
            <a:srgbClr val="E8EFF9"/>
          </a:solidFill>
          <a:ln cap="flat" cmpd="sng" w="9525">
            <a:solidFill>
              <a:srgbClr val="3B6EB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8" name="Google Shape;308;p7"/>
          <p:cNvSpPr/>
          <p:nvPr/>
        </p:nvSpPr>
        <p:spPr>
          <a:xfrm>
            <a:off x="952500" y="5238750"/>
            <a:ext cx="3067050" cy="2095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3B6EBF"/>
              </a:buClr>
              <a:buSzPts val="938"/>
              <a:buFont typeface="Arial"/>
              <a:buNone/>
            </a:pPr>
            <a:r>
              <a:rPr b="1" lang="en-US" sz="938">
                <a:solidFill>
                  <a:srgbClr val="3B6EBF"/>
                </a:solidFill>
              </a:rPr>
              <a:t>OPENAI INTELLIGENCE · GPT-5.6 TERRA</a:t>
            </a:r>
            <a:endParaRPr/>
          </a:p>
        </p:txBody>
      </p:sp>
      <p:sp>
        <p:nvSpPr>
          <p:cNvPr id="309" name="Google Shape;309;p7"/>
          <p:cNvSpPr/>
          <p:nvPr/>
        </p:nvSpPr>
        <p:spPr>
          <a:xfrm>
            <a:off x="952500" y="5495925"/>
            <a:ext cx="3067050" cy="2667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938"/>
              <a:buFont typeface="Arial"/>
              <a:buNone/>
            </a:pPr>
            <a:r>
              <a:rPr lang="en-US" sz="938">
                <a:solidFill>
                  <a:srgbClr val="666B70"/>
                </a:solidFill>
              </a:rPr>
              <a:t>Evidence-grounded reasoning for extraction · analysis · generation · decomposition</a:t>
            </a:r>
            <a:endParaRPr/>
          </a:p>
        </p:txBody>
      </p:sp>
      <p:sp>
        <p:nvSpPr>
          <p:cNvPr id="310" name="Google Shape;310;p7"/>
          <p:cNvSpPr/>
          <p:nvPr/>
        </p:nvSpPr>
        <p:spPr>
          <a:xfrm>
            <a:off x="4400550" y="5114925"/>
            <a:ext cx="3409950" cy="781050"/>
          </a:xfrm>
          <a:prstGeom prst="roundRect">
            <a:avLst>
              <a:gd fmla="val 9756" name="adj"/>
            </a:avLst>
          </a:prstGeom>
          <a:solidFill>
            <a:srgbClr val="F0EBE5"/>
          </a:solidFill>
          <a:ln cap="flat" cmpd="sng" w="9525">
            <a:solidFill>
              <a:srgbClr val="B8504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1" name="Google Shape;311;p7"/>
          <p:cNvSpPr/>
          <p:nvPr/>
        </p:nvSpPr>
        <p:spPr>
          <a:xfrm>
            <a:off x="4572000" y="5238750"/>
            <a:ext cx="3067050" cy="2095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B85042"/>
              </a:buClr>
              <a:buSzPts val="938"/>
              <a:buFont typeface="Arial"/>
              <a:buNone/>
            </a:pPr>
            <a:r>
              <a:rPr b="1" lang="en-US" sz="938">
                <a:solidFill>
                  <a:srgbClr val="B85042"/>
                </a:solidFill>
              </a:rPr>
              <a:t>LANGFUSE OBSERVABILITY</a:t>
            </a:r>
            <a:endParaRPr/>
          </a:p>
        </p:txBody>
      </p:sp>
      <p:sp>
        <p:nvSpPr>
          <p:cNvPr id="312" name="Google Shape;312;p7"/>
          <p:cNvSpPr/>
          <p:nvPr/>
        </p:nvSpPr>
        <p:spPr>
          <a:xfrm>
            <a:off x="4572000" y="5495925"/>
            <a:ext cx="3067050" cy="2667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938"/>
              <a:buFont typeface="Arial"/>
              <a:buNone/>
            </a:pPr>
            <a:r>
              <a:rPr lang="en-US" sz="938">
                <a:solidFill>
                  <a:srgbClr val="666B70"/>
                </a:solidFill>
              </a:rPr>
              <a:t>Traces · code/LLM evaluators · latency · tokens · loaded cost</a:t>
            </a:r>
            <a:endParaRPr/>
          </a:p>
        </p:txBody>
      </p:sp>
      <p:sp>
        <p:nvSpPr>
          <p:cNvPr id="313" name="Google Shape;313;p7"/>
          <p:cNvSpPr/>
          <p:nvPr/>
        </p:nvSpPr>
        <p:spPr>
          <a:xfrm>
            <a:off x="8020050" y="5114925"/>
            <a:ext cx="3409950" cy="781050"/>
          </a:xfrm>
          <a:prstGeom prst="roundRect">
            <a:avLst>
              <a:gd fmla="val 9756" name="adj"/>
            </a:avLst>
          </a:prstGeom>
          <a:solidFill>
            <a:srgbClr val="E6F0EB"/>
          </a:solidFill>
          <a:ln cap="flat" cmpd="sng" w="9525">
            <a:solidFill>
              <a:srgbClr val="2F6F5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4" name="Google Shape;314;p7"/>
          <p:cNvSpPr/>
          <p:nvPr/>
        </p:nvSpPr>
        <p:spPr>
          <a:xfrm>
            <a:off x="8191500" y="5238750"/>
            <a:ext cx="3067050" cy="2095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F6F57"/>
              </a:buClr>
              <a:buSzPts val="938"/>
              <a:buFont typeface="Arial"/>
              <a:buNone/>
            </a:pPr>
            <a:r>
              <a:rPr b="1" lang="en-US" sz="938">
                <a:solidFill>
                  <a:srgbClr val="2F6F57"/>
                </a:solidFill>
              </a:rPr>
              <a:t>GOVERNANCE &amp; TRUST</a:t>
            </a:r>
            <a:endParaRPr/>
          </a:p>
        </p:txBody>
      </p:sp>
      <p:sp>
        <p:nvSpPr>
          <p:cNvPr id="315" name="Google Shape;315;p7"/>
          <p:cNvSpPr/>
          <p:nvPr/>
        </p:nvSpPr>
        <p:spPr>
          <a:xfrm>
            <a:off x="8191500" y="5495925"/>
            <a:ext cx="3067050" cy="2667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938"/>
              <a:buFont typeface="Arial"/>
              <a:buNone/>
            </a:pPr>
            <a:r>
              <a:rPr lang="en-US" sz="938">
                <a:solidFill>
                  <a:srgbClr val="666B70"/>
                </a:solidFill>
              </a:rPr>
              <a:t>Grounding · approval · set equality · orphan prevention · fail closed</a:t>
            </a:r>
            <a:endParaRPr/>
          </a:p>
        </p:txBody>
      </p:sp>
      <p:sp>
        <p:nvSpPr>
          <p:cNvPr id="316" name="Google Shape;316;p7"/>
          <p:cNvSpPr/>
          <p:nvPr/>
        </p:nvSpPr>
        <p:spPr>
          <a:xfrm>
            <a:off x="0" y="6248400"/>
            <a:ext cx="12192000" cy="609600"/>
          </a:xfrm>
          <a:prstGeom prst="rect">
            <a:avLst/>
          </a:prstGeom>
          <a:solidFill>
            <a:srgbClr val="1A1A2E"/>
          </a:solidFill>
          <a:ln cap="flat" cmpd="sng" w="9525">
            <a:solidFill>
              <a:srgbClr val="1A1A2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7" name="Google Shape;317;p7"/>
          <p:cNvSpPr/>
          <p:nvPr/>
        </p:nvSpPr>
        <p:spPr>
          <a:xfrm>
            <a:off x="781050" y="6343650"/>
            <a:ext cx="10648950" cy="4000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FFFFFF"/>
              </a:buClr>
              <a:buSzPts val="1425"/>
              <a:buFont typeface="Arial"/>
              <a:buNone/>
            </a:pPr>
            <a:r>
              <a:rPr b="1" lang="en-US" sz="1425">
                <a:solidFill>
                  <a:srgbClr val="FFFFFF"/>
                </a:solidFill>
              </a:rPr>
              <a:t>One run identity connects every source, decision, artifact, evaluation, and export event.</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4EE"/>
        </a:solidFill>
      </p:bgPr>
    </p:bg>
    <p:spTree>
      <p:nvGrpSpPr>
        <p:cNvPr id="322" name="Shape 322"/>
        <p:cNvGrpSpPr/>
        <p:nvPr/>
      </p:nvGrpSpPr>
      <p:grpSpPr>
        <a:xfrm>
          <a:off x="0" y="0"/>
          <a:ext cx="0" cy="0"/>
          <a:chOff x="0" y="0"/>
          <a:chExt cx="0" cy="0"/>
        </a:xfrm>
      </p:grpSpPr>
      <p:sp>
        <p:nvSpPr>
          <p:cNvPr id="323" name="Google Shape;323;p8"/>
          <p:cNvSpPr/>
          <p:nvPr/>
        </p:nvSpPr>
        <p:spPr>
          <a:xfrm>
            <a:off x="0" y="0"/>
            <a:ext cx="12192000" cy="76200"/>
          </a:xfrm>
          <a:prstGeom prst="rect">
            <a:avLst/>
          </a:prstGeom>
          <a:solidFill>
            <a:srgbClr val="B85042"/>
          </a:solidFill>
          <a:ln cap="flat" cmpd="sng" w="9525">
            <a:solidFill>
              <a:srgbClr val="B8504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4" name="Google Shape;324;p8"/>
          <p:cNvSpPr/>
          <p:nvPr/>
        </p:nvSpPr>
        <p:spPr>
          <a:xfrm>
            <a:off x="514350" y="742950"/>
            <a:ext cx="66675" cy="866775"/>
          </a:xfrm>
          <a:prstGeom prst="rect">
            <a:avLst/>
          </a:prstGeom>
          <a:solidFill>
            <a:srgbClr val="B85042"/>
          </a:solidFill>
          <a:ln cap="flat" cmpd="sng" w="9525">
            <a:solidFill>
              <a:srgbClr val="B8504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5" name="Google Shape;325;p8"/>
          <p:cNvSpPr/>
          <p:nvPr/>
        </p:nvSpPr>
        <p:spPr>
          <a:xfrm>
            <a:off x="781050" y="552450"/>
            <a:ext cx="5334000" cy="2667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B85042"/>
              </a:buClr>
              <a:buSzPts val="975"/>
              <a:buFont typeface="Arial"/>
              <a:buNone/>
            </a:pPr>
            <a:r>
              <a:rPr b="1" lang="en-US" sz="975">
                <a:solidFill>
                  <a:srgbClr val="B85042"/>
                </a:solidFill>
              </a:rPr>
              <a:t>08  ·  AGENT RESPONSIBILITIES</a:t>
            </a:r>
            <a:endParaRPr/>
          </a:p>
        </p:txBody>
      </p:sp>
      <p:sp>
        <p:nvSpPr>
          <p:cNvPr id="326" name="Google Shape;326;p8"/>
          <p:cNvSpPr/>
          <p:nvPr/>
        </p:nvSpPr>
        <p:spPr>
          <a:xfrm>
            <a:off x="781050" y="885825"/>
            <a:ext cx="10648950" cy="80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2550"/>
              <a:buFont typeface="Arial"/>
              <a:buNone/>
            </a:pPr>
            <a:r>
              <a:rPr b="1" lang="en-US" sz="2550">
                <a:solidFill>
                  <a:srgbClr val="1A1A2E"/>
                </a:solidFill>
              </a:rPr>
              <a:t>Specialized workflows separate intelligence, judgment, and control</a:t>
            </a:r>
            <a:endParaRPr/>
          </a:p>
        </p:txBody>
      </p:sp>
      <p:sp>
        <p:nvSpPr>
          <p:cNvPr id="327" name="Google Shape;327;p8"/>
          <p:cNvSpPr/>
          <p:nvPr/>
        </p:nvSpPr>
        <p:spPr>
          <a:xfrm>
            <a:off x="781050" y="1724025"/>
            <a:ext cx="10648950" cy="3619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1275"/>
              <a:buFont typeface="Arial"/>
              <a:buNone/>
            </a:pPr>
            <a:r>
              <a:rPr lang="en-US" sz="1275">
                <a:solidFill>
                  <a:srgbClr val="666B70"/>
                </a:solidFill>
              </a:rPr>
              <a:t>Each workflow receives a bounded contract and produces evidence for the next stage—rather than sharing one unrestricted prompt.</a:t>
            </a:r>
            <a:endParaRPr/>
          </a:p>
        </p:txBody>
      </p:sp>
      <p:sp>
        <p:nvSpPr>
          <p:cNvPr id="328" name="Google Shape;328;p8"/>
          <p:cNvSpPr/>
          <p:nvPr/>
        </p:nvSpPr>
        <p:spPr>
          <a:xfrm>
            <a:off x="781050" y="2324100"/>
            <a:ext cx="1933575" cy="381000"/>
          </a:xfrm>
          <a:prstGeom prst="rect">
            <a:avLst/>
          </a:prstGeom>
          <a:solidFill>
            <a:srgbClr val="B85042"/>
          </a:solidFill>
          <a:ln cap="flat" cmpd="sng" w="9525">
            <a:solidFill>
              <a:srgbClr val="B8504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9" name="Google Shape;329;p8"/>
          <p:cNvSpPr/>
          <p:nvPr/>
        </p:nvSpPr>
        <p:spPr>
          <a:xfrm>
            <a:off x="895350" y="2362200"/>
            <a:ext cx="1704975" cy="3048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FFFFFF"/>
              </a:buClr>
              <a:buSzPts val="863"/>
              <a:buFont typeface="Arial"/>
              <a:buNone/>
            </a:pPr>
            <a:r>
              <a:rPr b="1" lang="en-US" sz="863">
                <a:solidFill>
                  <a:srgbClr val="FFFFFF"/>
                </a:solidFill>
              </a:rPr>
              <a:t>WORKFLOW</a:t>
            </a:r>
            <a:endParaRPr/>
          </a:p>
        </p:txBody>
      </p:sp>
      <p:sp>
        <p:nvSpPr>
          <p:cNvPr id="330" name="Google Shape;330;p8"/>
          <p:cNvSpPr/>
          <p:nvPr/>
        </p:nvSpPr>
        <p:spPr>
          <a:xfrm>
            <a:off x="2905125" y="2324100"/>
            <a:ext cx="2190750" cy="381000"/>
          </a:xfrm>
          <a:prstGeom prst="rect">
            <a:avLst/>
          </a:prstGeom>
          <a:solidFill>
            <a:srgbClr val="1A1A2E"/>
          </a:solidFill>
          <a:ln cap="flat" cmpd="sng" w="9525">
            <a:solidFill>
              <a:srgbClr val="1A1A2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1" name="Google Shape;331;p8"/>
          <p:cNvSpPr/>
          <p:nvPr/>
        </p:nvSpPr>
        <p:spPr>
          <a:xfrm>
            <a:off x="3019425" y="2362200"/>
            <a:ext cx="1962150" cy="3048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FFFFFF"/>
              </a:buClr>
              <a:buSzPts val="863"/>
              <a:buFont typeface="Arial"/>
              <a:buNone/>
            </a:pPr>
            <a:r>
              <a:rPr b="1" lang="en-US" sz="863">
                <a:solidFill>
                  <a:srgbClr val="FFFFFF"/>
                </a:solidFill>
              </a:rPr>
              <a:t>PRIMARY RESPONSIBILITY</a:t>
            </a:r>
            <a:endParaRPr/>
          </a:p>
        </p:txBody>
      </p:sp>
      <p:sp>
        <p:nvSpPr>
          <p:cNvPr id="332" name="Google Shape;332;p8"/>
          <p:cNvSpPr/>
          <p:nvPr/>
        </p:nvSpPr>
        <p:spPr>
          <a:xfrm>
            <a:off x="5286375" y="2324100"/>
            <a:ext cx="2667000" cy="381000"/>
          </a:xfrm>
          <a:prstGeom prst="rect">
            <a:avLst/>
          </a:prstGeom>
          <a:solidFill>
            <a:srgbClr val="1A1A2E"/>
          </a:solidFill>
          <a:ln cap="flat" cmpd="sng" w="9525">
            <a:solidFill>
              <a:srgbClr val="1A1A2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3" name="Google Shape;333;p8"/>
          <p:cNvSpPr/>
          <p:nvPr/>
        </p:nvSpPr>
        <p:spPr>
          <a:xfrm>
            <a:off x="5400675" y="2362200"/>
            <a:ext cx="2438400" cy="3048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FFFFFF"/>
              </a:buClr>
              <a:buSzPts val="863"/>
              <a:buFont typeface="Arial"/>
              <a:buNone/>
            </a:pPr>
            <a:r>
              <a:rPr b="1" lang="en-US" sz="863">
                <a:solidFill>
                  <a:srgbClr val="FFFFFF"/>
                </a:solidFill>
              </a:rPr>
              <a:t>INPUT → OUTPUT CONTRACT</a:t>
            </a:r>
            <a:endParaRPr/>
          </a:p>
        </p:txBody>
      </p:sp>
      <p:sp>
        <p:nvSpPr>
          <p:cNvPr id="334" name="Google Shape;334;p8"/>
          <p:cNvSpPr/>
          <p:nvPr/>
        </p:nvSpPr>
        <p:spPr>
          <a:xfrm>
            <a:off x="8143875" y="2324100"/>
            <a:ext cx="3286125" cy="381000"/>
          </a:xfrm>
          <a:prstGeom prst="rect">
            <a:avLst/>
          </a:prstGeom>
          <a:solidFill>
            <a:srgbClr val="1A1A2E"/>
          </a:solidFill>
          <a:ln cap="flat" cmpd="sng" w="9525">
            <a:solidFill>
              <a:srgbClr val="1A1A2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5" name="Google Shape;335;p8"/>
          <p:cNvSpPr/>
          <p:nvPr/>
        </p:nvSpPr>
        <p:spPr>
          <a:xfrm>
            <a:off x="8258175" y="2362200"/>
            <a:ext cx="3057525" cy="3048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FFFFFF"/>
              </a:buClr>
              <a:buSzPts val="863"/>
              <a:buFont typeface="Arial"/>
              <a:buNone/>
            </a:pPr>
            <a:r>
              <a:rPr b="1" lang="en-US" sz="863">
                <a:solidFill>
                  <a:srgbClr val="FFFFFF"/>
                </a:solidFill>
              </a:rPr>
              <a:t>EXECUTION RATIONALE</a:t>
            </a:r>
            <a:endParaRPr/>
          </a:p>
        </p:txBody>
      </p:sp>
      <p:sp>
        <p:nvSpPr>
          <p:cNvPr id="336" name="Google Shape;336;p8"/>
          <p:cNvSpPr/>
          <p:nvPr/>
        </p:nvSpPr>
        <p:spPr>
          <a:xfrm>
            <a:off x="781050" y="2705100"/>
            <a:ext cx="10648950" cy="400050"/>
          </a:xfrm>
          <a:prstGeom prst="rect">
            <a:avLst/>
          </a:prstGeom>
          <a:solidFill>
            <a:srgbClr val="F0EBE5"/>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7" name="Google Shape;337;p8"/>
          <p:cNvSpPr/>
          <p:nvPr/>
        </p:nvSpPr>
        <p:spPr>
          <a:xfrm>
            <a:off x="781050" y="2705100"/>
            <a:ext cx="47625" cy="400050"/>
          </a:xfrm>
          <a:prstGeom prst="rect">
            <a:avLst/>
          </a:prstGeom>
          <a:solidFill>
            <a:srgbClr val="1A1A2E"/>
          </a:solidFill>
          <a:ln cap="flat" cmpd="sng" w="9525">
            <a:solidFill>
              <a:srgbClr val="1A1A2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8" name="Google Shape;338;p8"/>
          <p:cNvSpPr/>
          <p:nvPr/>
        </p:nvSpPr>
        <p:spPr>
          <a:xfrm>
            <a:off x="885825" y="2743200"/>
            <a:ext cx="1724025" cy="3238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870"/>
              <a:buFont typeface="Arial"/>
              <a:buNone/>
            </a:pPr>
            <a:r>
              <a:rPr b="1" lang="en-US" sz="870">
                <a:solidFill>
                  <a:srgbClr val="1A1A2E"/>
                </a:solidFill>
              </a:rPr>
              <a:t>00  Candidate Parent</a:t>
            </a:r>
            <a:endParaRPr/>
          </a:p>
        </p:txBody>
      </p:sp>
      <p:sp>
        <p:nvSpPr>
          <p:cNvPr id="339" name="Google Shape;339;p8"/>
          <p:cNvSpPr/>
          <p:nvPr/>
        </p:nvSpPr>
        <p:spPr>
          <a:xfrm>
            <a:off x="2905125" y="2705100"/>
            <a:ext cx="9525" cy="400050"/>
          </a:xfrm>
          <a:prstGeom prst="rect">
            <a:avLst/>
          </a:prstGeom>
          <a:solidFill>
            <a:srgbClr val="DED8D0"/>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0" name="Google Shape;340;p8"/>
          <p:cNvSpPr/>
          <p:nvPr/>
        </p:nvSpPr>
        <p:spPr>
          <a:xfrm>
            <a:off x="3009900" y="2743200"/>
            <a:ext cx="1981200" cy="3238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847"/>
              <a:buFont typeface="Arial"/>
              <a:buNone/>
            </a:pPr>
            <a:r>
              <a:rPr b="1" lang="en-US" sz="848">
                <a:solidFill>
                  <a:srgbClr val="1A1A2E"/>
                </a:solidFill>
              </a:rPr>
              <a:t>Create and govern one run</a:t>
            </a:r>
            <a:endParaRPr/>
          </a:p>
        </p:txBody>
      </p:sp>
      <p:sp>
        <p:nvSpPr>
          <p:cNvPr id="341" name="Google Shape;341;p8"/>
          <p:cNvSpPr/>
          <p:nvPr/>
        </p:nvSpPr>
        <p:spPr>
          <a:xfrm>
            <a:off x="5286375" y="2705100"/>
            <a:ext cx="9525" cy="400050"/>
          </a:xfrm>
          <a:prstGeom prst="rect">
            <a:avLst/>
          </a:prstGeom>
          <a:solidFill>
            <a:srgbClr val="DED8D0"/>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2" name="Google Shape;342;p8"/>
          <p:cNvSpPr/>
          <p:nvPr/>
        </p:nvSpPr>
        <p:spPr>
          <a:xfrm>
            <a:off x="5391150" y="2743200"/>
            <a:ext cx="2457450" cy="3238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847"/>
              <a:buFont typeface="Arial"/>
              <a:buNone/>
            </a:pPr>
            <a:r>
              <a:rPr b="0" lang="en-US" sz="848">
                <a:solidFill>
                  <a:srgbClr val="666B70"/>
                </a:solidFill>
              </a:rPr>
              <a:t>Source references → dynamic stage contracts</a:t>
            </a:r>
            <a:endParaRPr/>
          </a:p>
        </p:txBody>
      </p:sp>
      <p:sp>
        <p:nvSpPr>
          <p:cNvPr id="343" name="Google Shape;343;p8"/>
          <p:cNvSpPr/>
          <p:nvPr/>
        </p:nvSpPr>
        <p:spPr>
          <a:xfrm>
            <a:off x="8143875" y="2705100"/>
            <a:ext cx="9525" cy="400050"/>
          </a:xfrm>
          <a:prstGeom prst="rect">
            <a:avLst/>
          </a:prstGeom>
          <a:solidFill>
            <a:srgbClr val="DED8D0"/>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4" name="Google Shape;344;p8"/>
          <p:cNvSpPr/>
          <p:nvPr/>
        </p:nvSpPr>
        <p:spPr>
          <a:xfrm>
            <a:off x="8248650" y="2743200"/>
            <a:ext cx="3076575" cy="3238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847"/>
              <a:buFont typeface="Arial"/>
              <a:buNone/>
            </a:pPr>
            <a:r>
              <a:rPr b="0" lang="en-US" sz="848">
                <a:solidFill>
                  <a:srgbClr val="666B70"/>
                </a:solidFill>
              </a:rPr>
              <a:t>n8n deterministic orchestration; no content generation</a:t>
            </a:r>
            <a:endParaRPr/>
          </a:p>
        </p:txBody>
      </p:sp>
      <p:sp>
        <p:nvSpPr>
          <p:cNvPr id="345" name="Google Shape;345;p8"/>
          <p:cNvSpPr/>
          <p:nvPr/>
        </p:nvSpPr>
        <p:spPr>
          <a:xfrm>
            <a:off x="781050" y="3105150"/>
            <a:ext cx="10648950" cy="400050"/>
          </a:xfrm>
          <a:prstGeom prst="rect">
            <a:avLst/>
          </a:prstGeom>
          <a:solidFill>
            <a:srgbClr val="E8EFF9"/>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6" name="Google Shape;346;p8"/>
          <p:cNvSpPr/>
          <p:nvPr/>
        </p:nvSpPr>
        <p:spPr>
          <a:xfrm>
            <a:off x="781050" y="3105150"/>
            <a:ext cx="47625" cy="400050"/>
          </a:xfrm>
          <a:prstGeom prst="rect">
            <a:avLst/>
          </a:prstGeom>
          <a:solidFill>
            <a:srgbClr val="3B6EBF"/>
          </a:solidFill>
          <a:ln cap="flat" cmpd="sng" w="9525">
            <a:solidFill>
              <a:srgbClr val="3B6EB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7" name="Google Shape;347;p8"/>
          <p:cNvSpPr/>
          <p:nvPr/>
        </p:nvSpPr>
        <p:spPr>
          <a:xfrm>
            <a:off x="885825" y="3143250"/>
            <a:ext cx="1724025" cy="3238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3B6EBF"/>
              </a:buClr>
              <a:buSzPts val="870"/>
              <a:buFont typeface="Arial"/>
              <a:buNone/>
            </a:pPr>
            <a:r>
              <a:rPr b="1" lang="en-US" sz="870">
                <a:solidFill>
                  <a:srgbClr val="3B6EBF"/>
                </a:solidFill>
              </a:rPr>
              <a:t>01  Drive + Clarification</a:t>
            </a:r>
            <a:endParaRPr/>
          </a:p>
        </p:txBody>
      </p:sp>
      <p:sp>
        <p:nvSpPr>
          <p:cNvPr id="348" name="Google Shape;348;p8"/>
          <p:cNvSpPr/>
          <p:nvPr/>
        </p:nvSpPr>
        <p:spPr>
          <a:xfrm>
            <a:off x="2905125" y="3105150"/>
            <a:ext cx="9525" cy="400050"/>
          </a:xfrm>
          <a:prstGeom prst="rect">
            <a:avLst/>
          </a:prstGeom>
          <a:solidFill>
            <a:srgbClr val="DED8D0"/>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9" name="Google Shape;349;p8"/>
          <p:cNvSpPr/>
          <p:nvPr/>
        </p:nvSpPr>
        <p:spPr>
          <a:xfrm>
            <a:off x="3009900" y="3143250"/>
            <a:ext cx="1981200" cy="3238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847"/>
              <a:buFont typeface="Arial"/>
              <a:buNone/>
            </a:pPr>
            <a:r>
              <a:rPr b="1" lang="en-US" sz="848">
                <a:solidFill>
                  <a:srgbClr val="1A1A2E"/>
                </a:solidFill>
              </a:rPr>
              <a:t>Establish evidence boundary</a:t>
            </a:r>
            <a:endParaRPr/>
          </a:p>
        </p:txBody>
      </p:sp>
      <p:sp>
        <p:nvSpPr>
          <p:cNvPr id="350" name="Google Shape;350;p8"/>
          <p:cNvSpPr/>
          <p:nvPr/>
        </p:nvSpPr>
        <p:spPr>
          <a:xfrm>
            <a:off x="5286375" y="3105150"/>
            <a:ext cx="9525" cy="400050"/>
          </a:xfrm>
          <a:prstGeom prst="rect">
            <a:avLst/>
          </a:prstGeom>
          <a:solidFill>
            <a:srgbClr val="DED8D0"/>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1" name="Google Shape;351;p8"/>
          <p:cNvSpPr/>
          <p:nvPr/>
        </p:nvSpPr>
        <p:spPr>
          <a:xfrm>
            <a:off x="5391150" y="3143250"/>
            <a:ext cx="2457450" cy="3238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847"/>
              <a:buFont typeface="Arial"/>
              <a:buNone/>
            </a:pPr>
            <a:r>
              <a:rPr b="0" lang="en-US" sz="848">
                <a:solidFill>
                  <a:srgbClr val="666B70"/>
                </a:solidFill>
              </a:rPr>
              <a:t>Files → normalized, hashed segments</a:t>
            </a:r>
            <a:endParaRPr/>
          </a:p>
        </p:txBody>
      </p:sp>
      <p:sp>
        <p:nvSpPr>
          <p:cNvPr id="352" name="Google Shape;352;p8"/>
          <p:cNvSpPr/>
          <p:nvPr/>
        </p:nvSpPr>
        <p:spPr>
          <a:xfrm>
            <a:off x="8143875" y="3105150"/>
            <a:ext cx="9525" cy="400050"/>
          </a:xfrm>
          <a:prstGeom prst="rect">
            <a:avLst/>
          </a:prstGeom>
          <a:solidFill>
            <a:srgbClr val="DED8D0"/>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3" name="Google Shape;353;p8"/>
          <p:cNvSpPr/>
          <p:nvPr/>
        </p:nvSpPr>
        <p:spPr>
          <a:xfrm>
            <a:off x="8248650" y="3143250"/>
            <a:ext cx="3076575" cy="3238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847"/>
              <a:buFont typeface="Arial"/>
              <a:buNone/>
            </a:pPr>
            <a:r>
              <a:rPr b="0" lang="en-US" sz="848">
                <a:solidFill>
                  <a:srgbClr val="666B70"/>
                </a:solidFill>
              </a:rPr>
              <a:t>Google Drive + n8n checks before interpretation</a:t>
            </a:r>
            <a:endParaRPr/>
          </a:p>
        </p:txBody>
      </p:sp>
      <p:sp>
        <p:nvSpPr>
          <p:cNvPr id="354" name="Google Shape;354;p8"/>
          <p:cNvSpPr/>
          <p:nvPr/>
        </p:nvSpPr>
        <p:spPr>
          <a:xfrm>
            <a:off x="781050" y="3505200"/>
            <a:ext cx="10648950" cy="400050"/>
          </a:xfrm>
          <a:prstGeom prst="rect">
            <a:avLst/>
          </a:prstGeom>
          <a:solidFill>
            <a:srgbClr val="FFFFFF"/>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5" name="Google Shape;355;p8"/>
          <p:cNvSpPr/>
          <p:nvPr/>
        </p:nvSpPr>
        <p:spPr>
          <a:xfrm>
            <a:off x="781050" y="3505200"/>
            <a:ext cx="47625" cy="400050"/>
          </a:xfrm>
          <a:prstGeom prst="rect">
            <a:avLst/>
          </a:prstGeom>
          <a:solidFill>
            <a:srgbClr val="B85042"/>
          </a:solidFill>
          <a:ln cap="flat" cmpd="sng" w="9525">
            <a:solidFill>
              <a:srgbClr val="B8504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6" name="Google Shape;356;p8"/>
          <p:cNvSpPr/>
          <p:nvPr/>
        </p:nvSpPr>
        <p:spPr>
          <a:xfrm>
            <a:off x="885825" y="3543300"/>
            <a:ext cx="1724025" cy="3238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B85042"/>
              </a:buClr>
              <a:buSzPts val="870"/>
              <a:buFont typeface="Arial"/>
              <a:buNone/>
            </a:pPr>
            <a:r>
              <a:rPr b="1" lang="en-US" sz="870">
                <a:solidFill>
                  <a:srgbClr val="B85042"/>
                </a:solidFill>
              </a:rPr>
              <a:t>02  Requirement Extractor</a:t>
            </a:r>
            <a:endParaRPr/>
          </a:p>
        </p:txBody>
      </p:sp>
      <p:sp>
        <p:nvSpPr>
          <p:cNvPr id="357" name="Google Shape;357;p8"/>
          <p:cNvSpPr/>
          <p:nvPr/>
        </p:nvSpPr>
        <p:spPr>
          <a:xfrm>
            <a:off x="2905125" y="3505200"/>
            <a:ext cx="9525" cy="400050"/>
          </a:xfrm>
          <a:prstGeom prst="rect">
            <a:avLst/>
          </a:prstGeom>
          <a:solidFill>
            <a:srgbClr val="DED8D0"/>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8" name="Google Shape;358;p8"/>
          <p:cNvSpPr/>
          <p:nvPr/>
        </p:nvSpPr>
        <p:spPr>
          <a:xfrm>
            <a:off x="3009900" y="3543300"/>
            <a:ext cx="1981200" cy="3238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847"/>
              <a:buFont typeface="Arial"/>
              <a:buNone/>
            </a:pPr>
            <a:r>
              <a:rPr b="1" lang="en-US" sz="848">
                <a:solidFill>
                  <a:srgbClr val="1A1A2E"/>
                </a:solidFill>
              </a:rPr>
              <a:t>Extract structured requirements</a:t>
            </a:r>
            <a:endParaRPr/>
          </a:p>
        </p:txBody>
      </p:sp>
      <p:sp>
        <p:nvSpPr>
          <p:cNvPr id="359" name="Google Shape;359;p8"/>
          <p:cNvSpPr/>
          <p:nvPr/>
        </p:nvSpPr>
        <p:spPr>
          <a:xfrm>
            <a:off x="5286375" y="3505200"/>
            <a:ext cx="9525" cy="400050"/>
          </a:xfrm>
          <a:prstGeom prst="rect">
            <a:avLst/>
          </a:prstGeom>
          <a:solidFill>
            <a:srgbClr val="DED8D0"/>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0" name="Google Shape;360;p8"/>
          <p:cNvSpPr/>
          <p:nvPr/>
        </p:nvSpPr>
        <p:spPr>
          <a:xfrm>
            <a:off x="5391150" y="3543300"/>
            <a:ext cx="2457450" cy="3238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847"/>
              <a:buFont typeface="Arial"/>
              <a:buNone/>
            </a:pPr>
            <a:r>
              <a:rPr b="0" lang="en-US" sz="848">
                <a:solidFill>
                  <a:srgbClr val="666B70"/>
                </a:solidFill>
              </a:rPr>
              <a:t>Segments → citation-linked items</a:t>
            </a:r>
            <a:endParaRPr/>
          </a:p>
        </p:txBody>
      </p:sp>
      <p:sp>
        <p:nvSpPr>
          <p:cNvPr id="361" name="Google Shape;361;p8"/>
          <p:cNvSpPr/>
          <p:nvPr/>
        </p:nvSpPr>
        <p:spPr>
          <a:xfrm>
            <a:off x="8143875" y="3505200"/>
            <a:ext cx="9525" cy="400050"/>
          </a:xfrm>
          <a:prstGeom prst="rect">
            <a:avLst/>
          </a:prstGeom>
          <a:solidFill>
            <a:srgbClr val="DED8D0"/>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2" name="Google Shape;362;p8"/>
          <p:cNvSpPr/>
          <p:nvPr/>
        </p:nvSpPr>
        <p:spPr>
          <a:xfrm>
            <a:off x="8248650" y="3543300"/>
            <a:ext cx="3076575" cy="3238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847"/>
              <a:buFont typeface="Arial"/>
              <a:buNone/>
            </a:pPr>
            <a:r>
              <a:rPr b="0" lang="en-US" sz="848">
                <a:solidFill>
                  <a:srgbClr val="666B70"/>
                </a:solidFill>
              </a:rPr>
              <a:t>GPT-5.6 Terra · grounded semantic extraction</a:t>
            </a:r>
            <a:endParaRPr/>
          </a:p>
        </p:txBody>
      </p:sp>
      <p:sp>
        <p:nvSpPr>
          <p:cNvPr id="363" name="Google Shape;363;p8"/>
          <p:cNvSpPr/>
          <p:nvPr/>
        </p:nvSpPr>
        <p:spPr>
          <a:xfrm>
            <a:off x="781050" y="3905250"/>
            <a:ext cx="10648950" cy="400050"/>
          </a:xfrm>
          <a:prstGeom prst="rect">
            <a:avLst/>
          </a:prstGeom>
          <a:solidFill>
            <a:srgbClr val="FFFFFF"/>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4" name="Google Shape;364;p8"/>
          <p:cNvSpPr/>
          <p:nvPr/>
        </p:nvSpPr>
        <p:spPr>
          <a:xfrm>
            <a:off x="781050" y="3905250"/>
            <a:ext cx="47625" cy="400050"/>
          </a:xfrm>
          <a:prstGeom prst="rect">
            <a:avLst/>
          </a:prstGeom>
          <a:solidFill>
            <a:srgbClr val="B85042"/>
          </a:solidFill>
          <a:ln cap="flat" cmpd="sng" w="9525">
            <a:solidFill>
              <a:srgbClr val="B8504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p8"/>
          <p:cNvSpPr/>
          <p:nvPr/>
        </p:nvSpPr>
        <p:spPr>
          <a:xfrm>
            <a:off x="885825" y="3943350"/>
            <a:ext cx="1724025" cy="3238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B85042"/>
              </a:buClr>
              <a:buSzPts val="870"/>
              <a:buFont typeface="Arial"/>
              <a:buNone/>
            </a:pPr>
            <a:r>
              <a:rPr b="1" lang="en-US" sz="870">
                <a:solidFill>
                  <a:srgbClr val="B85042"/>
                </a:solidFill>
              </a:rPr>
              <a:t>03  Gap Analyzer</a:t>
            </a:r>
            <a:endParaRPr/>
          </a:p>
        </p:txBody>
      </p:sp>
      <p:sp>
        <p:nvSpPr>
          <p:cNvPr id="366" name="Google Shape;366;p8"/>
          <p:cNvSpPr/>
          <p:nvPr/>
        </p:nvSpPr>
        <p:spPr>
          <a:xfrm>
            <a:off x="2905125" y="3905250"/>
            <a:ext cx="9525" cy="400050"/>
          </a:xfrm>
          <a:prstGeom prst="rect">
            <a:avLst/>
          </a:prstGeom>
          <a:solidFill>
            <a:srgbClr val="DED8D0"/>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7" name="Google Shape;367;p8"/>
          <p:cNvSpPr/>
          <p:nvPr/>
        </p:nvSpPr>
        <p:spPr>
          <a:xfrm>
            <a:off x="3009900" y="3943350"/>
            <a:ext cx="1981200" cy="3238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847"/>
              <a:buFont typeface="Arial"/>
              <a:buNone/>
            </a:pPr>
            <a:r>
              <a:rPr b="1" lang="en-US" sz="848">
                <a:solidFill>
                  <a:srgbClr val="1A1A2E"/>
                </a:solidFill>
              </a:rPr>
              <a:t>Expose gaps and conflicts</a:t>
            </a:r>
            <a:endParaRPr/>
          </a:p>
        </p:txBody>
      </p:sp>
      <p:sp>
        <p:nvSpPr>
          <p:cNvPr id="368" name="Google Shape;368;p8"/>
          <p:cNvSpPr/>
          <p:nvPr/>
        </p:nvSpPr>
        <p:spPr>
          <a:xfrm>
            <a:off x="5286375" y="3905250"/>
            <a:ext cx="9525" cy="400050"/>
          </a:xfrm>
          <a:prstGeom prst="rect">
            <a:avLst/>
          </a:prstGeom>
          <a:solidFill>
            <a:srgbClr val="DED8D0"/>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9" name="Google Shape;369;p8"/>
          <p:cNvSpPr/>
          <p:nvPr/>
        </p:nvSpPr>
        <p:spPr>
          <a:xfrm>
            <a:off x="5391150" y="3943350"/>
            <a:ext cx="2457450" cy="3238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847"/>
              <a:buFont typeface="Arial"/>
              <a:buNone/>
            </a:pPr>
            <a:r>
              <a:rPr b="0" lang="en-US" sz="848">
                <a:solidFill>
                  <a:srgbClr val="666B70"/>
                </a:solidFill>
              </a:rPr>
              <a:t>Requirements → gap and clarification register</a:t>
            </a:r>
            <a:endParaRPr/>
          </a:p>
        </p:txBody>
      </p:sp>
      <p:sp>
        <p:nvSpPr>
          <p:cNvPr id="370" name="Google Shape;370;p8"/>
          <p:cNvSpPr/>
          <p:nvPr/>
        </p:nvSpPr>
        <p:spPr>
          <a:xfrm>
            <a:off x="8143875" y="3905250"/>
            <a:ext cx="9525" cy="400050"/>
          </a:xfrm>
          <a:prstGeom prst="rect">
            <a:avLst/>
          </a:prstGeom>
          <a:solidFill>
            <a:srgbClr val="DED8D0"/>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1" name="Google Shape;371;p8"/>
          <p:cNvSpPr/>
          <p:nvPr/>
        </p:nvSpPr>
        <p:spPr>
          <a:xfrm>
            <a:off x="8248650" y="3943350"/>
            <a:ext cx="3076575" cy="3238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847"/>
              <a:buFont typeface="Arial"/>
              <a:buNone/>
            </a:pPr>
            <a:r>
              <a:rPr b="0" lang="en-US" sz="848">
                <a:solidFill>
                  <a:srgbClr val="666B70"/>
                </a:solidFill>
              </a:rPr>
              <a:t>GPT-5.6 Terra · conflict reasoning; uncertainty visible</a:t>
            </a:r>
            <a:endParaRPr/>
          </a:p>
        </p:txBody>
      </p:sp>
      <p:sp>
        <p:nvSpPr>
          <p:cNvPr id="372" name="Google Shape;372;p8"/>
          <p:cNvSpPr/>
          <p:nvPr/>
        </p:nvSpPr>
        <p:spPr>
          <a:xfrm>
            <a:off x="781050" y="4305300"/>
            <a:ext cx="10648950" cy="400050"/>
          </a:xfrm>
          <a:prstGeom prst="rect">
            <a:avLst/>
          </a:prstGeom>
          <a:solidFill>
            <a:srgbClr val="F3E6E2"/>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3" name="Google Shape;373;p8"/>
          <p:cNvSpPr/>
          <p:nvPr/>
        </p:nvSpPr>
        <p:spPr>
          <a:xfrm>
            <a:off x="781050" y="4305300"/>
            <a:ext cx="47625" cy="400050"/>
          </a:xfrm>
          <a:prstGeom prst="rect">
            <a:avLst/>
          </a:prstGeom>
          <a:solidFill>
            <a:srgbClr val="B85042"/>
          </a:solidFill>
          <a:ln cap="flat" cmpd="sng" w="9525">
            <a:solidFill>
              <a:srgbClr val="B8504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4" name="Google Shape;374;p8"/>
          <p:cNvSpPr/>
          <p:nvPr/>
        </p:nvSpPr>
        <p:spPr>
          <a:xfrm>
            <a:off x="885825" y="4343400"/>
            <a:ext cx="1724025" cy="3238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B85042"/>
              </a:buClr>
              <a:buSzPts val="870"/>
              <a:buFont typeface="Arial"/>
              <a:buNone/>
            </a:pPr>
            <a:r>
              <a:rPr b="1" lang="en-US" sz="870">
                <a:solidFill>
                  <a:srgbClr val="B85042"/>
                </a:solidFill>
              </a:rPr>
              <a:t>04  Human Approval</a:t>
            </a:r>
            <a:endParaRPr/>
          </a:p>
        </p:txBody>
      </p:sp>
      <p:sp>
        <p:nvSpPr>
          <p:cNvPr id="375" name="Google Shape;375;p8"/>
          <p:cNvSpPr/>
          <p:nvPr/>
        </p:nvSpPr>
        <p:spPr>
          <a:xfrm>
            <a:off x="2905125" y="4305300"/>
            <a:ext cx="9525" cy="400050"/>
          </a:xfrm>
          <a:prstGeom prst="rect">
            <a:avLst/>
          </a:prstGeom>
          <a:solidFill>
            <a:srgbClr val="DED8D0"/>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 name="Google Shape;376;p8"/>
          <p:cNvSpPr/>
          <p:nvPr/>
        </p:nvSpPr>
        <p:spPr>
          <a:xfrm>
            <a:off x="3009900" y="4343400"/>
            <a:ext cx="1981200" cy="3238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847"/>
              <a:buFont typeface="Arial"/>
              <a:buNone/>
            </a:pPr>
            <a:r>
              <a:rPr b="1" lang="en-US" sz="848">
                <a:solidFill>
                  <a:srgbClr val="1A1A2E"/>
                </a:solidFill>
              </a:rPr>
              <a:t>Authorize scope and decisions</a:t>
            </a:r>
            <a:endParaRPr/>
          </a:p>
        </p:txBody>
      </p:sp>
      <p:sp>
        <p:nvSpPr>
          <p:cNvPr id="377" name="Google Shape;377;p8"/>
          <p:cNvSpPr/>
          <p:nvPr/>
        </p:nvSpPr>
        <p:spPr>
          <a:xfrm>
            <a:off x="5286375" y="4305300"/>
            <a:ext cx="9525" cy="400050"/>
          </a:xfrm>
          <a:prstGeom prst="rect">
            <a:avLst/>
          </a:prstGeom>
          <a:solidFill>
            <a:srgbClr val="DED8D0"/>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8" name="Google Shape;378;p8"/>
          <p:cNvSpPr/>
          <p:nvPr/>
        </p:nvSpPr>
        <p:spPr>
          <a:xfrm>
            <a:off x="5391150" y="4343400"/>
            <a:ext cx="2457450" cy="3238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847"/>
              <a:buFont typeface="Arial"/>
              <a:buNone/>
            </a:pPr>
            <a:r>
              <a:rPr b="0" lang="en-US" sz="848">
                <a:solidFill>
                  <a:srgbClr val="666B70"/>
                </a:solidFill>
              </a:rPr>
              <a:t>Evidence + gaps → signed dispositions</a:t>
            </a:r>
            <a:endParaRPr/>
          </a:p>
        </p:txBody>
      </p:sp>
      <p:sp>
        <p:nvSpPr>
          <p:cNvPr id="379" name="Google Shape;379;p8"/>
          <p:cNvSpPr/>
          <p:nvPr/>
        </p:nvSpPr>
        <p:spPr>
          <a:xfrm>
            <a:off x="8143875" y="4305300"/>
            <a:ext cx="9525" cy="400050"/>
          </a:xfrm>
          <a:prstGeom prst="rect">
            <a:avLst/>
          </a:prstGeom>
          <a:solidFill>
            <a:srgbClr val="DED8D0"/>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0" name="Google Shape;380;p8"/>
          <p:cNvSpPr/>
          <p:nvPr/>
        </p:nvSpPr>
        <p:spPr>
          <a:xfrm>
            <a:off x="8248650" y="4343400"/>
            <a:ext cx="3076575" cy="3238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847"/>
              <a:buFont typeface="Arial"/>
              <a:buNone/>
            </a:pPr>
            <a:r>
              <a:rPr b="0" lang="en-US" sz="848">
                <a:solidFill>
                  <a:srgbClr val="666B70"/>
                </a:solidFill>
              </a:rPr>
              <a:t>Human judgment is the production boundary</a:t>
            </a:r>
            <a:endParaRPr/>
          </a:p>
        </p:txBody>
      </p:sp>
      <p:sp>
        <p:nvSpPr>
          <p:cNvPr id="381" name="Google Shape;381;p8"/>
          <p:cNvSpPr/>
          <p:nvPr/>
        </p:nvSpPr>
        <p:spPr>
          <a:xfrm>
            <a:off x="781050" y="4705350"/>
            <a:ext cx="10648950" cy="400050"/>
          </a:xfrm>
          <a:prstGeom prst="rect">
            <a:avLst/>
          </a:prstGeom>
          <a:solidFill>
            <a:srgbClr val="FFFFFF"/>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2" name="Google Shape;382;p8"/>
          <p:cNvSpPr/>
          <p:nvPr/>
        </p:nvSpPr>
        <p:spPr>
          <a:xfrm>
            <a:off x="781050" y="4705350"/>
            <a:ext cx="47625" cy="400050"/>
          </a:xfrm>
          <a:prstGeom prst="rect">
            <a:avLst/>
          </a:prstGeom>
          <a:solidFill>
            <a:srgbClr val="B85042"/>
          </a:solidFill>
          <a:ln cap="flat" cmpd="sng" w="9525">
            <a:solidFill>
              <a:srgbClr val="B8504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3" name="Google Shape;383;p8"/>
          <p:cNvSpPr/>
          <p:nvPr/>
        </p:nvSpPr>
        <p:spPr>
          <a:xfrm>
            <a:off x="885825" y="4743450"/>
            <a:ext cx="1724025" cy="3238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B85042"/>
              </a:buClr>
              <a:buSzPts val="870"/>
              <a:buFont typeface="Arial"/>
              <a:buNone/>
            </a:pPr>
            <a:r>
              <a:rPr b="1" lang="en-US" sz="870">
                <a:solidFill>
                  <a:srgbClr val="B85042"/>
                </a:solidFill>
              </a:rPr>
              <a:t>05  Production PRD</a:t>
            </a:r>
            <a:endParaRPr/>
          </a:p>
        </p:txBody>
      </p:sp>
      <p:sp>
        <p:nvSpPr>
          <p:cNvPr id="384" name="Google Shape;384;p8"/>
          <p:cNvSpPr/>
          <p:nvPr/>
        </p:nvSpPr>
        <p:spPr>
          <a:xfrm>
            <a:off x="2905125" y="4705350"/>
            <a:ext cx="9525" cy="400050"/>
          </a:xfrm>
          <a:prstGeom prst="rect">
            <a:avLst/>
          </a:prstGeom>
          <a:solidFill>
            <a:srgbClr val="DED8D0"/>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5" name="Google Shape;385;p8"/>
          <p:cNvSpPr/>
          <p:nvPr/>
        </p:nvSpPr>
        <p:spPr>
          <a:xfrm>
            <a:off x="3009900" y="4743450"/>
            <a:ext cx="1981200" cy="3238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847"/>
              <a:buFont typeface="Arial"/>
              <a:buNone/>
            </a:pPr>
            <a:r>
              <a:rPr b="1" lang="en-US" sz="848">
                <a:solidFill>
                  <a:srgbClr val="1A1A2E"/>
                </a:solidFill>
              </a:rPr>
              <a:t>Generate corrected PRD</a:t>
            </a:r>
            <a:endParaRPr/>
          </a:p>
        </p:txBody>
      </p:sp>
      <p:sp>
        <p:nvSpPr>
          <p:cNvPr id="386" name="Google Shape;386;p8"/>
          <p:cNvSpPr/>
          <p:nvPr/>
        </p:nvSpPr>
        <p:spPr>
          <a:xfrm>
            <a:off x="5286375" y="4705350"/>
            <a:ext cx="9525" cy="400050"/>
          </a:xfrm>
          <a:prstGeom prst="rect">
            <a:avLst/>
          </a:prstGeom>
          <a:solidFill>
            <a:srgbClr val="DED8D0"/>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7" name="Google Shape;387;p8"/>
          <p:cNvSpPr/>
          <p:nvPr/>
        </p:nvSpPr>
        <p:spPr>
          <a:xfrm>
            <a:off x="5391150" y="4743450"/>
            <a:ext cx="2457450" cy="3238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847"/>
              <a:buFont typeface="Arial"/>
              <a:buNone/>
            </a:pPr>
            <a:r>
              <a:rPr b="0" lang="en-US" sz="848">
                <a:solidFill>
                  <a:srgbClr val="666B70"/>
                </a:solidFill>
              </a:rPr>
              <a:t>Approved evidence → ten-section Markdown PRD</a:t>
            </a:r>
            <a:endParaRPr/>
          </a:p>
        </p:txBody>
      </p:sp>
      <p:sp>
        <p:nvSpPr>
          <p:cNvPr id="388" name="Google Shape;388;p8"/>
          <p:cNvSpPr/>
          <p:nvPr/>
        </p:nvSpPr>
        <p:spPr>
          <a:xfrm>
            <a:off x="8143875" y="4705350"/>
            <a:ext cx="9525" cy="400050"/>
          </a:xfrm>
          <a:prstGeom prst="rect">
            <a:avLst/>
          </a:prstGeom>
          <a:solidFill>
            <a:srgbClr val="DED8D0"/>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9" name="Google Shape;389;p8"/>
          <p:cNvSpPr/>
          <p:nvPr/>
        </p:nvSpPr>
        <p:spPr>
          <a:xfrm>
            <a:off x="8248650" y="4743450"/>
            <a:ext cx="3076575" cy="3238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847"/>
              <a:buFont typeface="Arial"/>
              <a:buNone/>
            </a:pPr>
            <a:r>
              <a:rPr b="0" lang="en-US" sz="848">
                <a:solidFill>
                  <a:srgbClr val="666B70"/>
                </a:solidFill>
              </a:rPr>
              <a:t>GPT-5.6 Terra · grounded PRD generation</a:t>
            </a:r>
            <a:endParaRPr/>
          </a:p>
        </p:txBody>
      </p:sp>
      <p:sp>
        <p:nvSpPr>
          <p:cNvPr id="390" name="Google Shape;390;p8"/>
          <p:cNvSpPr/>
          <p:nvPr/>
        </p:nvSpPr>
        <p:spPr>
          <a:xfrm>
            <a:off x="781050" y="5105400"/>
            <a:ext cx="10648950" cy="400050"/>
          </a:xfrm>
          <a:prstGeom prst="rect">
            <a:avLst/>
          </a:prstGeom>
          <a:solidFill>
            <a:srgbClr val="FFFFFF"/>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1" name="Google Shape;391;p8"/>
          <p:cNvSpPr/>
          <p:nvPr/>
        </p:nvSpPr>
        <p:spPr>
          <a:xfrm>
            <a:off x="781050" y="5105400"/>
            <a:ext cx="47625" cy="400050"/>
          </a:xfrm>
          <a:prstGeom prst="rect">
            <a:avLst/>
          </a:prstGeom>
          <a:solidFill>
            <a:srgbClr val="B85042"/>
          </a:solidFill>
          <a:ln cap="flat" cmpd="sng" w="9525">
            <a:solidFill>
              <a:srgbClr val="B8504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2" name="Google Shape;392;p8"/>
          <p:cNvSpPr/>
          <p:nvPr/>
        </p:nvSpPr>
        <p:spPr>
          <a:xfrm>
            <a:off x="885825" y="5143500"/>
            <a:ext cx="1724025" cy="3238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B85042"/>
              </a:buClr>
              <a:buSzPts val="870"/>
              <a:buFont typeface="Arial"/>
              <a:buNone/>
            </a:pPr>
            <a:r>
              <a:rPr b="1" lang="en-US" sz="870">
                <a:solidFill>
                  <a:srgbClr val="B85042"/>
                </a:solidFill>
              </a:rPr>
              <a:t>06  Story Breakdown</a:t>
            </a:r>
            <a:endParaRPr/>
          </a:p>
        </p:txBody>
      </p:sp>
      <p:sp>
        <p:nvSpPr>
          <p:cNvPr id="393" name="Google Shape;393;p8"/>
          <p:cNvSpPr/>
          <p:nvPr/>
        </p:nvSpPr>
        <p:spPr>
          <a:xfrm>
            <a:off x="2905125" y="5105400"/>
            <a:ext cx="9525" cy="400050"/>
          </a:xfrm>
          <a:prstGeom prst="rect">
            <a:avLst/>
          </a:prstGeom>
          <a:solidFill>
            <a:srgbClr val="DED8D0"/>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4" name="Google Shape;394;p8"/>
          <p:cNvSpPr/>
          <p:nvPr/>
        </p:nvSpPr>
        <p:spPr>
          <a:xfrm>
            <a:off x="3009900" y="5143500"/>
            <a:ext cx="1981200" cy="3238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847"/>
              <a:buFont typeface="Arial"/>
              <a:buNone/>
            </a:pPr>
            <a:r>
              <a:rPr b="1" lang="en-US" sz="848">
                <a:solidFill>
                  <a:srgbClr val="1A1A2E"/>
                </a:solidFill>
              </a:rPr>
              <a:t>Create delivery hierarchy</a:t>
            </a:r>
            <a:endParaRPr/>
          </a:p>
        </p:txBody>
      </p:sp>
      <p:sp>
        <p:nvSpPr>
          <p:cNvPr id="395" name="Google Shape;395;p8"/>
          <p:cNvSpPr/>
          <p:nvPr/>
        </p:nvSpPr>
        <p:spPr>
          <a:xfrm>
            <a:off x="5286375" y="5105400"/>
            <a:ext cx="9525" cy="400050"/>
          </a:xfrm>
          <a:prstGeom prst="rect">
            <a:avLst/>
          </a:prstGeom>
          <a:solidFill>
            <a:srgbClr val="DED8D0"/>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6" name="Google Shape;396;p8"/>
          <p:cNvSpPr/>
          <p:nvPr/>
        </p:nvSpPr>
        <p:spPr>
          <a:xfrm>
            <a:off x="5391150" y="5143500"/>
            <a:ext cx="2457450" cy="3238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847"/>
              <a:buFont typeface="Arial"/>
              <a:buNone/>
            </a:pPr>
            <a:r>
              <a:rPr b="0" lang="en-US" sz="848">
                <a:solidFill>
                  <a:srgbClr val="666B70"/>
                </a:solidFill>
              </a:rPr>
              <a:t>PRD → 3 Epics / 7 Features / 11 Stories + AC</a:t>
            </a:r>
            <a:endParaRPr/>
          </a:p>
        </p:txBody>
      </p:sp>
      <p:sp>
        <p:nvSpPr>
          <p:cNvPr id="397" name="Google Shape;397;p8"/>
          <p:cNvSpPr/>
          <p:nvPr/>
        </p:nvSpPr>
        <p:spPr>
          <a:xfrm>
            <a:off x="8143875" y="5105400"/>
            <a:ext cx="9525" cy="400050"/>
          </a:xfrm>
          <a:prstGeom prst="rect">
            <a:avLst/>
          </a:prstGeom>
          <a:solidFill>
            <a:srgbClr val="DED8D0"/>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8" name="Google Shape;398;p8"/>
          <p:cNvSpPr/>
          <p:nvPr/>
        </p:nvSpPr>
        <p:spPr>
          <a:xfrm>
            <a:off x="8248650" y="5143500"/>
            <a:ext cx="3076575" cy="3238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847"/>
              <a:buFont typeface="Arial"/>
              <a:buNone/>
            </a:pPr>
            <a:r>
              <a:rPr b="0" lang="en-US" sz="848">
                <a:solidFill>
                  <a:srgbClr val="666B70"/>
                </a:solidFill>
              </a:rPr>
              <a:t>GPT-5.6 Terra · hierarchy and stable-ID reasoning</a:t>
            </a:r>
            <a:endParaRPr/>
          </a:p>
        </p:txBody>
      </p:sp>
      <p:sp>
        <p:nvSpPr>
          <p:cNvPr id="399" name="Google Shape;399;p8"/>
          <p:cNvSpPr/>
          <p:nvPr/>
        </p:nvSpPr>
        <p:spPr>
          <a:xfrm>
            <a:off x="781050" y="5505450"/>
            <a:ext cx="10648950" cy="400050"/>
          </a:xfrm>
          <a:prstGeom prst="rect">
            <a:avLst/>
          </a:prstGeom>
          <a:solidFill>
            <a:srgbClr val="F0EBE5"/>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0" name="Google Shape;400;p8"/>
          <p:cNvSpPr/>
          <p:nvPr/>
        </p:nvSpPr>
        <p:spPr>
          <a:xfrm>
            <a:off x="781050" y="5505450"/>
            <a:ext cx="47625" cy="400050"/>
          </a:xfrm>
          <a:prstGeom prst="rect">
            <a:avLst/>
          </a:prstGeom>
          <a:solidFill>
            <a:srgbClr val="1A1A2E"/>
          </a:solidFill>
          <a:ln cap="flat" cmpd="sng" w="9525">
            <a:solidFill>
              <a:srgbClr val="1A1A2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1" name="Google Shape;401;p8"/>
          <p:cNvSpPr/>
          <p:nvPr/>
        </p:nvSpPr>
        <p:spPr>
          <a:xfrm>
            <a:off x="885825" y="5543550"/>
            <a:ext cx="1724025" cy="3238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870"/>
              <a:buFont typeface="Arial"/>
              <a:buNone/>
            </a:pPr>
            <a:r>
              <a:rPr b="1" lang="en-US" sz="870">
                <a:solidFill>
                  <a:srgbClr val="1A1A2E"/>
                </a:solidFill>
              </a:rPr>
              <a:t>07  Validator + Export</a:t>
            </a:r>
            <a:endParaRPr/>
          </a:p>
        </p:txBody>
      </p:sp>
      <p:sp>
        <p:nvSpPr>
          <p:cNvPr id="402" name="Google Shape;402;p8"/>
          <p:cNvSpPr/>
          <p:nvPr/>
        </p:nvSpPr>
        <p:spPr>
          <a:xfrm>
            <a:off x="2905125" y="5505450"/>
            <a:ext cx="9525" cy="400050"/>
          </a:xfrm>
          <a:prstGeom prst="rect">
            <a:avLst/>
          </a:prstGeom>
          <a:solidFill>
            <a:srgbClr val="DED8D0"/>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3" name="Google Shape;403;p8"/>
          <p:cNvSpPr/>
          <p:nvPr/>
        </p:nvSpPr>
        <p:spPr>
          <a:xfrm>
            <a:off x="3009900" y="5543550"/>
            <a:ext cx="1981200" cy="3238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847"/>
              <a:buFont typeface="Arial"/>
              <a:buNone/>
            </a:pPr>
            <a:r>
              <a:rPr b="1" lang="en-US" sz="848">
                <a:solidFill>
                  <a:srgbClr val="1A1A2E"/>
                </a:solidFill>
              </a:rPr>
              <a:t>Reconcile and release</a:t>
            </a:r>
            <a:endParaRPr/>
          </a:p>
        </p:txBody>
      </p:sp>
      <p:sp>
        <p:nvSpPr>
          <p:cNvPr id="404" name="Google Shape;404;p8"/>
          <p:cNvSpPr/>
          <p:nvPr/>
        </p:nvSpPr>
        <p:spPr>
          <a:xfrm>
            <a:off x="5286375" y="5505450"/>
            <a:ext cx="9525" cy="400050"/>
          </a:xfrm>
          <a:prstGeom prst="rect">
            <a:avLst/>
          </a:prstGeom>
          <a:solidFill>
            <a:srgbClr val="DED8D0"/>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5" name="Google Shape;405;p8"/>
          <p:cNvSpPr/>
          <p:nvPr/>
        </p:nvSpPr>
        <p:spPr>
          <a:xfrm>
            <a:off x="5391150" y="5543550"/>
            <a:ext cx="2457450" cy="3238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847"/>
              <a:buFont typeface="Arial"/>
              <a:buNone/>
            </a:pPr>
            <a:r>
              <a:rPr b="0" lang="en-US" sz="848">
                <a:solidFill>
                  <a:srgbClr val="666B70"/>
                </a:solidFill>
              </a:rPr>
              <a:t>Artifacts → authorized delivery files</a:t>
            </a:r>
            <a:endParaRPr/>
          </a:p>
        </p:txBody>
      </p:sp>
      <p:sp>
        <p:nvSpPr>
          <p:cNvPr id="406" name="Google Shape;406;p8"/>
          <p:cNvSpPr/>
          <p:nvPr/>
        </p:nvSpPr>
        <p:spPr>
          <a:xfrm>
            <a:off x="8143875" y="5505450"/>
            <a:ext cx="9525" cy="400050"/>
          </a:xfrm>
          <a:prstGeom prst="rect">
            <a:avLst/>
          </a:prstGeom>
          <a:solidFill>
            <a:srgbClr val="DED8D0"/>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7" name="Google Shape;407;p8"/>
          <p:cNvSpPr/>
          <p:nvPr/>
        </p:nvSpPr>
        <p:spPr>
          <a:xfrm>
            <a:off x="8248650" y="5543550"/>
            <a:ext cx="3076575" cy="3238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847"/>
              <a:buFont typeface="Arial"/>
              <a:buNone/>
            </a:pPr>
            <a:r>
              <a:rPr b="0" lang="en-US" sz="848">
                <a:solidFill>
                  <a:srgbClr val="666B70"/>
                </a:solidFill>
              </a:rPr>
              <a:t>Code controls + Agreement Gate + fail-closed export</a:t>
            </a:r>
            <a:endParaRPr/>
          </a:p>
        </p:txBody>
      </p:sp>
      <p:sp>
        <p:nvSpPr>
          <p:cNvPr id="408" name="Google Shape;408;p8"/>
          <p:cNvSpPr/>
          <p:nvPr/>
        </p:nvSpPr>
        <p:spPr>
          <a:xfrm>
            <a:off x="781050" y="5905500"/>
            <a:ext cx="10648950" cy="400050"/>
          </a:xfrm>
          <a:prstGeom prst="rect">
            <a:avLst/>
          </a:prstGeom>
          <a:solidFill>
            <a:srgbClr val="E6F0EB"/>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9" name="Google Shape;409;p8"/>
          <p:cNvSpPr/>
          <p:nvPr/>
        </p:nvSpPr>
        <p:spPr>
          <a:xfrm>
            <a:off x="781050" y="5905500"/>
            <a:ext cx="47625" cy="400050"/>
          </a:xfrm>
          <a:prstGeom prst="rect">
            <a:avLst/>
          </a:prstGeom>
          <a:solidFill>
            <a:srgbClr val="2F6F57"/>
          </a:solidFill>
          <a:ln cap="flat" cmpd="sng" w="9525">
            <a:solidFill>
              <a:srgbClr val="2F6F5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0" name="Google Shape;410;p8"/>
          <p:cNvSpPr/>
          <p:nvPr/>
        </p:nvSpPr>
        <p:spPr>
          <a:xfrm>
            <a:off x="885825" y="5943600"/>
            <a:ext cx="1724025" cy="3238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F6F57"/>
              </a:buClr>
              <a:buSzPts val="870"/>
              <a:buFont typeface="Arial"/>
              <a:buNone/>
            </a:pPr>
            <a:r>
              <a:rPr b="1" lang="en-US" sz="870">
                <a:solidFill>
                  <a:srgbClr val="2F6F57"/>
                </a:solidFill>
              </a:rPr>
              <a:t>POST  T-shirt Sizing</a:t>
            </a:r>
            <a:endParaRPr/>
          </a:p>
        </p:txBody>
      </p:sp>
      <p:sp>
        <p:nvSpPr>
          <p:cNvPr id="411" name="Google Shape;411;p8"/>
          <p:cNvSpPr/>
          <p:nvPr/>
        </p:nvSpPr>
        <p:spPr>
          <a:xfrm>
            <a:off x="2905125" y="5905500"/>
            <a:ext cx="9525" cy="400050"/>
          </a:xfrm>
          <a:prstGeom prst="rect">
            <a:avLst/>
          </a:prstGeom>
          <a:solidFill>
            <a:srgbClr val="DED8D0"/>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2" name="Google Shape;412;p8"/>
          <p:cNvSpPr/>
          <p:nvPr/>
        </p:nvSpPr>
        <p:spPr>
          <a:xfrm>
            <a:off x="3009900" y="5943600"/>
            <a:ext cx="1981200" cy="3238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847"/>
              <a:buFont typeface="Arial"/>
              <a:buNone/>
            </a:pPr>
            <a:r>
              <a:rPr b="1" lang="en-US" sz="848">
                <a:solidFill>
                  <a:srgbClr val="1A1A2E"/>
                </a:solidFill>
              </a:rPr>
              <a:t>Provide advisory effort</a:t>
            </a:r>
            <a:endParaRPr/>
          </a:p>
        </p:txBody>
      </p:sp>
      <p:sp>
        <p:nvSpPr>
          <p:cNvPr id="413" name="Google Shape;413;p8"/>
          <p:cNvSpPr/>
          <p:nvPr/>
        </p:nvSpPr>
        <p:spPr>
          <a:xfrm>
            <a:off x="5286375" y="5905500"/>
            <a:ext cx="9525" cy="400050"/>
          </a:xfrm>
          <a:prstGeom prst="rect">
            <a:avLst/>
          </a:prstGeom>
          <a:solidFill>
            <a:srgbClr val="DED8D0"/>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4" name="Google Shape;414;p8"/>
          <p:cNvSpPr/>
          <p:nvPr/>
        </p:nvSpPr>
        <p:spPr>
          <a:xfrm>
            <a:off x="5391150" y="5943600"/>
            <a:ext cx="2457450" cy="3238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847"/>
              <a:buFont typeface="Arial"/>
              <a:buNone/>
            </a:pPr>
            <a:r>
              <a:rPr b="0" lang="en-US" sz="848">
                <a:solidFill>
                  <a:srgbClr val="666B70"/>
                </a:solidFill>
              </a:rPr>
              <a:t>Stories → size, confidence, refinement guidance</a:t>
            </a:r>
            <a:endParaRPr/>
          </a:p>
        </p:txBody>
      </p:sp>
      <p:sp>
        <p:nvSpPr>
          <p:cNvPr id="415" name="Google Shape;415;p8"/>
          <p:cNvSpPr/>
          <p:nvPr/>
        </p:nvSpPr>
        <p:spPr>
          <a:xfrm>
            <a:off x="8143875" y="5905500"/>
            <a:ext cx="9525" cy="400050"/>
          </a:xfrm>
          <a:prstGeom prst="rect">
            <a:avLst/>
          </a:prstGeom>
          <a:solidFill>
            <a:srgbClr val="DED8D0"/>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6" name="Google Shape;416;p8"/>
          <p:cNvSpPr/>
          <p:nvPr/>
        </p:nvSpPr>
        <p:spPr>
          <a:xfrm>
            <a:off x="8248650" y="5943600"/>
            <a:ext cx="3076575" cy="3238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847"/>
              <a:buFont typeface="Arial"/>
              <a:buNone/>
            </a:pPr>
            <a:r>
              <a:rPr b="0" lang="en-US" sz="848">
                <a:solidFill>
                  <a:srgbClr val="666B70"/>
                </a:solidFill>
              </a:rPr>
              <a:t>GPT-5.6 Terra · advisory sizing; non-blocking</a:t>
            </a:r>
            <a:endParaRPr/>
          </a:p>
        </p:txBody>
      </p:sp>
      <p:sp>
        <p:nvSpPr>
          <p:cNvPr id="417" name="Google Shape;417;p8"/>
          <p:cNvSpPr/>
          <p:nvPr/>
        </p:nvSpPr>
        <p:spPr>
          <a:xfrm>
            <a:off x="0" y="6496050"/>
            <a:ext cx="12192000" cy="361950"/>
          </a:xfrm>
          <a:prstGeom prst="rect">
            <a:avLst/>
          </a:prstGeom>
          <a:solidFill>
            <a:srgbClr val="1A1A2E"/>
          </a:solidFill>
          <a:ln cap="flat" cmpd="sng" w="9525">
            <a:solidFill>
              <a:srgbClr val="1A1A2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8" name="Google Shape;418;p8"/>
          <p:cNvSpPr/>
          <p:nvPr/>
        </p:nvSpPr>
        <p:spPr>
          <a:xfrm>
            <a:off x="781050" y="6496050"/>
            <a:ext cx="10648950" cy="3619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FFFFFF"/>
              </a:buClr>
              <a:buSzPts val="1200"/>
              <a:buFont typeface="Arial"/>
              <a:buNone/>
            </a:pPr>
            <a:r>
              <a:rPr b="1" lang="en-US" sz="1200">
                <a:solidFill>
                  <a:srgbClr val="FFFFFF"/>
                </a:solidFill>
              </a:rPr>
              <a:t>GPT-5.6 Terra reasons · n8n coordinates · code validates · humans authorize</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4EE"/>
        </a:solidFill>
      </p:bgPr>
    </p:bg>
    <p:spTree>
      <p:nvGrpSpPr>
        <p:cNvPr id="423" name="Shape 423"/>
        <p:cNvGrpSpPr/>
        <p:nvPr/>
      </p:nvGrpSpPr>
      <p:grpSpPr>
        <a:xfrm>
          <a:off x="0" y="0"/>
          <a:ext cx="0" cy="0"/>
          <a:chOff x="0" y="0"/>
          <a:chExt cx="0" cy="0"/>
        </a:xfrm>
      </p:grpSpPr>
      <p:sp>
        <p:nvSpPr>
          <p:cNvPr id="424" name="Google Shape;424;p9"/>
          <p:cNvSpPr/>
          <p:nvPr/>
        </p:nvSpPr>
        <p:spPr>
          <a:xfrm>
            <a:off x="0" y="0"/>
            <a:ext cx="12192000" cy="76200"/>
          </a:xfrm>
          <a:prstGeom prst="rect">
            <a:avLst/>
          </a:prstGeom>
          <a:solidFill>
            <a:srgbClr val="B85042"/>
          </a:solidFill>
          <a:ln cap="flat" cmpd="sng" w="9525">
            <a:solidFill>
              <a:srgbClr val="B8504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5" name="Google Shape;425;p9"/>
          <p:cNvSpPr/>
          <p:nvPr/>
        </p:nvSpPr>
        <p:spPr>
          <a:xfrm>
            <a:off x="514350" y="742950"/>
            <a:ext cx="66675" cy="866775"/>
          </a:xfrm>
          <a:prstGeom prst="rect">
            <a:avLst/>
          </a:prstGeom>
          <a:solidFill>
            <a:srgbClr val="B85042"/>
          </a:solidFill>
          <a:ln cap="flat" cmpd="sng" w="9525">
            <a:solidFill>
              <a:srgbClr val="B8504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6" name="Google Shape;426;p9"/>
          <p:cNvSpPr/>
          <p:nvPr/>
        </p:nvSpPr>
        <p:spPr>
          <a:xfrm>
            <a:off x="781050" y="552450"/>
            <a:ext cx="5905500" cy="2667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B85042"/>
              </a:buClr>
              <a:buSzPts val="975"/>
              <a:buFont typeface="Arial"/>
              <a:buNone/>
            </a:pPr>
            <a:r>
              <a:rPr b="1" lang="en-US" sz="975">
                <a:solidFill>
                  <a:srgbClr val="B85042"/>
                </a:solidFill>
              </a:rPr>
              <a:t>09  ·  GROUNDING &amp; HUMAN CONTROL</a:t>
            </a:r>
            <a:endParaRPr/>
          </a:p>
        </p:txBody>
      </p:sp>
      <p:sp>
        <p:nvSpPr>
          <p:cNvPr id="427" name="Google Shape;427;p9"/>
          <p:cNvSpPr/>
          <p:nvPr/>
        </p:nvSpPr>
        <p:spPr>
          <a:xfrm>
            <a:off x="781050" y="885825"/>
            <a:ext cx="10648950" cy="80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2550"/>
              <a:buFont typeface="Arial"/>
              <a:buNone/>
            </a:pPr>
            <a:r>
              <a:rPr b="1" lang="en-US" sz="2550">
                <a:solidFill>
                  <a:srgbClr val="1A1A2E"/>
                </a:solidFill>
              </a:rPr>
              <a:t>Grounding and human approval prevent unsupported requirements</a:t>
            </a:r>
            <a:endParaRPr/>
          </a:p>
        </p:txBody>
      </p:sp>
      <p:sp>
        <p:nvSpPr>
          <p:cNvPr id="428" name="Google Shape;428;p9"/>
          <p:cNvSpPr/>
          <p:nvPr/>
        </p:nvSpPr>
        <p:spPr>
          <a:xfrm>
            <a:off x="781050" y="1724025"/>
            <a:ext cx="10648950" cy="3619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1275"/>
              <a:buFont typeface="Arial"/>
              <a:buNone/>
            </a:pPr>
            <a:r>
              <a:rPr lang="en-US" sz="1275">
                <a:solidFill>
                  <a:srgbClr val="666B70"/>
                </a:solidFill>
              </a:rPr>
              <a:t>Every generated element must carry evidence lineage, approved intent, and a reconciled delivery identity before export.</a:t>
            </a:r>
            <a:endParaRPr/>
          </a:p>
        </p:txBody>
      </p:sp>
      <p:sp>
        <p:nvSpPr>
          <p:cNvPr id="429" name="Google Shape;429;p9"/>
          <p:cNvSpPr/>
          <p:nvPr/>
        </p:nvSpPr>
        <p:spPr>
          <a:xfrm>
            <a:off x="781050" y="2305050"/>
            <a:ext cx="3429000" cy="2286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B85042"/>
              </a:buClr>
              <a:buSzPts val="900"/>
              <a:buFont typeface="Arial"/>
              <a:buNone/>
            </a:pPr>
            <a:r>
              <a:rPr b="1" lang="en-US" sz="900">
                <a:solidFill>
                  <a:srgbClr val="B85042"/>
                </a:solidFill>
              </a:rPr>
              <a:t>FAIL-CLOSED ASSURANCE PATH</a:t>
            </a:r>
            <a:endParaRPr/>
          </a:p>
        </p:txBody>
      </p:sp>
      <p:sp>
        <p:nvSpPr>
          <p:cNvPr id="430" name="Google Shape;430;p9"/>
          <p:cNvSpPr/>
          <p:nvPr/>
        </p:nvSpPr>
        <p:spPr>
          <a:xfrm>
            <a:off x="781050" y="2724150"/>
            <a:ext cx="1562100" cy="1390650"/>
          </a:xfrm>
          <a:prstGeom prst="roundRect">
            <a:avLst>
              <a:gd fmla="val 5479" name="adj"/>
            </a:avLst>
          </a:prstGeom>
          <a:solidFill>
            <a:srgbClr val="E8EFF9"/>
          </a:solidFill>
          <a:ln cap="flat" cmpd="sng" w="9525">
            <a:solidFill>
              <a:srgbClr val="3B6EB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1" name="Google Shape;431;p9"/>
          <p:cNvSpPr/>
          <p:nvPr/>
        </p:nvSpPr>
        <p:spPr>
          <a:xfrm>
            <a:off x="914400" y="2847975"/>
            <a:ext cx="1295400" cy="190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3B6EBF"/>
              </a:buClr>
              <a:buSzPts val="825"/>
              <a:buFont typeface="Arial"/>
              <a:buNone/>
            </a:pPr>
            <a:r>
              <a:rPr b="1" lang="en-US" sz="825">
                <a:solidFill>
                  <a:srgbClr val="3B6EBF"/>
                </a:solidFill>
              </a:rPr>
              <a:t>01</a:t>
            </a:r>
            <a:endParaRPr/>
          </a:p>
        </p:txBody>
      </p:sp>
      <p:sp>
        <p:nvSpPr>
          <p:cNvPr id="432" name="Google Shape;432;p9"/>
          <p:cNvSpPr/>
          <p:nvPr/>
        </p:nvSpPr>
        <p:spPr>
          <a:xfrm>
            <a:off x="914400" y="3105150"/>
            <a:ext cx="1295400" cy="4572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1163"/>
              <a:buFont typeface="Arial"/>
              <a:buNone/>
            </a:pPr>
            <a:r>
              <a:rPr b="1" lang="en-US" sz="1163">
                <a:solidFill>
                  <a:srgbClr val="1A1A2E"/>
                </a:solidFill>
              </a:rPr>
              <a:t>Authoritative</a:t>
            </a:r>
            <a:endParaRPr/>
          </a:p>
          <a:p>
            <a:pPr indent="0" lvl="0" marL="0" marR="0" rtl="0" algn="l">
              <a:spcBef>
                <a:spcPts val="0"/>
              </a:spcBef>
              <a:spcAft>
                <a:spcPts val="0"/>
              </a:spcAft>
              <a:buClr>
                <a:srgbClr val="1A1A2E"/>
              </a:buClr>
              <a:buSzPts val="1163"/>
              <a:buFont typeface="Arial"/>
              <a:buNone/>
            </a:pPr>
            <a:r>
              <a:rPr b="1" lang="en-US" sz="1163">
                <a:solidFill>
                  <a:srgbClr val="1A1A2E"/>
                </a:solidFill>
              </a:rPr>
              <a:t>source</a:t>
            </a:r>
            <a:endParaRPr/>
          </a:p>
        </p:txBody>
      </p:sp>
      <p:sp>
        <p:nvSpPr>
          <p:cNvPr id="433" name="Google Shape;433;p9"/>
          <p:cNvSpPr/>
          <p:nvPr/>
        </p:nvSpPr>
        <p:spPr>
          <a:xfrm>
            <a:off x="914400" y="3638550"/>
            <a:ext cx="1295400" cy="3238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863"/>
              <a:buFont typeface="Arial"/>
              <a:buNone/>
            </a:pPr>
            <a:r>
              <a:rPr lang="en-US" sz="863">
                <a:solidFill>
                  <a:srgbClr val="666B70"/>
                </a:solidFill>
              </a:rPr>
              <a:t>Drive ID · hash · exact text</a:t>
            </a:r>
            <a:endParaRPr/>
          </a:p>
        </p:txBody>
      </p:sp>
      <p:sp>
        <p:nvSpPr>
          <p:cNvPr id="434" name="Google Shape;434;p9"/>
          <p:cNvSpPr/>
          <p:nvPr/>
        </p:nvSpPr>
        <p:spPr>
          <a:xfrm>
            <a:off x="2600325" y="2724150"/>
            <a:ext cx="1562100" cy="1390650"/>
          </a:xfrm>
          <a:prstGeom prst="roundRect">
            <a:avLst>
              <a:gd fmla="val 5479" name="adj"/>
            </a:avLst>
          </a:prstGeom>
          <a:solidFill>
            <a:srgbClr val="FFFFFF"/>
          </a:solidFill>
          <a:ln cap="flat" cmpd="sng" w="9525">
            <a:solidFill>
              <a:srgbClr val="B8504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5" name="Google Shape;435;p9"/>
          <p:cNvSpPr/>
          <p:nvPr/>
        </p:nvSpPr>
        <p:spPr>
          <a:xfrm>
            <a:off x="2733675" y="2847975"/>
            <a:ext cx="1295400" cy="190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B85042"/>
              </a:buClr>
              <a:buSzPts val="825"/>
              <a:buFont typeface="Arial"/>
              <a:buNone/>
            </a:pPr>
            <a:r>
              <a:rPr b="1" lang="en-US" sz="825">
                <a:solidFill>
                  <a:srgbClr val="B85042"/>
                </a:solidFill>
              </a:rPr>
              <a:t>02</a:t>
            </a:r>
            <a:endParaRPr/>
          </a:p>
        </p:txBody>
      </p:sp>
      <p:sp>
        <p:nvSpPr>
          <p:cNvPr id="436" name="Google Shape;436;p9"/>
          <p:cNvSpPr/>
          <p:nvPr/>
        </p:nvSpPr>
        <p:spPr>
          <a:xfrm>
            <a:off x="2733675" y="3105150"/>
            <a:ext cx="1295400" cy="4572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1163"/>
              <a:buFont typeface="Arial"/>
              <a:buNone/>
            </a:pPr>
            <a:r>
              <a:rPr b="1" lang="en-US" sz="1163">
                <a:solidFill>
                  <a:srgbClr val="1A1A2E"/>
                </a:solidFill>
              </a:rPr>
              <a:t>Citation-linked</a:t>
            </a:r>
            <a:endParaRPr/>
          </a:p>
          <a:p>
            <a:pPr indent="0" lvl="0" marL="0" marR="0" rtl="0" algn="l">
              <a:spcBef>
                <a:spcPts val="0"/>
              </a:spcBef>
              <a:spcAft>
                <a:spcPts val="0"/>
              </a:spcAft>
              <a:buClr>
                <a:srgbClr val="1A1A2E"/>
              </a:buClr>
              <a:buSzPts val="1163"/>
              <a:buFont typeface="Arial"/>
              <a:buNone/>
            </a:pPr>
            <a:r>
              <a:rPr b="1" lang="en-US" sz="1163">
                <a:solidFill>
                  <a:srgbClr val="1A1A2E"/>
                </a:solidFill>
              </a:rPr>
              <a:t>requirement</a:t>
            </a:r>
            <a:endParaRPr/>
          </a:p>
        </p:txBody>
      </p:sp>
      <p:sp>
        <p:nvSpPr>
          <p:cNvPr id="437" name="Google Shape;437;p9"/>
          <p:cNvSpPr/>
          <p:nvPr/>
        </p:nvSpPr>
        <p:spPr>
          <a:xfrm>
            <a:off x="2733675" y="3638550"/>
            <a:ext cx="1295400" cy="3238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863"/>
              <a:buFont typeface="Arial"/>
              <a:buNone/>
            </a:pPr>
            <a:r>
              <a:rPr lang="en-US" sz="863">
                <a:solidFill>
                  <a:srgbClr val="666B70"/>
                </a:solidFill>
              </a:rPr>
              <a:t>Citation ID · requirement ID</a:t>
            </a:r>
            <a:endParaRPr/>
          </a:p>
        </p:txBody>
      </p:sp>
      <p:sp>
        <p:nvSpPr>
          <p:cNvPr id="438" name="Google Shape;438;p9"/>
          <p:cNvSpPr/>
          <p:nvPr/>
        </p:nvSpPr>
        <p:spPr>
          <a:xfrm>
            <a:off x="4419600" y="2724150"/>
            <a:ext cx="1562100" cy="1390650"/>
          </a:xfrm>
          <a:prstGeom prst="roundRect">
            <a:avLst>
              <a:gd fmla="val 5479" name="adj"/>
            </a:avLst>
          </a:prstGeom>
          <a:solidFill>
            <a:srgbClr val="FFFFFF"/>
          </a:solidFill>
          <a:ln cap="flat" cmpd="sng" w="9525">
            <a:solidFill>
              <a:srgbClr val="B8504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9" name="Google Shape;439;p9"/>
          <p:cNvSpPr/>
          <p:nvPr/>
        </p:nvSpPr>
        <p:spPr>
          <a:xfrm>
            <a:off x="4552950" y="2847975"/>
            <a:ext cx="1295400" cy="190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B85042"/>
              </a:buClr>
              <a:buSzPts val="825"/>
              <a:buFont typeface="Arial"/>
              <a:buNone/>
            </a:pPr>
            <a:r>
              <a:rPr b="1" lang="en-US" sz="825">
                <a:solidFill>
                  <a:srgbClr val="B85042"/>
                </a:solidFill>
              </a:rPr>
              <a:t>03</a:t>
            </a:r>
            <a:endParaRPr/>
          </a:p>
        </p:txBody>
      </p:sp>
      <p:sp>
        <p:nvSpPr>
          <p:cNvPr id="440" name="Google Shape;440;p9"/>
          <p:cNvSpPr/>
          <p:nvPr/>
        </p:nvSpPr>
        <p:spPr>
          <a:xfrm>
            <a:off x="4552950" y="3105150"/>
            <a:ext cx="1295400" cy="4572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1163"/>
              <a:buFont typeface="Arial"/>
              <a:buNone/>
            </a:pPr>
            <a:r>
              <a:rPr b="1" lang="en-US" sz="1163">
                <a:solidFill>
                  <a:srgbClr val="1A1A2E"/>
                </a:solidFill>
              </a:rPr>
              <a:t>Clarification +</a:t>
            </a:r>
            <a:endParaRPr/>
          </a:p>
          <a:p>
            <a:pPr indent="0" lvl="0" marL="0" marR="0" rtl="0" algn="l">
              <a:spcBef>
                <a:spcPts val="0"/>
              </a:spcBef>
              <a:spcAft>
                <a:spcPts val="0"/>
              </a:spcAft>
              <a:buClr>
                <a:srgbClr val="1A1A2E"/>
              </a:buClr>
              <a:buSzPts val="1163"/>
              <a:buFont typeface="Arial"/>
              <a:buNone/>
            </a:pPr>
            <a:r>
              <a:rPr b="1" lang="en-US" sz="1163">
                <a:solidFill>
                  <a:srgbClr val="1A1A2E"/>
                </a:solidFill>
              </a:rPr>
              <a:t>gap analysis</a:t>
            </a:r>
            <a:endParaRPr/>
          </a:p>
        </p:txBody>
      </p:sp>
      <p:sp>
        <p:nvSpPr>
          <p:cNvPr id="441" name="Google Shape;441;p9"/>
          <p:cNvSpPr/>
          <p:nvPr/>
        </p:nvSpPr>
        <p:spPr>
          <a:xfrm>
            <a:off x="4552950" y="3638550"/>
            <a:ext cx="1295400" cy="3238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863"/>
              <a:buFont typeface="Arial"/>
              <a:buNone/>
            </a:pPr>
            <a:r>
              <a:rPr lang="en-US" sz="863">
                <a:solidFill>
                  <a:srgbClr val="666B70"/>
                </a:solidFill>
              </a:rPr>
              <a:t>Ambiguity · conflicts · missing data</a:t>
            </a:r>
            <a:endParaRPr/>
          </a:p>
        </p:txBody>
      </p:sp>
      <p:sp>
        <p:nvSpPr>
          <p:cNvPr id="442" name="Google Shape;442;p9"/>
          <p:cNvSpPr/>
          <p:nvPr/>
        </p:nvSpPr>
        <p:spPr>
          <a:xfrm>
            <a:off x="6238875" y="2724150"/>
            <a:ext cx="1562100" cy="1390650"/>
          </a:xfrm>
          <a:prstGeom prst="roundRect">
            <a:avLst>
              <a:gd fmla="val 5479" name="adj"/>
            </a:avLst>
          </a:prstGeom>
          <a:solidFill>
            <a:srgbClr val="F3E6E2"/>
          </a:solidFill>
          <a:ln cap="flat" cmpd="sng" w="9525">
            <a:solidFill>
              <a:srgbClr val="B8504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3" name="Google Shape;443;p9"/>
          <p:cNvSpPr/>
          <p:nvPr/>
        </p:nvSpPr>
        <p:spPr>
          <a:xfrm>
            <a:off x="6372225" y="2847975"/>
            <a:ext cx="1295400" cy="190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B85042"/>
              </a:buClr>
              <a:buSzPts val="825"/>
              <a:buFont typeface="Arial"/>
              <a:buNone/>
            </a:pPr>
            <a:r>
              <a:rPr b="1" lang="en-US" sz="825">
                <a:solidFill>
                  <a:srgbClr val="B85042"/>
                </a:solidFill>
              </a:rPr>
              <a:t>04</a:t>
            </a:r>
            <a:endParaRPr/>
          </a:p>
        </p:txBody>
      </p:sp>
      <p:sp>
        <p:nvSpPr>
          <p:cNvPr id="444" name="Google Shape;444;p9"/>
          <p:cNvSpPr/>
          <p:nvPr/>
        </p:nvSpPr>
        <p:spPr>
          <a:xfrm>
            <a:off x="6372225" y="3105150"/>
            <a:ext cx="1295400" cy="4572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1163"/>
              <a:buFont typeface="Arial"/>
              <a:buNone/>
            </a:pPr>
            <a:r>
              <a:rPr b="1" lang="en-US" sz="1163">
                <a:solidFill>
                  <a:srgbClr val="1A1A2E"/>
                </a:solidFill>
              </a:rPr>
              <a:t>Human</a:t>
            </a:r>
            <a:endParaRPr/>
          </a:p>
          <a:p>
            <a:pPr indent="0" lvl="0" marL="0" marR="0" rtl="0" algn="l">
              <a:spcBef>
                <a:spcPts val="0"/>
              </a:spcBef>
              <a:spcAft>
                <a:spcPts val="0"/>
              </a:spcAft>
              <a:buClr>
                <a:srgbClr val="1A1A2E"/>
              </a:buClr>
              <a:buSzPts val="1163"/>
              <a:buFont typeface="Arial"/>
              <a:buNone/>
            </a:pPr>
            <a:r>
              <a:rPr b="1" lang="en-US" sz="1163">
                <a:solidFill>
                  <a:srgbClr val="1A1A2E"/>
                </a:solidFill>
              </a:rPr>
              <a:t>approval</a:t>
            </a:r>
            <a:endParaRPr/>
          </a:p>
        </p:txBody>
      </p:sp>
      <p:sp>
        <p:nvSpPr>
          <p:cNvPr id="445" name="Google Shape;445;p9"/>
          <p:cNvSpPr/>
          <p:nvPr/>
        </p:nvSpPr>
        <p:spPr>
          <a:xfrm>
            <a:off x="6372225" y="3638550"/>
            <a:ext cx="1295400" cy="3238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863"/>
              <a:buFont typeface="Arial"/>
              <a:buNone/>
            </a:pPr>
            <a:r>
              <a:rPr lang="en-US" sz="863">
                <a:solidFill>
                  <a:srgbClr val="666B70"/>
                </a:solidFill>
              </a:rPr>
              <a:t>Signed decisions · approved scope</a:t>
            </a:r>
            <a:endParaRPr/>
          </a:p>
        </p:txBody>
      </p:sp>
      <p:sp>
        <p:nvSpPr>
          <p:cNvPr id="446" name="Google Shape;446;p9"/>
          <p:cNvSpPr/>
          <p:nvPr/>
        </p:nvSpPr>
        <p:spPr>
          <a:xfrm>
            <a:off x="8058150" y="2724150"/>
            <a:ext cx="1562100" cy="1390650"/>
          </a:xfrm>
          <a:prstGeom prst="roundRect">
            <a:avLst>
              <a:gd fmla="val 5479" name="adj"/>
            </a:avLst>
          </a:prstGeom>
          <a:solidFill>
            <a:srgbClr val="FFFFFF"/>
          </a:solidFill>
          <a:ln cap="flat" cmpd="sng" w="9525">
            <a:solidFill>
              <a:srgbClr val="B8504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7" name="Google Shape;447;p9"/>
          <p:cNvSpPr/>
          <p:nvPr/>
        </p:nvSpPr>
        <p:spPr>
          <a:xfrm>
            <a:off x="8191500" y="2847975"/>
            <a:ext cx="1295400" cy="190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B85042"/>
              </a:buClr>
              <a:buSzPts val="825"/>
              <a:buFont typeface="Arial"/>
              <a:buNone/>
            </a:pPr>
            <a:r>
              <a:rPr b="1" lang="en-US" sz="825">
                <a:solidFill>
                  <a:srgbClr val="B85042"/>
                </a:solidFill>
              </a:rPr>
              <a:t>05</a:t>
            </a:r>
            <a:endParaRPr/>
          </a:p>
        </p:txBody>
      </p:sp>
      <p:sp>
        <p:nvSpPr>
          <p:cNvPr id="448" name="Google Shape;448;p9"/>
          <p:cNvSpPr/>
          <p:nvPr/>
        </p:nvSpPr>
        <p:spPr>
          <a:xfrm>
            <a:off x="8191500" y="3105150"/>
            <a:ext cx="1295400" cy="4572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1163"/>
              <a:buFont typeface="Arial"/>
              <a:buNone/>
            </a:pPr>
            <a:r>
              <a:rPr b="1" lang="en-US" sz="1163">
                <a:solidFill>
                  <a:srgbClr val="1A1A2E"/>
                </a:solidFill>
              </a:rPr>
              <a:t>PRD + delivery</a:t>
            </a:r>
            <a:endParaRPr/>
          </a:p>
          <a:p>
            <a:pPr indent="0" lvl="0" marL="0" marR="0" rtl="0" algn="l">
              <a:spcBef>
                <a:spcPts val="0"/>
              </a:spcBef>
              <a:spcAft>
                <a:spcPts val="0"/>
              </a:spcAft>
              <a:buClr>
                <a:srgbClr val="1A1A2E"/>
              </a:buClr>
              <a:buSzPts val="1163"/>
              <a:buFont typeface="Arial"/>
              <a:buNone/>
            </a:pPr>
            <a:r>
              <a:rPr b="1" lang="en-US" sz="1163">
                <a:solidFill>
                  <a:srgbClr val="1A1A2E"/>
                </a:solidFill>
              </a:rPr>
              <a:t>hierarchy</a:t>
            </a:r>
            <a:endParaRPr/>
          </a:p>
        </p:txBody>
      </p:sp>
      <p:sp>
        <p:nvSpPr>
          <p:cNvPr id="449" name="Google Shape;449;p9"/>
          <p:cNvSpPr/>
          <p:nvPr/>
        </p:nvSpPr>
        <p:spPr>
          <a:xfrm>
            <a:off x="8191500" y="3638550"/>
            <a:ext cx="1295400" cy="3238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863"/>
              <a:buFont typeface="Arial"/>
              <a:buNone/>
            </a:pPr>
            <a:r>
              <a:rPr lang="en-US" sz="863">
                <a:solidFill>
                  <a:srgbClr val="666B70"/>
                </a:solidFill>
              </a:rPr>
              <a:t>Stable IDs · mapped criteria</a:t>
            </a:r>
            <a:endParaRPr/>
          </a:p>
        </p:txBody>
      </p:sp>
      <p:sp>
        <p:nvSpPr>
          <p:cNvPr id="450" name="Google Shape;450;p9"/>
          <p:cNvSpPr/>
          <p:nvPr/>
        </p:nvSpPr>
        <p:spPr>
          <a:xfrm>
            <a:off x="9877425" y="2724150"/>
            <a:ext cx="1562100" cy="1390650"/>
          </a:xfrm>
          <a:prstGeom prst="roundRect">
            <a:avLst>
              <a:gd fmla="val 5479" name="adj"/>
            </a:avLst>
          </a:prstGeom>
          <a:solidFill>
            <a:srgbClr val="E6F0EB"/>
          </a:solidFill>
          <a:ln cap="flat" cmpd="sng" w="9525">
            <a:solidFill>
              <a:srgbClr val="2F6F5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1" name="Google Shape;451;p9"/>
          <p:cNvSpPr/>
          <p:nvPr/>
        </p:nvSpPr>
        <p:spPr>
          <a:xfrm>
            <a:off x="10010775" y="2847975"/>
            <a:ext cx="1295400" cy="190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F6F57"/>
              </a:buClr>
              <a:buSzPts val="825"/>
              <a:buFont typeface="Arial"/>
              <a:buNone/>
            </a:pPr>
            <a:r>
              <a:rPr b="1" lang="en-US" sz="825">
                <a:solidFill>
                  <a:srgbClr val="2F6F57"/>
                </a:solidFill>
              </a:rPr>
              <a:t>06</a:t>
            </a:r>
            <a:endParaRPr/>
          </a:p>
        </p:txBody>
      </p:sp>
      <p:sp>
        <p:nvSpPr>
          <p:cNvPr id="452" name="Google Shape;452;p9"/>
          <p:cNvSpPr/>
          <p:nvPr/>
        </p:nvSpPr>
        <p:spPr>
          <a:xfrm>
            <a:off x="10010775" y="3105150"/>
            <a:ext cx="1295400" cy="4572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1163"/>
              <a:buFont typeface="Arial"/>
              <a:buNone/>
            </a:pPr>
            <a:r>
              <a:rPr b="1" lang="en-US" sz="1163">
                <a:solidFill>
                  <a:srgbClr val="1A1A2E"/>
                </a:solidFill>
              </a:rPr>
              <a:t>Agreement Gate</a:t>
            </a:r>
            <a:endParaRPr/>
          </a:p>
          <a:p>
            <a:pPr indent="0" lvl="0" marL="0" marR="0" rtl="0" algn="l">
              <a:spcBef>
                <a:spcPts val="0"/>
              </a:spcBef>
              <a:spcAft>
                <a:spcPts val="0"/>
              </a:spcAft>
              <a:buClr>
                <a:srgbClr val="1A1A2E"/>
              </a:buClr>
              <a:buSzPts val="1163"/>
              <a:buFont typeface="Arial"/>
              <a:buNone/>
            </a:pPr>
            <a:r>
              <a:rPr b="1" lang="en-US" sz="1163">
                <a:solidFill>
                  <a:srgbClr val="1A1A2E"/>
                </a:solidFill>
              </a:rPr>
              <a:t>+ export</a:t>
            </a:r>
            <a:endParaRPr/>
          </a:p>
        </p:txBody>
      </p:sp>
      <p:sp>
        <p:nvSpPr>
          <p:cNvPr id="453" name="Google Shape;453;p9"/>
          <p:cNvSpPr/>
          <p:nvPr/>
        </p:nvSpPr>
        <p:spPr>
          <a:xfrm>
            <a:off x="10010775" y="3638550"/>
            <a:ext cx="1295400" cy="3238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863"/>
              <a:buFont typeface="Arial"/>
              <a:buNone/>
            </a:pPr>
            <a:r>
              <a:rPr lang="en-US" sz="863">
                <a:solidFill>
                  <a:srgbClr val="666B70"/>
                </a:solidFill>
              </a:rPr>
              <a:t>Set equality · orphan prevention</a:t>
            </a:r>
            <a:endParaRPr/>
          </a:p>
        </p:txBody>
      </p:sp>
      <p:cxnSp>
        <p:nvCxnSpPr>
          <p:cNvPr id="454" name="Google Shape;454;p9"/>
          <p:cNvCxnSpPr>
            <a:stCxn id="430" idx="3"/>
            <a:endCxn id="434" idx="1"/>
          </p:cNvCxnSpPr>
          <p:nvPr/>
        </p:nvCxnSpPr>
        <p:spPr>
          <a:xfrm>
            <a:off x="2343150" y="3419475"/>
            <a:ext cx="257100" cy="0"/>
          </a:xfrm>
          <a:prstGeom prst="straightConnector1">
            <a:avLst/>
          </a:prstGeom>
          <a:noFill/>
          <a:ln cap="flat" cmpd="sng" w="21425">
            <a:solidFill>
              <a:srgbClr val="B85042"/>
            </a:solidFill>
            <a:prstDash val="solid"/>
            <a:round/>
            <a:headEnd len="sm" w="sm" type="none"/>
            <a:tailEnd len="med" w="med" type="triangle"/>
          </a:ln>
        </p:spPr>
      </p:cxnSp>
      <p:cxnSp>
        <p:nvCxnSpPr>
          <p:cNvPr id="455" name="Google Shape;455;p9"/>
          <p:cNvCxnSpPr>
            <a:stCxn id="434" idx="3"/>
            <a:endCxn id="438" idx="1"/>
          </p:cNvCxnSpPr>
          <p:nvPr/>
        </p:nvCxnSpPr>
        <p:spPr>
          <a:xfrm>
            <a:off x="4162425" y="3419475"/>
            <a:ext cx="257100" cy="0"/>
          </a:xfrm>
          <a:prstGeom prst="straightConnector1">
            <a:avLst/>
          </a:prstGeom>
          <a:noFill/>
          <a:ln cap="flat" cmpd="sng" w="21425">
            <a:solidFill>
              <a:srgbClr val="B85042"/>
            </a:solidFill>
            <a:prstDash val="solid"/>
            <a:round/>
            <a:headEnd len="sm" w="sm" type="none"/>
            <a:tailEnd len="med" w="med" type="triangle"/>
          </a:ln>
        </p:spPr>
      </p:cxnSp>
      <p:cxnSp>
        <p:nvCxnSpPr>
          <p:cNvPr id="456" name="Google Shape;456;p9"/>
          <p:cNvCxnSpPr>
            <a:stCxn id="438" idx="3"/>
            <a:endCxn id="442" idx="1"/>
          </p:cNvCxnSpPr>
          <p:nvPr/>
        </p:nvCxnSpPr>
        <p:spPr>
          <a:xfrm>
            <a:off x="5981700" y="3419475"/>
            <a:ext cx="257100" cy="0"/>
          </a:xfrm>
          <a:prstGeom prst="straightConnector1">
            <a:avLst/>
          </a:prstGeom>
          <a:noFill/>
          <a:ln cap="flat" cmpd="sng" w="21425">
            <a:solidFill>
              <a:srgbClr val="B85042"/>
            </a:solidFill>
            <a:prstDash val="solid"/>
            <a:round/>
            <a:headEnd len="sm" w="sm" type="none"/>
            <a:tailEnd len="med" w="med" type="triangle"/>
          </a:ln>
        </p:spPr>
      </p:cxnSp>
      <p:cxnSp>
        <p:nvCxnSpPr>
          <p:cNvPr id="457" name="Google Shape;457;p9"/>
          <p:cNvCxnSpPr>
            <a:stCxn id="442" idx="3"/>
            <a:endCxn id="446" idx="1"/>
          </p:cNvCxnSpPr>
          <p:nvPr/>
        </p:nvCxnSpPr>
        <p:spPr>
          <a:xfrm>
            <a:off x="7800975" y="3419475"/>
            <a:ext cx="257100" cy="0"/>
          </a:xfrm>
          <a:prstGeom prst="straightConnector1">
            <a:avLst/>
          </a:prstGeom>
          <a:noFill/>
          <a:ln cap="flat" cmpd="sng" w="21425">
            <a:solidFill>
              <a:srgbClr val="B85042"/>
            </a:solidFill>
            <a:prstDash val="solid"/>
            <a:round/>
            <a:headEnd len="sm" w="sm" type="none"/>
            <a:tailEnd len="med" w="med" type="triangle"/>
          </a:ln>
        </p:spPr>
      </p:cxnSp>
      <p:cxnSp>
        <p:nvCxnSpPr>
          <p:cNvPr id="458" name="Google Shape;458;p9"/>
          <p:cNvCxnSpPr>
            <a:stCxn id="446" idx="3"/>
            <a:endCxn id="450" idx="1"/>
          </p:cNvCxnSpPr>
          <p:nvPr/>
        </p:nvCxnSpPr>
        <p:spPr>
          <a:xfrm>
            <a:off x="9620250" y="3419475"/>
            <a:ext cx="257100" cy="0"/>
          </a:xfrm>
          <a:prstGeom prst="straightConnector1">
            <a:avLst/>
          </a:prstGeom>
          <a:noFill/>
          <a:ln cap="flat" cmpd="sng" w="21425">
            <a:solidFill>
              <a:srgbClr val="B85042"/>
            </a:solidFill>
            <a:prstDash val="solid"/>
            <a:round/>
            <a:headEnd len="sm" w="sm" type="none"/>
            <a:tailEnd len="med" w="med" type="triangle"/>
          </a:ln>
        </p:spPr>
      </p:cxnSp>
      <p:sp>
        <p:nvSpPr>
          <p:cNvPr id="459" name="Google Shape;459;p9"/>
          <p:cNvSpPr/>
          <p:nvPr/>
        </p:nvSpPr>
        <p:spPr>
          <a:xfrm>
            <a:off x="781050" y="4457700"/>
            <a:ext cx="3143250" cy="2286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B85042"/>
              </a:buClr>
              <a:buSzPts val="900"/>
              <a:buFont typeface="Arial"/>
              <a:buNone/>
            </a:pPr>
            <a:r>
              <a:rPr b="1" lang="en-US" sz="900">
                <a:solidFill>
                  <a:srgbClr val="B85042"/>
                </a:solidFill>
              </a:rPr>
              <a:t>ACCEPTED v0.3.8 PROOF</a:t>
            </a:r>
            <a:endParaRPr/>
          </a:p>
        </p:txBody>
      </p:sp>
      <p:sp>
        <p:nvSpPr>
          <p:cNvPr id="460" name="Google Shape;460;p9"/>
          <p:cNvSpPr/>
          <p:nvPr/>
        </p:nvSpPr>
        <p:spPr>
          <a:xfrm>
            <a:off x="781050" y="4819650"/>
            <a:ext cx="2476500" cy="990600"/>
          </a:xfrm>
          <a:prstGeom prst="roundRect">
            <a:avLst>
              <a:gd fmla="val 7692" name="adj"/>
            </a:avLst>
          </a:prstGeom>
          <a:solidFill>
            <a:srgbClr val="FFFFFF"/>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1" name="Google Shape;461;p9"/>
          <p:cNvSpPr/>
          <p:nvPr/>
        </p:nvSpPr>
        <p:spPr>
          <a:xfrm>
            <a:off x="952500" y="4933950"/>
            <a:ext cx="2133600" cy="3619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2175"/>
              <a:buFont typeface="Arial"/>
              <a:buNone/>
            </a:pPr>
            <a:r>
              <a:rPr b="1" lang="en-US" sz="2175">
                <a:solidFill>
                  <a:srgbClr val="1A1A2E"/>
                </a:solidFill>
              </a:rPr>
              <a:t>145/145</a:t>
            </a:r>
            <a:endParaRPr/>
          </a:p>
        </p:txBody>
      </p:sp>
      <p:sp>
        <p:nvSpPr>
          <p:cNvPr id="462" name="Google Shape;462;p9"/>
          <p:cNvSpPr/>
          <p:nvPr/>
        </p:nvSpPr>
        <p:spPr>
          <a:xfrm>
            <a:off x="952500" y="5334000"/>
            <a:ext cx="2133600" cy="2857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975"/>
              <a:buFont typeface="Arial"/>
              <a:buNone/>
            </a:pPr>
            <a:r>
              <a:rPr lang="en-US" sz="975">
                <a:solidFill>
                  <a:srgbClr val="666B70"/>
                </a:solidFill>
              </a:rPr>
              <a:t>citation dispositions</a:t>
            </a:r>
            <a:endParaRPr/>
          </a:p>
        </p:txBody>
      </p:sp>
      <p:sp>
        <p:nvSpPr>
          <p:cNvPr id="463" name="Google Shape;463;p9"/>
          <p:cNvSpPr/>
          <p:nvPr/>
        </p:nvSpPr>
        <p:spPr>
          <a:xfrm>
            <a:off x="3505200" y="4819650"/>
            <a:ext cx="2476500" cy="990600"/>
          </a:xfrm>
          <a:prstGeom prst="roundRect">
            <a:avLst>
              <a:gd fmla="val 7692" name="adj"/>
            </a:avLst>
          </a:prstGeom>
          <a:solidFill>
            <a:srgbClr val="FFFFFF"/>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4" name="Google Shape;464;p9"/>
          <p:cNvSpPr/>
          <p:nvPr/>
        </p:nvSpPr>
        <p:spPr>
          <a:xfrm>
            <a:off x="3676650" y="4933950"/>
            <a:ext cx="2133600" cy="3619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2175"/>
              <a:buFont typeface="Arial"/>
              <a:buNone/>
            </a:pPr>
            <a:r>
              <a:rPr b="1" lang="en-US" sz="2175">
                <a:solidFill>
                  <a:srgbClr val="1A1A2E"/>
                </a:solidFill>
              </a:rPr>
              <a:t>100%</a:t>
            </a:r>
            <a:endParaRPr/>
          </a:p>
        </p:txBody>
      </p:sp>
      <p:sp>
        <p:nvSpPr>
          <p:cNvPr id="465" name="Google Shape;465;p9"/>
          <p:cNvSpPr/>
          <p:nvPr/>
        </p:nvSpPr>
        <p:spPr>
          <a:xfrm>
            <a:off x="3676650" y="5334000"/>
            <a:ext cx="2133600" cy="2857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975"/>
              <a:buFont typeface="Arial"/>
              <a:buNone/>
            </a:pPr>
            <a:r>
              <a:rPr lang="en-US" sz="975">
                <a:solidFill>
                  <a:srgbClr val="666B70"/>
                </a:solidFill>
              </a:rPr>
              <a:t>governed ID reconciliation</a:t>
            </a:r>
            <a:endParaRPr/>
          </a:p>
        </p:txBody>
      </p:sp>
      <p:sp>
        <p:nvSpPr>
          <p:cNvPr id="466" name="Google Shape;466;p9"/>
          <p:cNvSpPr/>
          <p:nvPr/>
        </p:nvSpPr>
        <p:spPr>
          <a:xfrm>
            <a:off x="6229350" y="4819650"/>
            <a:ext cx="2476500" cy="990600"/>
          </a:xfrm>
          <a:prstGeom prst="roundRect">
            <a:avLst>
              <a:gd fmla="val 7692" name="adj"/>
            </a:avLst>
          </a:prstGeom>
          <a:solidFill>
            <a:srgbClr val="FFFFFF"/>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7" name="Google Shape;467;p9"/>
          <p:cNvSpPr/>
          <p:nvPr/>
        </p:nvSpPr>
        <p:spPr>
          <a:xfrm>
            <a:off x="6400800" y="4933950"/>
            <a:ext cx="2133600" cy="3619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2175"/>
              <a:buFont typeface="Arial"/>
              <a:buNone/>
            </a:pPr>
            <a:r>
              <a:rPr b="1" lang="en-US" sz="2175">
                <a:solidFill>
                  <a:srgbClr val="1A1A2E"/>
                </a:solidFill>
              </a:rPr>
              <a:t>0</a:t>
            </a:r>
            <a:endParaRPr/>
          </a:p>
        </p:txBody>
      </p:sp>
      <p:sp>
        <p:nvSpPr>
          <p:cNvPr id="468" name="Google Shape;468;p9"/>
          <p:cNvSpPr/>
          <p:nvPr/>
        </p:nvSpPr>
        <p:spPr>
          <a:xfrm>
            <a:off x="6400800" y="5334000"/>
            <a:ext cx="2133600" cy="2857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975"/>
              <a:buFont typeface="Arial"/>
              <a:buNone/>
            </a:pPr>
            <a:r>
              <a:rPr lang="en-US" sz="975">
                <a:solidFill>
                  <a:srgbClr val="666B70"/>
                </a:solidFill>
              </a:rPr>
              <a:t>orphaned governed records</a:t>
            </a:r>
            <a:endParaRPr/>
          </a:p>
        </p:txBody>
      </p:sp>
      <p:sp>
        <p:nvSpPr>
          <p:cNvPr id="469" name="Google Shape;469;p9"/>
          <p:cNvSpPr/>
          <p:nvPr/>
        </p:nvSpPr>
        <p:spPr>
          <a:xfrm>
            <a:off x="8953500" y="4819650"/>
            <a:ext cx="2476500" cy="990600"/>
          </a:xfrm>
          <a:prstGeom prst="roundRect">
            <a:avLst>
              <a:gd fmla="val 7692" name="adj"/>
            </a:avLst>
          </a:prstGeom>
          <a:solidFill>
            <a:srgbClr val="E6F0EB"/>
          </a:solidFill>
          <a:ln cap="flat" cmpd="sng" w="9525">
            <a:solidFill>
              <a:srgbClr val="2F6F5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0" name="Google Shape;470;p9"/>
          <p:cNvSpPr/>
          <p:nvPr/>
        </p:nvSpPr>
        <p:spPr>
          <a:xfrm>
            <a:off x="9124950" y="4933950"/>
            <a:ext cx="2133600" cy="3619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F6F57"/>
              </a:buClr>
              <a:buSzPts val="1725"/>
              <a:buFont typeface="Arial"/>
              <a:buNone/>
            </a:pPr>
            <a:r>
              <a:rPr b="1" lang="en-US" sz="1725">
                <a:solidFill>
                  <a:srgbClr val="2F6F57"/>
                </a:solidFill>
              </a:rPr>
              <a:t>PASSED</a:t>
            </a:r>
            <a:endParaRPr/>
          </a:p>
        </p:txBody>
      </p:sp>
      <p:sp>
        <p:nvSpPr>
          <p:cNvPr id="471" name="Google Shape;471;p9"/>
          <p:cNvSpPr/>
          <p:nvPr/>
        </p:nvSpPr>
        <p:spPr>
          <a:xfrm>
            <a:off x="9124950" y="5334000"/>
            <a:ext cx="2133600" cy="2857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975"/>
              <a:buFont typeface="Arial"/>
              <a:buNone/>
            </a:pPr>
            <a:r>
              <a:rPr lang="en-US" sz="975">
                <a:solidFill>
                  <a:srgbClr val="666B70"/>
                </a:solidFill>
              </a:rPr>
              <a:t>Agreement Gate authorization</a:t>
            </a:r>
            <a:endParaRPr/>
          </a:p>
        </p:txBody>
      </p:sp>
      <p:sp>
        <p:nvSpPr>
          <p:cNvPr id="472" name="Google Shape;472;p9"/>
          <p:cNvSpPr/>
          <p:nvPr/>
        </p:nvSpPr>
        <p:spPr>
          <a:xfrm>
            <a:off x="0" y="6172200"/>
            <a:ext cx="12192000" cy="685800"/>
          </a:xfrm>
          <a:prstGeom prst="rect">
            <a:avLst/>
          </a:prstGeom>
          <a:solidFill>
            <a:srgbClr val="1A1A2E"/>
          </a:solidFill>
          <a:ln cap="flat" cmpd="sng" w="9525">
            <a:solidFill>
              <a:srgbClr val="1A1A2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3" name="Google Shape;473;p9"/>
          <p:cNvSpPr/>
          <p:nvPr/>
        </p:nvSpPr>
        <p:spPr>
          <a:xfrm>
            <a:off x="781050" y="6315075"/>
            <a:ext cx="10648950" cy="4000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FFFFFF"/>
              </a:buClr>
              <a:buSzPts val="1350"/>
              <a:buFont typeface="Arial"/>
              <a:buNone/>
            </a:pPr>
            <a:r>
              <a:rPr b="1" lang="en-US" sz="1350">
                <a:solidFill>
                  <a:srgbClr val="FFFFFF"/>
                </a:solidFill>
              </a:rPr>
              <a:t>No evidence → no requirement   ·   No approval → no production   ·   No reconciliation → no export</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4EE"/>
        </a:solidFill>
      </p:bgPr>
    </p:bg>
    <p:spTree>
      <p:nvGrpSpPr>
        <p:cNvPr id="478" name="Shape 478"/>
        <p:cNvGrpSpPr/>
        <p:nvPr/>
      </p:nvGrpSpPr>
      <p:grpSpPr>
        <a:xfrm>
          <a:off x="0" y="0"/>
          <a:ext cx="0" cy="0"/>
          <a:chOff x="0" y="0"/>
          <a:chExt cx="0" cy="0"/>
        </a:xfrm>
      </p:grpSpPr>
      <p:sp>
        <p:nvSpPr>
          <p:cNvPr id="479" name="Google Shape;479;p10"/>
          <p:cNvSpPr/>
          <p:nvPr/>
        </p:nvSpPr>
        <p:spPr>
          <a:xfrm>
            <a:off x="0" y="0"/>
            <a:ext cx="12192000" cy="76200"/>
          </a:xfrm>
          <a:prstGeom prst="rect">
            <a:avLst/>
          </a:prstGeom>
          <a:solidFill>
            <a:srgbClr val="B85042"/>
          </a:solidFill>
          <a:ln cap="flat" cmpd="sng" w="9525">
            <a:solidFill>
              <a:srgbClr val="B8504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0" name="Google Shape;480;p10"/>
          <p:cNvSpPr/>
          <p:nvPr/>
        </p:nvSpPr>
        <p:spPr>
          <a:xfrm>
            <a:off x="514350" y="742950"/>
            <a:ext cx="66675" cy="866775"/>
          </a:xfrm>
          <a:prstGeom prst="rect">
            <a:avLst/>
          </a:prstGeom>
          <a:solidFill>
            <a:srgbClr val="B85042"/>
          </a:solidFill>
          <a:ln cap="flat" cmpd="sng" w="9525">
            <a:solidFill>
              <a:srgbClr val="B8504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1" name="Google Shape;481;p10"/>
          <p:cNvSpPr/>
          <p:nvPr/>
        </p:nvSpPr>
        <p:spPr>
          <a:xfrm>
            <a:off x="781050" y="552450"/>
            <a:ext cx="5524500" cy="2667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B85042"/>
              </a:buClr>
              <a:buSzPts val="975"/>
              <a:buFont typeface="Arial"/>
              <a:buNone/>
            </a:pPr>
            <a:r>
              <a:rPr b="1" lang="en-US" sz="975">
                <a:solidFill>
                  <a:srgbClr val="B85042"/>
                </a:solidFill>
              </a:rPr>
              <a:t>10  ·  PLANNING-READY OUTPUTS</a:t>
            </a:r>
            <a:endParaRPr/>
          </a:p>
        </p:txBody>
      </p:sp>
      <p:sp>
        <p:nvSpPr>
          <p:cNvPr id="482" name="Google Shape;482;p10"/>
          <p:cNvSpPr/>
          <p:nvPr/>
        </p:nvSpPr>
        <p:spPr>
          <a:xfrm>
            <a:off x="781050" y="885825"/>
            <a:ext cx="10648950" cy="80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2550"/>
              <a:buFont typeface="Arial"/>
              <a:buNone/>
            </a:pPr>
            <a:r>
              <a:rPr b="1" lang="en-US" sz="2550">
                <a:solidFill>
                  <a:srgbClr val="1A1A2E"/>
                </a:solidFill>
              </a:rPr>
              <a:t>The pipeline produces three planning-ready artifacts</a:t>
            </a:r>
            <a:endParaRPr/>
          </a:p>
        </p:txBody>
      </p:sp>
      <p:sp>
        <p:nvSpPr>
          <p:cNvPr id="483" name="Google Shape;483;p10"/>
          <p:cNvSpPr/>
          <p:nvPr/>
        </p:nvSpPr>
        <p:spPr>
          <a:xfrm>
            <a:off x="781050" y="1724025"/>
            <a:ext cx="10648950" cy="3619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1275"/>
              <a:buFont typeface="Arial"/>
              <a:buNone/>
            </a:pPr>
            <a:r>
              <a:rPr lang="en-US" sz="1275">
                <a:solidFill>
                  <a:srgbClr val="666B70"/>
                </a:solidFill>
              </a:rPr>
              <a:t>Each Markdown document is run-specific, human-readable, and backed by structured lineage and validation evidence.</a:t>
            </a:r>
            <a:endParaRPr/>
          </a:p>
        </p:txBody>
      </p:sp>
      <p:sp>
        <p:nvSpPr>
          <p:cNvPr id="484" name="Google Shape;484;p10"/>
          <p:cNvSpPr/>
          <p:nvPr/>
        </p:nvSpPr>
        <p:spPr>
          <a:xfrm>
            <a:off x="781050" y="2400300"/>
            <a:ext cx="3219450" cy="3448050"/>
          </a:xfrm>
          <a:prstGeom prst="roundRect">
            <a:avLst>
              <a:gd fmla="val 2367" name="adj"/>
            </a:avLst>
          </a:prstGeom>
          <a:solidFill>
            <a:srgbClr val="FFFFFF"/>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5" name="Google Shape;485;p10"/>
          <p:cNvSpPr/>
          <p:nvPr/>
        </p:nvSpPr>
        <p:spPr>
          <a:xfrm>
            <a:off x="781050" y="2400300"/>
            <a:ext cx="3219450" cy="85725"/>
          </a:xfrm>
          <a:prstGeom prst="rect">
            <a:avLst/>
          </a:prstGeom>
          <a:solidFill>
            <a:srgbClr val="3B6EBF"/>
          </a:solidFill>
          <a:ln cap="flat" cmpd="sng" w="9525">
            <a:solidFill>
              <a:srgbClr val="3B6EB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6" name="Google Shape;486;p10"/>
          <p:cNvSpPr/>
          <p:nvPr/>
        </p:nvSpPr>
        <p:spPr>
          <a:xfrm>
            <a:off x="990600" y="2609850"/>
            <a:ext cx="400050" cy="2095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3B6EBF"/>
              </a:buClr>
              <a:buSzPts val="900"/>
              <a:buFont typeface="Arial"/>
              <a:buNone/>
            </a:pPr>
            <a:r>
              <a:rPr b="1" lang="en-US" sz="900">
                <a:solidFill>
                  <a:srgbClr val="3B6EBF"/>
                </a:solidFill>
              </a:rPr>
              <a:t>01</a:t>
            </a:r>
            <a:endParaRPr/>
          </a:p>
        </p:txBody>
      </p:sp>
      <p:sp>
        <p:nvSpPr>
          <p:cNvPr id="487" name="Google Shape;487;p10"/>
          <p:cNvSpPr/>
          <p:nvPr/>
        </p:nvSpPr>
        <p:spPr>
          <a:xfrm>
            <a:off x="990600" y="2886075"/>
            <a:ext cx="2800350" cy="4000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1725"/>
              <a:buFont typeface="Arial"/>
              <a:buNone/>
            </a:pPr>
            <a:r>
              <a:rPr b="1" lang="en-US" sz="1725">
                <a:solidFill>
                  <a:srgbClr val="1A1A2E"/>
                </a:solidFill>
              </a:rPr>
              <a:t>Corrected PRD</a:t>
            </a:r>
            <a:endParaRPr/>
          </a:p>
        </p:txBody>
      </p:sp>
      <p:sp>
        <p:nvSpPr>
          <p:cNvPr id="488" name="Google Shape;488;p10"/>
          <p:cNvSpPr/>
          <p:nvPr/>
        </p:nvSpPr>
        <p:spPr>
          <a:xfrm>
            <a:off x="990600" y="3390900"/>
            <a:ext cx="2800350" cy="457200"/>
          </a:xfrm>
          <a:prstGeom prst="roundRect">
            <a:avLst>
              <a:gd fmla="val 16667" name="adj"/>
            </a:avLst>
          </a:prstGeom>
          <a:solidFill>
            <a:srgbClr val="E8EFF9"/>
          </a:solidFill>
          <a:ln cap="flat" cmpd="sng" w="9525">
            <a:solidFill>
              <a:srgbClr val="3B6EB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9" name="Google Shape;489;p10"/>
          <p:cNvSpPr/>
          <p:nvPr/>
        </p:nvSpPr>
        <p:spPr>
          <a:xfrm>
            <a:off x="1123950" y="3448050"/>
            <a:ext cx="2533650" cy="3429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3B6EBF"/>
              </a:buClr>
              <a:buSzPts val="1500"/>
              <a:buFont typeface="Arial"/>
              <a:buNone/>
            </a:pPr>
            <a:r>
              <a:rPr b="1" lang="en-US" sz="1500">
                <a:solidFill>
                  <a:srgbClr val="3B6EBF"/>
                </a:solidFill>
              </a:rPr>
              <a:t>10 sections</a:t>
            </a:r>
            <a:endParaRPr/>
          </a:p>
        </p:txBody>
      </p:sp>
      <p:sp>
        <p:nvSpPr>
          <p:cNvPr id="490" name="Google Shape;490;p10"/>
          <p:cNvSpPr/>
          <p:nvPr/>
        </p:nvSpPr>
        <p:spPr>
          <a:xfrm>
            <a:off x="990600" y="4000500"/>
            <a:ext cx="2800350" cy="7048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1050"/>
              <a:buFont typeface="Arial"/>
              <a:buNone/>
            </a:pPr>
            <a:r>
              <a:rPr lang="en-US" sz="1050">
                <a:solidFill>
                  <a:srgbClr val="666B70"/>
                </a:solidFill>
              </a:rPr>
              <a:t>Business context · users · requirements · NFRs · constraints · feature-level acceptance criteria</a:t>
            </a:r>
            <a:endParaRPr/>
          </a:p>
        </p:txBody>
      </p:sp>
      <p:sp>
        <p:nvSpPr>
          <p:cNvPr id="491" name="Google Shape;491;p10"/>
          <p:cNvSpPr/>
          <p:nvPr/>
        </p:nvSpPr>
        <p:spPr>
          <a:xfrm>
            <a:off x="990600" y="4867275"/>
            <a:ext cx="2800350" cy="190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3B6EBF"/>
              </a:buClr>
              <a:buSzPts val="788"/>
              <a:buFont typeface="Arial"/>
              <a:buNone/>
            </a:pPr>
            <a:r>
              <a:rPr b="1" lang="en-US" sz="788">
                <a:solidFill>
                  <a:srgbClr val="3B6EBF"/>
                </a:solidFill>
              </a:rPr>
              <a:t>REPRESENTATIVE EXCERPT</a:t>
            </a:r>
            <a:endParaRPr/>
          </a:p>
        </p:txBody>
      </p:sp>
      <p:sp>
        <p:nvSpPr>
          <p:cNvPr id="492" name="Google Shape;492;p10"/>
          <p:cNvSpPr/>
          <p:nvPr/>
        </p:nvSpPr>
        <p:spPr>
          <a:xfrm>
            <a:off x="990600" y="5124450"/>
            <a:ext cx="2800350" cy="533400"/>
          </a:xfrm>
          <a:prstGeom prst="roundRect">
            <a:avLst>
              <a:gd fmla="val 14286" name="adj"/>
            </a:avLst>
          </a:prstGeom>
          <a:solidFill>
            <a:srgbClr val="E8EFF9"/>
          </a:solidFill>
          <a:ln cap="flat" cmpd="sng" w="9525">
            <a:solidFill>
              <a:srgbClr val="E8EFF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3" name="Google Shape;493;p10"/>
          <p:cNvSpPr/>
          <p:nvPr/>
        </p:nvSpPr>
        <p:spPr>
          <a:xfrm>
            <a:off x="1104900" y="5162550"/>
            <a:ext cx="2571750" cy="4572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885"/>
              <a:buFont typeface="Arial"/>
              <a:buNone/>
            </a:pPr>
            <a:r>
              <a:rPr b="1" lang="en-US" sz="885">
                <a:solidFill>
                  <a:srgbClr val="1A1A2E"/>
                </a:solidFill>
              </a:rPr>
              <a:t>Feature: Dashboard Insights</a:t>
            </a:r>
            <a:endParaRPr/>
          </a:p>
          <a:p>
            <a:pPr indent="0" lvl="0" marL="0" marR="0" rtl="0" algn="l">
              <a:spcBef>
                <a:spcPts val="0"/>
              </a:spcBef>
              <a:spcAft>
                <a:spcPts val="0"/>
              </a:spcAft>
              <a:buClr>
                <a:srgbClr val="1A1A2E"/>
              </a:buClr>
              <a:buSzPts val="885"/>
              <a:buFont typeface="Arial"/>
              <a:buNone/>
            </a:pPr>
            <a:r>
              <a:rPr b="1" lang="en-US" sz="885">
                <a:solidFill>
                  <a:srgbClr val="1A1A2E"/>
                </a:solidFill>
              </a:rPr>
              <a:t>□ Display five core metrics</a:t>
            </a:r>
            <a:endParaRPr/>
          </a:p>
          <a:p>
            <a:pPr indent="0" lvl="0" marL="0" marR="0" rtl="0" algn="l">
              <a:spcBef>
                <a:spcPts val="0"/>
              </a:spcBef>
              <a:spcAft>
                <a:spcPts val="0"/>
              </a:spcAft>
              <a:buClr>
                <a:srgbClr val="1A1A2E"/>
              </a:buClr>
              <a:buSzPts val="885"/>
              <a:buFont typeface="Arial"/>
              <a:buNone/>
            </a:pPr>
            <a:r>
              <a:rPr b="1" lang="en-US" sz="885">
                <a:solidFill>
                  <a:srgbClr val="1A1A2E"/>
                </a:solidFill>
              </a:rPr>
              <a:t>□ Preserve source IDs and priority</a:t>
            </a:r>
            <a:endParaRPr/>
          </a:p>
        </p:txBody>
      </p:sp>
      <p:sp>
        <p:nvSpPr>
          <p:cNvPr id="494" name="Google Shape;494;p10"/>
          <p:cNvSpPr/>
          <p:nvPr/>
        </p:nvSpPr>
        <p:spPr>
          <a:xfrm>
            <a:off x="4400550" y="2400300"/>
            <a:ext cx="3219450" cy="3448050"/>
          </a:xfrm>
          <a:prstGeom prst="roundRect">
            <a:avLst>
              <a:gd fmla="val 2367" name="adj"/>
            </a:avLst>
          </a:prstGeom>
          <a:solidFill>
            <a:srgbClr val="FFFFFF"/>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5" name="Google Shape;495;p10"/>
          <p:cNvSpPr/>
          <p:nvPr/>
        </p:nvSpPr>
        <p:spPr>
          <a:xfrm>
            <a:off x="4400550" y="2400300"/>
            <a:ext cx="3219450" cy="85725"/>
          </a:xfrm>
          <a:prstGeom prst="rect">
            <a:avLst/>
          </a:prstGeom>
          <a:solidFill>
            <a:srgbClr val="B85042"/>
          </a:solidFill>
          <a:ln cap="flat" cmpd="sng" w="9525">
            <a:solidFill>
              <a:srgbClr val="B8504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6" name="Google Shape;496;p10"/>
          <p:cNvSpPr/>
          <p:nvPr/>
        </p:nvSpPr>
        <p:spPr>
          <a:xfrm>
            <a:off x="4610100" y="2609850"/>
            <a:ext cx="400050" cy="2095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B85042"/>
              </a:buClr>
              <a:buSzPts val="900"/>
              <a:buFont typeface="Arial"/>
              <a:buNone/>
            </a:pPr>
            <a:r>
              <a:rPr b="1" lang="en-US" sz="900">
                <a:solidFill>
                  <a:srgbClr val="B85042"/>
                </a:solidFill>
              </a:rPr>
              <a:t>02</a:t>
            </a:r>
            <a:endParaRPr/>
          </a:p>
        </p:txBody>
      </p:sp>
      <p:sp>
        <p:nvSpPr>
          <p:cNvPr id="497" name="Google Shape;497;p10"/>
          <p:cNvSpPr/>
          <p:nvPr/>
        </p:nvSpPr>
        <p:spPr>
          <a:xfrm>
            <a:off x="4610100" y="2886075"/>
            <a:ext cx="2800350" cy="4000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1725"/>
              <a:buFont typeface="Arial"/>
              <a:buNone/>
            </a:pPr>
            <a:r>
              <a:rPr b="1" lang="en-US" sz="1725">
                <a:solidFill>
                  <a:srgbClr val="1A1A2E"/>
                </a:solidFill>
              </a:rPr>
              <a:t>Epic / Feature / Story</a:t>
            </a:r>
            <a:endParaRPr/>
          </a:p>
        </p:txBody>
      </p:sp>
      <p:sp>
        <p:nvSpPr>
          <p:cNvPr id="498" name="Google Shape;498;p10"/>
          <p:cNvSpPr/>
          <p:nvPr/>
        </p:nvSpPr>
        <p:spPr>
          <a:xfrm>
            <a:off x="4610100" y="3390900"/>
            <a:ext cx="2800350" cy="457200"/>
          </a:xfrm>
          <a:prstGeom prst="roundRect">
            <a:avLst>
              <a:gd fmla="val 16667" name="adj"/>
            </a:avLst>
          </a:prstGeom>
          <a:solidFill>
            <a:srgbClr val="F3E6E2"/>
          </a:solidFill>
          <a:ln cap="flat" cmpd="sng" w="9525">
            <a:solidFill>
              <a:srgbClr val="B8504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9" name="Google Shape;499;p10"/>
          <p:cNvSpPr/>
          <p:nvPr/>
        </p:nvSpPr>
        <p:spPr>
          <a:xfrm>
            <a:off x="4743450" y="3448050"/>
            <a:ext cx="2533650" cy="3429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B85042"/>
              </a:buClr>
              <a:buSzPts val="1500"/>
              <a:buFont typeface="Arial"/>
              <a:buNone/>
            </a:pPr>
            <a:r>
              <a:rPr b="1" lang="en-US" sz="1500">
                <a:solidFill>
                  <a:srgbClr val="B85042"/>
                </a:solidFill>
              </a:rPr>
              <a:t>3 / 7 / 11</a:t>
            </a:r>
            <a:endParaRPr/>
          </a:p>
        </p:txBody>
      </p:sp>
      <p:sp>
        <p:nvSpPr>
          <p:cNvPr id="500" name="Google Shape;500;p10"/>
          <p:cNvSpPr/>
          <p:nvPr/>
        </p:nvSpPr>
        <p:spPr>
          <a:xfrm>
            <a:off x="4610100" y="4000500"/>
            <a:ext cx="2800350" cy="7048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1050"/>
              <a:buFont typeface="Arial"/>
              <a:buNone/>
            </a:pPr>
            <a:r>
              <a:rPr lang="en-US" sz="1050">
                <a:solidFill>
                  <a:srgbClr val="666B70"/>
                </a:solidFill>
              </a:rPr>
              <a:t>Dynamic hierarchy · stable identifiers · source mapping · acceptance criteria for every story</a:t>
            </a:r>
            <a:endParaRPr/>
          </a:p>
        </p:txBody>
      </p:sp>
      <p:sp>
        <p:nvSpPr>
          <p:cNvPr id="501" name="Google Shape;501;p10"/>
          <p:cNvSpPr/>
          <p:nvPr/>
        </p:nvSpPr>
        <p:spPr>
          <a:xfrm>
            <a:off x="4610100" y="4867275"/>
            <a:ext cx="2800350" cy="190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B85042"/>
              </a:buClr>
              <a:buSzPts val="788"/>
              <a:buFont typeface="Arial"/>
              <a:buNone/>
            </a:pPr>
            <a:r>
              <a:rPr b="1" lang="en-US" sz="788">
                <a:solidFill>
                  <a:srgbClr val="B85042"/>
                </a:solidFill>
              </a:rPr>
              <a:t>REPRESENTATIVE EXCERPT</a:t>
            </a:r>
            <a:endParaRPr/>
          </a:p>
        </p:txBody>
      </p:sp>
      <p:sp>
        <p:nvSpPr>
          <p:cNvPr id="502" name="Google Shape;502;p10"/>
          <p:cNvSpPr/>
          <p:nvPr/>
        </p:nvSpPr>
        <p:spPr>
          <a:xfrm>
            <a:off x="4610100" y="5124450"/>
            <a:ext cx="2800350" cy="533400"/>
          </a:xfrm>
          <a:prstGeom prst="roundRect">
            <a:avLst>
              <a:gd fmla="val 14286" name="adj"/>
            </a:avLst>
          </a:prstGeom>
          <a:solidFill>
            <a:srgbClr val="F3E6E2"/>
          </a:solidFill>
          <a:ln cap="flat" cmpd="sng" w="9525">
            <a:solidFill>
              <a:srgbClr val="F3E6E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3" name="Google Shape;503;p10"/>
          <p:cNvSpPr/>
          <p:nvPr/>
        </p:nvSpPr>
        <p:spPr>
          <a:xfrm>
            <a:off x="4724400" y="5162550"/>
            <a:ext cx="2571750" cy="4572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885"/>
              <a:buFont typeface="Arial"/>
              <a:buNone/>
            </a:pPr>
            <a:r>
              <a:rPr b="1" lang="en-US" sz="885">
                <a:solidFill>
                  <a:srgbClr val="1A1A2E"/>
                </a:solidFill>
              </a:rPr>
              <a:t>Epic 1: Analytics Insights</a:t>
            </a:r>
            <a:endParaRPr/>
          </a:p>
          <a:p>
            <a:pPr indent="0" lvl="0" marL="0" marR="0" rtl="0" algn="l">
              <a:spcBef>
                <a:spcPts val="0"/>
              </a:spcBef>
              <a:spcAft>
                <a:spcPts val="0"/>
              </a:spcAft>
              <a:buClr>
                <a:srgbClr val="1A1A2E"/>
              </a:buClr>
              <a:buSzPts val="885"/>
              <a:buFont typeface="Arial"/>
              <a:buNone/>
            </a:pPr>
            <a:r>
              <a:rPr b="1" lang="en-US" sz="885">
                <a:solidFill>
                  <a:srgbClr val="1A1A2E"/>
                </a:solidFill>
              </a:rPr>
              <a:t>Feature: Dashboard Insights</a:t>
            </a:r>
            <a:endParaRPr/>
          </a:p>
          <a:p>
            <a:pPr indent="0" lvl="0" marL="0" marR="0" rtl="0" algn="l">
              <a:spcBef>
                <a:spcPts val="0"/>
              </a:spcBef>
              <a:spcAft>
                <a:spcPts val="0"/>
              </a:spcAft>
              <a:buClr>
                <a:srgbClr val="1A1A2E"/>
              </a:buClr>
              <a:buSzPts val="885"/>
              <a:buFont typeface="Arial"/>
              <a:buNone/>
            </a:pPr>
            <a:r>
              <a:rPr b="1" lang="en-US" sz="885">
                <a:solidFill>
                  <a:srgbClr val="1A1A2E"/>
                </a:solidFill>
              </a:rPr>
              <a:t>Story: Display five core metrics</a:t>
            </a:r>
            <a:endParaRPr/>
          </a:p>
        </p:txBody>
      </p:sp>
      <p:sp>
        <p:nvSpPr>
          <p:cNvPr id="504" name="Google Shape;504;p10"/>
          <p:cNvSpPr/>
          <p:nvPr/>
        </p:nvSpPr>
        <p:spPr>
          <a:xfrm>
            <a:off x="8020050" y="2400300"/>
            <a:ext cx="3219450" cy="3448050"/>
          </a:xfrm>
          <a:prstGeom prst="roundRect">
            <a:avLst>
              <a:gd fmla="val 2367" name="adj"/>
            </a:avLst>
          </a:prstGeom>
          <a:solidFill>
            <a:srgbClr val="FFFFFF"/>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5" name="Google Shape;505;p10"/>
          <p:cNvSpPr/>
          <p:nvPr/>
        </p:nvSpPr>
        <p:spPr>
          <a:xfrm>
            <a:off x="8020050" y="2400300"/>
            <a:ext cx="3219450" cy="85725"/>
          </a:xfrm>
          <a:prstGeom prst="rect">
            <a:avLst/>
          </a:prstGeom>
          <a:solidFill>
            <a:srgbClr val="2F6F57"/>
          </a:solidFill>
          <a:ln cap="flat" cmpd="sng" w="9525">
            <a:solidFill>
              <a:srgbClr val="2F6F5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6" name="Google Shape;506;p10"/>
          <p:cNvSpPr/>
          <p:nvPr/>
        </p:nvSpPr>
        <p:spPr>
          <a:xfrm>
            <a:off x="8229600" y="2609850"/>
            <a:ext cx="400050" cy="2095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F6F57"/>
              </a:buClr>
              <a:buSzPts val="900"/>
              <a:buFont typeface="Arial"/>
              <a:buNone/>
            </a:pPr>
            <a:r>
              <a:rPr b="1" lang="en-US" sz="900">
                <a:solidFill>
                  <a:srgbClr val="2F6F57"/>
                </a:solidFill>
              </a:rPr>
              <a:t>03</a:t>
            </a:r>
            <a:endParaRPr/>
          </a:p>
        </p:txBody>
      </p:sp>
      <p:sp>
        <p:nvSpPr>
          <p:cNvPr id="507" name="Google Shape;507;p10"/>
          <p:cNvSpPr/>
          <p:nvPr/>
        </p:nvSpPr>
        <p:spPr>
          <a:xfrm>
            <a:off x="8229600" y="2886075"/>
            <a:ext cx="2800350" cy="4000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1725"/>
              <a:buFont typeface="Arial"/>
              <a:buNone/>
            </a:pPr>
            <a:r>
              <a:rPr b="1" lang="en-US" sz="1725">
                <a:solidFill>
                  <a:srgbClr val="1A1A2E"/>
                </a:solidFill>
              </a:rPr>
              <a:t>T-shirt Sizing</a:t>
            </a:r>
            <a:endParaRPr/>
          </a:p>
        </p:txBody>
      </p:sp>
      <p:sp>
        <p:nvSpPr>
          <p:cNvPr id="508" name="Google Shape;508;p10"/>
          <p:cNvSpPr/>
          <p:nvPr/>
        </p:nvSpPr>
        <p:spPr>
          <a:xfrm>
            <a:off x="8229600" y="3390900"/>
            <a:ext cx="2800350" cy="457200"/>
          </a:xfrm>
          <a:prstGeom prst="roundRect">
            <a:avLst>
              <a:gd fmla="val 16667" name="adj"/>
            </a:avLst>
          </a:prstGeom>
          <a:solidFill>
            <a:srgbClr val="E6F0EB"/>
          </a:solidFill>
          <a:ln cap="flat" cmpd="sng" w="9525">
            <a:solidFill>
              <a:srgbClr val="2F6F5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9" name="Google Shape;509;p10"/>
          <p:cNvSpPr/>
          <p:nvPr/>
        </p:nvSpPr>
        <p:spPr>
          <a:xfrm>
            <a:off x="8362950" y="3448050"/>
            <a:ext cx="2533650" cy="3429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F6F57"/>
              </a:buClr>
              <a:buSzPts val="1500"/>
              <a:buFont typeface="Arial"/>
              <a:buNone/>
            </a:pPr>
            <a:r>
              <a:rPr b="1" lang="en-US" sz="1500">
                <a:solidFill>
                  <a:srgbClr val="2F6F57"/>
                </a:solidFill>
              </a:rPr>
              <a:t>11 / 11 stories</a:t>
            </a:r>
            <a:endParaRPr/>
          </a:p>
        </p:txBody>
      </p:sp>
      <p:sp>
        <p:nvSpPr>
          <p:cNvPr id="510" name="Google Shape;510;p10"/>
          <p:cNvSpPr/>
          <p:nvPr/>
        </p:nvSpPr>
        <p:spPr>
          <a:xfrm>
            <a:off x="8229600" y="4000500"/>
            <a:ext cx="2800350" cy="7048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1050"/>
              <a:buFont typeface="Arial"/>
              <a:buNone/>
            </a:pPr>
            <a:r>
              <a:rPr lang="en-US" sz="1050">
                <a:solidFill>
                  <a:srgbClr val="666B70"/>
                </a:solidFill>
              </a:rPr>
              <a:t>Proposed size · confidence · rationale · refinement guidance · non-blocking planning policy</a:t>
            </a:r>
            <a:endParaRPr/>
          </a:p>
        </p:txBody>
      </p:sp>
      <p:sp>
        <p:nvSpPr>
          <p:cNvPr id="511" name="Google Shape;511;p10"/>
          <p:cNvSpPr/>
          <p:nvPr/>
        </p:nvSpPr>
        <p:spPr>
          <a:xfrm>
            <a:off x="8229600" y="4867275"/>
            <a:ext cx="2800350" cy="190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F6F57"/>
              </a:buClr>
              <a:buSzPts val="788"/>
              <a:buFont typeface="Arial"/>
              <a:buNone/>
            </a:pPr>
            <a:r>
              <a:rPr b="1" lang="en-US" sz="788">
                <a:solidFill>
                  <a:srgbClr val="2F6F57"/>
                </a:solidFill>
              </a:rPr>
              <a:t>REPRESENTATIVE FORMAT</a:t>
            </a:r>
            <a:endParaRPr/>
          </a:p>
        </p:txBody>
      </p:sp>
      <p:sp>
        <p:nvSpPr>
          <p:cNvPr id="512" name="Google Shape;512;p10"/>
          <p:cNvSpPr/>
          <p:nvPr/>
        </p:nvSpPr>
        <p:spPr>
          <a:xfrm>
            <a:off x="8229600" y="5124450"/>
            <a:ext cx="2800350" cy="533400"/>
          </a:xfrm>
          <a:prstGeom prst="roundRect">
            <a:avLst>
              <a:gd fmla="val 14286" name="adj"/>
            </a:avLst>
          </a:prstGeom>
          <a:solidFill>
            <a:srgbClr val="E6F0EB"/>
          </a:solidFill>
          <a:ln cap="flat" cmpd="sng" w="9525">
            <a:solidFill>
              <a:srgbClr val="E6F0E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3" name="Google Shape;513;p10"/>
          <p:cNvSpPr/>
          <p:nvPr/>
        </p:nvSpPr>
        <p:spPr>
          <a:xfrm>
            <a:off x="8343900" y="5162550"/>
            <a:ext cx="2571750" cy="4572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885"/>
              <a:buFont typeface="Arial"/>
              <a:buNone/>
            </a:pPr>
            <a:r>
              <a:rPr b="1" lang="en-US" sz="885">
                <a:solidFill>
                  <a:srgbClr val="1A1A2E"/>
                </a:solidFill>
              </a:rPr>
              <a:t>Epic # · Story # · Feature</a:t>
            </a:r>
            <a:endParaRPr/>
          </a:p>
          <a:p>
            <a:pPr indent="0" lvl="0" marL="0" marR="0" rtl="0" algn="l">
              <a:spcBef>
                <a:spcPts val="0"/>
              </a:spcBef>
              <a:spcAft>
                <a:spcPts val="0"/>
              </a:spcAft>
              <a:buClr>
                <a:srgbClr val="1A1A2E"/>
              </a:buClr>
              <a:buSzPts val="885"/>
              <a:buFont typeface="Arial"/>
              <a:buNone/>
            </a:pPr>
            <a:r>
              <a:rPr b="1" lang="en-US" sz="885">
                <a:solidFill>
                  <a:srgbClr val="1A1A2E"/>
                </a:solidFill>
              </a:rPr>
              <a:t>Proposed Size · Confidence</a:t>
            </a:r>
            <a:endParaRPr/>
          </a:p>
          <a:p>
            <a:pPr indent="0" lvl="0" marL="0" marR="0" rtl="0" algn="l">
              <a:spcBef>
                <a:spcPts val="0"/>
              </a:spcBef>
              <a:spcAft>
                <a:spcPts val="0"/>
              </a:spcAft>
              <a:buClr>
                <a:srgbClr val="1A1A2E"/>
              </a:buClr>
              <a:buSzPts val="885"/>
              <a:buFont typeface="Arial"/>
              <a:buNone/>
            </a:pPr>
            <a:r>
              <a:rPr b="1" lang="en-US" sz="885">
                <a:solidFill>
                  <a:srgbClr val="1A1A2E"/>
                </a:solidFill>
              </a:rPr>
              <a:t>Items Requiring Refinement</a:t>
            </a:r>
            <a:endParaRPr/>
          </a:p>
        </p:txBody>
      </p:sp>
      <p:sp>
        <p:nvSpPr>
          <p:cNvPr id="514" name="Google Shape;514;p10"/>
          <p:cNvSpPr/>
          <p:nvPr/>
        </p:nvSpPr>
        <p:spPr>
          <a:xfrm>
            <a:off x="0" y="6172200"/>
            <a:ext cx="12192000" cy="685800"/>
          </a:xfrm>
          <a:prstGeom prst="rect">
            <a:avLst/>
          </a:prstGeom>
          <a:solidFill>
            <a:srgbClr val="1A1A2E"/>
          </a:solidFill>
          <a:ln cap="flat" cmpd="sng" w="9525">
            <a:solidFill>
              <a:srgbClr val="1A1A2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5" name="Google Shape;515;p10"/>
          <p:cNvSpPr/>
          <p:nvPr/>
        </p:nvSpPr>
        <p:spPr>
          <a:xfrm>
            <a:off x="781050" y="6267450"/>
            <a:ext cx="2095500" cy="2095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C9C6D8"/>
              </a:buClr>
              <a:buSzPts val="825"/>
              <a:buFont typeface="Arial"/>
              <a:buNone/>
            </a:pPr>
            <a:r>
              <a:rPr b="1" lang="en-US" sz="825">
                <a:solidFill>
                  <a:srgbClr val="C9C6D8"/>
                </a:solidFill>
              </a:rPr>
              <a:t>DELIVERY PACKAGE</a:t>
            </a:r>
            <a:endParaRPr/>
          </a:p>
        </p:txBody>
      </p:sp>
      <p:sp>
        <p:nvSpPr>
          <p:cNvPr id="516" name="Google Shape;516;p10"/>
          <p:cNvSpPr/>
          <p:nvPr/>
        </p:nvSpPr>
        <p:spPr>
          <a:xfrm>
            <a:off x="2571750" y="6267450"/>
            <a:ext cx="8858250" cy="4000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FFFFFF"/>
              </a:buClr>
              <a:buSzPts val="1350"/>
              <a:buFont typeface="Arial"/>
              <a:buNone/>
            </a:pPr>
            <a:r>
              <a:rPr b="1" lang="en-US" sz="1350">
                <a:solidFill>
                  <a:srgbClr val="FFFFFF"/>
                </a:solidFill>
              </a:rPr>
              <a:t>3 primary Markdown documents + structured summary and lineage support = 7 validated artifacts</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4EE"/>
        </a:solidFill>
      </p:bgPr>
    </p:bg>
    <p:spTree>
      <p:nvGrpSpPr>
        <p:cNvPr id="521" name="Shape 521"/>
        <p:cNvGrpSpPr/>
        <p:nvPr/>
      </p:nvGrpSpPr>
      <p:grpSpPr>
        <a:xfrm>
          <a:off x="0" y="0"/>
          <a:ext cx="0" cy="0"/>
          <a:chOff x="0" y="0"/>
          <a:chExt cx="0" cy="0"/>
        </a:xfrm>
      </p:grpSpPr>
      <p:sp>
        <p:nvSpPr>
          <p:cNvPr id="522" name="Google Shape;522;p11"/>
          <p:cNvSpPr/>
          <p:nvPr/>
        </p:nvSpPr>
        <p:spPr>
          <a:xfrm>
            <a:off x="0" y="0"/>
            <a:ext cx="12192000" cy="76200"/>
          </a:xfrm>
          <a:prstGeom prst="rect">
            <a:avLst/>
          </a:prstGeom>
          <a:solidFill>
            <a:srgbClr val="B85042"/>
          </a:solidFill>
          <a:ln cap="flat" cmpd="sng" w="9525">
            <a:solidFill>
              <a:srgbClr val="B8504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3" name="Google Shape;523;p11"/>
          <p:cNvSpPr/>
          <p:nvPr/>
        </p:nvSpPr>
        <p:spPr>
          <a:xfrm>
            <a:off x="514350" y="742950"/>
            <a:ext cx="66675" cy="866775"/>
          </a:xfrm>
          <a:prstGeom prst="rect">
            <a:avLst/>
          </a:prstGeom>
          <a:solidFill>
            <a:srgbClr val="B85042"/>
          </a:solidFill>
          <a:ln cap="flat" cmpd="sng" w="9525">
            <a:solidFill>
              <a:srgbClr val="B8504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4" name="Google Shape;524;p11"/>
          <p:cNvSpPr/>
          <p:nvPr/>
        </p:nvSpPr>
        <p:spPr>
          <a:xfrm>
            <a:off x="781050" y="552450"/>
            <a:ext cx="5524500" cy="2667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B85042"/>
              </a:buClr>
              <a:buSzPts val="975"/>
              <a:buFont typeface="Arial"/>
              <a:buNone/>
            </a:pPr>
            <a:r>
              <a:rPr b="1" lang="en-US" sz="975">
                <a:solidFill>
                  <a:srgbClr val="B85042"/>
                </a:solidFill>
              </a:rPr>
              <a:t>11  ·  BASELINE TESTING</a:t>
            </a:r>
            <a:endParaRPr/>
          </a:p>
        </p:txBody>
      </p:sp>
      <p:sp>
        <p:nvSpPr>
          <p:cNvPr id="525" name="Google Shape;525;p11"/>
          <p:cNvSpPr/>
          <p:nvPr/>
        </p:nvSpPr>
        <p:spPr>
          <a:xfrm>
            <a:off x="781050" y="885825"/>
            <a:ext cx="10648950" cy="5334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2550"/>
              <a:buFont typeface="Arial"/>
              <a:buNone/>
            </a:pPr>
            <a:r>
              <a:rPr b="1" lang="en-US" sz="2550">
                <a:solidFill>
                  <a:srgbClr val="1A1A2E"/>
                </a:solidFill>
              </a:rPr>
              <a:t>All 12 prescribed baseline scenarios are tested</a:t>
            </a:r>
            <a:endParaRPr/>
          </a:p>
        </p:txBody>
      </p:sp>
      <p:sp>
        <p:nvSpPr>
          <p:cNvPr id="526" name="Google Shape;526;p11"/>
          <p:cNvSpPr/>
          <p:nvPr/>
        </p:nvSpPr>
        <p:spPr>
          <a:xfrm>
            <a:off x="781050" y="1504950"/>
            <a:ext cx="10648950" cy="3048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1275"/>
              <a:buFont typeface="Arial"/>
              <a:buNone/>
            </a:pPr>
            <a:r>
              <a:rPr lang="en-US" sz="1275">
                <a:solidFill>
                  <a:srgbClr val="666B70"/>
                </a:solidFill>
              </a:rPr>
              <a:t>Independent ground truth verifies extraction behavior, document generation, and delivery decomposition.</a:t>
            </a:r>
            <a:endParaRPr/>
          </a:p>
        </p:txBody>
      </p:sp>
      <p:sp>
        <p:nvSpPr>
          <p:cNvPr id="527" name="Google Shape;527;p11"/>
          <p:cNvSpPr/>
          <p:nvPr/>
        </p:nvSpPr>
        <p:spPr>
          <a:xfrm>
            <a:off x="781050" y="2095500"/>
            <a:ext cx="10629900" cy="866775"/>
          </a:xfrm>
          <a:prstGeom prst="roundRect">
            <a:avLst>
              <a:gd fmla="val 8791" name="adj"/>
            </a:avLst>
          </a:prstGeom>
          <a:solidFill>
            <a:srgbClr val="1A1A2E"/>
          </a:solidFill>
          <a:ln cap="flat" cmpd="sng" w="9525">
            <a:solidFill>
              <a:srgbClr val="1A1A2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8" name="Google Shape;528;p11"/>
          <p:cNvSpPr/>
          <p:nvPr/>
        </p:nvSpPr>
        <p:spPr>
          <a:xfrm>
            <a:off x="1028700" y="2190750"/>
            <a:ext cx="2000250" cy="5143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FFFFFF"/>
              </a:buClr>
              <a:buSzPts val="2700"/>
              <a:buFont typeface="Arial"/>
              <a:buNone/>
            </a:pPr>
            <a:r>
              <a:rPr b="1" lang="en-US" sz="2700">
                <a:solidFill>
                  <a:srgbClr val="FFFFFF"/>
                </a:solidFill>
              </a:rPr>
              <a:t>12 / 12</a:t>
            </a:r>
            <a:endParaRPr/>
          </a:p>
        </p:txBody>
      </p:sp>
      <p:sp>
        <p:nvSpPr>
          <p:cNvPr id="529" name="Google Shape;529;p11"/>
          <p:cNvSpPr/>
          <p:nvPr/>
        </p:nvSpPr>
        <p:spPr>
          <a:xfrm>
            <a:off x="1028700" y="2628900"/>
            <a:ext cx="2000250" cy="2095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C9C6D8"/>
              </a:buClr>
              <a:buSzPts val="975"/>
              <a:buFont typeface="Arial"/>
              <a:buNone/>
            </a:pPr>
            <a:r>
              <a:rPr b="1" lang="en-US" sz="975">
                <a:solidFill>
                  <a:srgbClr val="C9C6D8"/>
                </a:solidFill>
              </a:rPr>
              <a:t>approved baseline cases</a:t>
            </a:r>
            <a:endParaRPr/>
          </a:p>
        </p:txBody>
      </p:sp>
      <p:sp>
        <p:nvSpPr>
          <p:cNvPr id="530" name="Google Shape;530;p11"/>
          <p:cNvSpPr/>
          <p:nvPr/>
        </p:nvSpPr>
        <p:spPr>
          <a:xfrm>
            <a:off x="3333750" y="2266950"/>
            <a:ext cx="19050" cy="523875"/>
          </a:xfrm>
          <a:prstGeom prst="rect">
            <a:avLst/>
          </a:prstGeom>
          <a:solidFill>
            <a:srgbClr val="44445A"/>
          </a:solidFill>
          <a:ln cap="flat" cmpd="sng" w="9525">
            <a:solidFill>
              <a:srgbClr val="44445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1" name="Google Shape;531;p11"/>
          <p:cNvSpPr/>
          <p:nvPr/>
        </p:nvSpPr>
        <p:spPr>
          <a:xfrm>
            <a:off x="3676650" y="2238375"/>
            <a:ext cx="7391400" cy="6096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FFFFFF"/>
              </a:buClr>
              <a:buSzPts val="1275"/>
              <a:buFont typeface="Arial"/>
              <a:buNone/>
            </a:pPr>
            <a:r>
              <a:rPr lang="en-US" sz="1275">
                <a:solidFill>
                  <a:srgbClr val="FFFFFF"/>
                </a:solidFill>
              </a:rPr>
              <a:t>The baseline tests what the system does when inputs are clear, ambiguous, conflicting, incomplete, highly specific, or empty—before validating the two generated planning documents.</a:t>
            </a:r>
            <a:endParaRPr/>
          </a:p>
        </p:txBody>
      </p:sp>
      <p:sp>
        <p:nvSpPr>
          <p:cNvPr id="532" name="Google Shape;532;p11"/>
          <p:cNvSpPr/>
          <p:nvPr/>
        </p:nvSpPr>
        <p:spPr>
          <a:xfrm>
            <a:off x="1524000" y="3571875"/>
            <a:ext cx="9144000" cy="38100"/>
          </a:xfrm>
          <a:prstGeom prst="rect">
            <a:avLst/>
          </a:prstGeom>
          <a:solidFill>
            <a:srgbClr val="DED8D0"/>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3" name="Google Shape;533;p11"/>
          <p:cNvSpPr/>
          <p:nvPr/>
        </p:nvSpPr>
        <p:spPr>
          <a:xfrm>
            <a:off x="1009650" y="3438525"/>
            <a:ext cx="285750" cy="285750"/>
          </a:xfrm>
          <a:prstGeom prst="roundRect">
            <a:avLst>
              <a:gd fmla="val 26667" name="adj"/>
            </a:avLst>
          </a:prstGeom>
          <a:solidFill>
            <a:srgbClr val="3B6EBF"/>
          </a:solidFill>
          <a:ln cap="flat" cmpd="sng" w="9525">
            <a:solidFill>
              <a:srgbClr val="3B6EB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4" name="Google Shape;534;p11"/>
          <p:cNvSpPr/>
          <p:nvPr/>
        </p:nvSpPr>
        <p:spPr>
          <a:xfrm>
            <a:off x="1409700" y="3295650"/>
            <a:ext cx="5143500" cy="25717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3B6EBF"/>
              </a:buClr>
              <a:buSzPts val="1050"/>
              <a:buFont typeface="Arial"/>
              <a:buNone/>
            </a:pPr>
            <a:r>
              <a:rPr b="1" lang="en-US" sz="1050">
                <a:solidFill>
                  <a:srgbClr val="3B6EBF"/>
                </a:solidFill>
              </a:rPr>
              <a:t>T1–T10</a:t>
            </a:r>
            <a:endParaRPr/>
          </a:p>
        </p:txBody>
      </p:sp>
      <p:sp>
        <p:nvSpPr>
          <p:cNvPr id="535" name="Google Shape;535;p11"/>
          <p:cNvSpPr/>
          <p:nvPr/>
        </p:nvSpPr>
        <p:spPr>
          <a:xfrm>
            <a:off x="990600" y="3781425"/>
            <a:ext cx="5391150" cy="3238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1650"/>
              <a:buFont typeface="Arial"/>
              <a:buNone/>
            </a:pPr>
            <a:r>
              <a:rPr b="1" lang="en-US" sz="1650">
                <a:solidFill>
                  <a:srgbClr val="1A1A2E"/>
                </a:solidFill>
              </a:rPr>
              <a:t>Requirement extraction</a:t>
            </a:r>
            <a:endParaRPr/>
          </a:p>
        </p:txBody>
      </p:sp>
      <p:sp>
        <p:nvSpPr>
          <p:cNvPr id="536" name="Google Shape;536;p11"/>
          <p:cNvSpPr/>
          <p:nvPr/>
        </p:nvSpPr>
        <p:spPr>
          <a:xfrm>
            <a:off x="990600" y="4171950"/>
            <a:ext cx="5391150" cy="52387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1125"/>
              <a:buFont typeface="Arial"/>
              <a:buNone/>
            </a:pPr>
            <a:r>
              <a:rPr lang="en-US" sz="1125">
                <a:solidFill>
                  <a:srgbClr val="666B70"/>
                </a:solidFill>
              </a:rPr>
              <a:t>Detailed · vague · contradictory · incomplete · persona · technical · dependency · empty inputs</a:t>
            </a:r>
            <a:endParaRPr/>
          </a:p>
        </p:txBody>
      </p:sp>
      <p:sp>
        <p:nvSpPr>
          <p:cNvPr id="537" name="Google Shape;537;p11"/>
          <p:cNvSpPr/>
          <p:nvPr/>
        </p:nvSpPr>
        <p:spPr>
          <a:xfrm>
            <a:off x="990600" y="4905375"/>
            <a:ext cx="5391150" cy="409575"/>
          </a:xfrm>
          <a:prstGeom prst="roundRect">
            <a:avLst>
              <a:gd fmla="val 18605" name="adj"/>
            </a:avLst>
          </a:prstGeom>
          <a:solidFill>
            <a:srgbClr val="E8EFF9"/>
          </a:solidFill>
          <a:ln cap="flat" cmpd="sng" w="9525">
            <a:solidFill>
              <a:srgbClr val="E8EFF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8" name="Google Shape;538;p11"/>
          <p:cNvSpPr/>
          <p:nvPr/>
        </p:nvSpPr>
        <p:spPr>
          <a:xfrm>
            <a:off x="1104900" y="4962525"/>
            <a:ext cx="5162550" cy="2762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3B6EBF"/>
              </a:buClr>
              <a:buSzPts val="1125"/>
              <a:buFont typeface="Arial"/>
              <a:buNone/>
            </a:pPr>
            <a:r>
              <a:rPr b="1" lang="en-US" sz="1125">
                <a:solidFill>
                  <a:srgbClr val="3B6EBF"/>
                </a:solidFill>
              </a:rPr>
              <a:t>10 / 10 controls passed</a:t>
            </a:r>
            <a:endParaRPr/>
          </a:p>
        </p:txBody>
      </p:sp>
      <p:sp>
        <p:nvSpPr>
          <p:cNvPr id="539" name="Google Shape;539;p11"/>
          <p:cNvSpPr/>
          <p:nvPr/>
        </p:nvSpPr>
        <p:spPr>
          <a:xfrm>
            <a:off x="7086600" y="3438525"/>
            <a:ext cx="285750" cy="285750"/>
          </a:xfrm>
          <a:prstGeom prst="roundRect">
            <a:avLst>
              <a:gd fmla="val 26667" name="adj"/>
            </a:avLst>
          </a:prstGeom>
          <a:solidFill>
            <a:srgbClr val="B85042"/>
          </a:solidFill>
          <a:ln cap="flat" cmpd="sng" w="9525">
            <a:solidFill>
              <a:srgbClr val="B8504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0" name="Google Shape;540;p11"/>
          <p:cNvSpPr/>
          <p:nvPr/>
        </p:nvSpPr>
        <p:spPr>
          <a:xfrm>
            <a:off x="7486650" y="3295650"/>
            <a:ext cx="1447800" cy="25717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B85042"/>
              </a:buClr>
              <a:buSzPts val="1050"/>
              <a:buFont typeface="Arial"/>
              <a:buNone/>
            </a:pPr>
            <a:r>
              <a:rPr b="1" lang="en-US" sz="1050">
                <a:solidFill>
                  <a:srgbClr val="B85042"/>
                </a:solidFill>
              </a:rPr>
              <a:t>T11</a:t>
            </a:r>
            <a:endParaRPr/>
          </a:p>
        </p:txBody>
      </p:sp>
      <p:sp>
        <p:nvSpPr>
          <p:cNvPr id="541" name="Google Shape;541;p11"/>
          <p:cNvSpPr/>
          <p:nvPr/>
        </p:nvSpPr>
        <p:spPr>
          <a:xfrm>
            <a:off x="7067550" y="3781425"/>
            <a:ext cx="1695450" cy="3238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1425"/>
              <a:buFont typeface="Arial"/>
              <a:buNone/>
            </a:pPr>
            <a:r>
              <a:rPr b="1" lang="en-US" sz="1425">
                <a:solidFill>
                  <a:srgbClr val="1A1A2E"/>
                </a:solidFill>
              </a:rPr>
              <a:t>PRD generation</a:t>
            </a:r>
            <a:endParaRPr/>
          </a:p>
        </p:txBody>
      </p:sp>
      <p:sp>
        <p:nvSpPr>
          <p:cNvPr id="542" name="Google Shape;542;p11"/>
          <p:cNvSpPr/>
          <p:nvPr/>
        </p:nvSpPr>
        <p:spPr>
          <a:xfrm>
            <a:off x="7067550" y="4171950"/>
            <a:ext cx="1695450" cy="6572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1050"/>
              <a:buFont typeface="Arial"/>
              <a:buNone/>
            </a:pPr>
            <a:r>
              <a:rPr lang="en-US" sz="1050">
                <a:solidFill>
                  <a:srgbClr val="666B70"/>
                </a:solidFill>
              </a:rPr>
              <a:t>Approved evidence → grounded ten-section PRD</a:t>
            </a:r>
            <a:endParaRPr/>
          </a:p>
        </p:txBody>
      </p:sp>
      <p:sp>
        <p:nvSpPr>
          <p:cNvPr id="543" name="Google Shape;543;p11"/>
          <p:cNvSpPr/>
          <p:nvPr/>
        </p:nvSpPr>
        <p:spPr>
          <a:xfrm>
            <a:off x="7067550" y="4905375"/>
            <a:ext cx="1695450" cy="409575"/>
          </a:xfrm>
          <a:prstGeom prst="roundRect">
            <a:avLst>
              <a:gd fmla="val 18605" name="adj"/>
            </a:avLst>
          </a:prstGeom>
          <a:solidFill>
            <a:srgbClr val="F3E6E2"/>
          </a:solidFill>
          <a:ln cap="flat" cmpd="sng" w="9525">
            <a:solidFill>
              <a:srgbClr val="F3E6E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4" name="Google Shape;544;p11"/>
          <p:cNvSpPr/>
          <p:nvPr/>
        </p:nvSpPr>
        <p:spPr>
          <a:xfrm>
            <a:off x="7181850" y="4962525"/>
            <a:ext cx="1466850" cy="2762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B85042"/>
              </a:buClr>
              <a:buSzPts val="1125"/>
              <a:buFont typeface="Arial"/>
              <a:buNone/>
            </a:pPr>
            <a:r>
              <a:rPr b="1" lang="en-US" sz="1125">
                <a:solidFill>
                  <a:srgbClr val="B85042"/>
                </a:solidFill>
              </a:rPr>
              <a:t>PASS</a:t>
            </a:r>
            <a:endParaRPr/>
          </a:p>
        </p:txBody>
      </p:sp>
      <p:sp>
        <p:nvSpPr>
          <p:cNvPr id="545" name="Google Shape;545;p11"/>
          <p:cNvSpPr/>
          <p:nvPr/>
        </p:nvSpPr>
        <p:spPr>
          <a:xfrm>
            <a:off x="9467850" y="3438525"/>
            <a:ext cx="285750" cy="285750"/>
          </a:xfrm>
          <a:prstGeom prst="roundRect">
            <a:avLst>
              <a:gd fmla="val 26667" name="adj"/>
            </a:avLst>
          </a:prstGeom>
          <a:solidFill>
            <a:srgbClr val="2F6F57"/>
          </a:solidFill>
          <a:ln cap="flat" cmpd="sng" w="9525">
            <a:solidFill>
              <a:srgbClr val="2F6F5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6" name="Google Shape;546;p11"/>
          <p:cNvSpPr/>
          <p:nvPr/>
        </p:nvSpPr>
        <p:spPr>
          <a:xfrm>
            <a:off x="9867900" y="3295650"/>
            <a:ext cx="1504950" cy="25717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F6F57"/>
              </a:buClr>
              <a:buSzPts val="1050"/>
              <a:buFont typeface="Arial"/>
              <a:buNone/>
            </a:pPr>
            <a:r>
              <a:rPr b="1" lang="en-US" sz="1050">
                <a:solidFill>
                  <a:srgbClr val="2F6F57"/>
                </a:solidFill>
              </a:rPr>
              <a:t>T12</a:t>
            </a:r>
            <a:endParaRPr/>
          </a:p>
        </p:txBody>
      </p:sp>
      <p:sp>
        <p:nvSpPr>
          <p:cNvPr id="547" name="Google Shape;547;p11"/>
          <p:cNvSpPr/>
          <p:nvPr/>
        </p:nvSpPr>
        <p:spPr>
          <a:xfrm>
            <a:off x="9448800" y="3781425"/>
            <a:ext cx="1752600" cy="3238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1425"/>
              <a:buFont typeface="Arial"/>
              <a:buNone/>
            </a:pPr>
            <a:r>
              <a:rPr b="1" lang="en-US" sz="1425">
                <a:solidFill>
                  <a:srgbClr val="1A1A2E"/>
                </a:solidFill>
              </a:rPr>
              <a:t>Story breakdown</a:t>
            </a:r>
            <a:endParaRPr/>
          </a:p>
        </p:txBody>
      </p:sp>
      <p:sp>
        <p:nvSpPr>
          <p:cNvPr id="548" name="Google Shape;548;p11"/>
          <p:cNvSpPr/>
          <p:nvPr/>
        </p:nvSpPr>
        <p:spPr>
          <a:xfrm>
            <a:off x="9448800" y="4171950"/>
            <a:ext cx="1752600" cy="6572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1050"/>
              <a:buFont typeface="Arial"/>
              <a:buNone/>
            </a:pPr>
            <a:r>
              <a:rPr lang="en-US" sz="1050">
                <a:solidFill>
                  <a:srgbClr val="666B70"/>
                </a:solidFill>
              </a:rPr>
              <a:t>Approved PRD → Epic → Feature → Story → criteria</a:t>
            </a:r>
            <a:endParaRPr/>
          </a:p>
        </p:txBody>
      </p:sp>
      <p:sp>
        <p:nvSpPr>
          <p:cNvPr id="549" name="Google Shape;549;p11"/>
          <p:cNvSpPr/>
          <p:nvPr/>
        </p:nvSpPr>
        <p:spPr>
          <a:xfrm>
            <a:off x="9448800" y="4905375"/>
            <a:ext cx="1752600" cy="409575"/>
          </a:xfrm>
          <a:prstGeom prst="roundRect">
            <a:avLst>
              <a:gd fmla="val 18605" name="adj"/>
            </a:avLst>
          </a:prstGeom>
          <a:solidFill>
            <a:srgbClr val="E6F0EB"/>
          </a:solidFill>
          <a:ln cap="flat" cmpd="sng" w="9525">
            <a:solidFill>
              <a:srgbClr val="E6F0E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0" name="Google Shape;550;p11"/>
          <p:cNvSpPr/>
          <p:nvPr/>
        </p:nvSpPr>
        <p:spPr>
          <a:xfrm>
            <a:off x="9563100" y="4962525"/>
            <a:ext cx="1524000" cy="2762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F6F57"/>
              </a:buClr>
              <a:buSzPts val="1125"/>
              <a:buFont typeface="Arial"/>
              <a:buNone/>
            </a:pPr>
            <a:r>
              <a:rPr b="1" lang="en-US" sz="1125">
                <a:solidFill>
                  <a:srgbClr val="2F6F57"/>
                </a:solidFill>
              </a:rPr>
              <a:t>PASS</a:t>
            </a:r>
            <a:endParaRPr/>
          </a:p>
        </p:txBody>
      </p:sp>
      <p:sp>
        <p:nvSpPr>
          <p:cNvPr id="551" name="Google Shape;551;p11"/>
          <p:cNvSpPr/>
          <p:nvPr/>
        </p:nvSpPr>
        <p:spPr>
          <a:xfrm>
            <a:off x="781050" y="5572125"/>
            <a:ext cx="1905000" cy="190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B85042"/>
              </a:buClr>
              <a:buSzPts val="825"/>
              <a:buFont typeface="Arial"/>
              <a:buNone/>
            </a:pPr>
            <a:r>
              <a:rPr b="1" lang="en-US" sz="825">
                <a:solidFill>
                  <a:srgbClr val="B85042"/>
                </a:solidFill>
              </a:rPr>
              <a:t>THE BASELINE PROVES</a:t>
            </a:r>
            <a:endParaRPr/>
          </a:p>
        </p:txBody>
      </p:sp>
      <p:sp>
        <p:nvSpPr>
          <p:cNvPr id="552" name="Google Shape;552;p11"/>
          <p:cNvSpPr/>
          <p:nvPr/>
        </p:nvSpPr>
        <p:spPr>
          <a:xfrm>
            <a:off x="2476500" y="5514975"/>
            <a:ext cx="8934450" cy="3048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1088"/>
              <a:buFont typeface="Arial"/>
              <a:buNone/>
            </a:pPr>
            <a:r>
              <a:rPr b="1" lang="en-US" sz="1088">
                <a:solidFill>
                  <a:srgbClr val="1A1A2E"/>
                </a:solidFill>
              </a:rPr>
              <a:t>Exact values preserved  ·  Ambiguity flagged without invention  ·  Acceptance criteria mapped  ·  Evidence captured</a:t>
            </a:r>
            <a:endParaRPr/>
          </a:p>
        </p:txBody>
      </p:sp>
      <p:sp>
        <p:nvSpPr>
          <p:cNvPr id="553" name="Google Shape;553;p11"/>
          <p:cNvSpPr/>
          <p:nvPr/>
        </p:nvSpPr>
        <p:spPr>
          <a:xfrm>
            <a:off x="0" y="6172200"/>
            <a:ext cx="12192000" cy="685800"/>
          </a:xfrm>
          <a:prstGeom prst="rect">
            <a:avLst/>
          </a:prstGeom>
          <a:solidFill>
            <a:srgbClr val="1A1A2E"/>
          </a:solidFill>
          <a:ln cap="flat" cmpd="sng" w="9525">
            <a:solidFill>
              <a:srgbClr val="1A1A2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4" name="Google Shape;554;p11"/>
          <p:cNvSpPr/>
          <p:nvPr/>
        </p:nvSpPr>
        <p:spPr>
          <a:xfrm>
            <a:off x="781050" y="6267450"/>
            <a:ext cx="2381250" cy="2095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C9C6D8"/>
              </a:buClr>
              <a:buSzPts val="825"/>
              <a:buFont typeface="Arial"/>
              <a:buNone/>
            </a:pPr>
            <a:r>
              <a:rPr b="1" lang="en-US" sz="825">
                <a:solidFill>
                  <a:srgbClr val="C9C6D8"/>
                </a:solidFill>
              </a:rPr>
              <a:t>VERIFIABLE EVIDENCE</a:t>
            </a:r>
            <a:endParaRPr/>
          </a:p>
        </p:txBody>
      </p:sp>
      <p:sp>
        <p:nvSpPr>
          <p:cNvPr id="555" name="Google Shape;555;p11"/>
          <p:cNvSpPr/>
          <p:nvPr/>
        </p:nvSpPr>
        <p:spPr>
          <a:xfrm>
            <a:off x="2952750" y="6267450"/>
            <a:ext cx="8458200" cy="4000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FFFFFF"/>
              </a:buClr>
              <a:buSzPts val="1275"/>
              <a:buFont typeface="Arial"/>
              <a:buNone/>
            </a:pPr>
            <a:r>
              <a:rPr b="1" lang="en-US" sz="1275">
                <a:solidFill>
                  <a:srgbClr val="FFFFFF"/>
                </a:solidFill>
              </a:rPr>
              <a:t>Full T1–T12 matrix, expected checks, outputs, n8n executions, and Langfuse traces → Appendix A5</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4EE"/>
        </a:solidFill>
      </p:bgPr>
    </p:bg>
    <p:spTree>
      <p:nvGrpSpPr>
        <p:cNvPr id="560" name="Shape 560"/>
        <p:cNvGrpSpPr/>
        <p:nvPr/>
      </p:nvGrpSpPr>
      <p:grpSpPr>
        <a:xfrm>
          <a:off x="0" y="0"/>
          <a:ext cx="0" cy="0"/>
          <a:chOff x="0" y="0"/>
          <a:chExt cx="0" cy="0"/>
        </a:xfrm>
      </p:grpSpPr>
      <p:sp>
        <p:nvSpPr>
          <p:cNvPr id="561" name="Google Shape;561;p12"/>
          <p:cNvSpPr/>
          <p:nvPr/>
        </p:nvSpPr>
        <p:spPr>
          <a:xfrm>
            <a:off x="0" y="0"/>
            <a:ext cx="12192000" cy="76200"/>
          </a:xfrm>
          <a:prstGeom prst="rect">
            <a:avLst/>
          </a:prstGeom>
          <a:solidFill>
            <a:srgbClr val="B85042"/>
          </a:solidFill>
          <a:ln cap="flat" cmpd="sng" w="9525">
            <a:solidFill>
              <a:srgbClr val="B8504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2" name="Google Shape;562;p12"/>
          <p:cNvSpPr/>
          <p:nvPr/>
        </p:nvSpPr>
        <p:spPr>
          <a:xfrm>
            <a:off x="514350" y="742950"/>
            <a:ext cx="66675" cy="866775"/>
          </a:xfrm>
          <a:prstGeom prst="rect">
            <a:avLst/>
          </a:prstGeom>
          <a:solidFill>
            <a:srgbClr val="B85042"/>
          </a:solidFill>
          <a:ln cap="flat" cmpd="sng" w="9525">
            <a:solidFill>
              <a:srgbClr val="B8504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3" name="Google Shape;563;p12"/>
          <p:cNvSpPr/>
          <p:nvPr/>
        </p:nvSpPr>
        <p:spPr>
          <a:xfrm>
            <a:off x="781050" y="552450"/>
            <a:ext cx="5905500" cy="2667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B85042"/>
              </a:buClr>
              <a:buSzPts val="975"/>
              <a:buFont typeface="Arial"/>
              <a:buNone/>
            </a:pPr>
            <a:r>
              <a:rPr b="1" lang="en-US" sz="975">
                <a:solidFill>
                  <a:srgbClr val="B85042"/>
                </a:solidFill>
              </a:rPr>
              <a:t>12  ·  EVALUATION &amp; OBSERVABILITY</a:t>
            </a:r>
            <a:endParaRPr/>
          </a:p>
        </p:txBody>
      </p:sp>
      <p:sp>
        <p:nvSpPr>
          <p:cNvPr id="564" name="Google Shape;564;p12"/>
          <p:cNvSpPr/>
          <p:nvPr/>
        </p:nvSpPr>
        <p:spPr>
          <a:xfrm>
            <a:off x="781050" y="885825"/>
            <a:ext cx="10648950" cy="6858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2475"/>
              <a:buFont typeface="Arial"/>
              <a:buNone/>
            </a:pPr>
            <a:r>
              <a:rPr b="1" lang="en-US" sz="2475">
                <a:solidFill>
                  <a:srgbClr val="1A1A2E"/>
                </a:solidFill>
              </a:rPr>
              <a:t>Deterministic and LLM evaluators measure different failure modes</a:t>
            </a:r>
            <a:endParaRPr/>
          </a:p>
        </p:txBody>
      </p:sp>
      <p:sp>
        <p:nvSpPr>
          <p:cNvPr id="565" name="Google Shape;565;p12"/>
          <p:cNvSpPr/>
          <p:nvPr/>
        </p:nvSpPr>
        <p:spPr>
          <a:xfrm>
            <a:off x="781050" y="1619250"/>
            <a:ext cx="10648950" cy="3238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1275"/>
              <a:buFont typeface="Arial"/>
              <a:buNone/>
            </a:pPr>
            <a:r>
              <a:rPr lang="en-US" sz="1275">
                <a:solidFill>
                  <a:srgbClr val="666B70"/>
                </a:solidFill>
              </a:rPr>
              <a:t>Release confidence comes from combining exact contract checks with evidence-grounded semantic judgment.</a:t>
            </a:r>
            <a:endParaRPr/>
          </a:p>
        </p:txBody>
      </p:sp>
      <p:sp>
        <p:nvSpPr>
          <p:cNvPr id="566" name="Google Shape;566;p12"/>
          <p:cNvSpPr/>
          <p:nvPr/>
        </p:nvSpPr>
        <p:spPr>
          <a:xfrm>
            <a:off x="781050" y="2247900"/>
            <a:ext cx="4895850" cy="2990850"/>
          </a:xfrm>
          <a:prstGeom prst="roundRect">
            <a:avLst>
              <a:gd fmla="val 2548" name="adj"/>
            </a:avLst>
          </a:prstGeom>
          <a:solidFill>
            <a:srgbClr val="FFFFFF"/>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7" name="Google Shape;567;p12"/>
          <p:cNvSpPr/>
          <p:nvPr/>
        </p:nvSpPr>
        <p:spPr>
          <a:xfrm>
            <a:off x="781050" y="2247900"/>
            <a:ext cx="85725" cy="2990850"/>
          </a:xfrm>
          <a:prstGeom prst="rect">
            <a:avLst/>
          </a:prstGeom>
          <a:solidFill>
            <a:srgbClr val="3B6EBF"/>
          </a:solidFill>
          <a:ln cap="flat" cmpd="sng" w="9525">
            <a:solidFill>
              <a:srgbClr val="3B6EB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8" name="Google Shape;568;p12"/>
          <p:cNvSpPr/>
          <p:nvPr/>
        </p:nvSpPr>
        <p:spPr>
          <a:xfrm>
            <a:off x="1104900" y="2457450"/>
            <a:ext cx="4191000" cy="21907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3B6EBF"/>
              </a:buClr>
              <a:buSzPts val="863"/>
              <a:buFont typeface="Arial"/>
              <a:buNone/>
            </a:pPr>
            <a:r>
              <a:rPr b="1" lang="en-US" sz="863">
                <a:solidFill>
                  <a:srgbClr val="3B6EBF"/>
                </a:solidFill>
              </a:rPr>
              <a:t>LENS 01  ·  EXACT CONTRACT</a:t>
            </a:r>
            <a:endParaRPr/>
          </a:p>
        </p:txBody>
      </p:sp>
      <p:sp>
        <p:nvSpPr>
          <p:cNvPr id="569" name="Google Shape;569;p12"/>
          <p:cNvSpPr/>
          <p:nvPr/>
        </p:nvSpPr>
        <p:spPr>
          <a:xfrm>
            <a:off x="1104900" y="2743200"/>
            <a:ext cx="4191000" cy="37147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1875"/>
              <a:buFont typeface="Arial"/>
              <a:buNone/>
            </a:pPr>
            <a:r>
              <a:rPr b="1" lang="en-US" sz="1875">
                <a:solidFill>
                  <a:srgbClr val="1A1A2E"/>
                </a:solidFill>
              </a:rPr>
              <a:t>Deterministic code controls</a:t>
            </a:r>
            <a:endParaRPr/>
          </a:p>
        </p:txBody>
      </p:sp>
      <p:sp>
        <p:nvSpPr>
          <p:cNvPr id="570" name="Google Shape;570;p12"/>
          <p:cNvSpPr/>
          <p:nvPr/>
        </p:nvSpPr>
        <p:spPr>
          <a:xfrm>
            <a:off x="1104900" y="3143250"/>
            <a:ext cx="4191000" cy="48577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1200"/>
              <a:buFont typeface="Arial"/>
              <a:buNone/>
            </a:pPr>
            <a:r>
              <a:rPr lang="en-US" sz="1200">
                <a:solidFill>
                  <a:srgbClr val="666B70"/>
                </a:solidFill>
              </a:rPr>
              <a:t>Answers: Did the workflow obey the required structure and evidence contract?</a:t>
            </a:r>
            <a:endParaRPr/>
          </a:p>
        </p:txBody>
      </p:sp>
      <p:sp>
        <p:nvSpPr>
          <p:cNvPr id="571" name="Google Shape;571;p12"/>
          <p:cNvSpPr/>
          <p:nvPr/>
        </p:nvSpPr>
        <p:spPr>
          <a:xfrm>
            <a:off x="1104900" y="3781425"/>
            <a:ext cx="4191000" cy="19050"/>
          </a:xfrm>
          <a:prstGeom prst="rect">
            <a:avLst/>
          </a:prstGeom>
          <a:solidFill>
            <a:srgbClr val="DED8D0"/>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2" name="Google Shape;572;p12"/>
          <p:cNvSpPr/>
          <p:nvPr/>
        </p:nvSpPr>
        <p:spPr>
          <a:xfrm>
            <a:off x="1123950" y="3895725"/>
            <a:ext cx="209550" cy="21907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3B6EBF"/>
              </a:buClr>
              <a:buSzPts val="1200"/>
              <a:buFont typeface="Arial"/>
              <a:buNone/>
            </a:pPr>
            <a:r>
              <a:rPr b="1" lang="en-US" sz="1200">
                <a:solidFill>
                  <a:srgbClr val="3B6EBF"/>
                </a:solidFill>
              </a:rPr>
              <a:t>✓</a:t>
            </a:r>
            <a:endParaRPr/>
          </a:p>
        </p:txBody>
      </p:sp>
      <p:sp>
        <p:nvSpPr>
          <p:cNvPr id="573" name="Google Shape;573;p12"/>
          <p:cNvSpPr/>
          <p:nvPr/>
        </p:nvSpPr>
        <p:spPr>
          <a:xfrm>
            <a:off x="1390650" y="3886200"/>
            <a:ext cx="2333625" cy="2286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1088"/>
              <a:buFont typeface="Arial"/>
              <a:buNone/>
            </a:pPr>
            <a:r>
              <a:rPr b="1" lang="en-US" sz="1088">
                <a:solidFill>
                  <a:srgbClr val="1A1A2E"/>
                </a:solidFill>
              </a:rPr>
              <a:t>Schema + required fields</a:t>
            </a:r>
            <a:endParaRPr/>
          </a:p>
        </p:txBody>
      </p:sp>
      <p:sp>
        <p:nvSpPr>
          <p:cNvPr id="574" name="Google Shape;574;p12"/>
          <p:cNvSpPr/>
          <p:nvPr/>
        </p:nvSpPr>
        <p:spPr>
          <a:xfrm>
            <a:off x="3695700" y="3886200"/>
            <a:ext cx="1600200" cy="2286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1013"/>
              <a:buFont typeface="Arial"/>
              <a:buNone/>
            </a:pPr>
            <a:r>
              <a:rPr lang="en-US" sz="1013">
                <a:solidFill>
                  <a:srgbClr val="666B70"/>
                </a:solidFill>
              </a:rPr>
              <a:t>correct shape</a:t>
            </a:r>
            <a:endParaRPr/>
          </a:p>
        </p:txBody>
      </p:sp>
      <p:sp>
        <p:nvSpPr>
          <p:cNvPr id="575" name="Google Shape;575;p12"/>
          <p:cNvSpPr/>
          <p:nvPr/>
        </p:nvSpPr>
        <p:spPr>
          <a:xfrm>
            <a:off x="1123950" y="4191000"/>
            <a:ext cx="209550" cy="21907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3B6EBF"/>
              </a:buClr>
              <a:buSzPts val="1200"/>
              <a:buFont typeface="Arial"/>
              <a:buNone/>
            </a:pPr>
            <a:r>
              <a:rPr b="1" lang="en-US" sz="1200">
                <a:solidFill>
                  <a:srgbClr val="3B6EBF"/>
                </a:solidFill>
              </a:rPr>
              <a:t>✓</a:t>
            </a:r>
            <a:endParaRPr/>
          </a:p>
        </p:txBody>
      </p:sp>
      <p:sp>
        <p:nvSpPr>
          <p:cNvPr id="576" name="Google Shape;576;p12"/>
          <p:cNvSpPr/>
          <p:nvPr/>
        </p:nvSpPr>
        <p:spPr>
          <a:xfrm>
            <a:off x="1390650" y="4181475"/>
            <a:ext cx="2333625" cy="2286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1088"/>
              <a:buFont typeface="Arial"/>
              <a:buNone/>
            </a:pPr>
            <a:r>
              <a:rPr b="1" lang="en-US" sz="1088">
                <a:solidFill>
                  <a:srgbClr val="1A1A2E"/>
                </a:solidFill>
              </a:rPr>
              <a:t>Set equality + counts</a:t>
            </a:r>
            <a:endParaRPr/>
          </a:p>
        </p:txBody>
      </p:sp>
      <p:sp>
        <p:nvSpPr>
          <p:cNvPr id="577" name="Google Shape;577;p12"/>
          <p:cNvSpPr/>
          <p:nvPr/>
        </p:nvSpPr>
        <p:spPr>
          <a:xfrm>
            <a:off x="3695700" y="4181475"/>
            <a:ext cx="1600200" cy="2286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1013"/>
              <a:buFont typeface="Arial"/>
              <a:buNone/>
            </a:pPr>
            <a:r>
              <a:rPr lang="en-US" sz="1013">
                <a:solidFill>
                  <a:srgbClr val="666B70"/>
                </a:solidFill>
              </a:rPr>
              <a:t>nothing missing or extra</a:t>
            </a:r>
            <a:endParaRPr/>
          </a:p>
        </p:txBody>
      </p:sp>
      <p:sp>
        <p:nvSpPr>
          <p:cNvPr id="578" name="Google Shape;578;p12"/>
          <p:cNvSpPr/>
          <p:nvPr/>
        </p:nvSpPr>
        <p:spPr>
          <a:xfrm>
            <a:off x="1123950" y="4486275"/>
            <a:ext cx="209550" cy="21907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3B6EBF"/>
              </a:buClr>
              <a:buSzPts val="1200"/>
              <a:buFont typeface="Arial"/>
              <a:buNone/>
            </a:pPr>
            <a:r>
              <a:rPr b="1" lang="en-US" sz="1200">
                <a:solidFill>
                  <a:srgbClr val="3B6EBF"/>
                </a:solidFill>
              </a:rPr>
              <a:t>✓</a:t>
            </a:r>
            <a:endParaRPr/>
          </a:p>
        </p:txBody>
      </p:sp>
      <p:sp>
        <p:nvSpPr>
          <p:cNvPr id="579" name="Google Shape;579;p12"/>
          <p:cNvSpPr/>
          <p:nvPr/>
        </p:nvSpPr>
        <p:spPr>
          <a:xfrm>
            <a:off x="1390650" y="4476750"/>
            <a:ext cx="2333625" cy="2286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1088"/>
              <a:buFont typeface="Arial"/>
              <a:buNone/>
            </a:pPr>
            <a:r>
              <a:rPr b="1" lang="en-US" sz="1088">
                <a:solidFill>
                  <a:srgbClr val="1A1A2E"/>
                </a:solidFill>
              </a:rPr>
              <a:t>Citation + ID validity</a:t>
            </a:r>
            <a:endParaRPr/>
          </a:p>
        </p:txBody>
      </p:sp>
      <p:sp>
        <p:nvSpPr>
          <p:cNvPr id="580" name="Google Shape;580;p12"/>
          <p:cNvSpPr/>
          <p:nvPr/>
        </p:nvSpPr>
        <p:spPr>
          <a:xfrm>
            <a:off x="3695700" y="4476750"/>
            <a:ext cx="1600200" cy="2286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1013"/>
              <a:buFont typeface="Arial"/>
              <a:buNone/>
            </a:pPr>
            <a:r>
              <a:rPr lang="en-US" sz="1013">
                <a:solidFill>
                  <a:srgbClr val="666B70"/>
                </a:solidFill>
              </a:rPr>
              <a:t>valid mappings</a:t>
            </a:r>
            <a:endParaRPr/>
          </a:p>
        </p:txBody>
      </p:sp>
      <p:sp>
        <p:nvSpPr>
          <p:cNvPr id="581" name="Google Shape;581;p12"/>
          <p:cNvSpPr/>
          <p:nvPr/>
        </p:nvSpPr>
        <p:spPr>
          <a:xfrm>
            <a:off x="1123950" y="4781550"/>
            <a:ext cx="209550" cy="21907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3B6EBF"/>
              </a:buClr>
              <a:buSzPts val="1200"/>
              <a:buFont typeface="Arial"/>
              <a:buNone/>
            </a:pPr>
            <a:r>
              <a:rPr b="1" lang="en-US" sz="1200">
                <a:solidFill>
                  <a:srgbClr val="3B6EBF"/>
                </a:solidFill>
              </a:rPr>
              <a:t>✓</a:t>
            </a:r>
            <a:endParaRPr/>
          </a:p>
        </p:txBody>
      </p:sp>
      <p:sp>
        <p:nvSpPr>
          <p:cNvPr id="582" name="Google Shape;582;p12"/>
          <p:cNvSpPr/>
          <p:nvPr/>
        </p:nvSpPr>
        <p:spPr>
          <a:xfrm>
            <a:off x="1390650" y="4772025"/>
            <a:ext cx="2333625" cy="2286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1088"/>
              <a:buFont typeface="Arial"/>
              <a:buNone/>
            </a:pPr>
            <a:r>
              <a:rPr b="1" lang="en-US" sz="1088">
                <a:solidFill>
                  <a:srgbClr val="1A1A2E"/>
                </a:solidFill>
              </a:rPr>
              <a:t>Orphans + export rules</a:t>
            </a:r>
            <a:endParaRPr/>
          </a:p>
        </p:txBody>
      </p:sp>
      <p:sp>
        <p:nvSpPr>
          <p:cNvPr id="583" name="Google Shape;583;p12"/>
          <p:cNvSpPr/>
          <p:nvPr/>
        </p:nvSpPr>
        <p:spPr>
          <a:xfrm>
            <a:off x="3695700" y="4772025"/>
            <a:ext cx="1600200" cy="2286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1013"/>
              <a:buFont typeface="Arial"/>
              <a:buNone/>
            </a:pPr>
            <a:r>
              <a:rPr lang="en-US" sz="1013">
                <a:solidFill>
                  <a:srgbClr val="666B70"/>
                </a:solidFill>
              </a:rPr>
              <a:t>fail closed</a:t>
            </a:r>
            <a:endParaRPr/>
          </a:p>
        </p:txBody>
      </p:sp>
      <p:sp>
        <p:nvSpPr>
          <p:cNvPr id="584" name="Google Shape;584;p12"/>
          <p:cNvSpPr/>
          <p:nvPr/>
        </p:nvSpPr>
        <p:spPr>
          <a:xfrm>
            <a:off x="5924550" y="2247900"/>
            <a:ext cx="5486400" cy="2990850"/>
          </a:xfrm>
          <a:prstGeom prst="roundRect">
            <a:avLst>
              <a:gd fmla="val 2548" name="adj"/>
            </a:avLst>
          </a:prstGeom>
          <a:solidFill>
            <a:srgbClr val="FFFFFF"/>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5" name="Google Shape;585;p12"/>
          <p:cNvSpPr/>
          <p:nvPr/>
        </p:nvSpPr>
        <p:spPr>
          <a:xfrm>
            <a:off x="5924550" y="2247900"/>
            <a:ext cx="85725" cy="2990850"/>
          </a:xfrm>
          <a:prstGeom prst="rect">
            <a:avLst/>
          </a:prstGeom>
          <a:solidFill>
            <a:srgbClr val="B85042"/>
          </a:solidFill>
          <a:ln cap="flat" cmpd="sng" w="9525">
            <a:solidFill>
              <a:srgbClr val="B8504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6" name="Google Shape;586;p12"/>
          <p:cNvSpPr/>
          <p:nvPr/>
        </p:nvSpPr>
        <p:spPr>
          <a:xfrm>
            <a:off x="6248400" y="2457450"/>
            <a:ext cx="4762500" cy="21907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B85042"/>
              </a:buClr>
              <a:buSzPts val="863"/>
              <a:buFont typeface="Arial"/>
              <a:buNone/>
            </a:pPr>
            <a:r>
              <a:rPr b="1" lang="en-US" sz="863">
                <a:solidFill>
                  <a:srgbClr val="B85042"/>
                </a:solidFill>
              </a:rPr>
              <a:t>LENS 02  ·  SEMANTIC QUALITY</a:t>
            </a:r>
            <a:endParaRPr/>
          </a:p>
        </p:txBody>
      </p:sp>
      <p:sp>
        <p:nvSpPr>
          <p:cNvPr id="587" name="Google Shape;587;p12"/>
          <p:cNvSpPr/>
          <p:nvPr/>
        </p:nvSpPr>
        <p:spPr>
          <a:xfrm>
            <a:off x="6248400" y="2743200"/>
            <a:ext cx="4762500" cy="37147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1875"/>
              <a:buFont typeface="Arial"/>
              <a:buNone/>
            </a:pPr>
            <a:r>
              <a:rPr b="1" lang="en-US" sz="1875">
                <a:solidFill>
                  <a:srgbClr val="1A1A2E"/>
                </a:solidFill>
              </a:rPr>
              <a:t>GPT-5.6 Terra semantic evaluators</a:t>
            </a:r>
            <a:endParaRPr/>
          </a:p>
        </p:txBody>
      </p:sp>
      <p:sp>
        <p:nvSpPr>
          <p:cNvPr id="588" name="Google Shape;588;p12"/>
          <p:cNvSpPr/>
          <p:nvPr/>
        </p:nvSpPr>
        <p:spPr>
          <a:xfrm>
            <a:off x="6248400" y="3143250"/>
            <a:ext cx="4762500" cy="48577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1200"/>
              <a:buFont typeface="Arial"/>
              <a:buNone/>
            </a:pPr>
            <a:r>
              <a:rPr lang="en-US" sz="1200">
                <a:solidFill>
                  <a:srgbClr val="666B70"/>
                </a:solidFill>
              </a:rPr>
              <a:t>Answers: Is the content supported, sensible, and free from material invention across the full evidence context?</a:t>
            </a:r>
            <a:endParaRPr/>
          </a:p>
        </p:txBody>
      </p:sp>
      <p:sp>
        <p:nvSpPr>
          <p:cNvPr id="589" name="Google Shape;589;p12"/>
          <p:cNvSpPr/>
          <p:nvPr/>
        </p:nvSpPr>
        <p:spPr>
          <a:xfrm>
            <a:off x="6248400" y="3781425"/>
            <a:ext cx="4762500" cy="19050"/>
          </a:xfrm>
          <a:prstGeom prst="rect">
            <a:avLst/>
          </a:prstGeom>
          <a:solidFill>
            <a:srgbClr val="DED8D0"/>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0" name="Google Shape;590;p12"/>
          <p:cNvSpPr/>
          <p:nvPr/>
        </p:nvSpPr>
        <p:spPr>
          <a:xfrm>
            <a:off x="6267450" y="3981450"/>
            <a:ext cx="152400" cy="152400"/>
          </a:xfrm>
          <a:prstGeom prst="roundRect">
            <a:avLst>
              <a:gd fmla="val 50000" name="adj"/>
            </a:avLst>
          </a:prstGeom>
          <a:solidFill>
            <a:srgbClr val="2F6F57"/>
          </a:solidFill>
          <a:ln cap="flat" cmpd="sng" w="9525">
            <a:solidFill>
              <a:srgbClr val="2F6F5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1" name="Google Shape;591;p12"/>
          <p:cNvSpPr/>
          <p:nvPr/>
        </p:nvSpPr>
        <p:spPr>
          <a:xfrm>
            <a:off x="6534150" y="3943350"/>
            <a:ext cx="1409700" cy="2381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1125"/>
              <a:buFont typeface="Arial"/>
              <a:buNone/>
            </a:pPr>
            <a:r>
              <a:rPr b="1" lang="en-US" sz="1125">
                <a:solidFill>
                  <a:srgbClr val="1A1A2E"/>
                </a:solidFill>
              </a:rPr>
              <a:t>Faithfulness</a:t>
            </a:r>
            <a:endParaRPr/>
          </a:p>
        </p:txBody>
      </p:sp>
      <p:sp>
        <p:nvSpPr>
          <p:cNvPr id="592" name="Google Shape;592;p12"/>
          <p:cNvSpPr/>
          <p:nvPr/>
        </p:nvSpPr>
        <p:spPr>
          <a:xfrm>
            <a:off x="7905750" y="3943350"/>
            <a:ext cx="2247900" cy="2381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1013"/>
              <a:buFont typeface="Arial"/>
              <a:buNone/>
            </a:pPr>
            <a:r>
              <a:rPr lang="en-US" sz="1013">
                <a:solidFill>
                  <a:srgbClr val="666B70"/>
                </a:solidFill>
              </a:rPr>
              <a:t>Supported by approved evidence</a:t>
            </a:r>
            <a:endParaRPr/>
          </a:p>
        </p:txBody>
      </p:sp>
      <p:sp>
        <p:nvSpPr>
          <p:cNvPr id="593" name="Google Shape;593;p12"/>
          <p:cNvSpPr/>
          <p:nvPr/>
        </p:nvSpPr>
        <p:spPr>
          <a:xfrm>
            <a:off x="10172700" y="3943350"/>
            <a:ext cx="838200" cy="2381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F6F57"/>
              </a:buClr>
              <a:buSzPts val="1013"/>
              <a:buFont typeface="Arial"/>
              <a:buNone/>
            </a:pPr>
            <a:r>
              <a:rPr b="1" lang="en-US" sz="1013">
                <a:solidFill>
                  <a:srgbClr val="2F6F57"/>
                </a:solidFill>
              </a:rPr>
              <a:t>maximize</a:t>
            </a:r>
            <a:endParaRPr/>
          </a:p>
        </p:txBody>
      </p:sp>
      <p:sp>
        <p:nvSpPr>
          <p:cNvPr id="594" name="Google Shape;594;p12"/>
          <p:cNvSpPr/>
          <p:nvPr/>
        </p:nvSpPr>
        <p:spPr>
          <a:xfrm>
            <a:off x="6267450" y="4371975"/>
            <a:ext cx="152400" cy="152400"/>
          </a:xfrm>
          <a:prstGeom prst="roundRect">
            <a:avLst>
              <a:gd fmla="val 50000" name="adj"/>
            </a:avLst>
          </a:prstGeom>
          <a:solidFill>
            <a:srgbClr val="B85042"/>
          </a:solidFill>
          <a:ln cap="flat" cmpd="sng" w="9525">
            <a:solidFill>
              <a:srgbClr val="B8504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5" name="Google Shape;595;p12"/>
          <p:cNvSpPr/>
          <p:nvPr/>
        </p:nvSpPr>
        <p:spPr>
          <a:xfrm>
            <a:off x="6534150" y="4333875"/>
            <a:ext cx="1409700" cy="2381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1125"/>
              <a:buFont typeface="Arial"/>
              <a:buNone/>
            </a:pPr>
            <a:r>
              <a:rPr b="1" lang="en-US" sz="1125">
                <a:solidFill>
                  <a:srgbClr val="1A1A2E"/>
                </a:solidFill>
              </a:rPr>
              <a:t>Hallucination</a:t>
            </a:r>
            <a:endParaRPr/>
          </a:p>
        </p:txBody>
      </p:sp>
      <p:sp>
        <p:nvSpPr>
          <p:cNvPr id="596" name="Google Shape;596;p12"/>
          <p:cNvSpPr/>
          <p:nvPr/>
        </p:nvSpPr>
        <p:spPr>
          <a:xfrm>
            <a:off x="7905750" y="4333875"/>
            <a:ext cx="2247900" cy="2381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1013"/>
              <a:buFont typeface="Arial"/>
              <a:buNone/>
            </a:pPr>
            <a:r>
              <a:rPr lang="en-US" sz="1013">
                <a:solidFill>
                  <a:srgbClr val="666B70"/>
                </a:solidFill>
              </a:rPr>
              <a:t>Unsupported material claims</a:t>
            </a:r>
            <a:endParaRPr/>
          </a:p>
        </p:txBody>
      </p:sp>
      <p:sp>
        <p:nvSpPr>
          <p:cNvPr id="597" name="Google Shape;597;p12"/>
          <p:cNvSpPr/>
          <p:nvPr/>
        </p:nvSpPr>
        <p:spPr>
          <a:xfrm>
            <a:off x="10172700" y="4333875"/>
            <a:ext cx="838200" cy="2381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B85042"/>
              </a:buClr>
              <a:buSzPts val="1013"/>
              <a:buFont typeface="Arial"/>
              <a:buNone/>
            </a:pPr>
            <a:r>
              <a:rPr b="1" lang="en-US" sz="1013">
                <a:solidFill>
                  <a:srgbClr val="B85042"/>
                </a:solidFill>
              </a:rPr>
              <a:t>≤ 0.15</a:t>
            </a:r>
            <a:endParaRPr/>
          </a:p>
        </p:txBody>
      </p:sp>
      <p:sp>
        <p:nvSpPr>
          <p:cNvPr id="598" name="Google Shape;598;p12"/>
          <p:cNvSpPr/>
          <p:nvPr/>
        </p:nvSpPr>
        <p:spPr>
          <a:xfrm>
            <a:off x="6267450" y="4762500"/>
            <a:ext cx="152400" cy="152400"/>
          </a:xfrm>
          <a:prstGeom prst="roundRect">
            <a:avLst>
              <a:gd fmla="val 50000" name="adj"/>
            </a:avLst>
          </a:prstGeom>
          <a:solidFill>
            <a:srgbClr val="7546C8"/>
          </a:solidFill>
          <a:ln cap="flat" cmpd="sng" w="9525">
            <a:solidFill>
              <a:srgbClr val="7546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9" name="Google Shape;599;p12"/>
          <p:cNvSpPr/>
          <p:nvPr/>
        </p:nvSpPr>
        <p:spPr>
          <a:xfrm>
            <a:off x="6534150" y="4724400"/>
            <a:ext cx="1409700" cy="2381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1125"/>
              <a:buFont typeface="Arial"/>
              <a:buNone/>
            </a:pPr>
            <a:r>
              <a:rPr b="1" lang="en-US" sz="1125">
                <a:solidFill>
                  <a:srgbClr val="1A1A2E"/>
                </a:solidFill>
              </a:rPr>
              <a:t>Reasonableness</a:t>
            </a:r>
            <a:endParaRPr/>
          </a:p>
        </p:txBody>
      </p:sp>
      <p:sp>
        <p:nvSpPr>
          <p:cNvPr id="600" name="Google Shape;600;p12"/>
          <p:cNvSpPr/>
          <p:nvPr/>
        </p:nvSpPr>
        <p:spPr>
          <a:xfrm>
            <a:off x="7905750" y="4724400"/>
            <a:ext cx="2247900" cy="2381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1013"/>
              <a:buFont typeface="Arial"/>
              <a:buNone/>
            </a:pPr>
            <a:r>
              <a:rPr lang="en-US" sz="1013">
                <a:solidFill>
                  <a:srgbClr val="666B70"/>
                </a:solidFill>
              </a:rPr>
              <a:t>Planning logic and sizing quality</a:t>
            </a:r>
            <a:endParaRPr/>
          </a:p>
        </p:txBody>
      </p:sp>
      <p:sp>
        <p:nvSpPr>
          <p:cNvPr id="601" name="Google Shape;601;p12"/>
          <p:cNvSpPr/>
          <p:nvPr/>
        </p:nvSpPr>
        <p:spPr>
          <a:xfrm>
            <a:off x="10172700" y="4724400"/>
            <a:ext cx="838200" cy="2381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7546C8"/>
              </a:buClr>
              <a:buSzPts val="1013"/>
              <a:buFont typeface="Arial"/>
              <a:buNone/>
            </a:pPr>
            <a:r>
              <a:rPr b="1" lang="en-US" sz="1013">
                <a:solidFill>
                  <a:srgbClr val="7546C8"/>
                </a:solidFill>
              </a:rPr>
              <a:t>maximize</a:t>
            </a:r>
            <a:endParaRPr/>
          </a:p>
        </p:txBody>
      </p:sp>
      <p:sp>
        <p:nvSpPr>
          <p:cNvPr id="602" name="Google Shape;602;p12"/>
          <p:cNvSpPr/>
          <p:nvPr/>
        </p:nvSpPr>
        <p:spPr>
          <a:xfrm>
            <a:off x="781050" y="5534025"/>
            <a:ext cx="1428750" cy="190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B85042"/>
              </a:buClr>
              <a:buSzPts val="825"/>
              <a:buFont typeface="Arial"/>
              <a:buNone/>
            </a:pPr>
            <a:r>
              <a:rPr b="1" lang="en-US" sz="825">
                <a:solidFill>
                  <a:srgbClr val="B85042"/>
                </a:solidFill>
              </a:rPr>
              <a:t>DECISION LAYER</a:t>
            </a:r>
            <a:endParaRPr/>
          </a:p>
        </p:txBody>
      </p:sp>
      <p:sp>
        <p:nvSpPr>
          <p:cNvPr id="603" name="Google Shape;603;p12"/>
          <p:cNvSpPr/>
          <p:nvPr/>
        </p:nvSpPr>
        <p:spPr>
          <a:xfrm>
            <a:off x="2209800" y="5429250"/>
            <a:ext cx="7239000" cy="4000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1200"/>
              <a:buFont typeface="Arial"/>
              <a:buNone/>
            </a:pPr>
            <a:r>
              <a:rPr b="1" lang="en-US" sz="1200">
                <a:solidFill>
                  <a:srgbClr val="1A1A2E"/>
                </a:solidFill>
              </a:rPr>
              <a:t>Agreement Gate combines both lenses: release only when required code controls pass and semantic scores remain within policy.</a:t>
            </a:r>
            <a:endParaRPr/>
          </a:p>
        </p:txBody>
      </p:sp>
      <p:sp>
        <p:nvSpPr>
          <p:cNvPr id="604" name="Google Shape;604;p12"/>
          <p:cNvSpPr/>
          <p:nvPr/>
        </p:nvSpPr>
        <p:spPr>
          <a:xfrm>
            <a:off x="9620250" y="5410200"/>
            <a:ext cx="1790700" cy="438150"/>
          </a:xfrm>
          <a:prstGeom prst="roundRect">
            <a:avLst>
              <a:gd fmla="val 17391" name="adj"/>
            </a:avLst>
          </a:prstGeom>
          <a:solidFill>
            <a:srgbClr val="F0EAFB"/>
          </a:solidFill>
          <a:ln cap="flat" cmpd="sng" w="9525">
            <a:solidFill>
              <a:srgbClr val="7546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5" name="Google Shape;605;p12"/>
          <p:cNvSpPr/>
          <p:nvPr/>
        </p:nvSpPr>
        <p:spPr>
          <a:xfrm>
            <a:off x="9753600" y="5486400"/>
            <a:ext cx="1524000" cy="2667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7546C8"/>
              </a:buClr>
              <a:buSzPts val="900"/>
              <a:buFont typeface="Arial"/>
              <a:buNone/>
            </a:pPr>
            <a:r>
              <a:rPr b="1" lang="en-US" sz="900">
                <a:solidFill>
                  <a:srgbClr val="7546C8"/>
                </a:solidFill>
              </a:rPr>
              <a:t>LANGFUSE EVIDENCE</a:t>
            </a:r>
            <a:endParaRPr/>
          </a:p>
        </p:txBody>
      </p:sp>
      <p:sp>
        <p:nvSpPr>
          <p:cNvPr id="606" name="Google Shape;606;p12"/>
          <p:cNvSpPr/>
          <p:nvPr/>
        </p:nvSpPr>
        <p:spPr>
          <a:xfrm>
            <a:off x="0" y="6172200"/>
            <a:ext cx="12192000" cy="685800"/>
          </a:xfrm>
          <a:prstGeom prst="rect">
            <a:avLst/>
          </a:prstGeom>
          <a:solidFill>
            <a:srgbClr val="1A1A2E"/>
          </a:solidFill>
          <a:ln cap="flat" cmpd="sng" w="9525">
            <a:solidFill>
              <a:srgbClr val="1A1A2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7" name="Google Shape;607;p12"/>
          <p:cNvSpPr/>
          <p:nvPr/>
        </p:nvSpPr>
        <p:spPr>
          <a:xfrm>
            <a:off x="781050" y="6267450"/>
            <a:ext cx="2095500" cy="2095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C9C6D8"/>
              </a:buClr>
              <a:buSzPts val="825"/>
              <a:buFont typeface="Arial"/>
              <a:buNone/>
            </a:pPr>
            <a:r>
              <a:rPr b="1" lang="en-US" sz="825">
                <a:solidFill>
                  <a:srgbClr val="C9C6D8"/>
                </a:solidFill>
              </a:rPr>
              <a:t>OBSERVABILITY</a:t>
            </a:r>
            <a:endParaRPr/>
          </a:p>
        </p:txBody>
      </p:sp>
      <p:sp>
        <p:nvSpPr>
          <p:cNvPr id="608" name="Google Shape;608;p12"/>
          <p:cNvSpPr/>
          <p:nvPr/>
        </p:nvSpPr>
        <p:spPr>
          <a:xfrm>
            <a:off x="2724150" y="6267450"/>
            <a:ext cx="8686800" cy="4000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FFFFFF"/>
              </a:buClr>
              <a:buSzPts val="1275"/>
              <a:buFont typeface="Arial"/>
              <a:buNone/>
            </a:pPr>
            <a:r>
              <a:rPr b="1" lang="en-US" sz="1275">
                <a:solidFill>
                  <a:srgbClr val="FFFFFF"/>
                </a:solidFill>
              </a:rPr>
              <a:t>Every accepted run retains stage traces, evaluator receipts, latency, token usage, and fully loaded cost evidence.</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4EE"/>
        </a:solidFill>
      </p:bgPr>
    </p:bg>
    <p:spTree>
      <p:nvGrpSpPr>
        <p:cNvPr id="613" name="Shape 613"/>
        <p:cNvGrpSpPr/>
        <p:nvPr/>
      </p:nvGrpSpPr>
      <p:grpSpPr>
        <a:xfrm>
          <a:off x="0" y="0"/>
          <a:ext cx="0" cy="0"/>
          <a:chOff x="0" y="0"/>
          <a:chExt cx="0" cy="0"/>
        </a:xfrm>
      </p:grpSpPr>
      <p:sp>
        <p:nvSpPr>
          <p:cNvPr id="614" name="Google Shape;614;p13"/>
          <p:cNvSpPr/>
          <p:nvPr/>
        </p:nvSpPr>
        <p:spPr>
          <a:xfrm>
            <a:off x="0" y="0"/>
            <a:ext cx="12192000" cy="76200"/>
          </a:xfrm>
          <a:prstGeom prst="rect">
            <a:avLst/>
          </a:prstGeom>
          <a:solidFill>
            <a:srgbClr val="B85042"/>
          </a:solidFill>
          <a:ln cap="flat" cmpd="sng" w="9525">
            <a:solidFill>
              <a:srgbClr val="B8504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5" name="Google Shape;615;p13"/>
          <p:cNvSpPr/>
          <p:nvPr/>
        </p:nvSpPr>
        <p:spPr>
          <a:xfrm>
            <a:off x="514350" y="742950"/>
            <a:ext cx="66675" cy="866775"/>
          </a:xfrm>
          <a:prstGeom prst="rect">
            <a:avLst/>
          </a:prstGeom>
          <a:solidFill>
            <a:srgbClr val="B85042"/>
          </a:solidFill>
          <a:ln cap="flat" cmpd="sng" w="9525">
            <a:solidFill>
              <a:srgbClr val="B8504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6" name="Google Shape;616;p13"/>
          <p:cNvSpPr/>
          <p:nvPr/>
        </p:nvSpPr>
        <p:spPr>
          <a:xfrm>
            <a:off x="781050" y="552450"/>
            <a:ext cx="5905500" cy="2667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B85042"/>
              </a:buClr>
              <a:buSzPts val="975"/>
              <a:buFont typeface="Arial"/>
              <a:buNone/>
            </a:pPr>
            <a:r>
              <a:rPr b="1" lang="en-US" sz="975">
                <a:solidFill>
                  <a:srgbClr val="B85042"/>
                </a:solidFill>
              </a:rPr>
              <a:t>13  ·  ACCEPTED RUN RESULTS</a:t>
            </a:r>
            <a:endParaRPr/>
          </a:p>
        </p:txBody>
      </p:sp>
      <p:sp>
        <p:nvSpPr>
          <p:cNvPr id="617" name="Google Shape;617;p13"/>
          <p:cNvSpPr/>
          <p:nvPr/>
        </p:nvSpPr>
        <p:spPr>
          <a:xfrm>
            <a:off x="781050" y="885825"/>
            <a:ext cx="10648950" cy="552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2625"/>
              <a:buFont typeface="Arial"/>
              <a:buNone/>
            </a:pPr>
            <a:r>
              <a:rPr b="1" lang="en-US" sz="2625">
                <a:solidFill>
                  <a:srgbClr val="1A1A2E"/>
                </a:solidFill>
              </a:rPr>
              <a:t>The accepted v0.3.8 run passed end to end</a:t>
            </a:r>
            <a:endParaRPr/>
          </a:p>
        </p:txBody>
      </p:sp>
      <p:sp>
        <p:nvSpPr>
          <p:cNvPr id="618" name="Google Shape;618;p13"/>
          <p:cNvSpPr/>
          <p:nvPr/>
        </p:nvSpPr>
        <p:spPr>
          <a:xfrm>
            <a:off x="781050" y="1504950"/>
            <a:ext cx="10648950" cy="3238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1275"/>
              <a:buFont typeface="Arial"/>
              <a:buNone/>
            </a:pPr>
            <a:r>
              <a:rPr lang="en-US" sz="1275">
                <a:solidFill>
                  <a:srgbClr val="666B70"/>
                </a:solidFill>
              </a:rPr>
              <a:t>One governed run produced the complete document package, passed evaluation, and received release authorization.</a:t>
            </a:r>
            <a:endParaRPr/>
          </a:p>
        </p:txBody>
      </p:sp>
      <p:sp>
        <p:nvSpPr>
          <p:cNvPr id="619" name="Google Shape;619;p13"/>
          <p:cNvSpPr/>
          <p:nvPr/>
        </p:nvSpPr>
        <p:spPr>
          <a:xfrm>
            <a:off x="781050" y="2105025"/>
            <a:ext cx="10629900" cy="742950"/>
          </a:xfrm>
          <a:prstGeom prst="roundRect">
            <a:avLst>
              <a:gd fmla="val 10256" name="adj"/>
            </a:avLst>
          </a:prstGeom>
          <a:solidFill>
            <a:srgbClr val="E6F0EB"/>
          </a:solidFill>
          <a:ln cap="flat" cmpd="sng" w="9525">
            <a:solidFill>
              <a:srgbClr val="2F6F5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0" name="Google Shape;620;p13"/>
          <p:cNvSpPr/>
          <p:nvPr/>
        </p:nvSpPr>
        <p:spPr>
          <a:xfrm>
            <a:off x="1019175" y="2190750"/>
            <a:ext cx="533400" cy="4953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F6F57"/>
              </a:buClr>
              <a:buSzPts val="2550"/>
              <a:buFont typeface="Arial"/>
              <a:buNone/>
            </a:pPr>
            <a:r>
              <a:rPr b="1" lang="en-US" sz="2550">
                <a:solidFill>
                  <a:srgbClr val="2F6F57"/>
                </a:solidFill>
              </a:rPr>
              <a:t>✓</a:t>
            </a:r>
            <a:endParaRPr/>
          </a:p>
        </p:txBody>
      </p:sp>
      <p:sp>
        <p:nvSpPr>
          <p:cNvPr id="621" name="Google Shape;621;p13"/>
          <p:cNvSpPr/>
          <p:nvPr/>
        </p:nvSpPr>
        <p:spPr>
          <a:xfrm>
            <a:off x="1714500" y="2190750"/>
            <a:ext cx="2857500" cy="25717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F6F57"/>
              </a:buClr>
              <a:buSzPts val="1350"/>
              <a:buFont typeface="Arial"/>
              <a:buNone/>
            </a:pPr>
            <a:r>
              <a:rPr b="1" lang="en-US" sz="1350">
                <a:solidFill>
                  <a:srgbClr val="2F6F57"/>
                </a:solidFill>
              </a:rPr>
              <a:t>RELEASE AUTHORIZED</a:t>
            </a:r>
            <a:endParaRPr/>
          </a:p>
        </p:txBody>
      </p:sp>
      <p:sp>
        <p:nvSpPr>
          <p:cNvPr id="622" name="Google Shape;622;p13"/>
          <p:cNvSpPr/>
          <p:nvPr/>
        </p:nvSpPr>
        <p:spPr>
          <a:xfrm>
            <a:off x="1714500" y="2438400"/>
            <a:ext cx="8382000" cy="2857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1200"/>
              <a:buFont typeface="Arial"/>
              <a:buNone/>
            </a:pPr>
            <a:r>
              <a:rPr b="1" lang="en-US" sz="1200">
                <a:solidFill>
                  <a:srgbClr val="1A1A2E"/>
                </a:solidFill>
              </a:rPr>
              <a:t>Agreement Gate passed · final validator passed · 7 artifacts delivered · sizing completed 11/11</a:t>
            </a:r>
            <a:endParaRPr/>
          </a:p>
        </p:txBody>
      </p:sp>
      <p:sp>
        <p:nvSpPr>
          <p:cNvPr id="623" name="Google Shape;623;p13"/>
          <p:cNvSpPr/>
          <p:nvPr/>
        </p:nvSpPr>
        <p:spPr>
          <a:xfrm>
            <a:off x="10267950" y="2266950"/>
            <a:ext cx="876300" cy="3619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F6F57"/>
              </a:buClr>
              <a:buSzPts val="1350"/>
              <a:buFont typeface="Arial"/>
              <a:buNone/>
            </a:pPr>
            <a:r>
              <a:rPr b="1" lang="en-US" sz="1350">
                <a:solidFill>
                  <a:srgbClr val="2F6F57"/>
                </a:solidFill>
              </a:rPr>
              <a:t>v0.3.8</a:t>
            </a:r>
            <a:endParaRPr/>
          </a:p>
        </p:txBody>
      </p:sp>
      <p:sp>
        <p:nvSpPr>
          <p:cNvPr id="624" name="Google Shape;624;p13"/>
          <p:cNvSpPr/>
          <p:nvPr/>
        </p:nvSpPr>
        <p:spPr>
          <a:xfrm>
            <a:off x="781050" y="3171825"/>
            <a:ext cx="3143250" cy="2095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B85042"/>
              </a:buClr>
              <a:buSzPts val="863"/>
              <a:buFont typeface="Arial"/>
              <a:buNone/>
            </a:pPr>
            <a:r>
              <a:rPr b="1" lang="en-US" sz="863">
                <a:solidFill>
                  <a:srgbClr val="B85042"/>
                </a:solidFill>
              </a:rPr>
              <a:t>ACCEPTED RUN IDENTITY</a:t>
            </a:r>
            <a:endParaRPr/>
          </a:p>
        </p:txBody>
      </p:sp>
      <p:sp>
        <p:nvSpPr>
          <p:cNvPr id="625" name="Google Shape;625;p13"/>
          <p:cNvSpPr/>
          <p:nvPr/>
        </p:nvSpPr>
        <p:spPr>
          <a:xfrm>
            <a:off x="781050" y="3457575"/>
            <a:ext cx="3905250" cy="4572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1800"/>
              <a:buFont typeface="Arial"/>
              <a:buNone/>
            </a:pPr>
            <a:r>
              <a:rPr b="1" lang="en-US" sz="1800">
                <a:solidFill>
                  <a:srgbClr val="1A1A2E"/>
                </a:solidFill>
              </a:rPr>
              <a:t>One identity connects every stage</a:t>
            </a:r>
            <a:endParaRPr/>
          </a:p>
        </p:txBody>
      </p:sp>
      <p:sp>
        <p:nvSpPr>
          <p:cNvPr id="626" name="Google Shape;626;p13"/>
          <p:cNvSpPr/>
          <p:nvPr/>
        </p:nvSpPr>
        <p:spPr>
          <a:xfrm>
            <a:off x="781050" y="4038600"/>
            <a:ext cx="3714750" cy="7810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1163"/>
              <a:buFont typeface="Arial"/>
              <a:buNone/>
            </a:pPr>
            <a:r>
              <a:rPr lang="en-US" sz="1163">
                <a:solidFill>
                  <a:srgbClr val="666B70"/>
                </a:solidFill>
              </a:rPr>
              <a:t>The parent execution and run ID connect source files, stage handoffs, evaluator receipts, output documents, and export evidence.</a:t>
            </a:r>
            <a:endParaRPr/>
          </a:p>
        </p:txBody>
      </p:sp>
      <p:sp>
        <p:nvSpPr>
          <p:cNvPr id="627" name="Google Shape;627;p13"/>
          <p:cNvSpPr/>
          <p:nvPr/>
        </p:nvSpPr>
        <p:spPr>
          <a:xfrm>
            <a:off x="781050" y="5010150"/>
            <a:ext cx="3714750" cy="9525"/>
          </a:xfrm>
          <a:prstGeom prst="rect">
            <a:avLst/>
          </a:prstGeom>
          <a:solidFill>
            <a:srgbClr val="DED8D0"/>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8" name="Google Shape;628;p13"/>
          <p:cNvSpPr/>
          <p:nvPr/>
        </p:nvSpPr>
        <p:spPr>
          <a:xfrm>
            <a:off x="781050" y="5048250"/>
            <a:ext cx="1428750" cy="2381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1013"/>
              <a:buFont typeface="Arial"/>
              <a:buNone/>
            </a:pPr>
            <a:r>
              <a:rPr lang="en-US" sz="1013">
                <a:solidFill>
                  <a:srgbClr val="666B70"/>
                </a:solidFill>
              </a:rPr>
              <a:t>Parent execution</a:t>
            </a:r>
            <a:endParaRPr/>
          </a:p>
        </p:txBody>
      </p:sp>
      <p:sp>
        <p:nvSpPr>
          <p:cNvPr id="629" name="Google Shape;629;p13"/>
          <p:cNvSpPr/>
          <p:nvPr/>
        </p:nvSpPr>
        <p:spPr>
          <a:xfrm>
            <a:off x="2114550" y="5048250"/>
            <a:ext cx="2381250" cy="2381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1050"/>
              <a:buFont typeface="Arial"/>
              <a:buNone/>
            </a:pPr>
            <a:r>
              <a:rPr b="1" lang="en-US" sz="1050">
                <a:solidFill>
                  <a:srgbClr val="1A1A2E"/>
                </a:solidFill>
              </a:rPr>
              <a:t>11901</a:t>
            </a:r>
            <a:endParaRPr/>
          </a:p>
        </p:txBody>
      </p:sp>
      <p:sp>
        <p:nvSpPr>
          <p:cNvPr id="630" name="Google Shape;630;p13"/>
          <p:cNvSpPr/>
          <p:nvPr/>
        </p:nvSpPr>
        <p:spPr>
          <a:xfrm>
            <a:off x="781050" y="5334000"/>
            <a:ext cx="3714750" cy="9525"/>
          </a:xfrm>
          <a:prstGeom prst="rect">
            <a:avLst/>
          </a:prstGeom>
          <a:solidFill>
            <a:srgbClr val="DED8D0"/>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1" name="Google Shape;631;p13"/>
          <p:cNvSpPr/>
          <p:nvPr/>
        </p:nvSpPr>
        <p:spPr>
          <a:xfrm>
            <a:off x="781050" y="5372100"/>
            <a:ext cx="1428750" cy="2381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1013"/>
              <a:buFont typeface="Arial"/>
              <a:buNone/>
            </a:pPr>
            <a:r>
              <a:rPr lang="en-US" sz="1013">
                <a:solidFill>
                  <a:srgbClr val="666B70"/>
                </a:solidFill>
              </a:rPr>
              <a:t>Run ID</a:t>
            </a:r>
            <a:endParaRPr/>
          </a:p>
        </p:txBody>
      </p:sp>
      <p:sp>
        <p:nvSpPr>
          <p:cNvPr id="632" name="Google Shape;632;p13"/>
          <p:cNvSpPr/>
          <p:nvPr/>
        </p:nvSpPr>
        <p:spPr>
          <a:xfrm>
            <a:off x="2114550" y="5372100"/>
            <a:ext cx="2381250" cy="2381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938"/>
              <a:buFont typeface="Arial"/>
              <a:buNone/>
            </a:pPr>
            <a:r>
              <a:rPr b="1" lang="en-US" sz="938">
                <a:solidFill>
                  <a:srgbClr val="1A1A2E"/>
                </a:solidFill>
              </a:rPr>
              <a:t>RUN-S2-11902-16e7090e</a:t>
            </a:r>
            <a:endParaRPr/>
          </a:p>
        </p:txBody>
      </p:sp>
      <p:sp>
        <p:nvSpPr>
          <p:cNvPr id="633" name="Google Shape;633;p13"/>
          <p:cNvSpPr/>
          <p:nvPr/>
        </p:nvSpPr>
        <p:spPr>
          <a:xfrm>
            <a:off x="781050" y="5657850"/>
            <a:ext cx="3714750" cy="9525"/>
          </a:xfrm>
          <a:prstGeom prst="rect">
            <a:avLst/>
          </a:prstGeom>
          <a:solidFill>
            <a:srgbClr val="DED8D0"/>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4" name="Google Shape;634;p13"/>
          <p:cNvSpPr/>
          <p:nvPr/>
        </p:nvSpPr>
        <p:spPr>
          <a:xfrm>
            <a:off x="781050" y="5695950"/>
            <a:ext cx="1428750" cy="2381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1013"/>
              <a:buFont typeface="Arial"/>
              <a:buNone/>
            </a:pPr>
            <a:r>
              <a:rPr lang="en-US" sz="1013">
                <a:solidFill>
                  <a:srgbClr val="666B70"/>
                </a:solidFill>
              </a:rPr>
              <a:t>Duration</a:t>
            </a:r>
            <a:endParaRPr/>
          </a:p>
        </p:txBody>
      </p:sp>
      <p:sp>
        <p:nvSpPr>
          <p:cNvPr id="635" name="Google Shape;635;p13"/>
          <p:cNvSpPr/>
          <p:nvPr/>
        </p:nvSpPr>
        <p:spPr>
          <a:xfrm>
            <a:off x="2114550" y="5695950"/>
            <a:ext cx="2381250" cy="2381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1050"/>
              <a:buFont typeface="Arial"/>
              <a:buNone/>
            </a:pPr>
            <a:r>
              <a:rPr b="1" lang="en-US" sz="1050">
                <a:solidFill>
                  <a:srgbClr val="1A1A2E"/>
                </a:solidFill>
              </a:rPr>
              <a:t>2m 33.201s</a:t>
            </a:r>
            <a:endParaRPr/>
          </a:p>
        </p:txBody>
      </p:sp>
      <p:sp>
        <p:nvSpPr>
          <p:cNvPr id="636" name="Google Shape;636;p13"/>
          <p:cNvSpPr/>
          <p:nvPr/>
        </p:nvSpPr>
        <p:spPr>
          <a:xfrm>
            <a:off x="5010150" y="3171825"/>
            <a:ext cx="3143250" cy="2095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B85042"/>
              </a:buClr>
              <a:buSzPts val="863"/>
              <a:buFont typeface="Arial"/>
              <a:buNone/>
            </a:pPr>
            <a:r>
              <a:rPr b="1" lang="en-US" sz="863">
                <a:solidFill>
                  <a:srgbClr val="B85042"/>
                </a:solidFill>
              </a:rPr>
              <a:t>STAGE-LEVEL EVALUATION</a:t>
            </a:r>
            <a:endParaRPr/>
          </a:p>
        </p:txBody>
      </p:sp>
      <p:sp>
        <p:nvSpPr>
          <p:cNvPr id="637" name="Google Shape;637;p13"/>
          <p:cNvSpPr/>
          <p:nvPr/>
        </p:nvSpPr>
        <p:spPr>
          <a:xfrm>
            <a:off x="5010150" y="3457575"/>
            <a:ext cx="6400800" cy="419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1875"/>
              <a:buFont typeface="Arial"/>
              <a:buNone/>
            </a:pPr>
            <a:r>
              <a:rPr b="1" lang="en-US" sz="1875">
                <a:solidFill>
                  <a:srgbClr val="1A1A2E"/>
                </a:solidFill>
              </a:rPr>
              <a:t>Generated artifacts remained grounded</a:t>
            </a:r>
            <a:endParaRPr/>
          </a:p>
        </p:txBody>
      </p:sp>
      <p:sp>
        <p:nvSpPr>
          <p:cNvPr id="638" name="Google Shape;638;p13"/>
          <p:cNvSpPr/>
          <p:nvPr/>
        </p:nvSpPr>
        <p:spPr>
          <a:xfrm>
            <a:off x="5010150" y="4010025"/>
            <a:ext cx="2628900" cy="2095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825"/>
              <a:buFont typeface="Arial"/>
              <a:buNone/>
            </a:pPr>
            <a:r>
              <a:rPr b="1" lang="en-US" sz="825">
                <a:solidFill>
                  <a:srgbClr val="666B70"/>
                </a:solidFill>
              </a:rPr>
              <a:t>STAGE</a:t>
            </a:r>
            <a:endParaRPr/>
          </a:p>
        </p:txBody>
      </p:sp>
      <p:sp>
        <p:nvSpPr>
          <p:cNvPr id="639" name="Google Shape;639;p13"/>
          <p:cNvSpPr/>
          <p:nvPr/>
        </p:nvSpPr>
        <p:spPr>
          <a:xfrm>
            <a:off x="7905750" y="4010025"/>
            <a:ext cx="904875" cy="2095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825"/>
              <a:buFont typeface="Arial"/>
              <a:buNone/>
            </a:pPr>
            <a:r>
              <a:rPr b="1" lang="en-US" sz="825">
                <a:solidFill>
                  <a:srgbClr val="666B70"/>
                </a:solidFill>
              </a:rPr>
              <a:t>CODE</a:t>
            </a:r>
            <a:endParaRPr/>
          </a:p>
        </p:txBody>
      </p:sp>
      <p:sp>
        <p:nvSpPr>
          <p:cNvPr id="640" name="Google Shape;640;p13"/>
          <p:cNvSpPr/>
          <p:nvPr/>
        </p:nvSpPr>
        <p:spPr>
          <a:xfrm>
            <a:off x="9001125" y="4010025"/>
            <a:ext cx="904875" cy="2095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825"/>
              <a:buFont typeface="Arial"/>
              <a:buNone/>
            </a:pPr>
            <a:r>
              <a:rPr b="1" lang="en-US" sz="825">
                <a:solidFill>
                  <a:srgbClr val="666B70"/>
                </a:solidFill>
              </a:rPr>
              <a:t>FAITHFUL</a:t>
            </a:r>
            <a:endParaRPr/>
          </a:p>
        </p:txBody>
      </p:sp>
      <p:sp>
        <p:nvSpPr>
          <p:cNvPr id="641" name="Google Shape;641;p13"/>
          <p:cNvSpPr/>
          <p:nvPr/>
        </p:nvSpPr>
        <p:spPr>
          <a:xfrm>
            <a:off x="10134600" y="4010025"/>
            <a:ext cx="1047750" cy="2095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825"/>
              <a:buFont typeface="Arial"/>
              <a:buNone/>
            </a:pPr>
            <a:r>
              <a:rPr b="1" lang="en-US" sz="825">
                <a:solidFill>
                  <a:srgbClr val="666B70"/>
                </a:solidFill>
              </a:rPr>
              <a:t>HALLUC.</a:t>
            </a:r>
            <a:endParaRPr/>
          </a:p>
        </p:txBody>
      </p:sp>
      <p:sp>
        <p:nvSpPr>
          <p:cNvPr id="642" name="Google Shape;642;p13"/>
          <p:cNvSpPr/>
          <p:nvPr/>
        </p:nvSpPr>
        <p:spPr>
          <a:xfrm>
            <a:off x="5010150" y="4267200"/>
            <a:ext cx="6400800" cy="447675"/>
          </a:xfrm>
          <a:prstGeom prst="roundRect">
            <a:avLst>
              <a:gd fmla="val 17021" name="adj"/>
            </a:avLst>
          </a:prstGeom>
          <a:solidFill>
            <a:srgbClr val="FFFFFF"/>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3" name="Google Shape;643;p13"/>
          <p:cNvSpPr/>
          <p:nvPr/>
        </p:nvSpPr>
        <p:spPr>
          <a:xfrm>
            <a:off x="5010150" y="4267200"/>
            <a:ext cx="47625" cy="447675"/>
          </a:xfrm>
          <a:prstGeom prst="rect">
            <a:avLst/>
          </a:prstGeom>
          <a:solidFill>
            <a:srgbClr val="3B6EBF"/>
          </a:solidFill>
          <a:ln cap="flat" cmpd="sng" w="9525">
            <a:solidFill>
              <a:srgbClr val="3B6EB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4" name="Google Shape;644;p13"/>
          <p:cNvSpPr/>
          <p:nvPr/>
        </p:nvSpPr>
        <p:spPr>
          <a:xfrm>
            <a:off x="5181600" y="4314825"/>
            <a:ext cx="1676400" cy="2286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1125"/>
              <a:buFont typeface="Arial"/>
              <a:buNone/>
            </a:pPr>
            <a:r>
              <a:rPr b="1" lang="en-US" sz="1125">
                <a:solidFill>
                  <a:srgbClr val="1A1A2E"/>
                </a:solidFill>
              </a:rPr>
              <a:t>Production PRD</a:t>
            </a:r>
            <a:endParaRPr/>
          </a:p>
        </p:txBody>
      </p:sp>
      <p:sp>
        <p:nvSpPr>
          <p:cNvPr id="645" name="Google Shape;645;p13"/>
          <p:cNvSpPr/>
          <p:nvPr/>
        </p:nvSpPr>
        <p:spPr>
          <a:xfrm>
            <a:off x="6838950" y="4314825"/>
            <a:ext cx="971550" cy="2286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863"/>
              <a:buFont typeface="Arial"/>
              <a:buNone/>
            </a:pPr>
            <a:r>
              <a:rPr lang="en-US" sz="863">
                <a:solidFill>
                  <a:srgbClr val="666B70"/>
                </a:solidFill>
              </a:rPr>
              <a:t>ten-section structure</a:t>
            </a:r>
            <a:endParaRPr/>
          </a:p>
        </p:txBody>
      </p:sp>
      <p:sp>
        <p:nvSpPr>
          <p:cNvPr id="646" name="Google Shape;646;p13"/>
          <p:cNvSpPr/>
          <p:nvPr/>
        </p:nvSpPr>
        <p:spPr>
          <a:xfrm>
            <a:off x="7905750" y="4314825"/>
            <a:ext cx="904875" cy="2286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F6F57"/>
              </a:buClr>
              <a:buSzPts val="1050"/>
              <a:buFont typeface="Arial"/>
              <a:buNone/>
            </a:pPr>
            <a:r>
              <a:rPr b="1" lang="en-US" sz="1050">
                <a:solidFill>
                  <a:srgbClr val="2F6F57"/>
                </a:solidFill>
              </a:rPr>
              <a:t>PASS</a:t>
            </a:r>
            <a:endParaRPr/>
          </a:p>
        </p:txBody>
      </p:sp>
      <p:sp>
        <p:nvSpPr>
          <p:cNvPr id="647" name="Google Shape;647;p13"/>
          <p:cNvSpPr/>
          <p:nvPr/>
        </p:nvSpPr>
        <p:spPr>
          <a:xfrm>
            <a:off x="9001125" y="4314825"/>
            <a:ext cx="904875" cy="2286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F6F57"/>
              </a:buClr>
              <a:buSzPts val="1125"/>
              <a:buFont typeface="Arial"/>
              <a:buNone/>
            </a:pPr>
            <a:r>
              <a:rPr b="1" lang="en-US" sz="1125">
                <a:solidFill>
                  <a:srgbClr val="2F6F57"/>
                </a:solidFill>
              </a:rPr>
              <a:t>0.99</a:t>
            </a:r>
            <a:endParaRPr/>
          </a:p>
        </p:txBody>
      </p:sp>
      <p:sp>
        <p:nvSpPr>
          <p:cNvPr id="648" name="Google Shape;648;p13"/>
          <p:cNvSpPr/>
          <p:nvPr/>
        </p:nvSpPr>
        <p:spPr>
          <a:xfrm>
            <a:off x="10134600" y="4314825"/>
            <a:ext cx="1047750" cy="2286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F6F57"/>
              </a:buClr>
              <a:buSzPts val="1125"/>
              <a:buFont typeface="Arial"/>
              <a:buNone/>
            </a:pPr>
            <a:r>
              <a:rPr b="1" lang="en-US" sz="1125">
                <a:solidFill>
                  <a:srgbClr val="2F6F57"/>
                </a:solidFill>
              </a:rPr>
              <a:t>0.05</a:t>
            </a:r>
            <a:endParaRPr/>
          </a:p>
        </p:txBody>
      </p:sp>
      <p:sp>
        <p:nvSpPr>
          <p:cNvPr id="649" name="Google Shape;649;p13"/>
          <p:cNvSpPr/>
          <p:nvPr/>
        </p:nvSpPr>
        <p:spPr>
          <a:xfrm>
            <a:off x="5010150" y="4762500"/>
            <a:ext cx="6400800" cy="447675"/>
          </a:xfrm>
          <a:prstGeom prst="roundRect">
            <a:avLst>
              <a:gd fmla="val 17021" name="adj"/>
            </a:avLst>
          </a:prstGeom>
          <a:solidFill>
            <a:srgbClr val="F0EBE5"/>
          </a:solidFill>
          <a:ln cap="flat" cmpd="sng" w="9525">
            <a:solidFill>
              <a:srgbClr val="F0EBE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0" name="Google Shape;650;p13"/>
          <p:cNvSpPr/>
          <p:nvPr/>
        </p:nvSpPr>
        <p:spPr>
          <a:xfrm>
            <a:off x="5010150" y="4762500"/>
            <a:ext cx="47625" cy="447675"/>
          </a:xfrm>
          <a:prstGeom prst="rect">
            <a:avLst/>
          </a:prstGeom>
          <a:solidFill>
            <a:srgbClr val="B85042"/>
          </a:solidFill>
          <a:ln cap="flat" cmpd="sng" w="9525">
            <a:solidFill>
              <a:srgbClr val="B8504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1" name="Google Shape;651;p13"/>
          <p:cNvSpPr/>
          <p:nvPr/>
        </p:nvSpPr>
        <p:spPr>
          <a:xfrm>
            <a:off x="5181600" y="4810125"/>
            <a:ext cx="1676400" cy="2286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1125"/>
              <a:buFont typeface="Arial"/>
              <a:buNone/>
            </a:pPr>
            <a:r>
              <a:rPr b="1" lang="en-US" sz="1125">
                <a:solidFill>
                  <a:srgbClr val="1A1A2E"/>
                </a:solidFill>
              </a:rPr>
              <a:t>Story Breakdown</a:t>
            </a:r>
            <a:endParaRPr/>
          </a:p>
        </p:txBody>
      </p:sp>
      <p:sp>
        <p:nvSpPr>
          <p:cNvPr id="652" name="Google Shape;652;p13"/>
          <p:cNvSpPr/>
          <p:nvPr/>
        </p:nvSpPr>
        <p:spPr>
          <a:xfrm>
            <a:off x="6838950" y="4810125"/>
            <a:ext cx="971550" cy="2286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863"/>
              <a:buFont typeface="Arial"/>
              <a:buNone/>
            </a:pPr>
            <a:r>
              <a:rPr lang="en-US" sz="863">
                <a:solidFill>
                  <a:srgbClr val="666B70"/>
                </a:solidFill>
              </a:rPr>
              <a:t>11 stories reconciled</a:t>
            </a:r>
            <a:endParaRPr/>
          </a:p>
        </p:txBody>
      </p:sp>
      <p:sp>
        <p:nvSpPr>
          <p:cNvPr id="653" name="Google Shape;653;p13"/>
          <p:cNvSpPr/>
          <p:nvPr/>
        </p:nvSpPr>
        <p:spPr>
          <a:xfrm>
            <a:off x="7905750" y="4810125"/>
            <a:ext cx="904875" cy="2286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F6F57"/>
              </a:buClr>
              <a:buSzPts val="1050"/>
              <a:buFont typeface="Arial"/>
              <a:buNone/>
            </a:pPr>
            <a:r>
              <a:rPr b="1" lang="en-US" sz="1050">
                <a:solidFill>
                  <a:srgbClr val="2F6F57"/>
                </a:solidFill>
              </a:rPr>
              <a:t>1.00</a:t>
            </a:r>
            <a:endParaRPr/>
          </a:p>
        </p:txBody>
      </p:sp>
      <p:sp>
        <p:nvSpPr>
          <p:cNvPr id="654" name="Google Shape;654;p13"/>
          <p:cNvSpPr/>
          <p:nvPr/>
        </p:nvSpPr>
        <p:spPr>
          <a:xfrm>
            <a:off x="9001125" y="4810125"/>
            <a:ext cx="904875" cy="2286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F6F57"/>
              </a:buClr>
              <a:buSzPts val="1125"/>
              <a:buFont typeface="Arial"/>
              <a:buNone/>
            </a:pPr>
            <a:r>
              <a:rPr b="1" lang="en-US" sz="1125">
                <a:solidFill>
                  <a:srgbClr val="2F6F57"/>
                </a:solidFill>
              </a:rPr>
              <a:t>0.98</a:t>
            </a:r>
            <a:endParaRPr/>
          </a:p>
        </p:txBody>
      </p:sp>
      <p:sp>
        <p:nvSpPr>
          <p:cNvPr id="655" name="Google Shape;655;p13"/>
          <p:cNvSpPr/>
          <p:nvPr/>
        </p:nvSpPr>
        <p:spPr>
          <a:xfrm>
            <a:off x="10134600" y="4810125"/>
            <a:ext cx="1047750" cy="2286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F6F57"/>
              </a:buClr>
              <a:buSzPts val="1125"/>
              <a:buFont typeface="Arial"/>
              <a:buNone/>
            </a:pPr>
            <a:r>
              <a:rPr b="1" lang="en-US" sz="1125">
                <a:solidFill>
                  <a:srgbClr val="2F6F57"/>
                </a:solidFill>
              </a:rPr>
              <a:t>0.02</a:t>
            </a:r>
            <a:endParaRPr/>
          </a:p>
        </p:txBody>
      </p:sp>
      <p:sp>
        <p:nvSpPr>
          <p:cNvPr id="656" name="Google Shape;656;p13"/>
          <p:cNvSpPr/>
          <p:nvPr/>
        </p:nvSpPr>
        <p:spPr>
          <a:xfrm>
            <a:off x="5010150" y="5257800"/>
            <a:ext cx="6400800" cy="447675"/>
          </a:xfrm>
          <a:prstGeom prst="roundRect">
            <a:avLst>
              <a:gd fmla="val 17021" name="adj"/>
            </a:avLst>
          </a:prstGeom>
          <a:solidFill>
            <a:srgbClr val="FFFFFF"/>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7" name="Google Shape;657;p13"/>
          <p:cNvSpPr/>
          <p:nvPr/>
        </p:nvSpPr>
        <p:spPr>
          <a:xfrm>
            <a:off x="5010150" y="5257800"/>
            <a:ext cx="47625" cy="447675"/>
          </a:xfrm>
          <a:prstGeom prst="rect">
            <a:avLst/>
          </a:prstGeom>
          <a:solidFill>
            <a:srgbClr val="2F6F57"/>
          </a:solidFill>
          <a:ln cap="flat" cmpd="sng" w="9525">
            <a:solidFill>
              <a:srgbClr val="2F6F5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8" name="Google Shape;658;p13"/>
          <p:cNvSpPr/>
          <p:nvPr/>
        </p:nvSpPr>
        <p:spPr>
          <a:xfrm>
            <a:off x="5181600" y="5305425"/>
            <a:ext cx="1676400" cy="2286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1125"/>
              <a:buFont typeface="Arial"/>
              <a:buNone/>
            </a:pPr>
            <a:r>
              <a:rPr b="1" lang="en-US" sz="1125">
                <a:solidFill>
                  <a:srgbClr val="1A1A2E"/>
                </a:solidFill>
              </a:rPr>
              <a:t>Story Sizing</a:t>
            </a:r>
            <a:endParaRPr/>
          </a:p>
        </p:txBody>
      </p:sp>
      <p:sp>
        <p:nvSpPr>
          <p:cNvPr id="659" name="Google Shape;659;p13"/>
          <p:cNvSpPr/>
          <p:nvPr/>
        </p:nvSpPr>
        <p:spPr>
          <a:xfrm>
            <a:off x="6838950" y="5305425"/>
            <a:ext cx="971550" cy="2286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863"/>
              <a:buFont typeface="Arial"/>
              <a:buNone/>
            </a:pPr>
            <a:r>
              <a:rPr lang="en-US" sz="863">
                <a:solidFill>
                  <a:srgbClr val="666B70"/>
                </a:solidFill>
              </a:rPr>
              <a:t>reasonableness 1.00</a:t>
            </a:r>
            <a:endParaRPr/>
          </a:p>
        </p:txBody>
      </p:sp>
      <p:sp>
        <p:nvSpPr>
          <p:cNvPr id="660" name="Google Shape;660;p13"/>
          <p:cNvSpPr/>
          <p:nvPr/>
        </p:nvSpPr>
        <p:spPr>
          <a:xfrm>
            <a:off x="7905750" y="5305425"/>
            <a:ext cx="904875" cy="2286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F6F57"/>
              </a:buClr>
              <a:buSzPts val="1050"/>
              <a:buFont typeface="Arial"/>
              <a:buNone/>
            </a:pPr>
            <a:r>
              <a:rPr b="1" lang="en-US" sz="1050">
                <a:solidFill>
                  <a:srgbClr val="2F6F57"/>
                </a:solidFill>
              </a:rPr>
              <a:t>1.00</a:t>
            </a:r>
            <a:endParaRPr/>
          </a:p>
        </p:txBody>
      </p:sp>
      <p:sp>
        <p:nvSpPr>
          <p:cNvPr id="661" name="Google Shape;661;p13"/>
          <p:cNvSpPr/>
          <p:nvPr/>
        </p:nvSpPr>
        <p:spPr>
          <a:xfrm>
            <a:off x="9001125" y="5305425"/>
            <a:ext cx="904875" cy="2286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F6F57"/>
              </a:buClr>
              <a:buSzPts val="1125"/>
              <a:buFont typeface="Arial"/>
              <a:buNone/>
            </a:pPr>
            <a:r>
              <a:rPr b="1" lang="en-US" sz="1125">
                <a:solidFill>
                  <a:srgbClr val="2F6F57"/>
                </a:solidFill>
              </a:rPr>
              <a:t>1.00</a:t>
            </a:r>
            <a:endParaRPr/>
          </a:p>
        </p:txBody>
      </p:sp>
      <p:sp>
        <p:nvSpPr>
          <p:cNvPr id="662" name="Google Shape;662;p13"/>
          <p:cNvSpPr/>
          <p:nvPr/>
        </p:nvSpPr>
        <p:spPr>
          <a:xfrm>
            <a:off x="10134600" y="5305425"/>
            <a:ext cx="1047750" cy="2286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F6F57"/>
              </a:buClr>
              <a:buSzPts val="1125"/>
              <a:buFont typeface="Arial"/>
              <a:buNone/>
            </a:pPr>
            <a:r>
              <a:rPr b="1" lang="en-US" sz="1125">
                <a:solidFill>
                  <a:srgbClr val="2F6F57"/>
                </a:solidFill>
              </a:rPr>
              <a:t>0.00</a:t>
            </a:r>
            <a:endParaRPr/>
          </a:p>
        </p:txBody>
      </p:sp>
      <p:sp>
        <p:nvSpPr>
          <p:cNvPr id="663" name="Google Shape;663;p13"/>
          <p:cNvSpPr/>
          <p:nvPr/>
        </p:nvSpPr>
        <p:spPr>
          <a:xfrm>
            <a:off x="0" y="6172200"/>
            <a:ext cx="12192000" cy="685800"/>
          </a:xfrm>
          <a:prstGeom prst="rect">
            <a:avLst/>
          </a:prstGeom>
          <a:solidFill>
            <a:srgbClr val="1A1A2E"/>
          </a:solidFill>
          <a:ln cap="flat" cmpd="sng" w="9525">
            <a:solidFill>
              <a:srgbClr val="1A1A2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4" name="Google Shape;664;p13"/>
          <p:cNvSpPr/>
          <p:nvPr/>
        </p:nvSpPr>
        <p:spPr>
          <a:xfrm>
            <a:off x="781050" y="6267450"/>
            <a:ext cx="2381250" cy="2095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C9C6D8"/>
              </a:buClr>
              <a:buSzPts val="825"/>
              <a:buFont typeface="Arial"/>
              <a:buNone/>
            </a:pPr>
            <a:r>
              <a:rPr b="1" lang="en-US" sz="825">
                <a:solidFill>
                  <a:srgbClr val="C9C6D8"/>
                </a:solidFill>
              </a:rPr>
              <a:t>ACCEPTED CANDIDATE</a:t>
            </a:r>
            <a:endParaRPr/>
          </a:p>
        </p:txBody>
      </p:sp>
      <p:sp>
        <p:nvSpPr>
          <p:cNvPr id="665" name="Google Shape;665;p13"/>
          <p:cNvSpPr/>
          <p:nvPr/>
        </p:nvSpPr>
        <p:spPr>
          <a:xfrm>
            <a:off x="3048000" y="6267450"/>
            <a:ext cx="8362950" cy="4000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FFFFFF"/>
              </a:buClr>
              <a:buSzPts val="1275"/>
              <a:buFont typeface="Arial"/>
              <a:buNone/>
            </a:pPr>
            <a:r>
              <a:rPr b="1" lang="en-US" sz="1275">
                <a:solidFill>
                  <a:srgbClr val="FFFFFF"/>
                </a:solidFill>
              </a:rPr>
              <a:t>The evidence supports v0.3.8 as the submission candidate; v0.3.7 remains the protected rollback checkpoint.</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4EE"/>
        </a:solidFill>
      </p:bgPr>
    </p:bg>
    <p:spTree>
      <p:nvGrpSpPr>
        <p:cNvPr id="670" name="Shape 670"/>
        <p:cNvGrpSpPr/>
        <p:nvPr/>
      </p:nvGrpSpPr>
      <p:grpSpPr>
        <a:xfrm>
          <a:off x="0" y="0"/>
          <a:ext cx="0" cy="0"/>
          <a:chOff x="0" y="0"/>
          <a:chExt cx="0" cy="0"/>
        </a:xfrm>
      </p:grpSpPr>
      <p:sp>
        <p:nvSpPr>
          <p:cNvPr id="671" name="Google Shape;671;p14"/>
          <p:cNvSpPr/>
          <p:nvPr/>
        </p:nvSpPr>
        <p:spPr>
          <a:xfrm>
            <a:off x="0" y="0"/>
            <a:ext cx="12192000" cy="76200"/>
          </a:xfrm>
          <a:prstGeom prst="rect">
            <a:avLst/>
          </a:prstGeom>
          <a:solidFill>
            <a:srgbClr val="B85042"/>
          </a:solidFill>
          <a:ln cap="flat" cmpd="sng" w="9525">
            <a:solidFill>
              <a:srgbClr val="B8504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2" name="Google Shape;672;p14"/>
          <p:cNvSpPr/>
          <p:nvPr/>
        </p:nvSpPr>
        <p:spPr>
          <a:xfrm>
            <a:off x="514350" y="742950"/>
            <a:ext cx="66675" cy="866775"/>
          </a:xfrm>
          <a:prstGeom prst="rect">
            <a:avLst/>
          </a:prstGeom>
          <a:solidFill>
            <a:srgbClr val="B85042"/>
          </a:solidFill>
          <a:ln cap="flat" cmpd="sng" w="9525">
            <a:solidFill>
              <a:srgbClr val="B8504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3" name="Google Shape;673;p14"/>
          <p:cNvSpPr/>
          <p:nvPr/>
        </p:nvSpPr>
        <p:spPr>
          <a:xfrm>
            <a:off x="781050" y="552450"/>
            <a:ext cx="6286500" cy="2667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B85042"/>
              </a:buClr>
              <a:buSzPts val="975"/>
              <a:buFont typeface="Arial"/>
              <a:buNone/>
            </a:pPr>
            <a:r>
              <a:rPr b="1" lang="en-US" sz="975">
                <a:solidFill>
                  <a:srgbClr val="B85042"/>
                </a:solidFill>
              </a:rPr>
              <a:t>14  ·  BIDIRECTIONAL TRACEABILITY</a:t>
            </a:r>
            <a:endParaRPr/>
          </a:p>
        </p:txBody>
      </p:sp>
      <p:sp>
        <p:nvSpPr>
          <p:cNvPr id="674" name="Google Shape;674;p14"/>
          <p:cNvSpPr/>
          <p:nvPr/>
        </p:nvSpPr>
        <p:spPr>
          <a:xfrm>
            <a:off x="781050" y="885825"/>
            <a:ext cx="10648950" cy="6096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2550"/>
              <a:buFont typeface="Arial"/>
              <a:buNone/>
            </a:pPr>
            <a:r>
              <a:rPr b="1" lang="en-US" sz="2550">
                <a:solidFill>
                  <a:srgbClr val="1A1A2E"/>
                </a:solidFill>
              </a:rPr>
              <a:t>Every delivered story can be traced back to source evidence</a:t>
            </a:r>
            <a:endParaRPr/>
          </a:p>
        </p:txBody>
      </p:sp>
      <p:sp>
        <p:nvSpPr>
          <p:cNvPr id="675" name="Google Shape;675;p14"/>
          <p:cNvSpPr/>
          <p:nvPr/>
        </p:nvSpPr>
        <p:spPr>
          <a:xfrm>
            <a:off x="781050" y="1543050"/>
            <a:ext cx="10648950" cy="3238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1275"/>
              <a:buFont typeface="Arial"/>
              <a:buNone/>
            </a:pPr>
            <a:r>
              <a:rPr lang="en-US" sz="1275">
                <a:solidFill>
                  <a:srgbClr val="666B70"/>
                </a:solidFill>
              </a:rPr>
              <a:t>Stable identifiers preserve the chain in both directions—from approved source text to acceptance criteria and back.</a:t>
            </a:r>
            <a:endParaRPr/>
          </a:p>
        </p:txBody>
      </p:sp>
      <p:sp>
        <p:nvSpPr>
          <p:cNvPr id="676" name="Google Shape;676;p14"/>
          <p:cNvSpPr/>
          <p:nvPr/>
        </p:nvSpPr>
        <p:spPr>
          <a:xfrm>
            <a:off x="781050" y="2114550"/>
            <a:ext cx="4953000" cy="2286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3B6EBF"/>
              </a:buClr>
              <a:buSzPts val="900"/>
              <a:buFont typeface="Arial"/>
              <a:buNone/>
            </a:pPr>
            <a:r>
              <a:rPr b="1" lang="en-US" sz="900">
                <a:solidFill>
                  <a:srgbClr val="3B6EBF"/>
                </a:solidFill>
              </a:rPr>
              <a:t>FORWARD TRACE  ·  Why does this story exist?</a:t>
            </a:r>
            <a:endParaRPr/>
          </a:p>
        </p:txBody>
      </p:sp>
      <p:sp>
        <p:nvSpPr>
          <p:cNvPr id="677" name="Google Shape;677;p14"/>
          <p:cNvSpPr/>
          <p:nvPr/>
        </p:nvSpPr>
        <p:spPr>
          <a:xfrm>
            <a:off x="781050" y="2524125"/>
            <a:ext cx="1524000" cy="1343025"/>
          </a:xfrm>
          <a:prstGeom prst="roundRect">
            <a:avLst>
              <a:gd fmla="val 5674" name="adj"/>
            </a:avLst>
          </a:prstGeom>
          <a:solidFill>
            <a:srgbClr val="FFFFFF"/>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8" name="Google Shape;678;p14"/>
          <p:cNvSpPr/>
          <p:nvPr/>
        </p:nvSpPr>
        <p:spPr>
          <a:xfrm>
            <a:off x="781050" y="2524125"/>
            <a:ext cx="1524000" cy="66675"/>
          </a:xfrm>
          <a:prstGeom prst="rect">
            <a:avLst/>
          </a:prstGeom>
          <a:solidFill>
            <a:srgbClr val="3B6EBF"/>
          </a:solidFill>
          <a:ln cap="flat" cmpd="sng" w="9525">
            <a:solidFill>
              <a:srgbClr val="3B6EB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9" name="Google Shape;679;p14"/>
          <p:cNvSpPr/>
          <p:nvPr/>
        </p:nvSpPr>
        <p:spPr>
          <a:xfrm>
            <a:off x="914400" y="2676525"/>
            <a:ext cx="1257300" cy="190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3B6EBF"/>
              </a:buClr>
              <a:buSzPts val="713"/>
              <a:buFont typeface="Arial"/>
              <a:buNone/>
            </a:pPr>
            <a:r>
              <a:rPr b="1" lang="en-US" sz="713">
                <a:solidFill>
                  <a:srgbClr val="3B6EBF"/>
                </a:solidFill>
              </a:rPr>
              <a:t>SOURCE</a:t>
            </a:r>
            <a:endParaRPr/>
          </a:p>
        </p:txBody>
      </p:sp>
      <p:sp>
        <p:nvSpPr>
          <p:cNvPr id="680" name="Google Shape;680;p14"/>
          <p:cNvSpPr/>
          <p:nvPr/>
        </p:nvSpPr>
        <p:spPr>
          <a:xfrm>
            <a:off x="914400" y="2914650"/>
            <a:ext cx="1257300" cy="419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1050"/>
              <a:buFont typeface="Arial"/>
              <a:buNone/>
            </a:pPr>
            <a:r>
              <a:rPr b="1" lang="en-US" sz="1050">
                <a:solidFill>
                  <a:srgbClr val="1A1A2E"/>
                </a:solidFill>
              </a:rPr>
              <a:t>Approved source file</a:t>
            </a:r>
            <a:endParaRPr/>
          </a:p>
        </p:txBody>
      </p:sp>
      <p:sp>
        <p:nvSpPr>
          <p:cNvPr id="681" name="Google Shape;681;p14"/>
          <p:cNvSpPr/>
          <p:nvPr/>
        </p:nvSpPr>
        <p:spPr>
          <a:xfrm>
            <a:off x="895350" y="3390900"/>
            <a:ext cx="1295400" cy="342900"/>
          </a:xfrm>
          <a:prstGeom prst="roundRect">
            <a:avLst>
              <a:gd fmla="val 22222" name="adj"/>
            </a:avLst>
          </a:prstGeom>
          <a:solidFill>
            <a:srgbClr val="E8EFF9"/>
          </a:solidFill>
          <a:ln cap="flat" cmpd="sng" w="9525">
            <a:solidFill>
              <a:srgbClr val="E8EFF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2" name="Google Shape;682;p14"/>
          <p:cNvSpPr/>
          <p:nvPr/>
        </p:nvSpPr>
        <p:spPr>
          <a:xfrm>
            <a:off x="962025" y="3429000"/>
            <a:ext cx="1162050" cy="2667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750"/>
              <a:buFont typeface="Arial"/>
              <a:buNone/>
            </a:pPr>
            <a:r>
              <a:rPr lang="en-US" sz="750">
                <a:solidFill>
                  <a:srgbClr val="666B70"/>
                </a:solidFill>
              </a:rPr>
              <a:t>Original stakeholder evidence</a:t>
            </a:r>
            <a:endParaRPr/>
          </a:p>
        </p:txBody>
      </p:sp>
      <p:sp>
        <p:nvSpPr>
          <p:cNvPr id="683" name="Google Shape;683;p14"/>
          <p:cNvSpPr/>
          <p:nvPr/>
        </p:nvSpPr>
        <p:spPr>
          <a:xfrm>
            <a:off x="2609850" y="2524125"/>
            <a:ext cx="1524000" cy="1343025"/>
          </a:xfrm>
          <a:prstGeom prst="roundRect">
            <a:avLst>
              <a:gd fmla="val 5674" name="adj"/>
            </a:avLst>
          </a:prstGeom>
          <a:solidFill>
            <a:srgbClr val="FFFFFF"/>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4" name="Google Shape;684;p14"/>
          <p:cNvSpPr/>
          <p:nvPr/>
        </p:nvSpPr>
        <p:spPr>
          <a:xfrm>
            <a:off x="2609850" y="2524125"/>
            <a:ext cx="1524000" cy="66675"/>
          </a:xfrm>
          <a:prstGeom prst="rect">
            <a:avLst/>
          </a:prstGeom>
          <a:solidFill>
            <a:srgbClr val="7546C8"/>
          </a:solidFill>
          <a:ln cap="flat" cmpd="sng" w="9525">
            <a:solidFill>
              <a:srgbClr val="7546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5" name="Google Shape;685;p14"/>
          <p:cNvSpPr/>
          <p:nvPr/>
        </p:nvSpPr>
        <p:spPr>
          <a:xfrm>
            <a:off x="2743200" y="2676525"/>
            <a:ext cx="1257300" cy="190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7546C8"/>
              </a:buClr>
              <a:buSzPts val="713"/>
              <a:buFont typeface="Arial"/>
              <a:buNone/>
            </a:pPr>
            <a:r>
              <a:rPr b="1" lang="en-US" sz="713">
                <a:solidFill>
                  <a:srgbClr val="7546C8"/>
                </a:solidFill>
              </a:rPr>
              <a:t>CITATION</a:t>
            </a:r>
            <a:endParaRPr/>
          </a:p>
        </p:txBody>
      </p:sp>
      <p:sp>
        <p:nvSpPr>
          <p:cNvPr id="686" name="Google Shape;686;p14"/>
          <p:cNvSpPr/>
          <p:nvPr/>
        </p:nvSpPr>
        <p:spPr>
          <a:xfrm>
            <a:off x="2743200" y="2914650"/>
            <a:ext cx="1257300" cy="419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810"/>
              <a:buFont typeface="Arial"/>
              <a:buNone/>
            </a:pPr>
            <a:r>
              <a:rPr b="1" lang="en-US" sz="810">
                <a:solidFill>
                  <a:srgbClr val="1A1A2E"/>
                </a:solidFill>
              </a:rPr>
              <a:t>CIT-05-0016-</a:t>
            </a:r>
            <a:endParaRPr/>
          </a:p>
          <a:p>
            <a:pPr indent="0" lvl="0" marL="0" marR="0" rtl="0" algn="l">
              <a:spcBef>
                <a:spcPts val="0"/>
              </a:spcBef>
              <a:spcAft>
                <a:spcPts val="0"/>
              </a:spcAft>
              <a:buClr>
                <a:srgbClr val="1A1A2E"/>
              </a:buClr>
              <a:buSzPts val="810"/>
              <a:buFont typeface="Arial"/>
              <a:buNone/>
            </a:pPr>
            <a:r>
              <a:rPr b="1" lang="en-US" sz="810">
                <a:solidFill>
                  <a:srgbClr val="1A1A2E"/>
                </a:solidFill>
              </a:rPr>
              <a:t>13c3d894</a:t>
            </a:r>
            <a:endParaRPr/>
          </a:p>
        </p:txBody>
      </p:sp>
      <p:sp>
        <p:nvSpPr>
          <p:cNvPr id="687" name="Google Shape;687;p14"/>
          <p:cNvSpPr/>
          <p:nvPr/>
        </p:nvSpPr>
        <p:spPr>
          <a:xfrm>
            <a:off x="2724150" y="3390900"/>
            <a:ext cx="1295400" cy="342900"/>
          </a:xfrm>
          <a:prstGeom prst="roundRect">
            <a:avLst>
              <a:gd fmla="val 22222" name="adj"/>
            </a:avLst>
          </a:prstGeom>
          <a:solidFill>
            <a:srgbClr val="F0EAFB"/>
          </a:solidFill>
          <a:ln cap="flat" cmpd="sng" w="9525">
            <a:solidFill>
              <a:srgbClr val="F0EAF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8" name="Google Shape;688;p14"/>
          <p:cNvSpPr/>
          <p:nvPr/>
        </p:nvSpPr>
        <p:spPr>
          <a:xfrm>
            <a:off x="2790825" y="3429000"/>
            <a:ext cx="1162050" cy="2667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750"/>
              <a:buFont typeface="Arial"/>
              <a:buNone/>
            </a:pPr>
            <a:r>
              <a:rPr lang="en-US" sz="750">
                <a:solidFill>
                  <a:srgbClr val="666B70"/>
                </a:solidFill>
              </a:rPr>
              <a:t>Exact evidence segment</a:t>
            </a:r>
            <a:endParaRPr/>
          </a:p>
        </p:txBody>
      </p:sp>
      <p:sp>
        <p:nvSpPr>
          <p:cNvPr id="689" name="Google Shape;689;p14"/>
          <p:cNvSpPr/>
          <p:nvPr/>
        </p:nvSpPr>
        <p:spPr>
          <a:xfrm>
            <a:off x="4438650" y="2524125"/>
            <a:ext cx="1524000" cy="1343025"/>
          </a:xfrm>
          <a:prstGeom prst="roundRect">
            <a:avLst>
              <a:gd fmla="val 5674" name="adj"/>
            </a:avLst>
          </a:prstGeom>
          <a:solidFill>
            <a:srgbClr val="FFFFFF"/>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0" name="Google Shape;690;p14"/>
          <p:cNvSpPr/>
          <p:nvPr/>
        </p:nvSpPr>
        <p:spPr>
          <a:xfrm>
            <a:off x="4438650" y="2524125"/>
            <a:ext cx="1524000" cy="66675"/>
          </a:xfrm>
          <a:prstGeom prst="rect">
            <a:avLst/>
          </a:prstGeom>
          <a:solidFill>
            <a:srgbClr val="B85042"/>
          </a:solidFill>
          <a:ln cap="flat" cmpd="sng" w="9525">
            <a:solidFill>
              <a:srgbClr val="B8504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1" name="Google Shape;691;p14"/>
          <p:cNvSpPr/>
          <p:nvPr/>
        </p:nvSpPr>
        <p:spPr>
          <a:xfrm>
            <a:off x="4572000" y="2676525"/>
            <a:ext cx="1257300" cy="190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B85042"/>
              </a:buClr>
              <a:buSzPts val="713"/>
              <a:buFont typeface="Arial"/>
              <a:buNone/>
            </a:pPr>
            <a:r>
              <a:rPr b="1" lang="en-US" sz="713">
                <a:solidFill>
                  <a:srgbClr val="B85042"/>
                </a:solidFill>
              </a:rPr>
              <a:t>REQUIREMENT</a:t>
            </a:r>
            <a:endParaRPr/>
          </a:p>
        </p:txBody>
      </p:sp>
      <p:sp>
        <p:nvSpPr>
          <p:cNvPr id="692" name="Google Shape;692;p14"/>
          <p:cNvSpPr/>
          <p:nvPr/>
        </p:nvSpPr>
        <p:spPr>
          <a:xfrm>
            <a:off x="4572000" y="2914650"/>
            <a:ext cx="1257300" cy="419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1050"/>
              <a:buFont typeface="Arial"/>
              <a:buNone/>
            </a:pPr>
            <a:r>
              <a:rPr b="1" lang="en-US" sz="1050">
                <a:solidFill>
                  <a:srgbClr val="1A1A2E"/>
                </a:solidFill>
              </a:rPr>
              <a:t>FR-001</a:t>
            </a:r>
            <a:endParaRPr/>
          </a:p>
        </p:txBody>
      </p:sp>
      <p:sp>
        <p:nvSpPr>
          <p:cNvPr id="693" name="Google Shape;693;p14"/>
          <p:cNvSpPr/>
          <p:nvPr/>
        </p:nvSpPr>
        <p:spPr>
          <a:xfrm>
            <a:off x="4552950" y="3390900"/>
            <a:ext cx="1295400" cy="342900"/>
          </a:xfrm>
          <a:prstGeom prst="roundRect">
            <a:avLst>
              <a:gd fmla="val 22222" name="adj"/>
            </a:avLst>
          </a:prstGeom>
          <a:solidFill>
            <a:srgbClr val="F3E6E2"/>
          </a:solidFill>
          <a:ln cap="flat" cmpd="sng" w="9525">
            <a:solidFill>
              <a:srgbClr val="F3E6E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4" name="Google Shape;694;p14"/>
          <p:cNvSpPr/>
          <p:nvPr/>
        </p:nvSpPr>
        <p:spPr>
          <a:xfrm>
            <a:off x="4619625" y="3429000"/>
            <a:ext cx="1162050" cy="2667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750"/>
              <a:buFont typeface="Arial"/>
              <a:buNone/>
            </a:pPr>
            <a:r>
              <a:rPr lang="en-US" sz="750">
                <a:solidFill>
                  <a:srgbClr val="666B70"/>
                </a:solidFill>
              </a:rPr>
              <a:t>Display five core metrics</a:t>
            </a:r>
            <a:endParaRPr/>
          </a:p>
        </p:txBody>
      </p:sp>
      <p:sp>
        <p:nvSpPr>
          <p:cNvPr id="695" name="Google Shape;695;p14"/>
          <p:cNvSpPr/>
          <p:nvPr/>
        </p:nvSpPr>
        <p:spPr>
          <a:xfrm>
            <a:off x="6267450" y="2524125"/>
            <a:ext cx="1524000" cy="1343025"/>
          </a:xfrm>
          <a:prstGeom prst="roundRect">
            <a:avLst>
              <a:gd fmla="val 5674" name="adj"/>
            </a:avLst>
          </a:prstGeom>
          <a:solidFill>
            <a:srgbClr val="FFFFFF"/>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6" name="Google Shape;696;p14"/>
          <p:cNvSpPr/>
          <p:nvPr/>
        </p:nvSpPr>
        <p:spPr>
          <a:xfrm>
            <a:off x="6267450" y="2524125"/>
            <a:ext cx="1524000" cy="66675"/>
          </a:xfrm>
          <a:prstGeom prst="rect">
            <a:avLst/>
          </a:prstGeom>
          <a:solidFill>
            <a:srgbClr val="3B6EBF"/>
          </a:solidFill>
          <a:ln cap="flat" cmpd="sng" w="9525">
            <a:solidFill>
              <a:srgbClr val="3B6EB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7" name="Google Shape;697;p14"/>
          <p:cNvSpPr/>
          <p:nvPr/>
        </p:nvSpPr>
        <p:spPr>
          <a:xfrm>
            <a:off x="6400800" y="2676525"/>
            <a:ext cx="1257300" cy="190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3B6EBF"/>
              </a:buClr>
              <a:buSzPts val="713"/>
              <a:buFont typeface="Arial"/>
              <a:buNone/>
            </a:pPr>
            <a:r>
              <a:rPr b="1" lang="en-US" sz="713">
                <a:solidFill>
                  <a:srgbClr val="3B6EBF"/>
                </a:solidFill>
              </a:rPr>
              <a:t>PRD ELEMENT</a:t>
            </a:r>
            <a:endParaRPr/>
          </a:p>
        </p:txBody>
      </p:sp>
      <p:sp>
        <p:nvSpPr>
          <p:cNvPr id="698" name="Google Shape;698;p14"/>
          <p:cNvSpPr/>
          <p:nvPr/>
        </p:nvSpPr>
        <p:spPr>
          <a:xfrm>
            <a:off x="6400800" y="2914650"/>
            <a:ext cx="1257300" cy="419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1050"/>
              <a:buFont typeface="Arial"/>
              <a:buNone/>
            </a:pPr>
            <a:r>
              <a:rPr b="1" lang="en-US" sz="1050">
                <a:solidFill>
                  <a:srgbClr val="1A1A2E"/>
                </a:solidFill>
              </a:rPr>
              <a:t>Dashboard Insights</a:t>
            </a:r>
            <a:endParaRPr/>
          </a:p>
        </p:txBody>
      </p:sp>
      <p:sp>
        <p:nvSpPr>
          <p:cNvPr id="699" name="Google Shape;699;p14"/>
          <p:cNvSpPr/>
          <p:nvPr/>
        </p:nvSpPr>
        <p:spPr>
          <a:xfrm>
            <a:off x="6381750" y="3390900"/>
            <a:ext cx="1295400" cy="342900"/>
          </a:xfrm>
          <a:prstGeom prst="roundRect">
            <a:avLst>
              <a:gd fmla="val 22222" name="adj"/>
            </a:avLst>
          </a:prstGeom>
          <a:solidFill>
            <a:srgbClr val="E8EFF9"/>
          </a:solidFill>
          <a:ln cap="flat" cmpd="sng" w="9525">
            <a:solidFill>
              <a:srgbClr val="E8EFF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0" name="Google Shape;700;p14"/>
          <p:cNvSpPr/>
          <p:nvPr/>
        </p:nvSpPr>
        <p:spPr>
          <a:xfrm>
            <a:off x="6448425" y="3429000"/>
            <a:ext cx="1162050" cy="2667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750"/>
              <a:buFont typeface="Arial"/>
              <a:buNone/>
            </a:pPr>
            <a:r>
              <a:rPr lang="en-US" sz="750">
                <a:solidFill>
                  <a:srgbClr val="666B70"/>
                </a:solidFill>
              </a:rPr>
              <a:t>Feature + acceptance criteria</a:t>
            </a:r>
            <a:endParaRPr/>
          </a:p>
        </p:txBody>
      </p:sp>
      <p:sp>
        <p:nvSpPr>
          <p:cNvPr id="701" name="Google Shape;701;p14"/>
          <p:cNvSpPr/>
          <p:nvPr/>
        </p:nvSpPr>
        <p:spPr>
          <a:xfrm>
            <a:off x="8096250" y="2524125"/>
            <a:ext cx="1524000" cy="1343025"/>
          </a:xfrm>
          <a:prstGeom prst="roundRect">
            <a:avLst>
              <a:gd fmla="val 5674" name="adj"/>
            </a:avLst>
          </a:prstGeom>
          <a:solidFill>
            <a:srgbClr val="FFFFFF"/>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2" name="Google Shape;702;p14"/>
          <p:cNvSpPr/>
          <p:nvPr/>
        </p:nvSpPr>
        <p:spPr>
          <a:xfrm>
            <a:off x="8096250" y="2524125"/>
            <a:ext cx="1524000" cy="66675"/>
          </a:xfrm>
          <a:prstGeom prst="rect">
            <a:avLst/>
          </a:prstGeom>
          <a:solidFill>
            <a:srgbClr val="7546C8"/>
          </a:solidFill>
          <a:ln cap="flat" cmpd="sng" w="9525">
            <a:solidFill>
              <a:srgbClr val="7546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3" name="Google Shape;703;p14"/>
          <p:cNvSpPr/>
          <p:nvPr/>
        </p:nvSpPr>
        <p:spPr>
          <a:xfrm>
            <a:off x="8229600" y="2676525"/>
            <a:ext cx="1257300" cy="190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7546C8"/>
              </a:buClr>
              <a:buSzPts val="713"/>
              <a:buFont typeface="Arial"/>
              <a:buNone/>
            </a:pPr>
            <a:r>
              <a:rPr b="1" lang="en-US" sz="713">
                <a:solidFill>
                  <a:srgbClr val="7546C8"/>
                </a:solidFill>
              </a:rPr>
              <a:t>DELIVERY GROUP</a:t>
            </a:r>
            <a:endParaRPr/>
          </a:p>
        </p:txBody>
      </p:sp>
      <p:sp>
        <p:nvSpPr>
          <p:cNvPr id="704" name="Google Shape;704;p14"/>
          <p:cNvSpPr/>
          <p:nvPr/>
        </p:nvSpPr>
        <p:spPr>
          <a:xfrm>
            <a:off x="8229600" y="2914650"/>
            <a:ext cx="1257300" cy="419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1050"/>
              <a:buFont typeface="Arial"/>
              <a:buNone/>
            </a:pPr>
            <a:r>
              <a:rPr b="1" lang="en-US" sz="1050">
                <a:solidFill>
                  <a:srgbClr val="1A1A2E"/>
                </a:solidFill>
              </a:rPr>
              <a:t>Analytics Insights</a:t>
            </a:r>
            <a:endParaRPr/>
          </a:p>
        </p:txBody>
      </p:sp>
      <p:sp>
        <p:nvSpPr>
          <p:cNvPr id="705" name="Google Shape;705;p14"/>
          <p:cNvSpPr/>
          <p:nvPr/>
        </p:nvSpPr>
        <p:spPr>
          <a:xfrm>
            <a:off x="8210550" y="3390900"/>
            <a:ext cx="1295400" cy="342900"/>
          </a:xfrm>
          <a:prstGeom prst="roundRect">
            <a:avLst>
              <a:gd fmla="val 22222" name="adj"/>
            </a:avLst>
          </a:prstGeom>
          <a:solidFill>
            <a:srgbClr val="F0EAFB"/>
          </a:solidFill>
          <a:ln cap="flat" cmpd="sng" w="9525">
            <a:solidFill>
              <a:srgbClr val="F0EAF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6" name="Google Shape;706;p14"/>
          <p:cNvSpPr/>
          <p:nvPr/>
        </p:nvSpPr>
        <p:spPr>
          <a:xfrm>
            <a:off x="8277225" y="3429000"/>
            <a:ext cx="1162050" cy="2667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750"/>
              <a:buFont typeface="Arial"/>
              <a:buNone/>
            </a:pPr>
            <a:r>
              <a:rPr lang="en-US" sz="750">
                <a:solidFill>
                  <a:srgbClr val="666B70"/>
                </a:solidFill>
              </a:rPr>
              <a:t>Epic → Dashboard feature</a:t>
            </a:r>
            <a:endParaRPr/>
          </a:p>
        </p:txBody>
      </p:sp>
      <p:sp>
        <p:nvSpPr>
          <p:cNvPr id="707" name="Google Shape;707;p14"/>
          <p:cNvSpPr/>
          <p:nvPr/>
        </p:nvSpPr>
        <p:spPr>
          <a:xfrm>
            <a:off x="9925050" y="2524125"/>
            <a:ext cx="1524000" cy="1343025"/>
          </a:xfrm>
          <a:prstGeom prst="roundRect">
            <a:avLst>
              <a:gd fmla="val 5674" name="adj"/>
            </a:avLst>
          </a:prstGeom>
          <a:solidFill>
            <a:srgbClr val="FFFFFF"/>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8" name="Google Shape;708;p14"/>
          <p:cNvSpPr/>
          <p:nvPr/>
        </p:nvSpPr>
        <p:spPr>
          <a:xfrm>
            <a:off x="9925050" y="2524125"/>
            <a:ext cx="1524000" cy="66675"/>
          </a:xfrm>
          <a:prstGeom prst="rect">
            <a:avLst/>
          </a:prstGeom>
          <a:solidFill>
            <a:srgbClr val="2F6F57"/>
          </a:solidFill>
          <a:ln cap="flat" cmpd="sng" w="9525">
            <a:solidFill>
              <a:srgbClr val="2F6F5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9" name="Google Shape;709;p14"/>
          <p:cNvSpPr/>
          <p:nvPr/>
        </p:nvSpPr>
        <p:spPr>
          <a:xfrm>
            <a:off x="10058400" y="2676525"/>
            <a:ext cx="1257300" cy="190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F6F57"/>
              </a:buClr>
              <a:buSzPts val="713"/>
              <a:buFont typeface="Arial"/>
              <a:buNone/>
            </a:pPr>
            <a:r>
              <a:rPr b="1" lang="en-US" sz="713">
                <a:solidFill>
                  <a:srgbClr val="2F6F57"/>
                </a:solidFill>
              </a:rPr>
              <a:t>DELIVERED STORY</a:t>
            </a:r>
            <a:endParaRPr/>
          </a:p>
        </p:txBody>
      </p:sp>
      <p:sp>
        <p:nvSpPr>
          <p:cNvPr id="710" name="Google Shape;710;p14"/>
          <p:cNvSpPr/>
          <p:nvPr/>
        </p:nvSpPr>
        <p:spPr>
          <a:xfrm>
            <a:off x="10058400" y="2914650"/>
            <a:ext cx="1257300" cy="419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1050"/>
              <a:buFont typeface="Arial"/>
              <a:buNone/>
            </a:pPr>
            <a:r>
              <a:rPr b="1" lang="en-US" sz="1050">
                <a:solidFill>
                  <a:srgbClr val="1A1A2E"/>
                </a:solidFill>
              </a:rPr>
              <a:t>Display five core metrics</a:t>
            </a:r>
            <a:endParaRPr/>
          </a:p>
        </p:txBody>
      </p:sp>
      <p:sp>
        <p:nvSpPr>
          <p:cNvPr id="711" name="Google Shape;711;p14"/>
          <p:cNvSpPr/>
          <p:nvPr/>
        </p:nvSpPr>
        <p:spPr>
          <a:xfrm>
            <a:off x="10039350" y="3390900"/>
            <a:ext cx="1295400" cy="342900"/>
          </a:xfrm>
          <a:prstGeom prst="roundRect">
            <a:avLst>
              <a:gd fmla="val 22222" name="adj"/>
            </a:avLst>
          </a:prstGeom>
          <a:solidFill>
            <a:srgbClr val="E6F0EB"/>
          </a:solidFill>
          <a:ln cap="flat" cmpd="sng" w="9525">
            <a:solidFill>
              <a:srgbClr val="E6F0E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2" name="Google Shape;712;p14"/>
          <p:cNvSpPr/>
          <p:nvPr/>
        </p:nvSpPr>
        <p:spPr>
          <a:xfrm>
            <a:off x="10106025" y="3429000"/>
            <a:ext cx="1162050" cy="2667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750"/>
              <a:buFont typeface="Arial"/>
              <a:buNone/>
            </a:pPr>
            <a:r>
              <a:rPr lang="en-US" sz="750">
                <a:solidFill>
                  <a:srgbClr val="666B70"/>
                </a:solidFill>
              </a:rPr>
              <a:t>Story + testable criteria</a:t>
            </a:r>
            <a:endParaRPr/>
          </a:p>
        </p:txBody>
      </p:sp>
      <p:sp>
        <p:nvSpPr>
          <p:cNvPr id="713" name="Google Shape;713;p14"/>
          <p:cNvSpPr/>
          <p:nvPr/>
        </p:nvSpPr>
        <p:spPr>
          <a:xfrm>
            <a:off x="2343150" y="2971800"/>
            <a:ext cx="228600" cy="266700"/>
          </a:xfrm>
          <a:prstGeom prst="rightArrow">
            <a:avLst>
              <a:gd fmla="val 50000" name="adj1"/>
              <a:gd fmla="val 50000" name="adj2"/>
            </a:avLst>
          </a:prstGeom>
          <a:solidFill>
            <a:srgbClr val="B85042"/>
          </a:solidFill>
          <a:ln cap="flat" cmpd="sng" w="9525">
            <a:solidFill>
              <a:srgbClr val="B8504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4" name="Google Shape;714;p14"/>
          <p:cNvSpPr/>
          <p:nvPr/>
        </p:nvSpPr>
        <p:spPr>
          <a:xfrm>
            <a:off x="4171950" y="2971800"/>
            <a:ext cx="228600" cy="266700"/>
          </a:xfrm>
          <a:prstGeom prst="rightArrow">
            <a:avLst>
              <a:gd fmla="val 50000" name="adj1"/>
              <a:gd fmla="val 50000" name="adj2"/>
            </a:avLst>
          </a:prstGeom>
          <a:solidFill>
            <a:srgbClr val="B85042"/>
          </a:solidFill>
          <a:ln cap="flat" cmpd="sng" w="9525">
            <a:solidFill>
              <a:srgbClr val="B8504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5" name="Google Shape;715;p14"/>
          <p:cNvSpPr/>
          <p:nvPr/>
        </p:nvSpPr>
        <p:spPr>
          <a:xfrm>
            <a:off x="6000750" y="2971800"/>
            <a:ext cx="228600" cy="266700"/>
          </a:xfrm>
          <a:prstGeom prst="rightArrow">
            <a:avLst>
              <a:gd fmla="val 50000" name="adj1"/>
              <a:gd fmla="val 50000" name="adj2"/>
            </a:avLst>
          </a:prstGeom>
          <a:solidFill>
            <a:srgbClr val="B85042"/>
          </a:solidFill>
          <a:ln cap="flat" cmpd="sng" w="9525">
            <a:solidFill>
              <a:srgbClr val="B8504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6" name="Google Shape;716;p14"/>
          <p:cNvSpPr/>
          <p:nvPr/>
        </p:nvSpPr>
        <p:spPr>
          <a:xfrm>
            <a:off x="7829550" y="2971800"/>
            <a:ext cx="228600" cy="266700"/>
          </a:xfrm>
          <a:prstGeom prst="rightArrow">
            <a:avLst>
              <a:gd fmla="val 50000" name="adj1"/>
              <a:gd fmla="val 50000" name="adj2"/>
            </a:avLst>
          </a:prstGeom>
          <a:solidFill>
            <a:srgbClr val="B85042"/>
          </a:solidFill>
          <a:ln cap="flat" cmpd="sng" w="9525">
            <a:solidFill>
              <a:srgbClr val="B8504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7" name="Google Shape;717;p14"/>
          <p:cNvSpPr/>
          <p:nvPr/>
        </p:nvSpPr>
        <p:spPr>
          <a:xfrm>
            <a:off x="9658350" y="2971800"/>
            <a:ext cx="228600" cy="266700"/>
          </a:xfrm>
          <a:prstGeom prst="rightArrow">
            <a:avLst>
              <a:gd fmla="val 50000" name="adj1"/>
              <a:gd fmla="val 50000" name="adj2"/>
            </a:avLst>
          </a:prstGeom>
          <a:solidFill>
            <a:srgbClr val="B85042"/>
          </a:solidFill>
          <a:ln cap="flat" cmpd="sng" w="9525">
            <a:solidFill>
              <a:srgbClr val="B8504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8" name="Google Shape;718;p14"/>
          <p:cNvSpPr/>
          <p:nvPr/>
        </p:nvSpPr>
        <p:spPr>
          <a:xfrm>
            <a:off x="781050" y="4114800"/>
            <a:ext cx="5810250" cy="2286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F6F57"/>
              </a:buClr>
              <a:buSzPts val="900"/>
              <a:buFont typeface="Arial"/>
              <a:buNone/>
            </a:pPr>
            <a:r>
              <a:rPr b="1" lang="en-US" sz="900">
                <a:solidFill>
                  <a:srgbClr val="2F6F57"/>
                </a:solidFill>
              </a:rPr>
              <a:t>REVERSE TRACE  ·  Which evidence supports this delivered item?</a:t>
            </a:r>
            <a:endParaRPr/>
          </a:p>
        </p:txBody>
      </p:sp>
      <p:sp>
        <p:nvSpPr>
          <p:cNvPr id="719" name="Google Shape;719;p14"/>
          <p:cNvSpPr/>
          <p:nvPr/>
        </p:nvSpPr>
        <p:spPr>
          <a:xfrm>
            <a:off x="2047875" y="4457700"/>
            <a:ext cx="8715375" cy="571500"/>
          </a:xfrm>
          <a:prstGeom prst="rect">
            <a:avLst/>
          </a:prstGeom>
          <a:solidFill>
            <a:srgbClr val="2F6F57"/>
          </a:solidFill>
          <a:ln cap="flat" cmpd="sng" w="9525">
            <a:solidFill>
              <a:srgbClr val="2F6F5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0" name="Google Shape;720;p14"/>
          <p:cNvSpPr/>
          <p:nvPr/>
        </p:nvSpPr>
        <p:spPr>
          <a:xfrm>
            <a:off x="1428750" y="4457700"/>
            <a:ext cx="952500" cy="571500"/>
          </a:xfrm>
          <a:prstGeom prst="leftArrow">
            <a:avLst>
              <a:gd fmla="val 50000" name="adj1"/>
              <a:gd fmla="val 50000" name="adj2"/>
            </a:avLst>
          </a:prstGeom>
          <a:solidFill>
            <a:srgbClr val="2F6F57"/>
          </a:solidFill>
          <a:ln cap="flat" cmpd="sng" w="9525">
            <a:solidFill>
              <a:srgbClr val="2F6F5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1" name="Google Shape;721;p14"/>
          <p:cNvSpPr/>
          <p:nvPr/>
        </p:nvSpPr>
        <p:spPr>
          <a:xfrm>
            <a:off x="2428875" y="4562475"/>
            <a:ext cx="7858125" cy="3619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FFFFFF"/>
              </a:buClr>
              <a:buSzPts val="1088"/>
              <a:buFont typeface="Arial"/>
              <a:buNone/>
            </a:pPr>
            <a:r>
              <a:rPr b="1" lang="en-US" sz="1088">
                <a:solidFill>
                  <a:srgbClr val="FFFFFF"/>
                </a:solidFill>
              </a:rPr>
              <a:t>Story + criteria  →  Feature  →  Epic  →  PRD  →  Requirement  →  Citation  →  source evidence</a:t>
            </a:r>
            <a:endParaRPr/>
          </a:p>
        </p:txBody>
      </p:sp>
      <p:sp>
        <p:nvSpPr>
          <p:cNvPr id="722" name="Google Shape;722;p14"/>
          <p:cNvSpPr/>
          <p:nvPr/>
        </p:nvSpPr>
        <p:spPr>
          <a:xfrm>
            <a:off x="781050" y="5143500"/>
            <a:ext cx="1466850" cy="3429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F6F57"/>
              </a:buClr>
              <a:buSzPts val="1800"/>
              <a:buFont typeface="Arial"/>
              <a:buNone/>
            </a:pPr>
            <a:r>
              <a:rPr b="1" lang="en-US" sz="1800">
                <a:solidFill>
                  <a:srgbClr val="2F6F57"/>
                </a:solidFill>
              </a:rPr>
              <a:t>145</a:t>
            </a:r>
            <a:endParaRPr/>
          </a:p>
        </p:txBody>
      </p:sp>
      <p:sp>
        <p:nvSpPr>
          <p:cNvPr id="723" name="Google Shape;723;p14"/>
          <p:cNvSpPr/>
          <p:nvPr/>
        </p:nvSpPr>
        <p:spPr>
          <a:xfrm>
            <a:off x="781050" y="5486400"/>
            <a:ext cx="1466850" cy="2667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938"/>
              <a:buFont typeface="Arial"/>
              <a:buNone/>
            </a:pPr>
            <a:r>
              <a:rPr lang="en-US" sz="938">
                <a:solidFill>
                  <a:srgbClr val="666B70"/>
                </a:solidFill>
              </a:rPr>
              <a:t>citations indexed</a:t>
            </a:r>
            <a:endParaRPr/>
          </a:p>
        </p:txBody>
      </p:sp>
      <p:sp>
        <p:nvSpPr>
          <p:cNvPr id="724" name="Google Shape;724;p14"/>
          <p:cNvSpPr/>
          <p:nvPr/>
        </p:nvSpPr>
        <p:spPr>
          <a:xfrm>
            <a:off x="3019425" y="5143500"/>
            <a:ext cx="1952625" cy="3429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F6F57"/>
              </a:buClr>
              <a:buSzPts val="1800"/>
              <a:buFont typeface="Arial"/>
              <a:buNone/>
            </a:pPr>
            <a:r>
              <a:rPr b="1" lang="en-US" sz="1800">
                <a:solidFill>
                  <a:srgbClr val="2F6F57"/>
                </a:solidFill>
              </a:rPr>
              <a:t>145 / 145</a:t>
            </a:r>
            <a:endParaRPr/>
          </a:p>
        </p:txBody>
      </p:sp>
      <p:sp>
        <p:nvSpPr>
          <p:cNvPr id="725" name="Google Shape;725;p14"/>
          <p:cNvSpPr/>
          <p:nvPr/>
        </p:nvSpPr>
        <p:spPr>
          <a:xfrm>
            <a:off x="3019425" y="5486400"/>
            <a:ext cx="1952625" cy="2667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938"/>
              <a:buFont typeface="Arial"/>
              <a:buNone/>
            </a:pPr>
            <a:r>
              <a:rPr lang="en-US" sz="938">
                <a:solidFill>
                  <a:srgbClr val="666B70"/>
                </a:solidFill>
              </a:rPr>
              <a:t>terminal dispositions</a:t>
            </a:r>
            <a:endParaRPr/>
          </a:p>
        </p:txBody>
      </p:sp>
      <p:sp>
        <p:nvSpPr>
          <p:cNvPr id="726" name="Google Shape;726;p14"/>
          <p:cNvSpPr/>
          <p:nvPr/>
        </p:nvSpPr>
        <p:spPr>
          <a:xfrm>
            <a:off x="5581650" y="5143500"/>
            <a:ext cx="1466850" cy="3429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F6F57"/>
              </a:buClr>
              <a:buSzPts val="1800"/>
              <a:buFont typeface="Arial"/>
              <a:buNone/>
            </a:pPr>
            <a:r>
              <a:rPr b="1" lang="en-US" sz="1800">
                <a:solidFill>
                  <a:srgbClr val="2F6F57"/>
                </a:solidFill>
              </a:rPr>
              <a:t>0</a:t>
            </a:r>
            <a:endParaRPr/>
          </a:p>
        </p:txBody>
      </p:sp>
      <p:sp>
        <p:nvSpPr>
          <p:cNvPr id="727" name="Google Shape;727;p14"/>
          <p:cNvSpPr/>
          <p:nvPr/>
        </p:nvSpPr>
        <p:spPr>
          <a:xfrm>
            <a:off x="5581650" y="5486400"/>
            <a:ext cx="1466850" cy="2667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938"/>
              <a:buFont typeface="Arial"/>
              <a:buNone/>
            </a:pPr>
            <a:r>
              <a:rPr lang="en-US" sz="938">
                <a:solidFill>
                  <a:srgbClr val="666B70"/>
                </a:solidFill>
              </a:rPr>
              <a:t>orphan citations</a:t>
            </a:r>
            <a:endParaRPr/>
          </a:p>
        </p:txBody>
      </p:sp>
      <p:sp>
        <p:nvSpPr>
          <p:cNvPr id="728" name="Google Shape;728;p14"/>
          <p:cNvSpPr/>
          <p:nvPr/>
        </p:nvSpPr>
        <p:spPr>
          <a:xfrm>
            <a:off x="7715250" y="5143500"/>
            <a:ext cx="1466850" cy="3429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F6F57"/>
              </a:buClr>
              <a:buSzPts val="1800"/>
              <a:buFont typeface="Arial"/>
              <a:buNone/>
            </a:pPr>
            <a:r>
              <a:rPr b="1" lang="en-US" sz="1800">
                <a:solidFill>
                  <a:srgbClr val="2F6F57"/>
                </a:solidFill>
              </a:rPr>
              <a:t>0</a:t>
            </a:r>
            <a:endParaRPr/>
          </a:p>
        </p:txBody>
      </p:sp>
      <p:sp>
        <p:nvSpPr>
          <p:cNvPr id="729" name="Google Shape;729;p14"/>
          <p:cNvSpPr/>
          <p:nvPr/>
        </p:nvSpPr>
        <p:spPr>
          <a:xfrm>
            <a:off x="7715250" y="5486400"/>
            <a:ext cx="1466850" cy="2667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938"/>
              <a:buFont typeface="Arial"/>
              <a:buNone/>
            </a:pPr>
            <a:r>
              <a:rPr lang="en-US" sz="938">
                <a:solidFill>
                  <a:srgbClr val="666B70"/>
                </a:solidFill>
              </a:rPr>
              <a:t>orphan PRD elements</a:t>
            </a:r>
            <a:endParaRPr/>
          </a:p>
        </p:txBody>
      </p:sp>
      <p:sp>
        <p:nvSpPr>
          <p:cNvPr id="730" name="Google Shape;730;p14"/>
          <p:cNvSpPr/>
          <p:nvPr/>
        </p:nvSpPr>
        <p:spPr>
          <a:xfrm>
            <a:off x="9925050" y="5143500"/>
            <a:ext cx="1466850" cy="3429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F6F57"/>
              </a:buClr>
              <a:buSzPts val="1800"/>
              <a:buFont typeface="Arial"/>
              <a:buNone/>
            </a:pPr>
            <a:r>
              <a:rPr b="1" lang="en-US" sz="1800">
                <a:solidFill>
                  <a:srgbClr val="2F6F57"/>
                </a:solidFill>
              </a:rPr>
              <a:t>0</a:t>
            </a:r>
            <a:endParaRPr/>
          </a:p>
        </p:txBody>
      </p:sp>
      <p:sp>
        <p:nvSpPr>
          <p:cNvPr id="731" name="Google Shape;731;p14"/>
          <p:cNvSpPr/>
          <p:nvPr/>
        </p:nvSpPr>
        <p:spPr>
          <a:xfrm>
            <a:off x="9925050" y="5486400"/>
            <a:ext cx="1466850" cy="2667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938"/>
              <a:buFont typeface="Arial"/>
              <a:buNone/>
            </a:pPr>
            <a:r>
              <a:rPr lang="en-US" sz="938">
                <a:solidFill>
                  <a:srgbClr val="666B70"/>
                </a:solidFill>
              </a:rPr>
              <a:t>orphan delivery items</a:t>
            </a:r>
            <a:endParaRPr/>
          </a:p>
        </p:txBody>
      </p:sp>
      <p:sp>
        <p:nvSpPr>
          <p:cNvPr id="732" name="Google Shape;732;p14"/>
          <p:cNvSpPr/>
          <p:nvPr/>
        </p:nvSpPr>
        <p:spPr>
          <a:xfrm>
            <a:off x="0" y="6172200"/>
            <a:ext cx="12192000" cy="685800"/>
          </a:xfrm>
          <a:prstGeom prst="rect">
            <a:avLst/>
          </a:prstGeom>
          <a:solidFill>
            <a:srgbClr val="1A1A2E"/>
          </a:solidFill>
          <a:ln cap="flat" cmpd="sng" w="9525">
            <a:solidFill>
              <a:srgbClr val="1A1A2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3" name="Google Shape;733;p14"/>
          <p:cNvSpPr/>
          <p:nvPr/>
        </p:nvSpPr>
        <p:spPr>
          <a:xfrm>
            <a:off x="781050" y="6267450"/>
            <a:ext cx="2095500" cy="2095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C9C6D8"/>
              </a:buClr>
              <a:buSzPts val="825"/>
              <a:buFont typeface="Arial"/>
              <a:buNone/>
            </a:pPr>
            <a:r>
              <a:rPr b="1" lang="en-US" sz="825">
                <a:solidFill>
                  <a:srgbClr val="C9C6D8"/>
                </a:solidFill>
              </a:rPr>
              <a:t>RELEASE CONTROL</a:t>
            </a:r>
            <a:endParaRPr/>
          </a:p>
        </p:txBody>
      </p:sp>
      <p:sp>
        <p:nvSpPr>
          <p:cNvPr id="734" name="Google Shape;734;p14"/>
          <p:cNvSpPr/>
          <p:nvPr/>
        </p:nvSpPr>
        <p:spPr>
          <a:xfrm>
            <a:off x="2857500" y="6267450"/>
            <a:ext cx="8553450" cy="4000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FFFFFF"/>
              </a:buClr>
              <a:buSzPts val="1275"/>
              <a:buFont typeface="Arial"/>
              <a:buNone/>
            </a:pPr>
            <a:r>
              <a:rPr b="1" lang="en-US" sz="1275">
                <a:solidFill>
                  <a:srgbClr val="FFFFFF"/>
                </a:solidFill>
              </a:rPr>
              <a:t>Final export fails closed unless citation, PRD, and delivery sets reconcile in both directions.</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4EE"/>
        </a:solidFill>
      </p:bgPr>
    </p:bg>
    <p:spTree>
      <p:nvGrpSpPr>
        <p:cNvPr id="739" name="Shape 739"/>
        <p:cNvGrpSpPr/>
        <p:nvPr/>
      </p:nvGrpSpPr>
      <p:grpSpPr>
        <a:xfrm>
          <a:off x="0" y="0"/>
          <a:ext cx="0" cy="0"/>
          <a:chOff x="0" y="0"/>
          <a:chExt cx="0" cy="0"/>
        </a:xfrm>
      </p:grpSpPr>
      <p:sp>
        <p:nvSpPr>
          <p:cNvPr id="740" name="Google Shape;740;p15"/>
          <p:cNvSpPr/>
          <p:nvPr/>
        </p:nvSpPr>
        <p:spPr>
          <a:xfrm>
            <a:off x="0" y="0"/>
            <a:ext cx="12192000" cy="76200"/>
          </a:xfrm>
          <a:prstGeom prst="rect">
            <a:avLst/>
          </a:prstGeom>
          <a:solidFill>
            <a:srgbClr val="B85042"/>
          </a:solidFill>
          <a:ln cap="flat" cmpd="sng" w="9525">
            <a:solidFill>
              <a:srgbClr val="B8504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1" name="Google Shape;741;p15"/>
          <p:cNvSpPr/>
          <p:nvPr/>
        </p:nvSpPr>
        <p:spPr>
          <a:xfrm>
            <a:off x="514350" y="742950"/>
            <a:ext cx="66675" cy="866775"/>
          </a:xfrm>
          <a:prstGeom prst="rect">
            <a:avLst/>
          </a:prstGeom>
          <a:solidFill>
            <a:srgbClr val="B85042"/>
          </a:solidFill>
          <a:ln cap="flat" cmpd="sng" w="9525">
            <a:solidFill>
              <a:srgbClr val="B8504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2" name="Google Shape;742;p15"/>
          <p:cNvSpPr/>
          <p:nvPr/>
        </p:nvSpPr>
        <p:spPr>
          <a:xfrm>
            <a:off x="781050" y="552450"/>
            <a:ext cx="5905500" cy="2667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B85042"/>
              </a:buClr>
              <a:buSzPts val="975"/>
              <a:buFont typeface="Arial"/>
              <a:buNone/>
            </a:pPr>
            <a:r>
              <a:rPr b="1" lang="en-US" sz="975">
                <a:solidFill>
                  <a:srgbClr val="B85042"/>
                </a:solidFill>
              </a:rPr>
              <a:t>15  ·  FULLY LOADED COST</a:t>
            </a:r>
            <a:endParaRPr/>
          </a:p>
        </p:txBody>
      </p:sp>
      <p:sp>
        <p:nvSpPr>
          <p:cNvPr id="743" name="Google Shape;743;p15"/>
          <p:cNvSpPr/>
          <p:nvPr/>
        </p:nvSpPr>
        <p:spPr>
          <a:xfrm>
            <a:off x="781050" y="885825"/>
            <a:ext cx="10648950" cy="5905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2550"/>
              <a:buFont typeface="Arial"/>
              <a:buNone/>
            </a:pPr>
            <a:r>
              <a:rPr b="1" lang="en-US" sz="2550">
                <a:solidFill>
                  <a:srgbClr val="1A1A2E"/>
                </a:solidFill>
              </a:rPr>
              <a:t>Fully loaded cost establishes an operational baseline</a:t>
            </a:r>
            <a:endParaRPr/>
          </a:p>
        </p:txBody>
      </p:sp>
      <p:sp>
        <p:nvSpPr>
          <p:cNvPr id="744" name="Google Shape;744;p15"/>
          <p:cNvSpPr/>
          <p:nvPr/>
        </p:nvSpPr>
        <p:spPr>
          <a:xfrm>
            <a:off x="781050" y="1524000"/>
            <a:ext cx="10648950" cy="3238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1275"/>
              <a:buFont typeface="Arial"/>
              <a:buNone/>
            </a:pPr>
            <a:r>
              <a:rPr lang="en-US" sz="1275">
                <a:solidFill>
                  <a:srgbClr val="666B70"/>
                </a:solidFill>
              </a:rPr>
              <a:t>The accepted baseline deliberately uses GPT-5.6 Terra where grounded reasoning and evaluation quality are release-critical.</a:t>
            </a:r>
            <a:endParaRPr/>
          </a:p>
        </p:txBody>
      </p:sp>
      <p:sp>
        <p:nvSpPr>
          <p:cNvPr id="745" name="Google Shape;745;p15"/>
          <p:cNvSpPr/>
          <p:nvPr/>
        </p:nvSpPr>
        <p:spPr>
          <a:xfrm>
            <a:off x="781050" y="2095500"/>
            <a:ext cx="10629900" cy="1066800"/>
          </a:xfrm>
          <a:prstGeom prst="roundRect">
            <a:avLst>
              <a:gd fmla="val 7143" name="adj"/>
            </a:avLst>
          </a:prstGeom>
          <a:solidFill>
            <a:srgbClr val="1A1A2E"/>
          </a:solidFill>
          <a:ln cap="flat" cmpd="sng" w="9525">
            <a:solidFill>
              <a:srgbClr val="1A1A2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6" name="Google Shape;746;p15"/>
          <p:cNvSpPr/>
          <p:nvPr/>
        </p:nvSpPr>
        <p:spPr>
          <a:xfrm>
            <a:off x="1066800" y="2238375"/>
            <a:ext cx="2952750" cy="5143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FFFFFF"/>
              </a:buClr>
              <a:buSzPts val="3000"/>
              <a:buFont typeface="Arial"/>
              <a:buNone/>
            </a:pPr>
            <a:r>
              <a:rPr b="1" lang="en-US" sz="3000">
                <a:solidFill>
                  <a:srgbClr val="FFFFFF"/>
                </a:solidFill>
              </a:rPr>
              <a:t>$1.474409</a:t>
            </a:r>
            <a:endParaRPr/>
          </a:p>
        </p:txBody>
      </p:sp>
      <p:sp>
        <p:nvSpPr>
          <p:cNvPr id="747" name="Google Shape;747;p15"/>
          <p:cNvSpPr/>
          <p:nvPr/>
        </p:nvSpPr>
        <p:spPr>
          <a:xfrm>
            <a:off x="1066800" y="2724150"/>
            <a:ext cx="2952750" cy="2381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C9C6D8"/>
              </a:buClr>
              <a:buSzPts val="1013"/>
              <a:buFont typeface="Arial"/>
              <a:buNone/>
            </a:pPr>
            <a:r>
              <a:rPr b="1" lang="en-US" sz="1013">
                <a:solidFill>
                  <a:srgbClr val="C9C6D8"/>
                </a:solidFill>
              </a:rPr>
              <a:t>fully loaded cost per accepted run</a:t>
            </a:r>
            <a:endParaRPr/>
          </a:p>
        </p:txBody>
      </p:sp>
      <p:sp>
        <p:nvSpPr>
          <p:cNvPr id="748" name="Google Shape;748;p15"/>
          <p:cNvSpPr/>
          <p:nvPr/>
        </p:nvSpPr>
        <p:spPr>
          <a:xfrm>
            <a:off x="4362450" y="2324100"/>
            <a:ext cx="19050" cy="619125"/>
          </a:xfrm>
          <a:prstGeom prst="rect">
            <a:avLst/>
          </a:prstGeom>
          <a:solidFill>
            <a:srgbClr val="44445A"/>
          </a:solidFill>
          <a:ln cap="flat" cmpd="sng" w="9525">
            <a:solidFill>
              <a:srgbClr val="44445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9" name="Google Shape;749;p15"/>
          <p:cNvSpPr/>
          <p:nvPr/>
        </p:nvSpPr>
        <p:spPr>
          <a:xfrm>
            <a:off x="4762500" y="2238375"/>
            <a:ext cx="2476500" cy="5143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FFFFFF"/>
              </a:buClr>
              <a:buSzPts val="2850"/>
              <a:buFont typeface="Arial"/>
              <a:buNone/>
            </a:pPr>
            <a:r>
              <a:rPr b="1" lang="en-US" sz="2850">
                <a:solidFill>
                  <a:srgbClr val="FFFFFF"/>
                </a:solidFill>
              </a:rPr>
              <a:t>545,467</a:t>
            </a:r>
            <a:endParaRPr/>
          </a:p>
        </p:txBody>
      </p:sp>
      <p:sp>
        <p:nvSpPr>
          <p:cNvPr id="750" name="Google Shape;750;p15"/>
          <p:cNvSpPr/>
          <p:nvPr/>
        </p:nvSpPr>
        <p:spPr>
          <a:xfrm>
            <a:off x="4762500" y="2724150"/>
            <a:ext cx="2476500" cy="2381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C9C6D8"/>
              </a:buClr>
              <a:buSzPts val="1013"/>
              <a:buFont typeface="Arial"/>
              <a:buNone/>
            </a:pPr>
            <a:r>
              <a:rPr b="1" lang="en-US" sz="1013">
                <a:solidFill>
                  <a:srgbClr val="C9C6D8"/>
                </a:solidFill>
              </a:rPr>
              <a:t>observed tokens</a:t>
            </a:r>
            <a:endParaRPr/>
          </a:p>
        </p:txBody>
      </p:sp>
      <p:sp>
        <p:nvSpPr>
          <p:cNvPr id="751" name="Google Shape;751;p15"/>
          <p:cNvSpPr/>
          <p:nvPr/>
        </p:nvSpPr>
        <p:spPr>
          <a:xfrm>
            <a:off x="7620000" y="2324100"/>
            <a:ext cx="19050" cy="619125"/>
          </a:xfrm>
          <a:prstGeom prst="rect">
            <a:avLst/>
          </a:prstGeom>
          <a:solidFill>
            <a:srgbClr val="44445A"/>
          </a:solidFill>
          <a:ln cap="flat" cmpd="sng" w="9525">
            <a:solidFill>
              <a:srgbClr val="44445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2" name="Google Shape;752;p15"/>
          <p:cNvSpPr/>
          <p:nvPr/>
        </p:nvSpPr>
        <p:spPr>
          <a:xfrm>
            <a:off x="8001000" y="2295525"/>
            <a:ext cx="3048000" cy="40957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FFFFFF"/>
              </a:buClr>
              <a:buSzPts val="2025"/>
              <a:buFont typeface="Arial"/>
              <a:buNone/>
            </a:pPr>
            <a:r>
              <a:rPr b="1" lang="en-US" sz="2025">
                <a:solidFill>
                  <a:srgbClr val="FFFFFF"/>
                </a:solidFill>
              </a:rPr>
              <a:t>1 run / week</a:t>
            </a:r>
            <a:endParaRPr/>
          </a:p>
        </p:txBody>
      </p:sp>
      <p:sp>
        <p:nvSpPr>
          <p:cNvPr id="753" name="Google Shape;753;p15"/>
          <p:cNvSpPr/>
          <p:nvPr/>
        </p:nvSpPr>
        <p:spPr>
          <a:xfrm>
            <a:off x="8001000" y="2705100"/>
            <a:ext cx="3048000" cy="25717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C9C6D8"/>
              </a:buClr>
              <a:buSzPts val="1050"/>
              <a:buFont typeface="Arial"/>
              <a:buNone/>
            </a:pPr>
            <a:r>
              <a:rPr b="1" lang="en-US" sz="1050">
                <a:solidFill>
                  <a:srgbClr val="C9C6D8"/>
                </a:solidFill>
              </a:rPr>
              <a:t>≈ $6.38 per user / month</a:t>
            </a:r>
            <a:endParaRPr/>
          </a:p>
        </p:txBody>
      </p:sp>
      <p:sp>
        <p:nvSpPr>
          <p:cNvPr id="754" name="Google Shape;754;p15"/>
          <p:cNvSpPr/>
          <p:nvPr/>
        </p:nvSpPr>
        <p:spPr>
          <a:xfrm>
            <a:off x="781050" y="3476625"/>
            <a:ext cx="2381250" cy="2095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B85042"/>
              </a:buClr>
              <a:buSzPts val="863"/>
              <a:buFont typeface="Arial"/>
              <a:buNone/>
            </a:pPr>
            <a:r>
              <a:rPr b="1" lang="en-US" sz="863">
                <a:solidFill>
                  <a:srgbClr val="B85042"/>
                </a:solidFill>
              </a:rPr>
              <a:t>COST COMPOSITION</a:t>
            </a:r>
            <a:endParaRPr/>
          </a:p>
        </p:txBody>
      </p:sp>
      <p:sp>
        <p:nvSpPr>
          <p:cNvPr id="755" name="Google Shape;755;p15"/>
          <p:cNvSpPr/>
          <p:nvPr/>
        </p:nvSpPr>
        <p:spPr>
          <a:xfrm>
            <a:off x="781050" y="3762375"/>
            <a:ext cx="6667500" cy="4000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1875"/>
              <a:buFont typeface="Arial"/>
              <a:buNone/>
            </a:pPr>
            <a:r>
              <a:rPr b="1" lang="en-US" sz="1875">
                <a:solidFill>
                  <a:srgbClr val="1A1A2E"/>
                </a:solidFill>
              </a:rPr>
              <a:t>Semantic evaluation drives most of the loaded cost</a:t>
            </a:r>
            <a:endParaRPr/>
          </a:p>
        </p:txBody>
      </p:sp>
      <p:sp>
        <p:nvSpPr>
          <p:cNvPr id="756" name="Google Shape;756;p15"/>
          <p:cNvSpPr/>
          <p:nvPr/>
        </p:nvSpPr>
        <p:spPr>
          <a:xfrm>
            <a:off x="781050" y="4171950"/>
            <a:ext cx="4000500" cy="190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788"/>
              <a:buFont typeface="Arial"/>
              <a:buNone/>
            </a:pPr>
            <a:r>
              <a:rPr b="1" lang="en-US" sz="788">
                <a:solidFill>
                  <a:srgbClr val="666B70"/>
                </a:solidFill>
              </a:rPr>
              <a:t>COMPONENT</a:t>
            </a:r>
            <a:endParaRPr/>
          </a:p>
        </p:txBody>
      </p:sp>
      <p:sp>
        <p:nvSpPr>
          <p:cNvPr id="757" name="Google Shape;757;p15"/>
          <p:cNvSpPr/>
          <p:nvPr/>
        </p:nvSpPr>
        <p:spPr>
          <a:xfrm>
            <a:off x="5334000" y="4171950"/>
            <a:ext cx="1333500" cy="190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788"/>
              <a:buFont typeface="Arial"/>
              <a:buNone/>
            </a:pPr>
            <a:r>
              <a:rPr b="1" lang="en-US" sz="788">
                <a:solidFill>
                  <a:srgbClr val="666B70"/>
                </a:solidFill>
              </a:rPr>
              <a:t>TOKENS</a:t>
            </a:r>
            <a:endParaRPr/>
          </a:p>
        </p:txBody>
      </p:sp>
      <p:sp>
        <p:nvSpPr>
          <p:cNvPr id="758" name="Google Shape;758;p15"/>
          <p:cNvSpPr/>
          <p:nvPr/>
        </p:nvSpPr>
        <p:spPr>
          <a:xfrm>
            <a:off x="6858000" y="4171950"/>
            <a:ext cx="1333500" cy="190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788"/>
              <a:buFont typeface="Arial"/>
              <a:buNone/>
            </a:pPr>
            <a:r>
              <a:rPr b="1" lang="en-US" sz="788">
                <a:solidFill>
                  <a:srgbClr val="666B70"/>
                </a:solidFill>
              </a:rPr>
              <a:t>COST</a:t>
            </a:r>
            <a:endParaRPr/>
          </a:p>
        </p:txBody>
      </p:sp>
      <p:sp>
        <p:nvSpPr>
          <p:cNvPr id="759" name="Google Shape;759;p15"/>
          <p:cNvSpPr/>
          <p:nvPr/>
        </p:nvSpPr>
        <p:spPr>
          <a:xfrm>
            <a:off x="781050" y="4371975"/>
            <a:ext cx="7410450" cy="552450"/>
          </a:xfrm>
          <a:prstGeom prst="roundRect">
            <a:avLst>
              <a:gd fmla="val 13793" name="adj"/>
            </a:avLst>
          </a:prstGeom>
          <a:solidFill>
            <a:srgbClr val="FFFFFF"/>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0" name="Google Shape;760;p15"/>
          <p:cNvSpPr/>
          <p:nvPr/>
        </p:nvSpPr>
        <p:spPr>
          <a:xfrm>
            <a:off x="781050" y="4371975"/>
            <a:ext cx="66675" cy="552450"/>
          </a:xfrm>
          <a:prstGeom prst="rect">
            <a:avLst/>
          </a:prstGeom>
          <a:solidFill>
            <a:srgbClr val="3B6EBF"/>
          </a:solidFill>
          <a:ln cap="flat" cmpd="sng" w="9525">
            <a:solidFill>
              <a:srgbClr val="3B6EB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1" name="Google Shape;761;p15"/>
          <p:cNvSpPr/>
          <p:nvPr/>
        </p:nvSpPr>
        <p:spPr>
          <a:xfrm>
            <a:off x="1028700" y="4419600"/>
            <a:ext cx="2428875" cy="2381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1200"/>
              <a:buFont typeface="Arial"/>
              <a:buNone/>
            </a:pPr>
            <a:r>
              <a:rPr b="1" lang="en-US" sz="1200">
                <a:solidFill>
                  <a:srgbClr val="1A1A2E"/>
                </a:solidFill>
              </a:rPr>
              <a:t>Pipeline generation</a:t>
            </a:r>
            <a:endParaRPr/>
          </a:p>
        </p:txBody>
      </p:sp>
      <p:sp>
        <p:nvSpPr>
          <p:cNvPr id="762" name="Google Shape;762;p15"/>
          <p:cNvSpPr/>
          <p:nvPr/>
        </p:nvSpPr>
        <p:spPr>
          <a:xfrm>
            <a:off x="1028700" y="4648200"/>
            <a:ext cx="3714750" cy="190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938"/>
              <a:buFont typeface="Arial"/>
              <a:buNone/>
            </a:pPr>
            <a:r>
              <a:rPr lang="en-US" sz="938">
                <a:solidFill>
                  <a:srgbClr val="666B70"/>
                </a:solidFill>
              </a:rPr>
              <a:t>Core agent generation and transformation</a:t>
            </a:r>
            <a:endParaRPr/>
          </a:p>
        </p:txBody>
      </p:sp>
      <p:sp>
        <p:nvSpPr>
          <p:cNvPr id="763" name="Google Shape;763;p15"/>
          <p:cNvSpPr/>
          <p:nvPr/>
        </p:nvSpPr>
        <p:spPr>
          <a:xfrm>
            <a:off x="5334000" y="4486275"/>
            <a:ext cx="1333500" cy="2857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3B6EBF"/>
              </a:buClr>
              <a:buSzPts val="1275"/>
              <a:buFont typeface="Arial"/>
              <a:buNone/>
            </a:pPr>
            <a:r>
              <a:rPr b="1" lang="en-US" sz="1275">
                <a:solidFill>
                  <a:srgbClr val="3B6EBF"/>
                </a:solidFill>
              </a:rPr>
              <a:t>59,922</a:t>
            </a:r>
            <a:endParaRPr/>
          </a:p>
        </p:txBody>
      </p:sp>
      <p:sp>
        <p:nvSpPr>
          <p:cNvPr id="764" name="Google Shape;764;p15"/>
          <p:cNvSpPr/>
          <p:nvPr/>
        </p:nvSpPr>
        <p:spPr>
          <a:xfrm>
            <a:off x="6858000" y="4486275"/>
            <a:ext cx="1333500" cy="2857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3B6EBF"/>
              </a:buClr>
              <a:buSzPts val="1275"/>
              <a:buFont typeface="Arial"/>
              <a:buNone/>
            </a:pPr>
            <a:r>
              <a:rPr b="1" lang="en-US" sz="1275">
                <a:solidFill>
                  <a:srgbClr val="3B6EBF"/>
                </a:solidFill>
              </a:rPr>
              <a:t>$0.228024</a:t>
            </a:r>
            <a:endParaRPr/>
          </a:p>
        </p:txBody>
      </p:sp>
      <p:sp>
        <p:nvSpPr>
          <p:cNvPr id="765" name="Google Shape;765;p15"/>
          <p:cNvSpPr/>
          <p:nvPr/>
        </p:nvSpPr>
        <p:spPr>
          <a:xfrm>
            <a:off x="781050" y="5019675"/>
            <a:ext cx="7410450" cy="552450"/>
          </a:xfrm>
          <a:prstGeom prst="roundRect">
            <a:avLst>
              <a:gd fmla="val 13793" name="adj"/>
            </a:avLst>
          </a:prstGeom>
          <a:solidFill>
            <a:srgbClr val="F0EBE5"/>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6" name="Google Shape;766;p15"/>
          <p:cNvSpPr/>
          <p:nvPr/>
        </p:nvSpPr>
        <p:spPr>
          <a:xfrm>
            <a:off x="781050" y="5019675"/>
            <a:ext cx="66675" cy="552450"/>
          </a:xfrm>
          <a:prstGeom prst="rect">
            <a:avLst/>
          </a:prstGeom>
          <a:solidFill>
            <a:srgbClr val="7546C8"/>
          </a:solidFill>
          <a:ln cap="flat" cmpd="sng" w="9525">
            <a:solidFill>
              <a:srgbClr val="7546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7" name="Google Shape;767;p15"/>
          <p:cNvSpPr/>
          <p:nvPr/>
        </p:nvSpPr>
        <p:spPr>
          <a:xfrm>
            <a:off x="1028700" y="5067300"/>
            <a:ext cx="2428875" cy="2381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1200"/>
              <a:buFont typeface="Arial"/>
              <a:buNone/>
            </a:pPr>
            <a:r>
              <a:rPr b="1" lang="en-US" sz="1200">
                <a:solidFill>
                  <a:srgbClr val="1A1A2E"/>
                </a:solidFill>
              </a:rPr>
              <a:t>LLM evaluator calls</a:t>
            </a:r>
            <a:endParaRPr/>
          </a:p>
        </p:txBody>
      </p:sp>
      <p:sp>
        <p:nvSpPr>
          <p:cNvPr id="768" name="Google Shape;768;p15"/>
          <p:cNvSpPr/>
          <p:nvPr/>
        </p:nvSpPr>
        <p:spPr>
          <a:xfrm>
            <a:off x="1028700" y="5295900"/>
            <a:ext cx="3714750" cy="190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938"/>
              <a:buFont typeface="Arial"/>
              <a:buNone/>
            </a:pPr>
            <a:r>
              <a:rPr lang="en-US" sz="938">
                <a:solidFill>
                  <a:srgbClr val="666B70"/>
                </a:solidFill>
              </a:rPr>
              <a:t>Faithfulness, hallucination, reasonableness</a:t>
            </a:r>
            <a:endParaRPr/>
          </a:p>
        </p:txBody>
      </p:sp>
      <p:sp>
        <p:nvSpPr>
          <p:cNvPr id="769" name="Google Shape;769;p15"/>
          <p:cNvSpPr/>
          <p:nvPr/>
        </p:nvSpPr>
        <p:spPr>
          <a:xfrm>
            <a:off x="5334000" y="5133975"/>
            <a:ext cx="1333500" cy="2857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7546C8"/>
              </a:buClr>
              <a:buSzPts val="1275"/>
              <a:buFont typeface="Arial"/>
              <a:buNone/>
            </a:pPr>
            <a:r>
              <a:rPr b="1" lang="en-US" sz="1275">
                <a:solidFill>
                  <a:srgbClr val="7546C8"/>
                </a:solidFill>
              </a:rPr>
              <a:t>485,545</a:t>
            </a:r>
            <a:endParaRPr/>
          </a:p>
        </p:txBody>
      </p:sp>
      <p:sp>
        <p:nvSpPr>
          <p:cNvPr id="770" name="Google Shape;770;p15"/>
          <p:cNvSpPr/>
          <p:nvPr/>
        </p:nvSpPr>
        <p:spPr>
          <a:xfrm>
            <a:off x="6858000" y="5133975"/>
            <a:ext cx="1333500" cy="2857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7546C8"/>
              </a:buClr>
              <a:buSzPts val="1275"/>
              <a:buFont typeface="Arial"/>
              <a:buNone/>
            </a:pPr>
            <a:r>
              <a:rPr b="1" lang="en-US" sz="1275">
                <a:solidFill>
                  <a:srgbClr val="7546C8"/>
                </a:solidFill>
              </a:rPr>
              <a:t>$1.246385</a:t>
            </a:r>
            <a:endParaRPr/>
          </a:p>
        </p:txBody>
      </p:sp>
      <p:sp>
        <p:nvSpPr>
          <p:cNvPr id="771" name="Google Shape;771;p15"/>
          <p:cNvSpPr/>
          <p:nvPr/>
        </p:nvSpPr>
        <p:spPr>
          <a:xfrm>
            <a:off x="8667750" y="3476625"/>
            <a:ext cx="2743200" cy="2095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B85042"/>
              </a:buClr>
              <a:buSzPts val="863"/>
              <a:buFont typeface="Arial"/>
              <a:buNone/>
            </a:pPr>
            <a:r>
              <a:rPr b="1" lang="en-US" sz="863">
                <a:solidFill>
                  <a:srgbClr val="B85042"/>
                </a:solidFill>
              </a:rPr>
              <a:t>OPERATING INTERPRETATION</a:t>
            </a:r>
            <a:endParaRPr/>
          </a:p>
        </p:txBody>
      </p:sp>
      <p:sp>
        <p:nvSpPr>
          <p:cNvPr id="772" name="Google Shape;772;p15"/>
          <p:cNvSpPr/>
          <p:nvPr/>
        </p:nvSpPr>
        <p:spPr>
          <a:xfrm>
            <a:off x="8667750" y="3790950"/>
            <a:ext cx="2743200" cy="5905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7546C8"/>
              </a:buClr>
              <a:buSzPts val="3300"/>
              <a:buFont typeface="Arial"/>
              <a:buNone/>
            </a:pPr>
            <a:r>
              <a:rPr b="1" lang="en-US" sz="3300">
                <a:solidFill>
                  <a:srgbClr val="7546C8"/>
                </a:solidFill>
              </a:rPr>
              <a:t>84.5%</a:t>
            </a:r>
            <a:endParaRPr/>
          </a:p>
        </p:txBody>
      </p:sp>
      <p:sp>
        <p:nvSpPr>
          <p:cNvPr id="773" name="Google Shape;773;p15"/>
          <p:cNvSpPr/>
          <p:nvPr/>
        </p:nvSpPr>
        <p:spPr>
          <a:xfrm>
            <a:off x="8667750" y="4343400"/>
            <a:ext cx="2743200" cy="2667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1125"/>
              <a:buFont typeface="Arial"/>
              <a:buNone/>
            </a:pPr>
            <a:r>
              <a:rPr b="1" lang="en-US" sz="1125">
                <a:solidFill>
                  <a:srgbClr val="1A1A2E"/>
                </a:solidFill>
              </a:rPr>
              <a:t>of cost is semantic evaluation</a:t>
            </a:r>
            <a:endParaRPr/>
          </a:p>
        </p:txBody>
      </p:sp>
      <p:sp>
        <p:nvSpPr>
          <p:cNvPr id="774" name="Google Shape;774;p15"/>
          <p:cNvSpPr/>
          <p:nvPr/>
        </p:nvSpPr>
        <p:spPr>
          <a:xfrm>
            <a:off x="8858250" y="4810125"/>
            <a:ext cx="2362200" cy="209550"/>
          </a:xfrm>
          <a:prstGeom prst="roundRect">
            <a:avLst>
              <a:gd fmla="val 36364" name="adj"/>
            </a:avLst>
          </a:prstGeom>
          <a:solidFill>
            <a:srgbClr val="DED8D0"/>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5" name="Google Shape;775;p15"/>
          <p:cNvSpPr/>
          <p:nvPr/>
        </p:nvSpPr>
        <p:spPr>
          <a:xfrm>
            <a:off x="8858250" y="4810125"/>
            <a:ext cx="361950" cy="209550"/>
          </a:xfrm>
          <a:prstGeom prst="roundRect">
            <a:avLst>
              <a:gd fmla="val 36364" name="adj"/>
            </a:avLst>
          </a:prstGeom>
          <a:solidFill>
            <a:srgbClr val="3B6EBF"/>
          </a:solidFill>
          <a:ln cap="flat" cmpd="sng" w="9525">
            <a:solidFill>
              <a:srgbClr val="3B6EB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6" name="Google Shape;776;p15"/>
          <p:cNvSpPr/>
          <p:nvPr/>
        </p:nvSpPr>
        <p:spPr>
          <a:xfrm>
            <a:off x="9220200" y="4810125"/>
            <a:ext cx="2000250" cy="209550"/>
          </a:xfrm>
          <a:prstGeom prst="roundRect">
            <a:avLst>
              <a:gd fmla="val 36364" name="adj"/>
            </a:avLst>
          </a:prstGeom>
          <a:solidFill>
            <a:srgbClr val="7546C8"/>
          </a:solidFill>
          <a:ln cap="flat" cmpd="sng" w="9525">
            <a:solidFill>
              <a:srgbClr val="7546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7" name="Google Shape;777;p15"/>
          <p:cNvSpPr/>
          <p:nvPr/>
        </p:nvSpPr>
        <p:spPr>
          <a:xfrm>
            <a:off x="8667750" y="5095875"/>
            <a:ext cx="2743200" cy="2857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863"/>
              <a:buFont typeface="Arial"/>
              <a:buNone/>
            </a:pPr>
            <a:r>
              <a:rPr lang="en-US" sz="863">
                <a:solidFill>
                  <a:srgbClr val="666B70"/>
                </a:solidFill>
              </a:rPr>
              <a:t>15.5% generation                    84.5% evaluation</a:t>
            </a:r>
            <a:endParaRPr/>
          </a:p>
        </p:txBody>
      </p:sp>
      <p:sp>
        <p:nvSpPr>
          <p:cNvPr id="778" name="Google Shape;778;p15"/>
          <p:cNvSpPr/>
          <p:nvPr/>
        </p:nvSpPr>
        <p:spPr>
          <a:xfrm>
            <a:off x="8667750" y="5314950"/>
            <a:ext cx="2743200" cy="552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938"/>
              <a:buFont typeface="Arial"/>
              <a:buNone/>
            </a:pPr>
            <a:r>
              <a:rPr b="1" lang="en-US" sz="938">
                <a:solidFill>
                  <a:srgbClr val="1A1A2E"/>
                </a:solidFill>
              </a:rPr>
              <a:t>Quality-first baseline: retain GPT-5.6 Terra for high-risk reasoning; test lighter models on lower-risk tasks in v0.3.9.</a:t>
            </a:r>
            <a:endParaRPr/>
          </a:p>
        </p:txBody>
      </p:sp>
      <p:sp>
        <p:nvSpPr>
          <p:cNvPr id="779" name="Google Shape;779;p15"/>
          <p:cNvSpPr/>
          <p:nvPr/>
        </p:nvSpPr>
        <p:spPr>
          <a:xfrm>
            <a:off x="0" y="6172200"/>
            <a:ext cx="12192000" cy="685800"/>
          </a:xfrm>
          <a:prstGeom prst="rect">
            <a:avLst/>
          </a:prstGeom>
          <a:solidFill>
            <a:srgbClr val="1A1A2E"/>
          </a:solidFill>
          <a:ln cap="flat" cmpd="sng" w="9525">
            <a:solidFill>
              <a:srgbClr val="1A1A2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0" name="Google Shape;780;p15"/>
          <p:cNvSpPr/>
          <p:nvPr/>
        </p:nvSpPr>
        <p:spPr>
          <a:xfrm>
            <a:off x="781050" y="6267450"/>
            <a:ext cx="2095500" cy="2095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C9C6D8"/>
              </a:buClr>
              <a:buSzPts val="825"/>
              <a:buFont typeface="Arial"/>
              <a:buNone/>
            </a:pPr>
            <a:r>
              <a:rPr b="1" lang="en-US" sz="825">
                <a:solidFill>
                  <a:srgbClr val="C9C6D8"/>
                </a:solidFill>
              </a:rPr>
              <a:t>COST BOUNDARY</a:t>
            </a:r>
            <a:endParaRPr/>
          </a:p>
        </p:txBody>
      </p:sp>
      <p:sp>
        <p:nvSpPr>
          <p:cNvPr id="781" name="Google Shape;781;p15"/>
          <p:cNvSpPr/>
          <p:nvPr/>
        </p:nvSpPr>
        <p:spPr>
          <a:xfrm>
            <a:off x="2800350" y="6267450"/>
            <a:ext cx="8610600" cy="4000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FFFFFF"/>
              </a:buClr>
              <a:buSzPts val="1238"/>
              <a:buFont typeface="Arial"/>
              <a:buNone/>
            </a:pPr>
            <a:r>
              <a:rPr b="1" lang="en-US" sz="1238">
                <a:solidFill>
                  <a:srgbClr val="FFFFFF"/>
                </a:solidFill>
              </a:rPr>
              <a:t>Observed model and evaluator usage for the accepted run; platform subscriptions and optional enterprise services are separate.</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4EE"/>
        </a:solidFill>
      </p:bgPr>
    </p:bg>
    <p:spTree>
      <p:nvGrpSpPr>
        <p:cNvPr id="786" name="Shape 786"/>
        <p:cNvGrpSpPr/>
        <p:nvPr/>
      </p:nvGrpSpPr>
      <p:grpSpPr>
        <a:xfrm>
          <a:off x="0" y="0"/>
          <a:ext cx="0" cy="0"/>
          <a:chOff x="0" y="0"/>
          <a:chExt cx="0" cy="0"/>
        </a:xfrm>
      </p:grpSpPr>
      <p:sp>
        <p:nvSpPr>
          <p:cNvPr id="787" name="Google Shape;787;p16"/>
          <p:cNvSpPr/>
          <p:nvPr/>
        </p:nvSpPr>
        <p:spPr>
          <a:xfrm>
            <a:off x="0" y="0"/>
            <a:ext cx="12192000" cy="76200"/>
          </a:xfrm>
          <a:prstGeom prst="rect">
            <a:avLst/>
          </a:prstGeom>
          <a:solidFill>
            <a:srgbClr val="B85042"/>
          </a:solidFill>
          <a:ln cap="flat" cmpd="sng" w="9525">
            <a:solidFill>
              <a:srgbClr val="B8504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8" name="Google Shape;788;p16"/>
          <p:cNvSpPr/>
          <p:nvPr/>
        </p:nvSpPr>
        <p:spPr>
          <a:xfrm>
            <a:off x="514350" y="742950"/>
            <a:ext cx="66675" cy="866775"/>
          </a:xfrm>
          <a:prstGeom prst="rect">
            <a:avLst/>
          </a:prstGeom>
          <a:solidFill>
            <a:srgbClr val="B85042"/>
          </a:solidFill>
          <a:ln cap="flat" cmpd="sng" w="9525">
            <a:solidFill>
              <a:srgbClr val="B8504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9" name="Google Shape;789;p16"/>
          <p:cNvSpPr/>
          <p:nvPr/>
        </p:nvSpPr>
        <p:spPr>
          <a:xfrm>
            <a:off x="781050" y="552450"/>
            <a:ext cx="5334000" cy="2667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B85042"/>
              </a:buClr>
              <a:buSzPts val="975"/>
              <a:buFont typeface="Arial"/>
              <a:buNone/>
            </a:pPr>
            <a:r>
              <a:rPr b="1" lang="en-US" sz="975">
                <a:solidFill>
                  <a:srgbClr val="B85042"/>
                </a:solidFill>
              </a:rPr>
              <a:t>16  ·  Q4 REFLECTION</a:t>
            </a:r>
            <a:endParaRPr/>
          </a:p>
        </p:txBody>
      </p:sp>
      <p:sp>
        <p:nvSpPr>
          <p:cNvPr id="790" name="Google Shape;790;p16"/>
          <p:cNvSpPr/>
          <p:nvPr/>
        </p:nvSpPr>
        <p:spPr>
          <a:xfrm>
            <a:off x="781050" y="885825"/>
            <a:ext cx="10648950" cy="5905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2550"/>
              <a:buFont typeface="Arial"/>
              <a:buNone/>
            </a:pPr>
            <a:r>
              <a:rPr b="1" lang="en-US" sz="2550">
                <a:solidFill>
                  <a:srgbClr val="1A1A2E"/>
                </a:solidFill>
              </a:rPr>
              <a:t>Iteration converted observed failures into production controls</a:t>
            </a:r>
            <a:endParaRPr/>
          </a:p>
        </p:txBody>
      </p:sp>
      <p:sp>
        <p:nvSpPr>
          <p:cNvPr id="791" name="Google Shape;791;p16"/>
          <p:cNvSpPr/>
          <p:nvPr/>
        </p:nvSpPr>
        <p:spPr>
          <a:xfrm>
            <a:off x="781050" y="1524000"/>
            <a:ext cx="10648950" cy="3238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1275"/>
              <a:buFont typeface="Arial"/>
              <a:buNone/>
            </a:pPr>
            <a:r>
              <a:rPr lang="en-US" sz="1275">
                <a:solidFill>
                  <a:srgbClr val="666B70"/>
                </a:solidFill>
              </a:rPr>
              <a:t>Each release preserved a working checkpoint, isolated one correction, and added evidence before promotion.</a:t>
            </a:r>
            <a:endParaRPr/>
          </a:p>
        </p:txBody>
      </p:sp>
      <p:sp>
        <p:nvSpPr>
          <p:cNvPr id="792" name="Google Shape;792;p16"/>
          <p:cNvSpPr/>
          <p:nvPr/>
        </p:nvSpPr>
        <p:spPr>
          <a:xfrm>
            <a:off x="781050" y="2105025"/>
            <a:ext cx="3143250" cy="2095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B85042"/>
              </a:buClr>
              <a:buSzPts val="863"/>
              <a:buFont typeface="Arial"/>
              <a:buNone/>
            </a:pPr>
            <a:r>
              <a:rPr b="1" lang="en-US" sz="863">
                <a:solidFill>
                  <a:srgbClr val="B85042"/>
                </a:solidFill>
              </a:rPr>
              <a:t>CONTROLLED LEARNING PATH</a:t>
            </a:r>
            <a:endParaRPr/>
          </a:p>
        </p:txBody>
      </p:sp>
      <p:sp>
        <p:nvSpPr>
          <p:cNvPr id="793" name="Google Shape;793;p16"/>
          <p:cNvSpPr/>
          <p:nvPr/>
        </p:nvSpPr>
        <p:spPr>
          <a:xfrm>
            <a:off x="781050" y="2371725"/>
            <a:ext cx="6762750" cy="4000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1875"/>
              <a:buFont typeface="Arial"/>
              <a:buNone/>
            </a:pPr>
            <a:r>
              <a:rPr b="1" lang="en-US" sz="1875">
                <a:solidFill>
                  <a:srgbClr val="1A1A2E"/>
                </a:solidFill>
              </a:rPr>
              <a:t>Five releases turned failure evidence into safeguards</a:t>
            </a:r>
            <a:endParaRPr/>
          </a:p>
        </p:txBody>
      </p:sp>
      <p:sp>
        <p:nvSpPr>
          <p:cNvPr id="794" name="Google Shape;794;p16"/>
          <p:cNvSpPr/>
          <p:nvPr/>
        </p:nvSpPr>
        <p:spPr>
          <a:xfrm>
            <a:off x="1181100" y="2952750"/>
            <a:ext cx="38100" cy="2647950"/>
          </a:xfrm>
          <a:prstGeom prst="rect">
            <a:avLst/>
          </a:prstGeom>
          <a:solidFill>
            <a:srgbClr val="DED8D0"/>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5" name="Google Shape;795;p16"/>
          <p:cNvSpPr/>
          <p:nvPr/>
        </p:nvSpPr>
        <p:spPr>
          <a:xfrm>
            <a:off x="1047750" y="3028950"/>
            <a:ext cx="304800" cy="304800"/>
          </a:xfrm>
          <a:prstGeom prst="roundRect">
            <a:avLst>
              <a:gd fmla="val 25000" name="adj"/>
            </a:avLst>
          </a:prstGeom>
          <a:solidFill>
            <a:srgbClr val="3B6EBF"/>
          </a:solidFill>
          <a:ln cap="flat" cmpd="sng" w="9525">
            <a:solidFill>
              <a:srgbClr val="3B6EB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6" name="Google Shape;796;p16"/>
          <p:cNvSpPr/>
          <p:nvPr/>
        </p:nvSpPr>
        <p:spPr>
          <a:xfrm>
            <a:off x="1047750" y="3057525"/>
            <a:ext cx="304800" cy="2381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FFFFFF"/>
              </a:buClr>
              <a:buSzPts val="975"/>
              <a:buFont typeface="Arial"/>
              <a:buNone/>
            </a:pPr>
            <a:r>
              <a:rPr b="1" lang="en-US" sz="975">
                <a:solidFill>
                  <a:srgbClr val="FFFFFF"/>
                </a:solidFill>
              </a:rPr>
              <a:t>1</a:t>
            </a:r>
            <a:endParaRPr/>
          </a:p>
        </p:txBody>
      </p:sp>
      <p:sp>
        <p:nvSpPr>
          <p:cNvPr id="797" name="Google Shape;797;p16"/>
          <p:cNvSpPr/>
          <p:nvPr/>
        </p:nvSpPr>
        <p:spPr>
          <a:xfrm>
            <a:off x="1562100" y="2886075"/>
            <a:ext cx="5981700" cy="542925"/>
          </a:xfrm>
          <a:prstGeom prst="roundRect">
            <a:avLst>
              <a:gd fmla="val 14035" name="adj"/>
            </a:avLst>
          </a:prstGeom>
          <a:solidFill>
            <a:srgbClr val="FFFFFF"/>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8" name="Google Shape;798;p16"/>
          <p:cNvSpPr/>
          <p:nvPr/>
        </p:nvSpPr>
        <p:spPr>
          <a:xfrm>
            <a:off x="1733550" y="2952750"/>
            <a:ext cx="876300" cy="2095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3B6EBF"/>
              </a:buClr>
              <a:buSzPts val="1050"/>
              <a:buFont typeface="Arial"/>
              <a:buNone/>
            </a:pPr>
            <a:r>
              <a:rPr b="1" lang="en-US" sz="1050">
                <a:solidFill>
                  <a:srgbClr val="3B6EBF"/>
                </a:solidFill>
              </a:rPr>
              <a:t>v0.3.4</a:t>
            </a:r>
            <a:endParaRPr/>
          </a:p>
        </p:txBody>
      </p:sp>
      <p:sp>
        <p:nvSpPr>
          <p:cNvPr id="799" name="Google Shape;799;p16"/>
          <p:cNvSpPr/>
          <p:nvPr/>
        </p:nvSpPr>
        <p:spPr>
          <a:xfrm>
            <a:off x="2647950" y="2943225"/>
            <a:ext cx="4572000" cy="2286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1200"/>
              <a:buFont typeface="Arial"/>
              <a:buNone/>
            </a:pPr>
            <a:r>
              <a:rPr b="1" lang="en-US" sz="1200">
                <a:solidFill>
                  <a:srgbClr val="1A1A2E"/>
                </a:solidFill>
              </a:rPr>
              <a:t>Validated checkpoint</a:t>
            </a:r>
            <a:endParaRPr/>
          </a:p>
        </p:txBody>
      </p:sp>
      <p:sp>
        <p:nvSpPr>
          <p:cNvPr id="800" name="Google Shape;800;p16"/>
          <p:cNvSpPr/>
          <p:nvPr/>
        </p:nvSpPr>
        <p:spPr>
          <a:xfrm>
            <a:off x="1733550" y="3171825"/>
            <a:ext cx="5467350" cy="190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938"/>
              <a:buFont typeface="Arial"/>
              <a:buNone/>
            </a:pPr>
            <a:r>
              <a:rPr lang="en-US" sz="938">
                <a:solidFill>
                  <a:srgbClr val="666B70"/>
                </a:solidFill>
              </a:rPr>
              <a:t>Freeze proven behavior and retain rollback evidence.</a:t>
            </a:r>
            <a:endParaRPr/>
          </a:p>
        </p:txBody>
      </p:sp>
      <p:sp>
        <p:nvSpPr>
          <p:cNvPr id="801" name="Google Shape;801;p16"/>
          <p:cNvSpPr/>
          <p:nvPr/>
        </p:nvSpPr>
        <p:spPr>
          <a:xfrm>
            <a:off x="1047750" y="3600450"/>
            <a:ext cx="304800" cy="304800"/>
          </a:xfrm>
          <a:prstGeom prst="roundRect">
            <a:avLst>
              <a:gd fmla="val 25000" name="adj"/>
            </a:avLst>
          </a:prstGeom>
          <a:solidFill>
            <a:srgbClr val="B85042"/>
          </a:solidFill>
          <a:ln cap="flat" cmpd="sng" w="9525">
            <a:solidFill>
              <a:srgbClr val="B8504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2" name="Google Shape;802;p16"/>
          <p:cNvSpPr/>
          <p:nvPr/>
        </p:nvSpPr>
        <p:spPr>
          <a:xfrm>
            <a:off x="1047750" y="3629025"/>
            <a:ext cx="304800" cy="2381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FFFFFF"/>
              </a:buClr>
              <a:buSzPts val="975"/>
              <a:buFont typeface="Arial"/>
              <a:buNone/>
            </a:pPr>
            <a:r>
              <a:rPr b="1" lang="en-US" sz="975">
                <a:solidFill>
                  <a:srgbClr val="FFFFFF"/>
                </a:solidFill>
              </a:rPr>
              <a:t>2</a:t>
            </a:r>
            <a:endParaRPr/>
          </a:p>
        </p:txBody>
      </p:sp>
      <p:sp>
        <p:nvSpPr>
          <p:cNvPr id="803" name="Google Shape;803;p16"/>
          <p:cNvSpPr/>
          <p:nvPr/>
        </p:nvSpPr>
        <p:spPr>
          <a:xfrm>
            <a:off x="1562100" y="3457575"/>
            <a:ext cx="5981700" cy="542925"/>
          </a:xfrm>
          <a:prstGeom prst="roundRect">
            <a:avLst>
              <a:gd fmla="val 14035" name="adj"/>
            </a:avLst>
          </a:prstGeom>
          <a:solidFill>
            <a:srgbClr val="FFFFFF"/>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4" name="Google Shape;804;p16"/>
          <p:cNvSpPr/>
          <p:nvPr/>
        </p:nvSpPr>
        <p:spPr>
          <a:xfrm>
            <a:off x="1733550" y="3524250"/>
            <a:ext cx="876300" cy="2095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B85042"/>
              </a:buClr>
              <a:buSzPts val="1050"/>
              <a:buFont typeface="Arial"/>
              <a:buNone/>
            </a:pPr>
            <a:r>
              <a:rPr b="1" lang="en-US" sz="1050">
                <a:solidFill>
                  <a:srgbClr val="B85042"/>
                </a:solidFill>
              </a:rPr>
              <a:t>v0.3.5</a:t>
            </a:r>
            <a:endParaRPr/>
          </a:p>
        </p:txBody>
      </p:sp>
      <p:sp>
        <p:nvSpPr>
          <p:cNvPr id="805" name="Google Shape;805;p16"/>
          <p:cNvSpPr/>
          <p:nvPr/>
        </p:nvSpPr>
        <p:spPr>
          <a:xfrm>
            <a:off x="2647950" y="3514725"/>
            <a:ext cx="4572000" cy="2286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1200"/>
              <a:buFont typeface="Arial"/>
              <a:buNone/>
            </a:pPr>
            <a:r>
              <a:rPr b="1" lang="en-US" sz="1200">
                <a:solidFill>
                  <a:srgbClr val="1A1A2E"/>
                </a:solidFill>
              </a:rPr>
              <a:t>Corrected document contracts</a:t>
            </a:r>
            <a:endParaRPr/>
          </a:p>
        </p:txBody>
      </p:sp>
      <p:sp>
        <p:nvSpPr>
          <p:cNvPr id="806" name="Google Shape;806;p16"/>
          <p:cNvSpPr/>
          <p:nvPr/>
        </p:nvSpPr>
        <p:spPr>
          <a:xfrm>
            <a:off x="1733550" y="3743325"/>
            <a:ext cx="5467350" cy="190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938"/>
              <a:buFont typeface="Arial"/>
              <a:buNone/>
            </a:pPr>
            <a:r>
              <a:rPr lang="en-US" sz="938">
                <a:solidFill>
                  <a:srgbClr val="666B70"/>
                </a:solidFill>
              </a:rPr>
              <a:t>Repair ten-section PRD and dynamic Epic / Feature / Story structure.</a:t>
            </a:r>
            <a:endParaRPr/>
          </a:p>
        </p:txBody>
      </p:sp>
      <p:sp>
        <p:nvSpPr>
          <p:cNvPr id="807" name="Google Shape;807;p16"/>
          <p:cNvSpPr/>
          <p:nvPr/>
        </p:nvSpPr>
        <p:spPr>
          <a:xfrm>
            <a:off x="1047750" y="4171950"/>
            <a:ext cx="304800" cy="304800"/>
          </a:xfrm>
          <a:prstGeom prst="roundRect">
            <a:avLst>
              <a:gd fmla="val 25000" name="adj"/>
            </a:avLst>
          </a:prstGeom>
          <a:solidFill>
            <a:srgbClr val="7546C8"/>
          </a:solidFill>
          <a:ln cap="flat" cmpd="sng" w="9525">
            <a:solidFill>
              <a:srgbClr val="7546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8" name="Google Shape;808;p16"/>
          <p:cNvSpPr/>
          <p:nvPr/>
        </p:nvSpPr>
        <p:spPr>
          <a:xfrm>
            <a:off x="1047750" y="4200525"/>
            <a:ext cx="304800" cy="2381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FFFFFF"/>
              </a:buClr>
              <a:buSzPts val="975"/>
              <a:buFont typeface="Arial"/>
              <a:buNone/>
            </a:pPr>
            <a:r>
              <a:rPr b="1" lang="en-US" sz="975">
                <a:solidFill>
                  <a:srgbClr val="FFFFFF"/>
                </a:solidFill>
              </a:rPr>
              <a:t>3</a:t>
            </a:r>
            <a:endParaRPr/>
          </a:p>
        </p:txBody>
      </p:sp>
      <p:sp>
        <p:nvSpPr>
          <p:cNvPr id="809" name="Google Shape;809;p16"/>
          <p:cNvSpPr/>
          <p:nvPr/>
        </p:nvSpPr>
        <p:spPr>
          <a:xfrm>
            <a:off x="1562100" y="4029075"/>
            <a:ext cx="5981700" cy="542925"/>
          </a:xfrm>
          <a:prstGeom prst="roundRect">
            <a:avLst>
              <a:gd fmla="val 14035" name="adj"/>
            </a:avLst>
          </a:prstGeom>
          <a:solidFill>
            <a:srgbClr val="FFFFFF"/>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0" name="Google Shape;810;p16"/>
          <p:cNvSpPr/>
          <p:nvPr/>
        </p:nvSpPr>
        <p:spPr>
          <a:xfrm>
            <a:off x="1733550" y="4095750"/>
            <a:ext cx="876300" cy="2095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7546C8"/>
              </a:buClr>
              <a:buSzPts val="1050"/>
              <a:buFont typeface="Arial"/>
              <a:buNone/>
            </a:pPr>
            <a:r>
              <a:rPr b="1" lang="en-US" sz="1050">
                <a:solidFill>
                  <a:srgbClr val="7546C8"/>
                </a:solidFill>
              </a:rPr>
              <a:t>v0.3.6</a:t>
            </a:r>
            <a:endParaRPr/>
          </a:p>
        </p:txBody>
      </p:sp>
      <p:sp>
        <p:nvSpPr>
          <p:cNvPr id="811" name="Google Shape;811;p16"/>
          <p:cNvSpPr/>
          <p:nvPr/>
        </p:nvSpPr>
        <p:spPr>
          <a:xfrm>
            <a:off x="2647950" y="4086225"/>
            <a:ext cx="4572000" cy="2286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1200"/>
              <a:buFont typeface="Arial"/>
              <a:buNone/>
            </a:pPr>
            <a:r>
              <a:rPr b="1" lang="en-US" sz="1200">
                <a:solidFill>
                  <a:srgbClr val="1A1A2E"/>
                </a:solidFill>
              </a:rPr>
              <a:t>Sizing added safely</a:t>
            </a:r>
            <a:endParaRPr/>
          </a:p>
        </p:txBody>
      </p:sp>
      <p:sp>
        <p:nvSpPr>
          <p:cNvPr id="812" name="Google Shape;812;p16"/>
          <p:cNvSpPr/>
          <p:nvPr/>
        </p:nvSpPr>
        <p:spPr>
          <a:xfrm>
            <a:off x="1733550" y="4314825"/>
            <a:ext cx="5467350" cy="190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938"/>
              <a:buFont typeface="Arial"/>
              <a:buNone/>
            </a:pPr>
            <a:r>
              <a:rPr lang="en-US" sz="938">
                <a:solidFill>
                  <a:srgbClr val="666B70"/>
                </a:solidFill>
              </a:rPr>
              <a:t>Introduce post-story sizing as advisory and non-blocking.</a:t>
            </a:r>
            <a:endParaRPr/>
          </a:p>
        </p:txBody>
      </p:sp>
      <p:sp>
        <p:nvSpPr>
          <p:cNvPr id="813" name="Google Shape;813;p16"/>
          <p:cNvSpPr/>
          <p:nvPr/>
        </p:nvSpPr>
        <p:spPr>
          <a:xfrm>
            <a:off x="1047750" y="4743450"/>
            <a:ext cx="304800" cy="304800"/>
          </a:xfrm>
          <a:prstGeom prst="roundRect">
            <a:avLst>
              <a:gd fmla="val 25000" name="adj"/>
            </a:avLst>
          </a:prstGeom>
          <a:solidFill>
            <a:srgbClr val="3B6EBF"/>
          </a:solidFill>
          <a:ln cap="flat" cmpd="sng" w="9525">
            <a:solidFill>
              <a:srgbClr val="3B6EB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4" name="Google Shape;814;p16"/>
          <p:cNvSpPr/>
          <p:nvPr/>
        </p:nvSpPr>
        <p:spPr>
          <a:xfrm>
            <a:off x="1047750" y="4772025"/>
            <a:ext cx="304800" cy="2381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FFFFFF"/>
              </a:buClr>
              <a:buSzPts val="975"/>
              <a:buFont typeface="Arial"/>
              <a:buNone/>
            </a:pPr>
            <a:r>
              <a:rPr b="1" lang="en-US" sz="975">
                <a:solidFill>
                  <a:srgbClr val="FFFFFF"/>
                </a:solidFill>
              </a:rPr>
              <a:t>4</a:t>
            </a:r>
            <a:endParaRPr/>
          </a:p>
        </p:txBody>
      </p:sp>
      <p:sp>
        <p:nvSpPr>
          <p:cNvPr id="815" name="Google Shape;815;p16"/>
          <p:cNvSpPr/>
          <p:nvPr/>
        </p:nvSpPr>
        <p:spPr>
          <a:xfrm>
            <a:off x="1562100" y="4600575"/>
            <a:ext cx="5981700" cy="542925"/>
          </a:xfrm>
          <a:prstGeom prst="roundRect">
            <a:avLst>
              <a:gd fmla="val 14035" name="adj"/>
            </a:avLst>
          </a:prstGeom>
          <a:solidFill>
            <a:srgbClr val="FFFFFF"/>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6" name="Google Shape;816;p16"/>
          <p:cNvSpPr/>
          <p:nvPr/>
        </p:nvSpPr>
        <p:spPr>
          <a:xfrm>
            <a:off x="1733550" y="4667250"/>
            <a:ext cx="876300" cy="2095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3B6EBF"/>
              </a:buClr>
              <a:buSzPts val="1050"/>
              <a:buFont typeface="Arial"/>
              <a:buNone/>
            </a:pPr>
            <a:r>
              <a:rPr b="1" lang="en-US" sz="1050">
                <a:solidFill>
                  <a:srgbClr val="3B6EBF"/>
                </a:solidFill>
              </a:rPr>
              <a:t>v0.3.7</a:t>
            </a:r>
            <a:endParaRPr/>
          </a:p>
        </p:txBody>
      </p:sp>
      <p:sp>
        <p:nvSpPr>
          <p:cNvPr id="817" name="Google Shape;817;p16"/>
          <p:cNvSpPr/>
          <p:nvPr/>
        </p:nvSpPr>
        <p:spPr>
          <a:xfrm>
            <a:off x="2647950" y="4657725"/>
            <a:ext cx="4572000" cy="2286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1200"/>
              <a:buFont typeface="Arial"/>
              <a:buNone/>
            </a:pPr>
            <a:r>
              <a:rPr b="1" lang="en-US" sz="1200">
                <a:solidFill>
                  <a:srgbClr val="1A1A2E"/>
                </a:solidFill>
              </a:rPr>
              <a:t>Traceability and acceptance criteria</a:t>
            </a:r>
            <a:endParaRPr/>
          </a:p>
        </p:txBody>
      </p:sp>
      <p:sp>
        <p:nvSpPr>
          <p:cNvPr id="818" name="Google Shape;818;p16"/>
          <p:cNvSpPr/>
          <p:nvPr/>
        </p:nvSpPr>
        <p:spPr>
          <a:xfrm>
            <a:off x="1733550" y="4886325"/>
            <a:ext cx="5467350" cy="190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938"/>
              <a:buFont typeface="Arial"/>
              <a:buNone/>
            </a:pPr>
            <a:r>
              <a:rPr lang="en-US" sz="938">
                <a:solidFill>
                  <a:srgbClr val="666B70"/>
                </a:solidFill>
              </a:rPr>
              <a:t>Map feature criteria to stories and correct dynamic requirement IDs.</a:t>
            </a:r>
            <a:endParaRPr/>
          </a:p>
        </p:txBody>
      </p:sp>
      <p:sp>
        <p:nvSpPr>
          <p:cNvPr id="819" name="Google Shape;819;p16"/>
          <p:cNvSpPr/>
          <p:nvPr/>
        </p:nvSpPr>
        <p:spPr>
          <a:xfrm>
            <a:off x="1047750" y="5314950"/>
            <a:ext cx="304800" cy="304800"/>
          </a:xfrm>
          <a:prstGeom prst="roundRect">
            <a:avLst>
              <a:gd fmla="val 25000" name="adj"/>
            </a:avLst>
          </a:prstGeom>
          <a:solidFill>
            <a:srgbClr val="2F6F57"/>
          </a:solidFill>
          <a:ln cap="flat" cmpd="sng" w="9525">
            <a:solidFill>
              <a:srgbClr val="2F6F5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0" name="Google Shape;820;p16"/>
          <p:cNvSpPr/>
          <p:nvPr/>
        </p:nvSpPr>
        <p:spPr>
          <a:xfrm>
            <a:off x="1047750" y="5343525"/>
            <a:ext cx="304800" cy="2381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FFFFFF"/>
              </a:buClr>
              <a:buSzPts val="975"/>
              <a:buFont typeface="Arial"/>
              <a:buNone/>
            </a:pPr>
            <a:r>
              <a:rPr b="1" lang="en-US" sz="975">
                <a:solidFill>
                  <a:srgbClr val="FFFFFF"/>
                </a:solidFill>
              </a:rPr>
              <a:t>✓</a:t>
            </a:r>
            <a:endParaRPr/>
          </a:p>
        </p:txBody>
      </p:sp>
      <p:sp>
        <p:nvSpPr>
          <p:cNvPr id="821" name="Google Shape;821;p16"/>
          <p:cNvSpPr/>
          <p:nvPr/>
        </p:nvSpPr>
        <p:spPr>
          <a:xfrm>
            <a:off x="1562100" y="5172075"/>
            <a:ext cx="5981700" cy="542925"/>
          </a:xfrm>
          <a:prstGeom prst="roundRect">
            <a:avLst>
              <a:gd fmla="val 14035" name="adj"/>
            </a:avLst>
          </a:prstGeom>
          <a:solidFill>
            <a:srgbClr val="E6F0EB"/>
          </a:solidFill>
          <a:ln cap="flat" cmpd="sng" w="9525">
            <a:solidFill>
              <a:srgbClr val="2F6F5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2" name="Google Shape;822;p16"/>
          <p:cNvSpPr/>
          <p:nvPr/>
        </p:nvSpPr>
        <p:spPr>
          <a:xfrm>
            <a:off x="1733550" y="5238750"/>
            <a:ext cx="876300" cy="2095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F6F57"/>
              </a:buClr>
              <a:buSzPts val="1050"/>
              <a:buFont typeface="Arial"/>
              <a:buNone/>
            </a:pPr>
            <a:r>
              <a:rPr b="1" lang="en-US" sz="1050">
                <a:solidFill>
                  <a:srgbClr val="2F6F57"/>
                </a:solidFill>
              </a:rPr>
              <a:t>v0.3.8</a:t>
            </a:r>
            <a:endParaRPr/>
          </a:p>
        </p:txBody>
      </p:sp>
      <p:sp>
        <p:nvSpPr>
          <p:cNvPr id="823" name="Google Shape;823;p16"/>
          <p:cNvSpPr/>
          <p:nvPr/>
        </p:nvSpPr>
        <p:spPr>
          <a:xfrm>
            <a:off x="2647950" y="5229225"/>
            <a:ext cx="4572000" cy="2286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1200"/>
              <a:buFont typeface="Arial"/>
              <a:buNone/>
            </a:pPr>
            <a:r>
              <a:rPr b="1" lang="en-US" sz="1200">
                <a:solidFill>
                  <a:srgbClr val="1A1A2E"/>
                </a:solidFill>
              </a:rPr>
              <a:t>Submission-quality assurance</a:t>
            </a:r>
            <a:endParaRPr/>
          </a:p>
        </p:txBody>
      </p:sp>
      <p:sp>
        <p:nvSpPr>
          <p:cNvPr id="824" name="Google Shape;824;p16"/>
          <p:cNvSpPr/>
          <p:nvPr/>
        </p:nvSpPr>
        <p:spPr>
          <a:xfrm>
            <a:off x="1733550" y="5457825"/>
            <a:ext cx="5467350" cy="190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938"/>
              <a:buFont typeface="Arial"/>
              <a:buNone/>
            </a:pPr>
            <a:r>
              <a:rPr lang="en-US" sz="938">
                <a:solidFill>
                  <a:srgbClr val="666B70"/>
                </a:solidFill>
              </a:rPr>
              <a:t>Restore sizing evaluation, remove duplicate scoring, and capture loaded cost.</a:t>
            </a:r>
            <a:endParaRPr/>
          </a:p>
        </p:txBody>
      </p:sp>
      <p:sp>
        <p:nvSpPr>
          <p:cNvPr id="825" name="Google Shape;825;p16"/>
          <p:cNvSpPr/>
          <p:nvPr/>
        </p:nvSpPr>
        <p:spPr>
          <a:xfrm>
            <a:off x="7962900" y="2105025"/>
            <a:ext cx="3448050" cy="3676650"/>
          </a:xfrm>
          <a:prstGeom prst="roundRect">
            <a:avLst>
              <a:gd fmla="val 2210" name="adj"/>
            </a:avLst>
          </a:prstGeom>
          <a:solidFill>
            <a:srgbClr val="FFFFFF"/>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6" name="Google Shape;826;p16"/>
          <p:cNvSpPr/>
          <p:nvPr/>
        </p:nvSpPr>
        <p:spPr>
          <a:xfrm>
            <a:off x="7962900" y="2105025"/>
            <a:ext cx="3448050" cy="76200"/>
          </a:xfrm>
          <a:prstGeom prst="rect">
            <a:avLst/>
          </a:prstGeom>
          <a:solidFill>
            <a:srgbClr val="B85042"/>
          </a:solidFill>
          <a:ln cap="flat" cmpd="sng" w="9525">
            <a:solidFill>
              <a:srgbClr val="B8504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7" name="Google Shape;827;p16"/>
          <p:cNvSpPr/>
          <p:nvPr/>
        </p:nvSpPr>
        <p:spPr>
          <a:xfrm>
            <a:off x="8210550" y="2362200"/>
            <a:ext cx="2952750" cy="2095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B85042"/>
              </a:buClr>
              <a:buSzPts val="825"/>
              <a:buFont typeface="Arial"/>
              <a:buNone/>
            </a:pPr>
            <a:r>
              <a:rPr b="1" lang="en-US" sz="825">
                <a:solidFill>
                  <a:srgbClr val="B85042"/>
                </a:solidFill>
              </a:rPr>
              <a:t>WHAT THE EVALUATION TAUGHT</a:t>
            </a:r>
            <a:endParaRPr/>
          </a:p>
        </p:txBody>
      </p:sp>
      <p:sp>
        <p:nvSpPr>
          <p:cNvPr id="828" name="Google Shape;828;p16"/>
          <p:cNvSpPr/>
          <p:nvPr/>
        </p:nvSpPr>
        <p:spPr>
          <a:xfrm>
            <a:off x="8210550" y="2657475"/>
            <a:ext cx="2952750" cy="552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1800"/>
              <a:buFont typeface="Arial"/>
              <a:buNone/>
            </a:pPr>
            <a:r>
              <a:rPr b="1" lang="en-US" sz="1800">
                <a:solidFill>
                  <a:srgbClr val="1A1A2E"/>
                </a:solidFill>
              </a:rPr>
              <a:t>AI output needs governed boundaries</a:t>
            </a:r>
            <a:endParaRPr/>
          </a:p>
        </p:txBody>
      </p:sp>
      <p:sp>
        <p:nvSpPr>
          <p:cNvPr id="829" name="Google Shape;829;p16"/>
          <p:cNvSpPr/>
          <p:nvPr/>
        </p:nvSpPr>
        <p:spPr>
          <a:xfrm>
            <a:off x="8210550" y="3343275"/>
            <a:ext cx="171450" cy="2286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B85042"/>
              </a:buClr>
              <a:buSzPts val="1350"/>
              <a:buFont typeface="Arial"/>
              <a:buNone/>
            </a:pPr>
            <a:r>
              <a:rPr b="1" lang="en-US" sz="1350">
                <a:solidFill>
                  <a:srgbClr val="B85042"/>
                </a:solidFill>
              </a:rPr>
              <a:t>•</a:t>
            </a:r>
            <a:endParaRPr/>
          </a:p>
        </p:txBody>
      </p:sp>
      <p:sp>
        <p:nvSpPr>
          <p:cNvPr id="830" name="Google Shape;830;p16"/>
          <p:cNvSpPr/>
          <p:nvPr/>
        </p:nvSpPr>
        <p:spPr>
          <a:xfrm>
            <a:off x="8420100" y="3305175"/>
            <a:ext cx="2647950" cy="21907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1088"/>
              <a:buFont typeface="Arial"/>
              <a:buNone/>
            </a:pPr>
            <a:r>
              <a:rPr b="1" lang="en-US" sz="1088">
                <a:solidFill>
                  <a:srgbClr val="1A1A2E"/>
                </a:solidFill>
              </a:rPr>
              <a:t>Unsupported detail</a:t>
            </a:r>
            <a:endParaRPr/>
          </a:p>
        </p:txBody>
      </p:sp>
      <p:sp>
        <p:nvSpPr>
          <p:cNvPr id="831" name="Google Shape;831;p16"/>
          <p:cNvSpPr/>
          <p:nvPr/>
        </p:nvSpPr>
        <p:spPr>
          <a:xfrm>
            <a:off x="8420100" y="3514725"/>
            <a:ext cx="2647950" cy="3048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938"/>
              <a:buFont typeface="Arial"/>
              <a:buNone/>
            </a:pPr>
            <a:r>
              <a:rPr lang="en-US" sz="938">
                <a:solidFill>
                  <a:srgbClr val="666B70"/>
                </a:solidFill>
              </a:rPr>
              <a:t>Ground every claim and preserve visible uncertainty.</a:t>
            </a:r>
            <a:endParaRPr/>
          </a:p>
        </p:txBody>
      </p:sp>
      <p:sp>
        <p:nvSpPr>
          <p:cNvPr id="832" name="Google Shape;832;p16"/>
          <p:cNvSpPr/>
          <p:nvPr/>
        </p:nvSpPr>
        <p:spPr>
          <a:xfrm>
            <a:off x="8210550" y="3914775"/>
            <a:ext cx="171450" cy="2286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B85042"/>
              </a:buClr>
              <a:buSzPts val="1350"/>
              <a:buFont typeface="Arial"/>
              <a:buNone/>
            </a:pPr>
            <a:r>
              <a:rPr b="1" lang="en-US" sz="1350">
                <a:solidFill>
                  <a:srgbClr val="B85042"/>
                </a:solidFill>
              </a:rPr>
              <a:t>•</a:t>
            </a:r>
            <a:endParaRPr/>
          </a:p>
        </p:txBody>
      </p:sp>
      <p:sp>
        <p:nvSpPr>
          <p:cNvPr id="833" name="Google Shape;833;p16"/>
          <p:cNvSpPr/>
          <p:nvPr/>
        </p:nvSpPr>
        <p:spPr>
          <a:xfrm>
            <a:off x="8420100" y="3876675"/>
            <a:ext cx="2647950" cy="21907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1088"/>
              <a:buFont typeface="Arial"/>
              <a:buNone/>
            </a:pPr>
            <a:r>
              <a:rPr b="1" lang="en-US" sz="1088">
                <a:solidFill>
                  <a:srgbClr val="1A1A2E"/>
                </a:solidFill>
              </a:rPr>
              <a:t>Silent mapping loss</a:t>
            </a:r>
            <a:endParaRPr/>
          </a:p>
        </p:txBody>
      </p:sp>
      <p:sp>
        <p:nvSpPr>
          <p:cNvPr id="834" name="Google Shape;834;p16"/>
          <p:cNvSpPr/>
          <p:nvPr/>
        </p:nvSpPr>
        <p:spPr>
          <a:xfrm>
            <a:off x="8420100" y="4086225"/>
            <a:ext cx="2647950" cy="3048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938"/>
              <a:buFont typeface="Arial"/>
              <a:buNone/>
            </a:pPr>
            <a:r>
              <a:rPr lang="en-US" sz="938">
                <a:solidFill>
                  <a:srgbClr val="666B70"/>
                </a:solidFill>
              </a:rPr>
              <a:t>Reconcile citation, PRD, and delivery sets both ways.</a:t>
            </a:r>
            <a:endParaRPr/>
          </a:p>
        </p:txBody>
      </p:sp>
      <p:sp>
        <p:nvSpPr>
          <p:cNvPr id="835" name="Google Shape;835;p16"/>
          <p:cNvSpPr/>
          <p:nvPr/>
        </p:nvSpPr>
        <p:spPr>
          <a:xfrm>
            <a:off x="8210550" y="4486275"/>
            <a:ext cx="171450" cy="2286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B85042"/>
              </a:buClr>
              <a:buSzPts val="1350"/>
              <a:buFont typeface="Arial"/>
              <a:buNone/>
            </a:pPr>
            <a:r>
              <a:rPr b="1" lang="en-US" sz="1350">
                <a:solidFill>
                  <a:srgbClr val="B85042"/>
                </a:solidFill>
              </a:rPr>
              <a:t>•</a:t>
            </a:r>
            <a:endParaRPr/>
          </a:p>
        </p:txBody>
      </p:sp>
      <p:sp>
        <p:nvSpPr>
          <p:cNvPr id="836" name="Google Shape;836;p16"/>
          <p:cNvSpPr/>
          <p:nvPr/>
        </p:nvSpPr>
        <p:spPr>
          <a:xfrm>
            <a:off x="8420100" y="4448175"/>
            <a:ext cx="2647950" cy="21907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1088"/>
              <a:buFont typeface="Arial"/>
              <a:buNone/>
            </a:pPr>
            <a:r>
              <a:rPr b="1" lang="en-US" sz="1088">
                <a:solidFill>
                  <a:srgbClr val="1A1A2E"/>
                </a:solidFill>
              </a:rPr>
              <a:t>Evaluator cost</a:t>
            </a:r>
            <a:endParaRPr/>
          </a:p>
        </p:txBody>
      </p:sp>
      <p:sp>
        <p:nvSpPr>
          <p:cNvPr id="837" name="Google Shape;837;p16"/>
          <p:cNvSpPr/>
          <p:nvPr/>
        </p:nvSpPr>
        <p:spPr>
          <a:xfrm>
            <a:off x="8420100" y="4657725"/>
            <a:ext cx="2647950" cy="3048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938"/>
              <a:buFont typeface="Arial"/>
              <a:buNone/>
            </a:pPr>
            <a:r>
              <a:rPr lang="en-US" sz="938">
                <a:solidFill>
                  <a:srgbClr val="666B70"/>
                </a:solidFill>
              </a:rPr>
              <a:t>Use code for exact checks; reserve LLM judgment for semantics.</a:t>
            </a:r>
            <a:endParaRPr/>
          </a:p>
        </p:txBody>
      </p:sp>
      <p:sp>
        <p:nvSpPr>
          <p:cNvPr id="838" name="Google Shape;838;p16"/>
          <p:cNvSpPr/>
          <p:nvPr/>
        </p:nvSpPr>
        <p:spPr>
          <a:xfrm>
            <a:off x="8172450" y="5000625"/>
            <a:ext cx="3028950" cy="685800"/>
          </a:xfrm>
          <a:prstGeom prst="roundRect">
            <a:avLst>
              <a:gd fmla="val 11111" name="adj"/>
            </a:avLst>
          </a:prstGeom>
          <a:solidFill>
            <a:srgbClr val="E6F0EB"/>
          </a:solidFill>
          <a:ln cap="flat" cmpd="sng" w="9525">
            <a:solidFill>
              <a:srgbClr val="2F6F5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9" name="Google Shape;839;p16"/>
          <p:cNvSpPr/>
          <p:nvPr/>
        </p:nvSpPr>
        <p:spPr>
          <a:xfrm>
            <a:off x="8343900" y="5057775"/>
            <a:ext cx="2667000" cy="18097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F6F57"/>
              </a:buClr>
              <a:buSzPts val="788"/>
              <a:buFont typeface="Arial"/>
              <a:buNone/>
            </a:pPr>
            <a:r>
              <a:rPr b="1" lang="en-US" sz="788">
                <a:solidFill>
                  <a:srgbClr val="2F6F57"/>
                </a:solidFill>
              </a:rPr>
              <a:t>v0.3.9 NEXT ITERATION</a:t>
            </a:r>
            <a:endParaRPr/>
          </a:p>
        </p:txBody>
      </p:sp>
      <p:sp>
        <p:nvSpPr>
          <p:cNvPr id="840" name="Google Shape;840;p16"/>
          <p:cNvSpPr/>
          <p:nvPr/>
        </p:nvSpPr>
        <p:spPr>
          <a:xfrm>
            <a:off x="8343900" y="5248275"/>
            <a:ext cx="2667000" cy="37147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863"/>
              <a:buFont typeface="Arial"/>
              <a:buNone/>
            </a:pPr>
            <a:r>
              <a:rPr b="1" lang="en-US" sz="863">
                <a:solidFill>
                  <a:srgbClr val="1A1A2E"/>
                </a:solidFill>
              </a:rPr>
              <a:t>Test lighter models on lower-risk tasks; retain GPT-5.6 Terra where reasoning remains release-critical.</a:t>
            </a:r>
            <a:endParaRPr/>
          </a:p>
        </p:txBody>
      </p:sp>
      <p:sp>
        <p:nvSpPr>
          <p:cNvPr id="841" name="Google Shape;841;p16"/>
          <p:cNvSpPr/>
          <p:nvPr/>
        </p:nvSpPr>
        <p:spPr>
          <a:xfrm>
            <a:off x="0" y="6172200"/>
            <a:ext cx="12192000" cy="685800"/>
          </a:xfrm>
          <a:prstGeom prst="rect">
            <a:avLst/>
          </a:prstGeom>
          <a:solidFill>
            <a:srgbClr val="1A1A2E"/>
          </a:solidFill>
          <a:ln cap="flat" cmpd="sng" w="9525">
            <a:solidFill>
              <a:srgbClr val="1A1A2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2" name="Google Shape;842;p16"/>
          <p:cNvSpPr/>
          <p:nvPr/>
        </p:nvSpPr>
        <p:spPr>
          <a:xfrm>
            <a:off x="781050" y="6267450"/>
            <a:ext cx="1905000" cy="2095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C9C6D8"/>
              </a:buClr>
              <a:buSzPts val="825"/>
              <a:buFont typeface="Arial"/>
              <a:buNone/>
            </a:pPr>
            <a:r>
              <a:rPr b="1" lang="en-US" sz="825">
                <a:solidFill>
                  <a:srgbClr val="C9C6D8"/>
                </a:solidFill>
              </a:rPr>
              <a:t>REFLECTION</a:t>
            </a:r>
            <a:endParaRPr/>
          </a:p>
        </p:txBody>
      </p:sp>
      <p:sp>
        <p:nvSpPr>
          <p:cNvPr id="843" name="Google Shape;843;p16"/>
          <p:cNvSpPr/>
          <p:nvPr/>
        </p:nvSpPr>
        <p:spPr>
          <a:xfrm>
            <a:off x="2647950" y="6267450"/>
            <a:ext cx="8763000" cy="4000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FFFFFF"/>
              </a:buClr>
              <a:buSzPts val="1275"/>
              <a:buFont typeface="Arial"/>
              <a:buNone/>
            </a:pPr>
            <a:r>
              <a:rPr b="1" lang="en-US" sz="1275">
                <a:solidFill>
                  <a:srgbClr val="FFFFFF"/>
                </a:solidFill>
              </a:rPr>
              <a:t>Evaluation became a design discipline: observe failure → isolate change → validate evidence → promote safely.</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4EE"/>
        </a:solidFill>
      </p:bgPr>
    </p:bg>
    <p:spTree>
      <p:nvGrpSpPr>
        <p:cNvPr id="848" name="Shape 848"/>
        <p:cNvGrpSpPr/>
        <p:nvPr/>
      </p:nvGrpSpPr>
      <p:grpSpPr>
        <a:xfrm>
          <a:off x="0" y="0"/>
          <a:ext cx="0" cy="0"/>
          <a:chOff x="0" y="0"/>
          <a:chExt cx="0" cy="0"/>
        </a:xfrm>
      </p:grpSpPr>
      <p:sp>
        <p:nvSpPr>
          <p:cNvPr id="849" name="Google Shape;849;p17"/>
          <p:cNvSpPr/>
          <p:nvPr/>
        </p:nvSpPr>
        <p:spPr>
          <a:xfrm>
            <a:off x="0" y="0"/>
            <a:ext cx="12192000" cy="76200"/>
          </a:xfrm>
          <a:prstGeom prst="rect">
            <a:avLst/>
          </a:prstGeom>
          <a:solidFill>
            <a:srgbClr val="B85042"/>
          </a:solidFill>
          <a:ln cap="flat" cmpd="sng" w="9525">
            <a:solidFill>
              <a:srgbClr val="B8504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0" name="Google Shape;850;p17"/>
          <p:cNvSpPr/>
          <p:nvPr/>
        </p:nvSpPr>
        <p:spPr>
          <a:xfrm>
            <a:off x="514350" y="742950"/>
            <a:ext cx="66675" cy="866775"/>
          </a:xfrm>
          <a:prstGeom prst="rect">
            <a:avLst/>
          </a:prstGeom>
          <a:solidFill>
            <a:srgbClr val="B85042"/>
          </a:solidFill>
          <a:ln cap="flat" cmpd="sng" w="9525">
            <a:solidFill>
              <a:srgbClr val="B8504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1" name="Google Shape;851;p17"/>
          <p:cNvSpPr/>
          <p:nvPr/>
        </p:nvSpPr>
        <p:spPr>
          <a:xfrm>
            <a:off x="781050" y="552450"/>
            <a:ext cx="5715000" cy="2667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B85042"/>
              </a:buClr>
              <a:buSzPts val="975"/>
              <a:buFont typeface="Arial"/>
              <a:buNone/>
            </a:pPr>
            <a:r>
              <a:rPr b="1" lang="en-US" sz="975">
                <a:solidFill>
                  <a:srgbClr val="B85042"/>
                </a:solidFill>
              </a:rPr>
              <a:t>17  ·  SUBMISSION EVIDENCE</a:t>
            </a:r>
            <a:endParaRPr/>
          </a:p>
        </p:txBody>
      </p:sp>
      <p:sp>
        <p:nvSpPr>
          <p:cNvPr id="852" name="Google Shape;852;p17"/>
          <p:cNvSpPr/>
          <p:nvPr/>
        </p:nvSpPr>
        <p:spPr>
          <a:xfrm>
            <a:off x="781050" y="885825"/>
            <a:ext cx="10648950" cy="5905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2550"/>
              <a:buFont typeface="Arial"/>
              <a:buNone/>
            </a:pPr>
            <a:r>
              <a:rPr b="1" lang="en-US" sz="2550">
                <a:solidFill>
                  <a:srgbClr val="1A1A2E"/>
                </a:solidFill>
              </a:rPr>
              <a:t>The submission package makes every claim inspectable</a:t>
            </a:r>
            <a:endParaRPr/>
          </a:p>
        </p:txBody>
      </p:sp>
      <p:sp>
        <p:nvSpPr>
          <p:cNvPr id="853" name="Google Shape;853;p17"/>
          <p:cNvSpPr/>
          <p:nvPr/>
        </p:nvSpPr>
        <p:spPr>
          <a:xfrm>
            <a:off x="781050" y="1524000"/>
            <a:ext cx="10648950" cy="3238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1275"/>
              <a:buFont typeface="Arial"/>
              <a:buNone/>
            </a:pPr>
            <a:r>
              <a:rPr lang="en-US" sz="1275">
                <a:solidFill>
                  <a:srgbClr val="666B70"/>
                </a:solidFill>
              </a:rPr>
              <a:t>A single evidence index connects the written answers, implementation, accepted run, product outputs, and demo.</a:t>
            </a:r>
            <a:endParaRPr/>
          </a:p>
        </p:txBody>
      </p:sp>
      <p:sp>
        <p:nvSpPr>
          <p:cNvPr id="854" name="Google Shape;854;p17"/>
          <p:cNvSpPr/>
          <p:nvPr/>
        </p:nvSpPr>
        <p:spPr>
          <a:xfrm>
            <a:off x="781050" y="2047875"/>
            <a:ext cx="4857750" cy="2095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B85042"/>
              </a:buClr>
              <a:buSzPts val="863"/>
              <a:buFont typeface="Arial"/>
              <a:buNone/>
            </a:pPr>
            <a:r>
              <a:rPr b="1" lang="en-US" sz="863">
                <a:solidFill>
                  <a:srgbClr val="B85042"/>
                </a:solidFill>
              </a:rPr>
              <a:t>REPRODUCIBLE SUBMISSION PACKAGE</a:t>
            </a:r>
            <a:endParaRPr/>
          </a:p>
        </p:txBody>
      </p:sp>
      <p:sp>
        <p:nvSpPr>
          <p:cNvPr id="855" name="Google Shape;855;p17"/>
          <p:cNvSpPr/>
          <p:nvPr/>
        </p:nvSpPr>
        <p:spPr>
          <a:xfrm>
            <a:off x="781050" y="2371725"/>
            <a:ext cx="2857500" cy="866775"/>
          </a:xfrm>
          <a:prstGeom prst="roundRect">
            <a:avLst>
              <a:gd fmla="val 8791" name="adj"/>
            </a:avLst>
          </a:prstGeom>
          <a:solidFill>
            <a:srgbClr val="FFFFFF"/>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6" name="Google Shape;856;p17"/>
          <p:cNvSpPr/>
          <p:nvPr/>
        </p:nvSpPr>
        <p:spPr>
          <a:xfrm>
            <a:off x="781050" y="2371725"/>
            <a:ext cx="66675" cy="866775"/>
          </a:xfrm>
          <a:prstGeom prst="rect">
            <a:avLst/>
          </a:prstGeom>
          <a:solidFill>
            <a:srgbClr val="3B6EBF"/>
          </a:solidFill>
          <a:ln cap="flat" cmpd="sng" w="9525">
            <a:solidFill>
              <a:srgbClr val="3B6EB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7" name="Google Shape;857;p17"/>
          <p:cNvSpPr/>
          <p:nvPr/>
        </p:nvSpPr>
        <p:spPr>
          <a:xfrm>
            <a:off x="962025" y="2533650"/>
            <a:ext cx="352425" cy="352425"/>
          </a:xfrm>
          <a:prstGeom prst="roundRect">
            <a:avLst>
              <a:gd fmla="val 21622" name="adj"/>
            </a:avLst>
          </a:prstGeom>
          <a:solidFill>
            <a:srgbClr val="E8EFF9"/>
          </a:solidFill>
          <a:ln cap="flat" cmpd="sng" w="9525">
            <a:solidFill>
              <a:srgbClr val="3B6EB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8" name="Google Shape;858;p17"/>
          <p:cNvSpPr/>
          <p:nvPr/>
        </p:nvSpPr>
        <p:spPr>
          <a:xfrm>
            <a:off x="962025" y="2562225"/>
            <a:ext cx="352425" cy="2667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3B6EBF"/>
              </a:buClr>
              <a:buSzPts val="975"/>
              <a:buFont typeface="Arial"/>
              <a:buNone/>
            </a:pPr>
            <a:r>
              <a:rPr b="1" lang="en-US" sz="975">
                <a:solidFill>
                  <a:srgbClr val="3B6EBF"/>
                </a:solidFill>
              </a:rPr>
              <a:t>01</a:t>
            </a:r>
            <a:endParaRPr/>
          </a:p>
        </p:txBody>
      </p:sp>
      <p:sp>
        <p:nvSpPr>
          <p:cNvPr id="859" name="Google Shape;859;p17"/>
          <p:cNvSpPr/>
          <p:nvPr/>
        </p:nvSpPr>
        <p:spPr>
          <a:xfrm>
            <a:off x="1428750" y="2486025"/>
            <a:ext cx="2038350" cy="2381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1200"/>
              <a:buFont typeface="Arial"/>
              <a:buNone/>
            </a:pPr>
            <a:r>
              <a:rPr b="1" lang="en-US" sz="1200">
                <a:solidFill>
                  <a:srgbClr val="1A1A2E"/>
                </a:solidFill>
              </a:rPr>
              <a:t>Implementation</a:t>
            </a:r>
            <a:endParaRPr/>
          </a:p>
        </p:txBody>
      </p:sp>
      <p:sp>
        <p:nvSpPr>
          <p:cNvPr id="860" name="Google Shape;860;p17"/>
          <p:cNvSpPr/>
          <p:nvPr/>
        </p:nvSpPr>
        <p:spPr>
          <a:xfrm>
            <a:off x="1428750" y="2743200"/>
            <a:ext cx="2038350" cy="4000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863"/>
              <a:buFont typeface="Arial"/>
              <a:buNone/>
            </a:pPr>
            <a:r>
              <a:rPr lang="en-US" sz="863">
                <a:solidFill>
                  <a:srgbClr val="666B70"/>
                </a:solidFill>
              </a:rPr>
              <a:t>v0.3.8 workflow JSONs · inventory · configuration notes</a:t>
            </a:r>
            <a:endParaRPr/>
          </a:p>
        </p:txBody>
      </p:sp>
      <p:sp>
        <p:nvSpPr>
          <p:cNvPr id="861" name="Google Shape;861;p17"/>
          <p:cNvSpPr/>
          <p:nvPr/>
        </p:nvSpPr>
        <p:spPr>
          <a:xfrm>
            <a:off x="3848100" y="2371725"/>
            <a:ext cx="2857500" cy="866775"/>
          </a:xfrm>
          <a:prstGeom prst="roundRect">
            <a:avLst>
              <a:gd fmla="val 8791" name="adj"/>
            </a:avLst>
          </a:prstGeom>
          <a:solidFill>
            <a:srgbClr val="FFFFFF"/>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2" name="Google Shape;862;p17"/>
          <p:cNvSpPr/>
          <p:nvPr/>
        </p:nvSpPr>
        <p:spPr>
          <a:xfrm>
            <a:off x="3848100" y="2371725"/>
            <a:ext cx="66675" cy="866775"/>
          </a:xfrm>
          <a:prstGeom prst="rect">
            <a:avLst/>
          </a:prstGeom>
          <a:solidFill>
            <a:srgbClr val="B85042"/>
          </a:solidFill>
          <a:ln cap="flat" cmpd="sng" w="9525">
            <a:solidFill>
              <a:srgbClr val="B8504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3" name="Google Shape;863;p17"/>
          <p:cNvSpPr/>
          <p:nvPr/>
        </p:nvSpPr>
        <p:spPr>
          <a:xfrm>
            <a:off x="4029075" y="2533650"/>
            <a:ext cx="352425" cy="352425"/>
          </a:xfrm>
          <a:prstGeom prst="roundRect">
            <a:avLst>
              <a:gd fmla="val 21622" name="adj"/>
            </a:avLst>
          </a:prstGeom>
          <a:solidFill>
            <a:srgbClr val="F3E6E2"/>
          </a:solidFill>
          <a:ln cap="flat" cmpd="sng" w="9525">
            <a:solidFill>
              <a:srgbClr val="B8504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4" name="Google Shape;864;p17"/>
          <p:cNvSpPr/>
          <p:nvPr/>
        </p:nvSpPr>
        <p:spPr>
          <a:xfrm>
            <a:off x="4029075" y="2562225"/>
            <a:ext cx="352425" cy="2667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B85042"/>
              </a:buClr>
              <a:buSzPts val="975"/>
              <a:buFont typeface="Arial"/>
              <a:buNone/>
            </a:pPr>
            <a:r>
              <a:rPr b="1" lang="en-US" sz="975">
                <a:solidFill>
                  <a:srgbClr val="B85042"/>
                </a:solidFill>
              </a:rPr>
              <a:t>02</a:t>
            </a:r>
            <a:endParaRPr/>
          </a:p>
        </p:txBody>
      </p:sp>
      <p:sp>
        <p:nvSpPr>
          <p:cNvPr id="865" name="Google Shape;865;p17"/>
          <p:cNvSpPr/>
          <p:nvPr/>
        </p:nvSpPr>
        <p:spPr>
          <a:xfrm>
            <a:off x="4495800" y="2486025"/>
            <a:ext cx="2038350" cy="2381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1200"/>
              <a:buFont typeface="Arial"/>
              <a:buNone/>
            </a:pPr>
            <a:r>
              <a:rPr b="1" lang="en-US" sz="1200">
                <a:solidFill>
                  <a:srgbClr val="1A1A2E"/>
                </a:solidFill>
              </a:rPr>
              <a:t>Written responses</a:t>
            </a:r>
            <a:endParaRPr/>
          </a:p>
        </p:txBody>
      </p:sp>
      <p:sp>
        <p:nvSpPr>
          <p:cNvPr id="866" name="Google Shape;866;p17"/>
          <p:cNvSpPr/>
          <p:nvPr/>
        </p:nvSpPr>
        <p:spPr>
          <a:xfrm>
            <a:off x="4495800" y="2743200"/>
            <a:ext cx="2038350" cy="4000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863"/>
              <a:buFont typeface="Arial"/>
              <a:buNone/>
            </a:pPr>
            <a:r>
              <a:rPr lang="en-US" sz="863">
                <a:solidFill>
                  <a:srgbClr val="666B70"/>
                </a:solidFill>
              </a:rPr>
              <a:t>Q1–Q4 PDFs / Markdown · README · rubric cross-reference</a:t>
            </a:r>
            <a:endParaRPr/>
          </a:p>
        </p:txBody>
      </p:sp>
      <p:sp>
        <p:nvSpPr>
          <p:cNvPr id="867" name="Google Shape;867;p17"/>
          <p:cNvSpPr/>
          <p:nvPr/>
        </p:nvSpPr>
        <p:spPr>
          <a:xfrm>
            <a:off x="781050" y="3429000"/>
            <a:ext cx="2857500" cy="866775"/>
          </a:xfrm>
          <a:prstGeom prst="roundRect">
            <a:avLst>
              <a:gd fmla="val 8791" name="adj"/>
            </a:avLst>
          </a:prstGeom>
          <a:solidFill>
            <a:srgbClr val="FFFFFF"/>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8" name="Google Shape;868;p17"/>
          <p:cNvSpPr/>
          <p:nvPr/>
        </p:nvSpPr>
        <p:spPr>
          <a:xfrm>
            <a:off x="781050" y="3429000"/>
            <a:ext cx="66675" cy="866775"/>
          </a:xfrm>
          <a:prstGeom prst="rect">
            <a:avLst/>
          </a:prstGeom>
          <a:solidFill>
            <a:srgbClr val="7546C8"/>
          </a:solidFill>
          <a:ln cap="flat" cmpd="sng" w="9525">
            <a:solidFill>
              <a:srgbClr val="7546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9" name="Google Shape;869;p17"/>
          <p:cNvSpPr/>
          <p:nvPr/>
        </p:nvSpPr>
        <p:spPr>
          <a:xfrm>
            <a:off x="962025" y="3590925"/>
            <a:ext cx="352425" cy="352425"/>
          </a:xfrm>
          <a:prstGeom prst="roundRect">
            <a:avLst>
              <a:gd fmla="val 21622" name="adj"/>
            </a:avLst>
          </a:prstGeom>
          <a:solidFill>
            <a:srgbClr val="F0EAFB"/>
          </a:solidFill>
          <a:ln cap="flat" cmpd="sng" w="9525">
            <a:solidFill>
              <a:srgbClr val="7546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0" name="Google Shape;870;p17"/>
          <p:cNvSpPr/>
          <p:nvPr/>
        </p:nvSpPr>
        <p:spPr>
          <a:xfrm>
            <a:off x="962025" y="3619500"/>
            <a:ext cx="352425" cy="2667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7546C8"/>
              </a:buClr>
              <a:buSzPts val="975"/>
              <a:buFont typeface="Arial"/>
              <a:buNone/>
            </a:pPr>
            <a:r>
              <a:rPr b="1" lang="en-US" sz="975">
                <a:solidFill>
                  <a:srgbClr val="7546C8"/>
                </a:solidFill>
              </a:rPr>
              <a:t>03</a:t>
            </a:r>
            <a:endParaRPr/>
          </a:p>
        </p:txBody>
      </p:sp>
      <p:sp>
        <p:nvSpPr>
          <p:cNvPr id="871" name="Google Shape;871;p17"/>
          <p:cNvSpPr/>
          <p:nvPr/>
        </p:nvSpPr>
        <p:spPr>
          <a:xfrm>
            <a:off x="1428750" y="3543300"/>
            <a:ext cx="2038350" cy="2381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1200"/>
              <a:buFont typeface="Arial"/>
              <a:buNone/>
            </a:pPr>
            <a:r>
              <a:rPr b="1" lang="en-US" sz="1200">
                <a:solidFill>
                  <a:srgbClr val="1A1A2E"/>
                </a:solidFill>
              </a:rPr>
              <a:t>Baseline testing</a:t>
            </a:r>
            <a:endParaRPr/>
          </a:p>
        </p:txBody>
      </p:sp>
      <p:sp>
        <p:nvSpPr>
          <p:cNvPr id="872" name="Google Shape;872;p17"/>
          <p:cNvSpPr/>
          <p:nvPr/>
        </p:nvSpPr>
        <p:spPr>
          <a:xfrm>
            <a:off x="1428750" y="3800475"/>
            <a:ext cx="2038350" cy="4000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863"/>
              <a:buFont typeface="Arial"/>
              <a:buNone/>
            </a:pPr>
            <a:r>
              <a:rPr lang="en-US" sz="863">
                <a:solidFill>
                  <a:srgbClr val="666B70"/>
                </a:solidFill>
              </a:rPr>
              <a:t>T1–T12 matrix · inputs · expected checks · result evidence</a:t>
            </a:r>
            <a:endParaRPr/>
          </a:p>
        </p:txBody>
      </p:sp>
      <p:sp>
        <p:nvSpPr>
          <p:cNvPr id="873" name="Google Shape;873;p17"/>
          <p:cNvSpPr/>
          <p:nvPr/>
        </p:nvSpPr>
        <p:spPr>
          <a:xfrm>
            <a:off x="3848100" y="3429000"/>
            <a:ext cx="2857500" cy="866775"/>
          </a:xfrm>
          <a:prstGeom prst="roundRect">
            <a:avLst>
              <a:gd fmla="val 8791" name="adj"/>
            </a:avLst>
          </a:prstGeom>
          <a:solidFill>
            <a:srgbClr val="FFFFFF"/>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4" name="Google Shape;874;p17"/>
          <p:cNvSpPr/>
          <p:nvPr/>
        </p:nvSpPr>
        <p:spPr>
          <a:xfrm>
            <a:off x="3848100" y="3429000"/>
            <a:ext cx="66675" cy="866775"/>
          </a:xfrm>
          <a:prstGeom prst="rect">
            <a:avLst/>
          </a:prstGeom>
          <a:solidFill>
            <a:srgbClr val="2F6F57"/>
          </a:solidFill>
          <a:ln cap="flat" cmpd="sng" w="9525">
            <a:solidFill>
              <a:srgbClr val="2F6F5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5" name="Google Shape;875;p17"/>
          <p:cNvSpPr/>
          <p:nvPr/>
        </p:nvSpPr>
        <p:spPr>
          <a:xfrm>
            <a:off x="4029075" y="3590925"/>
            <a:ext cx="352425" cy="352425"/>
          </a:xfrm>
          <a:prstGeom prst="roundRect">
            <a:avLst>
              <a:gd fmla="val 21622" name="adj"/>
            </a:avLst>
          </a:prstGeom>
          <a:solidFill>
            <a:srgbClr val="E6F0EB"/>
          </a:solidFill>
          <a:ln cap="flat" cmpd="sng" w="9525">
            <a:solidFill>
              <a:srgbClr val="2F6F5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6" name="Google Shape;876;p17"/>
          <p:cNvSpPr/>
          <p:nvPr/>
        </p:nvSpPr>
        <p:spPr>
          <a:xfrm>
            <a:off x="4029075" y="3619500"/>
            <a:ext cx="352425" cy="2667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F6F57"/>
              </a:buClr>
              <a:buSzPts val="975"/>
              <a:buFont typeface="Arial"/>
              <a:buNone/>
            </a:pPr>
            <a:r>
              <a:rPr b="1" lang="en-US" sz="975">
                <a:solidFill>
                  <a:srgbClr val="2F6F57"/>
                </a:solidFill>
              </a:rPr>
              <a:t>04</a:t>
            </a:r>
            <a:endParaRPr/>
          </a:p>
        </p:txBody>
      </p:sp>
      <p:sp>
        <p:nvSpPr>
          <p:cNvPr id="877" name="Google Shape;877;p17"/>
          <p:cNvSpPr/>
          <p:nvPr/>
        </p:nvSpPr>
        <p:spPr>
          <a:xfrm>
            <a:off x="4495800" y="3543300"/>
            <a:ext cx="2038350" cy="2381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1200"/>
              <a:buFont typeface="Arial"/>
              <a:buNone/>
            </a:pPr>
            <a:r>
              <a:rPr b="1" lang="en-US" sz="1200">
                <a:solidFill>
                  <a:srgbClr val="1A1A2E"/>
                </a:solidFill>
              </a:rPr>
              <a:t>Product outputs</a:t>
            </a:r>
            <a:endParaRPr/>
          </a:p>
        </p:txBody>
      </p:sp>
      <p:sp>
        <p:nvSpPr>
          <p:cNvPr id="878" name="Google Shape;878;p17"/>
          <p:cNvSpPr/>
          <p:nvPr/>
        </p:nvSpPr>
        <p:spPr>
          <a:xfrm>
            <a:off x="4495800" y="3800475"/>
            <a:ext cx="2038350" cy="4000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863"/>
              <a:buFont typeface="Arial"/>
              <a:buNone/>
            </a:pPr>
            <a:r>
              <a:rPr lang="en-US" sz="863">
                <a:solidFill>
                  <a:srgbClr val="666B70"/>
                </a:solidFill>
              </a:rPr>
              <a:t>Corrected PRD · Epic / Feature / Story · sizing report</a:t>
            </a:r>
            <a:endParaRPr/>
          </a:p>
        </p:txBody>
      </p:sp>
      <p:sp>
        <p:nvSpPr>
          <p:cNvPr id="879" name="Google Shape;879;p17"/>
          <p:cNvSpPr/>
          <p:nvPr/>
        </p:nvSpPr>
        <p:spPr>
          <a:xfrm>
            <a:off x="781050" y="4486275"/>
            <a:ext cx="2857500" cy="866775"/>
          </a:xfrm>
          <a:prstGeom prst="roundRect">
            <a:avLst>
              <a:gd fmla="val 8791" name="adj"/>
            </a:avLst>
          </a:prstGeom>
          <a:solidFill>
            <a:srgbClr val="FFFFFF"/>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0" name="Google Shape;880;p17"/>
          <p:cNvSpPr/>
          <p:nvPr/>
        </p:nvSpPr>
        <p:spPr>
          <a:xfrm>
            <a:off x="781050" y="4486275"/>
            <a:ext cx="66675" cy="866775"/>
          </a:xfrm>
          <a:prstGeom prst="rect">
            <a:avLst/>
          </a:prstGeom>
          <a:solidFill>
            <a:srgbClr val="3B6EBF"/>
          </a:solidFill>
          <a:ln cap="flat" cmpd="sng" w="9525">
            <a:solidFill>
              <a:srgbClr val="3B6EB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1" name="Google Shape;881;p17"/>
          <p:cNvSpPr/>
          <p:nvPr/>
        </p:nvSpPr>
        <p:spPr>
          <a:xfrm>
            <a:off x="962025" y="4648200"/>
            <a:ext cx="352425" cy="352425"/>
          </a:xfrm>
          <a:prstGeom prst="roundRect">
            <a:avLst>
              <a:gd fmla="val 21622" name="adj"/>
            </a:avLst>
          </a:prstGeom>
          <a:solidFill>
            <a:srgbClr val="E8EFF9"/>
          </a:solidFill>
          <a:ln cap="flat" cmpd="sng" w="9525">
            <a:solidFill>
              <a:srgbClr val="3B6EB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2" name="Google Shape;882;p17"/>
          <p:cNvSpPr/>
          <p:nvPr/>
        </p:nvSpPr>
        <p:spPr>
          <a:xfrm>
            <a:off x="962025" y="4676775"/>
            <a:ext cx="352425" cy="2667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3B6EBF"/>
              </a:buClr>
              <a:buSzPts val="975"/>
              <a:buFont typeface="Arial"/>
              <a:buNone/>
            </a:pPr>
            <a:r>
              <a:rPr b="1" lang="en-US" sz="975">
                <a:solidFill>
                  <a:srgbClr val="3B6EBF"/>
                </a:solidFill>
              </a:rPr>
              <a:t>05</a:t>
            </a:r>
            <a:endParaRPr/>
          </a:p>
        </p:txBody>
      </p:sp>
      <p:sp>
        <p:nvSpPr>
          <p:cNvPr id="883" name="Google Shape;883;p17"/>
          <p:cNvSpPr/>
          <p:nvPr/>
        </p:nvSpPr>
        <p:spPr>
          <a:xfrm>
            <a:off x="1428750" y="4600575"/>
            <a:ext cx="2038350" cy="2381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1200"/>
              <a:buFont typeface="Arial"/>
              <a:buNone/>
            </a:pPr>
            <a:r>
              <a:rPr b="1" lang="en-US" sz="1200">
                <a:solidFill>
                  <a:srgbClr val="1A1A2E"/>
                </a:solidFill>
              </a:rPr>
              <a:t>Runtime evidence</a:t>
            </a:r>
            <a:endParaRPr/>
          </a:p>
        </p:txBody>
      </p:sp>
      <p:sp>
        <p:nvSpPr>
          <p:cNvPr id="884" name="Google Shape;884;p17"/>
          <p:cNvSpPr/>
          <p:nvPr/>
        </p:nvSpPr>
        <p:spPr>
          <a:xfrm>
            <a:off x="1428750" y="4857750"/>
            <a:ext cx="2038350" cy="4000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863"/>
              <a:buFont typeface="Arial"/>
              <a:buNone/>
            </a:pPr>
            <a:r>
              <a:rPr lang="en-US" sz="863">
                <a:solidFill>
                  <a:srgbClr val="666B70"/>
                </a:solidFill>
              </a:rPr>
              <a:t>n8n IDs · Langfuse traces · scores · tokens · loaded cost</a:t>
            </a:r>
            <a:endParaRPr/>
          </a:p>
        </p:txBody>
      </p:sp>
      <p:sp>
        <p:nvSpPr>
          <p:cNvPr id="885" name="Google Shape;885;p17"/>
          <p:cNvSpPr/>
          <p:nvPr/>
        </p:nvSpPr>
        <p:spPr>
          <a:xfrm>
            <a:off x="3848100" y="4486275"/>
            <a:ext cx="2857500" cy="866775"/>
          </a:xfrm>
          <a:prstGeom prst="roundRect">
            <a:avLst>
              <a:gd fmla="val 8791" name="adj"/>
            </a:avLst>
          </a:prstGeom>
          <a:solidFill>
            <a:srgbClr val="FFFFFF"/>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6" name="Google Shape;886;p17"/>
          <p:cNvSpPr/>
          <p:nvPr/>
        </p:nvSpPr>
        <p:spPr>
          <a:xfrm>
            <a:off x="3848100" y="4486275"/>
            <a:ext cx="66675" cy="866775"/>
          </a:xfrm>
          <a:prstGeom prst="rect">
            <a:avLst/>
          </a:prstGeom>
          <a:solidFill>
            <a:srgbClr val="B85042"/>
          </a:solidFill>
          <a:ln cap="flat" cmpd="sng" w="9525">
            <a:solidFill>
              <a:srgbClr val="B8504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7" name="Google Shape;887;p17"/>
          <p:cNvSpPr/>
          <p:nvPr/>
        </p:nvSpPr>
        <p:spPr>
          <a:xfrm>
            <a:off x="4029075" y="4648200"/>
            <a:ext cx="352425" cy="352425"/>
          </a:xfrm>
          <a:prstGeom prst="roundRect">
            <a:avLst>
              <a:gd fmla="val 21622" name="adj"/>
            </a:avLst>
          </a:prstGeom>
          <a:solidFill>
            <a:srgbClr val="F3E6E2"/>
          </a:solidFill>
          <a:ln cap="flat" cmpd="sng" w="9525">
            <a:solidFill>
              <a:srgbClr val="B8504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8" name="Google Shape;888;p17"/>
          <p:cNvSpPr/>
          <p:nvPr/>
        </p:nvSpPr>
        <p:spPr>
          <a:xfrm>
            <a:off x="4029075" y="4676775"/>
            <a:ext cx="352425" cy="2667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B85042"/>
              </a:buClr>
              <a:buSzPts val="975"/>
              <a:buFont typeface="Arial"/>
              <a:buNone/>
            </a:pPr>
            <a:r>
              <a:rPr b="1" lang="en-US" sz="975">
                <a:solidFill>
                  <a:srgbClr val="B85042"/>
                </a:solidFill>
              </a:rPr>
              <a:t>06</a:t>
            </a:r>
            <a:endParaRPr/>
          </a:p>
        </p:txBody>
      </p:sp>
      <p:sp>
        <p:nvSpPr>
          <p:cNvPr id="889" name="Google Shape;889;p17"/>
          <p:cNvSpPr/>
          <p:nvPr/>
        </p:nvSpPr>
        <p:spPr>
          <a:xfrm>
            <a:off x="4495800" y="4600575"/>
            <a:ext cx="2038350" cy="2381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1200"/>
              <a:buFont typeface="Arial"/>
              <a:buNone/>
            </a:pPr>
            <a:r>
              <a:rPr b="1" lang="en-US" sz="1200">
                <a:solidFill>
                  <a:srgbClr val="1A1A2E"/>
                </a:solidFill>
              </a:rPr>
              <a:t>Presentation + demo</a:t>
            </a:r>
            <a:endParaRPr/>
          </a:p>
        </p:txBody>
      </p:sp>
      <p:sp>
        <p:nvSpPr>
          <p:cNvPr id="890" name="Google Shape;890;p17"/>
          <p:cNvSpPr/>
          <p:nvPr/>
        </p:nvSpPr>
        <p:spPr>
          <a:xfrm>
            <a:off x="4495800" y="4857750"/>
            <a:ext cx="2038350" cy="4000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863"/>
              <a:buFont typeface="Arial"/>
              <a:buNone/>
            </a:pPr>
            <a:r>
              <a:rPr lang="en-US" sz="863">
                <a:solidFill>
                  <a:srgbClr val="666B70"/>
                </a:solidFill>
              </a:rPr>
              <a:t>PPTX / PDF · five-minute execution and evidence walkthrough</a:t>
            </a:r>
            <a:endParaRPr/>
          </a:p>
        </p:txBody>
      </p:sp>
      <p:sp>
        <p:nvSpPr>
          <p:cNvPr id="891" name="Google Shape;891;p17"/>
          <p:cNvSpPr/>
          <p:nvPr/>
        </p:nvSpPr>
        <p:spPr>
          <a:xfrm>
            <a:off x="7229475" y="2047875"/>
            <a:ext cx="4181475" cy="3495675"/>
          </a:xfrm>
          <a:prstGeom prst="roundRect">
            <a:avLst>
              <a:gd fmla="val 2180" name="adj"/>
            </a:avLst>
          </a:prstGeom>
          <a:solidFill>
            <a:srgbClr val="FFFFFF"/>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2" name="Google Shape;892;p17"/>
          <p:cNvSpPr/>
          <p:nvPr/>
        </p:nvSpPr>
        <p:spPr>
          <a:xfrm>
            <a:off x="7229475" y="2047875"/>
            <a:ext cx="4181475" cy="76200"/>
          </a:xfrm>
          <a:prstGeom prst="rect">
            <a:avLst/>
          </a:prstGeom>
          <a:solidFill>
            <a:srgbClr val="2F6F57"/>
          </a:solidFill>
          <a:ln cap="flat" cmpd="sng" w="9525">
            <a:solidFill>
              <a:srgbClr val="2F6F5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3" name="Google Shape;893;p17"/>
          <p:cNvSpPr/>
          <p:nvPr/>
        </p:nvSpPr>
        <p:spPr>
          <a:xfrm>
            <a:off x="7496175" y="2305050"/>
            <a:ext cx="3619500" cy="2095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F6F57"/>
              </a:buClr>
              <a:buSzPts val="863"/>
              <a:buFont typeface="Arial"/>
              <a:buNone/>
            </a:pPr>
            <a:r>
              <a:rPr b="1" lang="en-US" sz="863">
                <a:solidFill>
                  <a:srgbClr val="2F6F57"/>
                </a:solidFill>
              </a:rPr>
              <a:t>WHAT A REVIEWER CAN VERIFY</a:t>
            </a:r>
            <a:endParaRPr/>
          </a:p>
        </p:txBody>
      </p:sp>
      <p:sp>
        <p:nvSpPr>
          <p:cNvPr id="894" name="Google Shape;894;p17"/>
          <p:cNvSpPr/>
          <p:nvPr/>
        </p:nvSpPr>
        <p:spPr>
          <a:xfrm>
            <a:off x="7496175" y="2590800"/>
            <a:ext cx="3619500" cy="5143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1875"/>
              <a:buFont typeface="Arial"/>
              <a:buNone/>
            </a:pPr>
            <a:r>
              <a:rPr b="1" lang="en-US" sz="1875">
                <a:solidFill>
                  <a:srgbClr val="1A1A2E"/>
                </a:solidFill>
              </a:rPr>
              <a:t>One path from rubric claim to evidence</a:t>
            </a:r>
            <a:endParaRPr/>
          </a:p>
        </p:txBody>
      </p:sp>
      <p:sp>
        <p:nvSpPr>
          <p:cNvPr id="895" name="Google Shape;895;p17"/>
          <p:cNvSpPr/>
          <p:nvPr/>
        </p:nvSpPr>
        <p:spPr>
          <a:xfrm>
            <a:off x="7515225" y="3267075"/>
            <a:ext cx="238125" cy="238125"/>
          </a:xfrm>
          <a:prstGeom prst="roundRect">
            <a:avLst>
              <a:gd fmla="val 32000" name="adj"/>
            </a:avLst>
          </a:prstGeom>
          <a:solidFill>
            <a:srgbClr val="E6F0EB"/>
          </a:solidFill>
          <a:ln cap="flat" cmpd="sng" w="9525">
            <a:solidFill>
              <a:srgbClr val="2F6F5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6" name="Google Shape;896;p17"/>
          <p:cNvSpPr/>
          <p:nvPr/>
        </p:nvSpPr>
        <p:spPr>
          <a:xfrm>
            <a:off x="7515225" y="3276600"/>
            <a:ext cx="238125" cy="190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F6F57"/>
              </a:buClr>
              <a:buSzPts val="900"/>
              <a:buFont typeface="Arial"/>
              <a:buNone/>
            </a:pPr>
            <a:r>
              <a:rPr b="1" lang="en-US" sz="900">
                <a:solidFill>
                  <a:srgbClr val="2F6F57"/>
                </a:solidFill>
              </a:rPr>
              <a:t>✓</a:t>
            </a:r>
            <a:endParaRPr/>
          </a:p>
        </p:txBody>
      </p:sp>
      <p:sp>
        <p:nvSpPr>
          <p:cNvPr id="897" name="Google Shape;897;p17"/>
          <p:cNvSpPr/>
          <p:nvPr/>
        </p:nvSpPr>
        <p:spPr>
          <a:xfrm>
            <a:off x="7886700" y="3228975"/>
            <a:ext cx="3200400" cy="21907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1050"/>
              <a:buFont typeface="Arial"/>
              <a:buNone/>
            </a:pPr>
            <a:r>
              <a:rPr b="1" lang="en-US" sz="1050">
                <a:solidFill>
                  <a:srgbClr val="1A1A2E"/>
                </a:solidFill>
              </a:rPr>
              <a:t>Rebuild the topology</a:t>
            </a:r>
            <a:endParaRPr/>
          </a:p>
        </p:txBody>
      </p:sp>
      <p:sp>
        <p:nvSpPr>
          <p:cNvPr id="898" name="Google Shape;898;p17"/>
          <p:cNvSpPr/>
          <p:nvPr/>
        </p:nvSpPr>
        <p:spPr>
          <a:xfrm>
            <a:off x="7886700" y="3429000"/>
            <a:ext cx="3200400" cy="2667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863"/>
              <a:buFont typeface="Arial"/>
              <a:buNone/>
            </a:pPr>
            <a:r>
              <a:rPr lang="en-US" sz="863">
                <a:solidFill>
                  <a:srgbClr val="666B70"/>
                </a:solidFill>
              </a:rPr>
              <a:t>Open the nine v0.3.8 workflow definitions and call graph.</a:t>
            </a:r>
            <a:endParaRPr/>
          </a:p>
        </p:txBody>
      </p:sp>
      <p:sp>
        <p:nvSpPr>
          <p:cNvPr id="899" name="Google Shape;899;p17"/>
          <p:cNvSpPr/>
          <p:nvPr/>
        </p:nvSpPr>
        <p:spPr>
          <a:xfrm>
            <a:off x="7515225" y="3790950"/>
            <a:ext cx="238125" cy="238125"/>
          </a:xfrm>
          <a:prstGeom prst="roundRect">
            <a:avLst>
              <a:gd fmla="val 32000" name="adj"/>
            </a:avLst>
          </a:prstGeom>
          <a:solidFill>
            <a:srgbClr val="E6F0EB"/>
          </a:solidFill>
          <a:ln cap="flat" cmpd="sng" w="9525">
            <a:solidFill>
              <a:srgbClr val="2F6F5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0" name="Google Shape;900;p17"/>
          <p:cNvSpPr/>
          <p:nvPr/>
        </p:nvSpPr>
        <p:spPr>
          <a:xfrm>
            <a:off x="7515225" y="3800475"/>
            <a:ext cx="238125" cy="190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F6F57"/>
              </a:buClr>
              <a:buSzPts val="900"/>
              <a:buFont typeface="Arial"/>
              <a:buNone/>
            </a:pPr>
            <a:r>
              <a:rPr b="1" lang="en-US" sz="900">
                <a:solidFill>
                  <a:srgbClr val="2F6F57"/>
                </a:solidFill>
              </a:rPr>
              <a:t>✓</a:t>
            </a:r>
            <a:endParaRPr/>
          </a:p>
        </p:txBody>
      </p:sp>
      <p:sp>
        <p:nvSpPr>
          <p:cNvPr id="901" name="Google Shape;901;p17"/>
          <p:cNvSpPr/>
          <p:nvPr/>
        </p:nvSpPr>
        <p:spPr>
          <a:xfrm>
            <a:off x="7886700" y="3752850"/>
            <a:ext cx="3200400" cy="21907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1050"/>
              <a:buFont typeface="Arial"/>
              <a:buNone/>
            </a:pPr>
            <a:r>
              <a:rPr b="1" lang="en-US" sz="1050">
                <a:solidFill>
                  <a:srgbClr val="1A1A2E"/>
                </a:solidFill>
              </a:rPr>
              <a:t>Inspect the accepted run</a:t>
            </a:r>
            <a:endParaRPr/>
          </a:p>
        </p:txBody>
      </p:sp>
      <p:sp>
        <p:nvSpPr>
          <p:cNvPr id="902" name="Google Shape;902;p17"/>
          <p:cNvSpPr/>
          <p:nvPr/>
        </p:nvSpPr>
        <p:spPr>
          <a:xfrm>
            <a:off x="7886700" y="3952875"/>
            <a:ext cx="3200400" cy="2667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863"/>
              <a:buFont typeface="Arial"/>
              <a:buNone/>
            </a:pPr>
            <a:r>
              <a:rPr lang="en-US" sz="863">
                <a:solidFill>
                  <a:srgbClr val="666B70"/>
                </a:solidFill>
              </a:rPr>
              <a:t>Resolve execution 11901 and RUN-S2-11902-16e7090e.</a:t>
            </a:r>
            <a:endParaRPr/>
          </a:p>
        </p:txBody>
      </p:sp>
      <p:sp>
        <p:nvSpPr>
          <p:cNvPr id="903" name="Google Shape;903;p17"/>
          <p:cNvSpPr/>
          <p:nvPr/>
        </p:nvSpPr>
        <p:spPr>
          <a:xfrm>
            <a:off x="7515225" y="4314825"/>
            <a:ext cx="238125" cy="238125"/>
          </a:xfrm>
          <a:prstGeom prst="roundRect">
            <a:avLst>
              <a:gd fmla="val 32000" name="adj"/>
            </a:avLst>
          </a:prstGeom>
          <a:solidFill>
            <a:srgbClr val="E6F0EB"/>
          </a:solidFill>
          <a:ln cap="flat" cmpd="sng" w="9525">
            <a:solidFill>
              <a:srgbClr val="2F6F5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4" name="Google Shape;904;p17"/>
          <p:cNvSpPr/>
          <p:nvPr/>
        </p:nvSpPr>
        <p:spPr>
          <a:xfrm>
            <a:off x="7515225" y="4324350"/>
            <a:ext cx="238125" cy="190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F6F57"/>
              </a:buClr>
              <a:buSzPts val="900"/>
              <a:buFont typeface="Arial"/>
              <a:buNone/>
            </a:pPr>
            <a:r>
              <a:rPr b="1" lang="en-US" sz="900">
                <a:solidFill>
                  <a:srgbClr val="2F6F57"/>
                </a:solidFill>
              </a:rPr>
              <a:t>✓</a:t>
            </a:r>
            <a:endParaRPr/>
          </a:p>
        </p:txBody>
      </p:sp>
      <p:sp>
        <p:nvSpPr>
          <p:cNvPr id="905" name="Google Shape;905;p17"/>
          <p:cNvSpPr/>
          <p:nvPr/>
        </p:nvSpPr>
        <p:spPr>
          <a:xfrm>
            <a:off x="7886700" y="4276725"/>
            <a:ext cx="3200400" cy="21907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1050"/>
              <a:buFont typeface="Arial"/>
              <a:buNone/>
            </a:pPr>
            <a:r>
              <a:rPr b="1" lang="en-US" sz="1050">
                <a:solidFill>
                  <a:srgbClr val="1A1A2E"/>
                </a:solidFill>
              </a:rPr>
              <a:t>Trace evidence to delivery</a:t>
            </a:r>
            <a:endParaRPr/>
          </a:p>
        </p:txBody>
      </p:sp>
      <p:sp>
        <p:nvSpPr>
          <p:cNvPr id="906" name="Google Shape;906;p17"/>
          <p:cNvSpPr/>
          <p:nvPr/>
        </p:nvSpPr>
        <p:spPr>
          <a:xfrm>
            <a:off x="7886700" y="4476750"/>
            <a:ext cx="3200400" cy="2667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863"/>
              <a:buFont typeface="Arial"/>
              <a:buNone/>
            </a:pPr>
            <a:r>
              <a:rPr lang="en-US" sz="863">
                <a:solidFill>
                  <a:srgbClr val="666B70"/>
                </a:solidFill>
              </a:rPr>
              <a:t>Follow source → citation → requirement → PRD → story.</a:t>
            </a:r>
            <a:endParaRPr/>
          </a:p>
        </p:txBody>
      </p:sp>
      <p:sp>
        <p:nvSpPr>
          <p:cNvPr id="907" name="Google Shape;907;p17"/>
          <p:cNvSpPr/>
          <p:nvPr/>
        </p:nvSpPr>
        <p:spPr>
          <a:xfrm>
            <a:off x="7515225" y="4838700"/>
            <a:ext cx="238125" cy="238125"/>
          </a:xfrm>
          <a:prstGeom prst="roundRect">
            <a:avLst>
              <a:gd fmla="val 32000" name="adj"/>
            </a:avLst>
          </a:prstGeom>
          <a:solidFill>
            <a:srgbClr val="E6F0EB"/>
          </a:solidFill>
          <a:ln cap="flat" cmpd="sng" w="9525">
            <a:solidFill>
              <a:srgbClr val="2F6F5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8" name="Google Shape;908;p17"/>
          <p:cNvSpPr/>
          <p:nvPr/>
        </p:nvSpPr>
        <p:spPr>
          <a:xfrm>
            <a:off x="7515225" y="4848225"/>
            <a:ext cx="238125" cy="190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F6F57"/>
              </a:buClr>
              <a:buSzPts val="900"/>
              <a:buFont typeface="Arial"/>
              <a:buNone/>
            </a:pPr>
            <a:r>
              <a:rPr b="1" lang="en-US" sz="900">
                <a:solidFill>
                  <a:srgbClr val="2F6F57"/>
                </a:solidFill>
              </a:rPr>
              <a:t>✓</a:t>
            </a:r>
            <a:endParaRPr/>
          </a:p>
        </p:txBody>
      </p:sp>
      <p:sp>
        <p:nvSpPr>
          <p:cNvPr id="909" name="Google Shape;909;p17"/>
          <p:cNvSpPr/>
          <p:nvPr/>
        </p:nvSpPr>
        <p:spPr>
          <a:xfrm>
            <a:off x="7886700" y="4800600"/>
            <a:ext cx="3200400" cy="21907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1050"/>
              <a:buFont typeface="Arial"/>
              <a:buNone/>
            </a:pPr>
            <a:r>
              <a:rPr b="1" lang="en-US" sz="1050">
                <a:solidFill>
                  <a:srgbClr val="1A1A2E"/>
                </a:solidFill>
              </a:rPr>
              <a:t>Validate quality and cost</a:t>
            </a:r>
            <a:endParaRPr/>
          </a:p>
        </p:txBody>
      </p:sp>
      <p:sp>
        <p:nvSpPr>
          <p:cNvPr id="910" name="Google Shape;910;p17"/>
          <p:cNvSpPr/>
          <p:nvPr/>
        </p:nvSpPr>
        <p:spPr>
          <a:xfrm>
            <a:off x="7886700" y="5000625"/>
            <a:ext cx="3200400" cy="2667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863"/>
              <a:buFont typeface="Arial"/>
              <a:buNone/>
            </a:pPr>
            <a:r>
              <a:rPr lang="en-US" sz="863">
                <a:solidFill>
                  <a:srgbClr val="666B70"/>
                </a:solidFill>
              </a:rPr>
              <a:t>Check evaluator results, 545,467 tokens, and $1.474409.</a:t>
            </a:r>
            <a:endParaRPr/>
          </a:p>
        </p:txBody>
      </p:sp>
      <p:sp>
        <p:nvSpPr>
          <p:cNvPr id="911" name="Google Shape;911;p17"/>
          <p:cNvSpPr/>
          <p:nvPr/>
        </p:nvSpPr>
        <p:spPr>
          <a:xfrm>
            <a:off x="7229475" y="5676900"/>
            <a:ext cx="4181475" cy="371475"/>
          </a:xfrm>
          <a:prstGeom prst="roundRect">
            <a:avLst>
              <a:gd fmla="val 20513" name="adj"/>
            </a:avLst>
          </a:prstGeom>
          <a:solidFill>
            <a:srgbClr val="F0EBE5"/>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2" name="Google Shape;912;p17"/>
          <p:cNvSpPr/>
          <p:nvPr/>
        </p:nvSpPr>
        <p:spPr>
          <a:xfrm>
            <a:off x="7429500" y="5743575"/>
            <a:ext cx="552450" cy="2095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F6F57"/>
              </a:buClr>
              <a:buSzPts val="825"/>
              <a:buFont typeface="Arial"/>
              <a:buNone/>
            </a:pPr>
            <a:r>
              <a:rPr b="1" lang="en-US" sz="825">
                <a:solidFill>
                  <a:srgbClr val="2F6F57"/>
                </a:solidFill>
              </a:rPr>
              <a:t>READY</a:t>
            </a:r>
            <a:endParaRPr/>
          </a:p>
        </p:txBody>
      </p:sp>
      <p:sp>
        <p:nvSpPr>
          <p:cNvPr id="913" name="Google Shape;913;p17"/>
          <p:cNvSpPr/>
          <p:nvPr/>
        </p:nvSpPr>
        <p:spPr>
          <a:xfrm>
            <a:off x="8010525" y="5734050"/>
            <a:ext cx="3190875" cy="21907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938"/>
              <a:buFont typeface="Arial"/>
              <a:buNone/>
            </a:pPr>
            <a:r>
              <a:rPr b="1" lang="en-US" sz="938">
                <a:solidFill>
                  <a:srgbClr val="1A1A2E"/>
                </a:solidFill>
              </a:rPr>
              <a:t>Evidence preserved locally and in platform records</a:t>
            </a:r>
            <a:endParaRPr/>
          </a:p>
        </p:txBody>
      </p:sp>
      <p:sp>
        <p:nvSpPr>
          <p:cNvPr id="914" name="Google Shape;914;p17"/>
          <p:cNvSpPr/>
          <p:nvPr/>
        </p:nvSpPr>
        <p:spPr>
          <a:xfrm>
            <a:off x="0" y="6172200"/>
            <a:ext cx="12192000" cy="685800"/>
          </a:xfrm>
          <a:prstGeom prst="rect">
            <a:avLst/>
          </a:prstGeom>
          <a:solidFill>
            <a:srgbClr val="1A1A2E"/>
          </a:solidFill>
          <a:ln cap="flat" cmpd="sng" w="9525">
            <a:solidFill>
              <a:srgbClr val="1A1A2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5" name="Google Shape;915;p17"/>
          <p:cNvSpPr/>
          <p:nvPr/>
        </p:nvSpPr>
        <p:spPr>
          <a:xfrm>
            <a:off x="781050" y="6267450"/>
            <a:ext cx="1905000" cy="2095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C9C6D8"/>
              </a:buClr>
              <a:buSzPts val="825"/>
              <a:buFont typeface="Arial"/>
              <a:buNone/>
            </a:pPr>
            <a:r>
              <a:rPr b="1" lang="en-US" sz="825">
                <a:solidFill>
                  <a:srgbClr val="C9C6D8"/>
                </a:solidFill>
              </a:rPr>
              <a:t>FINAL ASSEMBLY</a:t>
            </a:r>
            <a:endParaRPr/>
          </a:p>
        </p:txBody>
      </p:sp>
      <p:sp>
        <p:nvSpPr>
          <p:cNvPr id="916" name="Google Shape;916;p17"/>
          <p:cNvSpPr/>
          <p:nvPr/>
        </p:nvSpPr>
        <p:spPr>
          <a:xfrm>
            <a:off x="2647950" y="6267450"/>
            <a:ext cx="8763000" cy="4000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FFFFFF"/>
              </a:buClr>
              <a:buSzPts val="1275"/>
              <a:buFont typeface="Arial"/>
              <a:buNone/>
            </a:pPr>
            <a:r>
              <a:rPr b="1" lang="en-US" sz="1275">
                <a:solidFill>
                  <a:srgbClr val="FFFFFF"/>
                </a:solidFill>
              </a:rPr>
              <a:t>Publish the curated repository and accessible demo link without changing the accepted v0.3.8 evidence.</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4EE"/>
        </a:solidFill>
      </p:bgPr>
    </p:bg>
    <p:spTree>
      <p:nvGrpSpPr>
        <p:cNvPr id="921" name="Shape 921"/>
        <p:cNvGrpSpPr/>
        <p:nvPr/>
      </p:nvGrpSpPr>
      <p:grpSpPr>
        <a:xfrm>
          <a:off x="0" y="0"/>
          <a:ext cx="0" cy="0"/>
          <a:chOff x="0" y="0"/>
          <a:chExt cx="0" cy="0"/>
        </a:xfrm>
      </p:grpSpPr>
      <p:sp>
        <p:nvSpPr>
          <p:cNvPr id="922" name="Google Shape;922;p18"/>
          <p:cNvSpPr/>
          <p:nvPr/>
        </p:nvSpPr>
        <p:spPr>
          <a:xfrm>
            <a:off x="0" y="0"/>
            <a:ext cx="12192000" cy="76200"/>
          </a:xfrm>
          <a:prstGeom prst="rect">
            <a:avLst/>
          </a:prstGeom>
          <a:solidFill>
            <a:srgbClr val="B85042"/>
          </a:solidFill>
          <a:ln cap="flat" cmpd="sng" w="9525">
            <a:solidFill>
              <a:srgbClr val="B8504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3" name="Google Shape;923;p18"/>
          <p:cNvSpPr/>
          <p:nvPr/>
        </p:nvSpPr>
        <p:spPr>
          <a:xfrm>
            <a:off x="781050" y="552450"/>
            <a:ext cx="5715000" cy="2667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B85042"/>
              </a:buClr>
              <a:buSzPts val="975"/>
              <a:buFont typeface="Arial"/>
              <a:buNone/>
            </a:pPr>
            <a:r>
              <a:rPr b="1" lang="en-US" sz="975">
                <a:solidFill>
                  <a:srgbClr val="B85042"/>
                </a:solidFill>
              </a:rPr>
              <a:t>18  ·  RECOMMENDATION</a:t>
            </a:r>
            <a:endParaRPr/>
          </a:p>
        </p:txBody>
      </p:sp>
      <p:sp>
        <p:nvSpPr>
          <p:cNvPr id="924" name="Google Shape;924;p18"/>
          <p:cNvSpPr/>
          <p:nvPr/>
        </p:nvSpPr>
        <p:spPr>
          <a:xfrm>
            <a:off x="781050" y="895350"/>
            <a:ext cx="10629900" cy="60007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2850"/>
              <a:buFont typeface="Arial"/>
              <a:buNone/>
            </a:pPr>
            <a:r>
              <a:rPr b="1" lang="en-US" sz="2850">
                <a:solidFill>
                  <a:srgbClr val="1A1A2E"/>
                </a:solidFill>
              </a:rPr>
              <a:t>PRD Orchestrator is ready for governed use</a:t>
            </a:r>
            <a:endParaRPr/>
          </a:p>
        </p:txBody>
      </p:sp>
      <p:sp>
        <p:nvSpPr>
          <p:cNvPr id="925" name="Google Shape;925;p18"/>
          <p:cNvSpPr/>
          <p:nvPr/>
        </p:nvSpPr>
        <p:spPr>
          <a:xfrm>
            <a:off x="1447800" y="1581150"/>
            <a:ext cx="9296400" cy="52387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1350"/>
              <a:buFont typeface="Arial"/>
              <a:buNone/>
            </a:pPr>
            <a:r>
              <a:rPr lang="en-US" sz="1350">
                <a:solidFill>
                  <a:srgbClr val="666B70"/>
                </a:solidFill>
              </a:rPr>
              <a:t>The accepted v0.3.8 candidate converts fragmented source evidence into planning-ready artifacts without losing control of provenance, quality, or release.</a:t>
            </a:r>
            <a:endParaRPr/>
          </a:p>
        </p:txBody>
      </p:sp>
      <p:sp>
        <p:nvSpPr>
          <p:cNvPr id="926" name="Google Shape;926;p18"/>
          <p:cNvSpPr/>
          <p:nvPr/>
        </p:nvSpPr>
        <p:spPr>
          <a:xfrm>
            <a:off x="781050" y="2343150"/>
            <a:ext cx="10629900" cy="1162050"/>
          </a:xfrm>
          <a:prstGeom prst="roundRect">
            <a:avLst>
              <a:gd fmla="val 6557" name="adj"/>
            </a:avLst>
          </a:prstGeom>
          <a:solidFill>
            <a:srgbClr val="1A1A2E"/>
          </a:solidFill>
          <a:ln cap="flat" cmpd="sng" w="9525">
            <a:solidFill>
              <a:srgbClr val="1A1A2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7" name="Google Shape;927;p18"/>
          <p:cNvSpPr/>
          <p:nvPr/>
        </p:nvSpPr>
        <p:spPr>
          <a:xfrm>
            <a:off x="1095375" y="2543175"/>
            <a:ext cx="2000250" cy="2095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C9C6D8"/>
              </a:buClr>
              <a:buSzPts val="863"/>
              <a:buFont typeface="Arial"/>
              <a:buNone/>
            </a:pPr>
            <a:r>
              <a:rPr b="1" lang="en-US" sz="863">
                <a:solidFill>
                  <a:srgbClr val="C9C6D8"/>
                </a:solidFill>
              </a:rPr>
              <a:t>RECOMMENDATION</a:t>
            </a:r>
            <a:endParaRPr/>
          </a:p>
        </p:txBody>
      </p:sp>
      <p:sp>
        <p:nvSpPr>
          <p:cNvPr id="928" name="Google Shape;928;p18"/>
          <p:cNvSpPr/>
          <p:nvPr/>
        </p:nvSpPr>
        <p:spPr>
          <a:xfrm>
            <a:off x="2047875" y="2695575"/>
            <a:ext cx="8096250" cy="5810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FFFFFF"/>
              </a:buClr>
              <a:buSzPts val="1875"/>
              <a:buFont typeface="Arial"/>
              <a:buNone/>
            </a:pPr>
            <a:r>
              <a:rPr b="1" lang="en-US" sz="1875">
                <a:solidFill>
                  <a:srgbClr val="FFFFFF"/>
                </a:solidFill>
              </a:rPr>
              <a:t>Accept v0.3.8 as the submission candidate and preserve v0.3.7 as the protected rollback checkpoint.</a:t>
            </a:r>
            <a:endParaRPr/>
          </a:p>
        </p:txBody>
      </p:sp>
      <p:sp>
        <p:nvSpPr>
          <p:cNvPr id="929" name="Google Shape;929;p18"/>
          <p:cNvSpPr/>
          <p:nvPr/>
        </p:nvSpPr>
        <p:spPr>
          <a:xfrm>
            <a:off x="781050" y="3781425"/>
            <a:ext cx="3276600" cy="1657350"/>
          </a:xfrm>
          <a:prstGeom prst="roundRect">
            <a:avLst>
              <a:gd fmla="val 4598" name="adj"/>
            </a:avLst>
          </a:prstGeom>
          <a:solidFill>
            <a:srgbClr val="FFFFFF"/>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0" name="Google Shape;930;p18"/>
          <p:cNvSpPr/>
          <p:nvPr/>
        </p:nvSpPr>
        <p:spPr>
          <a:xfrm>
            <a:off x="781050" y="3781425"/>
            <a:ext cx="3276600" cy="66675"/>
          </a:xfrm>
          <a:prstGeom prst="rect">
            <a:avLst/>
          </a:prstGeom>
          <a:solidFill>
            <a:srgbClr val="3B6EBF"/>
          </a:solidFill>
          <a:ln cap="flat" cmpd="sng" w="9525">
            <a:solidFill>
              <a:srgbClr val="3B6EB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1" name="Google Shape;931;p18"/>
          <p:cNvSpPr/>
          <p:nvPr/>
        </p:nvSpPr>
        <p:spPr>
          <a:xfrm>
            <a:off x="1009650" y="4010025"/>
            <a:ext cx="400050" cy="400050"/>
          </a:xfrm>
          <a:prstGeom prst="roundRect">
            <a:avLst>
              <a:gd fmla="val 19048" name="adj"/>
            </a:avLst>
          </a:prstGeom>
          <a:solidFill>
            <a:srgbClr val="E8EFF9"/>
          </a:solidFill>
          <a:ln cap="flat" cmpd="sng" w="9525">
            <a:solidFill>
              <a:srgbClr val="3B6EB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2" name="Google Shape;932;p18"/>
          <p:cNvSpPr/>
          <p:nvPr/>
        </p:nvSpPr>
        <p:spPr>
          <a:xfrm>
            <a:off x="1009650" y="4076700"/>
            <a:ext cx="400050" cy="2476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3B6EBF"/>
              </a:buClr>
              <a:buSzPts val="975"/>
              <a:buFont typeface="Arial"/>
              <a:buNone/>
            </a:pPr>
            <a:r>
              <a:rPr b="1" lang="en-US" sz="975">
                <a:solidFill>
                  <a:srgbClr val="3B6EBF"/>
                </a:solidFill>
              </a:rPr>
              <a:t>01</a:t>
            </a:r>
            <a:endParaRPr/>
          </a:p>
        </p:txBody>
      </p:sp>
      <p:sp>
        <p:nvSpPr>
          <p:cNvPr id="933" name="Google Shape;933;p18"/>
          <p:cNvSpPr/>
          <p:nvPr/>
        </p:nvSpPr>
        <p:spPr>
          <a:xfrm>
            <a:off x="1562100" y="3981450"/>
            <a:ext cx="2238375" cy="4572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1350"/>
              <a:buFont typeface="Arial"/>
              <a:buNone/>
            </a:pPr>
            <a:r>
              <a:rPr b="1" lang="en-US" sz="1350">
                <a:solidFill>
                  <a:srgbClr val="1A1A2E"/>
                </a:solidFill>
              </a:rPr>
              <a:t>Evidence remains connected</a:t>
            </a:r>
            <a:endParaRPr/>
          </a:p>
        </p:txBody>
      </p:sp>
      <p:sp>
        <p:nvSpPr>
          <p:cNvPr id="934" name="Google Shape;934;p18"/>
          <p:cNvSpPr/>
          <p:nvPr/>
        </p:nvSpPr>
        <p:spPr>
          <a:xfrm>
            <a:off x="1009650" y="4572000"/>
            <a:ext cx="2819400" cy="6667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938"/>
              <a:buFont typeface="Arial"/>
              <a:buNone/>
            </a:pPr>
            <a:r>
              <a:rPr lang="en-US" sz="938">
                <a:solidFill>
                  <a:srgbClr val="666B70"/>
                </a:solidFill>
              </a:rPr>
              <a:t>145 indexed citations resolve to terminal dispositions with zero orphan citations, PRD elements, or delivery items.</a:t>
            </a:r>
            <a:endParaRPr/>
          </a:p>
        </p:txBody>
      </p:sp>
      <p:sp>
        <p:nvSpPr>
          <p:cNvPr id="935" name="Google Shape;935;p18"/>
          <p:cNvSpPr/>
          <p:nvPr/>
        </p:nvSpPr>
        <p:spPr>
          <a:xfrm>
            <a:off x="4362450" y="3781425"/>
            <a:ext cx="3276600" cy="1657350"/>
          </a:xfrm>
          <a:prstGeom prst="roundRect">
            <a:avLst>
              <a:gd fmla="val 4598" name="adj"/>
            </a:avLst>
          </a:prstGeom>
          <a:solidFill>
            <a:srgbClr val="FFFFFF"/>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6" name="Google Shape;936;p18"/>
          <p:cNvSpPr/>
          <p:nvPr/>
        </p:nvSpPr>
        <p:spPr>
          <a:xfrm>
            <a:off x="4362450" y="3781425"/>
            <a:ext cx="3276600" cy="66675"/>
          </a:xfrm>
          <a:prstGeom prst="rect">
            <a:avLst/>
          </a:prstGeom>
          <a:solidFill>
            <a:srgbClr val="2F6F57"/>
          </a:solidFill>
          <a:ln cap="flat" cmpd="sng" w="9525">
            <a:solidFill>
              <a:srgbClr val="2F6F5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7" name="Google Shape;937;p18"/>
          <p:cNvSpPr/>
          <p:nvPr/>
        </p:nvSpPr>
        <p:spPr>
          <a:xfrm>
            <a:off x="4591050" y="4010025"/>
            <a:ext cx="400050" cy="400050"/>
          </a:xfrm>
          <a:prstGeom prst="roundRect">
            <a:avLst>
              <a:gd fmla="val 19048" name="adj"/>
            </a:avLst>
          </a:prstGeom>
          <a:solidFill>
            <a:srgbClr val="E6F0EB"/>
          </a:solidFill>
          <a:ln cap="flat" cmpd="sng" w="9525">
            <a:solidFill>
              <a:srgbClr val="2F6F5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8" name="Google Shape;938;p18"/>
          <p:cNvSpPr/>
          <p:nvPr/>
        </p:nvSpPr>
        <p:spPr>
          <a:xfrm>
            <a:off x="4591050" y="4076700"/>
            <a:ext cx="400050" cy="2476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F6F57"/>
              </a:buClr>
              <a:buSzPts val="975"/>
              <a:buFont typeface="Arial"/>
              <a:buNone/>
            </a:pPr>
            <a:r>
              <a:rPr b="1" lang="en-US" sz="975">
                <a:solidFill>
                  <a:srgbClr val="2F6F57"/>
                </a:solidFill>
              </a:rPr>
              <a:t>02</a:t>
            </a:r>
            <a:endParaRPr/>
          </a:p>
        </p:txBody>
      </p:sp>
      <p:sp>
        <p:nvSpPr>
          <p:cNvPr id="939" name="Google Shape;939;p18"/>
          <p:cNvSpPr/>
          <p:nvPr/>
        </p:nvSpPr>
        <p:spPr>
          <a:xfrm>
            <a:off x="5143500" y="3981450"/>
            <a:ext cx="2238375" cy="4572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1350"/>
              <a:buFont typeface="Arial"/>
              <a:buNone/>
            </a:pPr>
            <a:r>
              <a:rPr b="1" lang="en-US" sz="1350">
                <a:solidFill>
                  <a:srgbClr val="1A1A2E"/>
                </a:solidFill>
              </a:rPr>
              <a:t>Release remains controlled</a:t>
            </a:r>
            <a:endParaRPr/>
          </a:p>
        </p:txBody>
      </p:sp>
      <p:sp>
        <p:nvSpPr>
          <p:cNvPr id="940" name="Google Shape;940;p18"/>
          <p:cNvSpPr/>
          <p:nvPr/>
        </p:nvSpPr>
        <p:spPr>
          <a:xfrm>
            <a:off x="4591050" y="4572000"/>
            <a:ext cx="2819400" cy="6667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938"/>
              <a:buFont typeface="Arial"/>
              <a:buNone/>
            </a:pPr>
            <a:r>
              <a:rPr lang="en-US" sz="938">
                <a:solidFill>
                  <a:srgbClr val="666B70"/>
                </a:solidFill>
              </a:rPr>
              <a:t>Human approval, deterministic controls, semantic evaluation, and the Agreement Gate authorize export only after reconciliation.</a:t>
            </a:r>
            <a:endParaRPr/>
          </a:p>
        </p:txBody>
      </p:sp>
      <p:sp>
        <p:nvSpPr>
          <p:cNvPr id="941" name="Google Shape;941;p18"/>
          <p:cNvSpPr/>
          <p:nvPr/>
        </p:nvSpPr>
        <p:spPr>
          <a:xfrm>
            <a:off x="7943850" y="3781425"/>
            <a:ext cx="3276600" cy="1657350"/>
          </a:xfrm>
          <a:prstGeom prst="roundRect">
            <a:avLst>
              <a:gd fmla="val 4598" name="adj"/>
            </a:avLst>
          </a:prstGeom>
          <a:solidFill>
            <a:srgbClr val="FFFFFF"/>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2" name="Google Shape;942;p18"/>
          <p:cNvSpPr/>
          <p:nvPr/>
        </p:nvSpPr>
        <p:spPr>
          <a:xfrm>
            <a:off x="7943850" y="3781425"/>
            <a:ext cx="3276600" cy="66675"/>
          </a:xfrm>
          <a:prstGeom prst="rect">
            <a:avLst/>
          </a:prstGeom>
          <a:solidFill>
            <a:srgbClr val="7546C8"/>
          </a:solidFill>
          <a:ln cap="flat" cmpd="sng" w="9525">
            <a:solidFill>
              <a:srgbClr val="7546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3" name="Google Shape;943;p18"/>
          <p:cNvSpPr/>
          <p:nvPr/>
        </p:nvSpPr>
        <p:spPr>
          <a:xfrm>
            <a:off x="8172450" y="4010025"/>
            <a:ext cx="400050" cy="400050"/>
          </a:xfrm>
          <a:prstGeom prst="roundRect">
            <a:avLst>
              <a:gd fmla="val 19048" name="adj"/>
            </a:avLst>
          </a:prstGeom>
          <a:solidFill>
            <a:srgbClr val="F0EAFB"/>
          </a:solidFill>
          <a:ln cap="flat" cmpd="sng" w="9525">
            <a:solidFill>
              <a:srgbClr val="7546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4" name="Google Shape;944;p18"/>
          <p:cNvSpPr/>
          <p:nvPr/>
        </p:nvSpPr>
        <p:spPr>
          <a:xfrm>
            <a:off x="8172450" y="4076700"/>
            <a:ext cx="400050" cy="2476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7546C8"/>
              </a:buClr>
              <a:buSzPts val="975"/>
              <a:buFont typeface="Arial"/>
              <a:buNone/>
            </a:pPr>
            <a:r>
              <a:rPr b="1" lang="en-US" sz="975">
                <a:solidFill>
                  <a:srgbClr val="7546C8"/>
                </a:solidFill>
              </a:rPr>
              <a:t>03</a:t>
            </a:r>
            <a:endParaRPr/>
          </a:p>
        </p:txBody>
      </p:sp>
      <p:sp>
        <p:nvSpPr>
          <p:cNvPr id="945" name="Google Shape;945;p18"/>
          <p:cNvSpPr/>
          <p:nvPr/>
        </p:nvSpPr>
        <p:spPr>
          <a:xfrm>
            <a:off x="8724900" y="3981450"/>
            <a:ext cx="2238375" cy="4572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1350"/>
              <a:buFont typeface="Arial"/>
              <a:buNone/>
            </a:pPr>
            <a:r>
              <a:rPr b="1" lang="en-US" sz="1350">
                <a:solidFill>
                  <a:srgbClr val="1A1A2E"/>
                </a:solidFill>
              </a:rPr>
              <a:t>Outputs are planning-ready</a:t>
            </a:r>
            <a:endParaRPr/>
          </a:p>
        </p:txBody>
      </p:sp>
      <p:sp>
        <p:nvSpPr>
          <p:cNvPr id="946" name="Google Shape;946;p18"/>
          <p:cNvSpPr/>
          <p:nvPr/>
        </p:nvSpPr>
        <p:spPr>
          <a:xfrm>
            <a:off x="8172450" y="4572000"/>
            <a:ext cx="2819400" cy="6667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938"/>
              <a:buFont typeface="Arial"/>
              <a:buNone/>
            </a:pPr>
            <a:r>
              <a:rPr lang="en-US" sz="938">
                <a:solidFill>
                  <a:srgbClr val="666B70"/>
                </a:solidFill>
              </a:rPr>
              <a:t>One accepted run delivers the corrected PRD, Epic / Feature / Story breakdown, and advisory 11/11 sizing evidence.</a:t>
            </a:r>
            <a:endParaRPr/>
          </a:p>
        </p:txBody>
      </p:sp>
      <p:sp>
        <p:nvSpPr>
          <p:cNvPr id="947" name="Google Shape;947;p18"/>
          <p:cNvSpPr/>
          <p:nvPr/>
        </p:nvSpPr>
        <p:spPr>
          <a:xfrm>
            <a:off x="2952750" y="5648325"/>
            <a:ext cx="6286500" cy="371475"/>
          </a:xfrm>
          <a:prstGeom prst="roundRect">
            <a:avLst>
              <a:gd fmla="val 20513" name="adj"/>
            </a:avLst>
          </a:prstGeom>
          <a:solidFill>
            <a:srgbClr val="E6F0EB"/>
          </a:solidFill>
          <a:ln cap="flat" cmpd="sng" w="9525">
            <a:solidFill>
              <a:srgbClr val="2F6F5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8" name="Google Shape;948;p18"/>
          <p:cNvSpPr/>
          <p:nvPr/>
        </p:nvSpPr>
        <p:spPr>
          <a:xfrm>
            <a:off x="3143250" y="5724525"/>
            <a:ext cx="1066800" cy="2000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F6F57"/>
              </a:buClr>
              <a:buSzPts val="788"/>
              <a:buFont typeface="Arial"/>
              <a:buNone/>
            </a:pPr>
            <a:r>
              <a:rPr b="1" lang="en-US" sz="788">
                <a:solidFill>
                  <a:srgbClr val="2F6F57"/>
                </a:solidFill>
              </a:rPr>
              <a:t>ACCEPTED RUN</a:t>
            </a:r>
            <a:endParaRPr/>
          </a:p>
        </p:txBody>
      </p:sp>
      <p:sp>
        <p:nvSpPr>
          <p:cNvPr id="949" name="Google Shape;949;p18"/>
          <p:cNvSpPr/>
          <p:nvPr/>
        </p:nvSpPr>
        <p:spPr>
          <a:xfrm>
            <a:off x="4257675" y="5715000"/>
            <a:ext cx="4762500" cy="2095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938"/>
              <a:buFont typeface="Arial"/>
              <a:buNone/>
            </a:pPr>
            <a:r>
              <a:rPr b="1" lang="en-US" sz="938">
                <a:solidFill>
                  <a:srgbClr val="1A1A2E"/>
                </a:solidFill>
              </a:rPr>
              <a:t>11901  ·  Agreement Gate authorized  ·  7 artifacts  ·  sizing 11/11</a:t>
            </a:r>
            <a:endParaRPr/>
          </a:p>
        </p:txBody>
      </p:sp>
      <p:sp>
        <p:nvSpPr>
          <p:cNvPr id="950" name="Google Shape;950;p18"/>
          <p:cNvSpPr/>
          <p:nvPr/>
        </p:nvSpPr>
        <p:spPr>
          <a:xfrm>
            <a:off x="0" y="6172200"/>
            <a:ext cx="12192000" cy="685800"/>
          </a:xfrm>
          <a:prstGeom prst="rect">
            <a:avLst/>
          </a:prstGeom>
          <a:solidFill>
            <a:srgbClr val="1A1A2E"/>
          </a:solidFill>
          <a:ln cap="flat" cmpd="sng" w="9525">
            <a:solidFill>
              <a:srgbClr val="1A1A2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1" name="Google Shape;951;p18"/>
          <p:cNvSpPr/>
          <p:nvPr/>
        </p:nvSpPr>
        <p:spPr>
          <a:xfrm>
            <a:off x="781050" y="6267450"/>
            <a:ext cx="2286000" cy="2095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C9C6D8"/>
              </a:buClr>
              <a:buSzPts val="825"/>
              <a:buFont typeface="Arial"/>
              <a:buNone/>
            </a:pPr>
            <a:r>
              <a:rPr b="1" lang="en-US" sz="825">
                <a:solidFill>
                  <a:srgbClr val="C9C6D8"/>
                </a:solidFill>
              </a:rPr>
              <a:t>PRD ORCHESTRATOR</a:t>
            </a:r>
            <a:endParaRPr/>
          </a:p>
        </p:txBody>
      </p:sp>
      <p:sp>
        <p:nvSpPr>
          <p:cNvPr id="952" name="Google Shape;952;p18"/>
          <p:cNvSpPr/>
          <p:nvPr/>
        </p:nvSpPr>
        <p:spPr>
          <a:xfrm>
            <a:off x="2857500" y="6267450"/>
            <a:ext cx="7048500" cy="4000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FFFFFF"/>
              </a:buClr>
              <a:buSzPts val="1425"/>
              <a:buFont typeface="Arial"/>
              <a:buNone/>
            </a:pPr>
            <a:r>
              <a:rPr b="1" lang="en-US" sz="1425">
                <a:solidFill>
                  <a:srgbClr val="FFFFFF"/>
                </a:solidFill>
              </a:rPr>
              <a:t>From source evidence to governed delivery—one traceable run at a time.</a:t>
            </a:r>
            <a:endParaRPr/>
          </a:p>
        </p:txBody>
      </p:sp>
      <p:sp>
        <p:nvSpPr>
          <p:cNvPr id="953" name="Google Shape;953;p18"/>
          <p:cNvSpPr/>
          <p:nvPr/>
        </p:nvSpPr>
        <p:spPr>
          <a:xfrm>
            <a:off x="10001250" y="6267450"/>
            <a:ext cx="1409700" cy="4000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B85042"/>
              </a:buClr>
              <a:buSzPts val="1125"/>
              <a:buFont typeface="Arial"/>
              <a:buNone/>
            </a:pPr>
            <a:r>
              <a:rPr b="1" lang="en-US" sz="1125">
                <a:solidFill>
                  <a:srgbClr val="B85042"/>
                </a:solidFill>
              </a:rPr>
              <a:t>Thank you</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4EE"/>
        </a:solidFill>
      </p:bgPr>
    </p:bg>
    <p:spTree>
      <p:nvGrpSpPr>
        <p:cNvPr id="958" name="Shape 958"/>
        <p:cNvGrpSpPr/>
        <p:nvPr/>
      </p:nvGrpSpPr>
      <p:grpSpPr>
        <a:xfrm>
          <a:off x="0" y="0"/>
          <a:ext cx="0" cy="0"/>
          <a:chOff x="0" y="0"/>
          <a:chExt cx="0" cy="0"/>
        </a:xfrm>
      </p:grpSpPr>
      <p:sp>
        <p:nvSpPr>
          <p:cNvPr id="959" name="Google Shape;959;p19"/>
          <p:cNvSpPr/>
          <p:nvPr/>
        </p:nvSpPr>
        <p:spPr>
          <a:xfrm>
            <a:off x="0" y="0"/>
            <a:ext cx="12192000" cy="95250"/>
          </a:xfrm>
          <a:prstGeom prst="rect">
            <a:avLst/>
          </a:prstGeom>
          <a:solidFill>
            <a:srgbClr val="B85042"/>
          </a:solidFill>
          <a:ln cap="flat" cmpd="sng" w="9525">
            <a:solidFill>
              <a:srgbClr val="B8504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0" name="Google Shape;960;p19"/>
          <p:cNvSpPr/>
          <p:nvPr/>
        </p:nvSpPr>
        <p:spPr>
          <a:xfrm>
            <a:off x="781050" y="1133475"/>
            <a:ext cx="76200" cy="2133600"/>
          </a:xfrm>
          <a:prstGeom prst="rect">
            <a:avLst/>
          </a:prstGeom>
          <a:solidFill>
            <a:srgbClr val="B85042"/>
          </a:solidFill>
          <a:ln cap="flat" cmpd="sng" w="9525">
            <a:solidFill>
              <a:srgbClr val="B8504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1" name="Google Shape;961;p19"/>
          <p:cNvSpPr/>
          <p:nvPr/>
        </p:nvSpPr>
        <p:spPr>
          <a:xfrm>
            <a:off x="1162050" y="1076325"/>
            <a:ext cx="7239000" cy="3238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B85042"/>
              </a:buClr>
              <a:buSzPts val="1275"/>
              <a:buFont typeface="Arial"/>
              <a:buNone/>
            </a:pPr>
            <a:r>
              <a:rPr b="1" lang="en-US" sz="1275">
                <a:solidFill>
                  <a:srgbClr val="B85042"/>
                </a:solidFill>
              </a:rPr>
              <a:t>SUPPORTING EVIDENCE</a:t>
            </a:r>
            <a:endParaRPr/>
          </a:p>
        </p:txBody>
      </p:sp>
      <p:sp>
        <p:nvSpPr>
          <p:cNvPr id="962" name="Google Shape;962;p19"/>
          <p:cNvSpPr/>
          <p:nvPr/>
        </p:nvSpPr>
        <p:spPr>
          <a:xfrm>
            <a:off x="1162050" y="1476375"/>
            <a:ext cx="8001000" cy="8763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4350"/>
              <a:buFont typeface="Arial"/>
              <a:buNone/>
            </a:pPr>
            <a:r>
              <a:rPr b="1" lang="en-US" sz="4350">
                <a:solidFill>
                  <a:srgbClr val="1A1A2E"/>
                </a:solidFill>
              </a:rPr>
              <a:t>Appendix</a:t>
            </a:r>
            <a:endParaRPr/>
          </a:p>
        </p:txBody>
      </p:sp>
      <p:sp>
        <p:nvSpPr>
          <p:cNvPr id="963" name="Google Shape;963;p19"/>
          <p:cNvSpPr/>
          <p:nvPr/>
        </p:nvSpPr>
        <p:spPr>
          <a:xfrm>
            <a:off x="1162050" y="2428875"/>
            <a:ext cx="8667750" cy="6858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1725"/>
              <a:buFont typeface="Arial"/>
              <a:buNone/>
            </a:pPr>
            <a:r>
              <a:rPr lang="en-US" sz="1725">
                <a:solidFill>
                  <a:srgbClr val="666B70"/>
                </a:solidFill>
              </a:rPr>
              <a:t>Detailed evidence behind the architecture, controls, evaluation, traceability, cost, and release decisions.</a:t>
            </a:r>
            <a:endParaRPr/>
          </a:p>
        </p:txBody>
      </p:sp>
      <p:sp>
        <p:nvSpPr>
          <p:cNvPr id="964" name="Google Shape;964;p19"/>
          <p:cNvSpPr/>
          <p:nvPr/>
        </p:nvSpPr>
        <p:spPr>
          <a:xfrm>
            <a:off x="1162050" y="3638550"/>
            <a:ext cx="9867900" cy="19050"/>
          </a:xfrm>
          <a:prstGeom prst="rect">
            <a:avLst/>
          </a:prstGeom>
          <a:solidFill>
            <a:srgbClr val="DED8D0"/>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5" name="Google Shape;965;p19"/>
          <p:cNvSpPr/>
          <p:nvPr/>
        </p:nvSpPr>
        <p:spPr>
          <a:xfrm>
            <a:off x="1162050" y="3924300"/>
            <a:ext cx="2667000" cy="2667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F6F57"/>
              </a:buClr>
              <a:buSzPts val="1050"/>
              <a:buFont typeface="Arial"/>
              <a:buNone/>
            </a:pPr>
            <a:r>
              <a:rPr b="1" lang="en-US" sz="1050">
                <a:solidFill>
                  <a:srgbClr val="2F6F57"/>
                </a:solidFill>
              </a:rPr>
              <a:t>WORKFLOW INVENTORY</a:t>
            </a:r>
            <a:endParaRPr/>
          </a:p>
        </p:txBody>
      </p:sp>
      <p:sp>
        <p:nvSpPr>
          <p:cNvPr id="966" name="Google Shape;966;p19"/>
          <p:cNvSpPr/>
          <p:nvPr/>
        </p:nvSpPr>
        <p:spPr>
          <a:xfrm>
            <a:off x="4762500" y="3924300"/>
            <a:ext cx="2667000" cy="2667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F6F57"/>
              </a:buClr>
              <a:buSzPts val="1050"/>
              <a:buFont typeface="Arial"/>
              <a:buNone/>
            </a:pPr>
            <a:r>
              <a:rPr b="1" lang="en-US" sz="1050">
                <a:solidFill>
                  <a:srgbClr val="2F6F57"/>
                </a:solidFill>
              </a:rPr>
              <a:t>EVALUATION &amp; COST</a:t>
            </a:r>
            <a:endParaRPr/>
          </a:p>
        </p:txBody>
      </p:sp>
      <p:sp>
        <p:nvSpPr>
          <p:cNvPr id="967" name="Google Shape;967;p19"/>
          <p:cNvSpPr/>
          <p:nvPr/>
        </p:nvSpPr>
        <p:spPr>
          <a:xfrm>
            <a:off x="8362950" y="3924300"/>
            <a:ext cx="2667000" cy="2667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F6F57"/>
              </a:buClr>
              <a:buSzPts val="1050"/>
              <a:buFont typeface="Arial"/>
              <a:buNone/>
            </a:pPr>
            <a:r>
              <a:rPr b="1" lang="en-US" sz="1050">
                <a:solidFill>
                  <a:srgbClr val="2F6F57"/>
                </a:solidFill>
              </a:rPr>
              <a:t>TRACEABILITY &amp; RELEASE</a:t>
            </a:r>
            <a:endParaRPr/>
          </a:p>
        </p:txBody>
      </p:sp>
      <p:sp>
        <p:nvSpPr>
          <p:cNvPr id="968" name="Google Shape;968;p19"/>
          <p:cNvSpPr/>
          <p:nvPr/>
        </p:nvSpPr>
        <p:spPr>
          <a:xfrm>
            <a:off x="1162050" y="4267200"/>
            <a:ext cx="2667000" cy="4953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1200"/>
              <a:buFont typeface="Arial"/>
              <a:buNone/>
            </a:pPr>
            <a:r>
              <a:rPr lang="en-US" sz="1200">
                <a:solidFill>
                  <a:srgbClr val="666B70"/>
                </a:solidFill>
              </a:rPr>
              <a:t>Names, IDs, call graph, and versioned runtime path</a:t>
            </a:r>
            <a:endParaRPr/>
          </a:p>
        </p:txBody>
      </p:sp>
      <p:sp>
        <p:nvSpPr>
          <p:cNvPr id="969" name="Google Shape;969;p19"/>
          <p:cNvSpPr/>
          <p:nvPr/>
        </p:nvSpPr>
        <p:spPr>
          <a:xfrm>
            <a:off x="4762500" y="4267200"/>
            <a:ext cx="2667000" cy="4953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1200"/>
              <a:buFont typeface="Arial"/>
              <a:buNone/>
            </a:pPr>
            <a:r>
              <a:rPr lang="en-US" sz="1200">
                <a:solidFill>
                  <a:srgbClr val="666B70"/>
                </a:solidFill>
              </a:rPr>
              <a:t>Test evidence, evaluator results, tokens, and loaded cost</a:t>
            </a:r>
            <a:endParaRPr/>
          </a:p>
        </p:txBody>
      </p:sp>
      <p:sp>
        <p:nvSpPr>
          <p:cNvPr id="970" name="Google Shape;970;p19"/>
          <p:cNvSpPr/>
          <p:nvPr/>
        </p:nvSpPr>
        <p:spPr>
          <a:xfrm>
            <a:off x="8362950" y="4267200"/>
            <a:ext cx="2667000" cy="4953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1200"/>
              <a:buFont typeface="Arial"/>
              <a:buNone/>
            </a:pPr>
            <a:r>
              <a:rPr lang="en-US" sz="1200">
                <a:solidFill>
                  <a:srgbClr val="666B70"/>
                </a:solidFill>
              </a:rPr>
              <a:t>Citation lineage, artifacts, version history, and rollback</a:t>
            </a:r>
            <a:endParaRPr/>
          </a:p>
        </p:txBody>
      </p:sp>
      <p:sp>
        <p:nvSpPr>
          <p:cNvPr id="971" name="Google Shape;971;p19"/>
          <p:cNvSpPr/>
          <p:nvPr/>
        </p:nvSpPr>
        <p:spPr>
          <a:xfrm>
            <a:off x="0" y="6191250"/>
            <a:ext cx="12192000" cy="666750"/>
          </a:xfrm>
          <a:prstGeom prst="rect">
            <a:avLst/>
          </a:prstGeom>
          <a:solidFill>
            <a:srgbClr val="1A1A2E"/>
          </a:solidFill>
          <a:ln cap="flat" cmpd="sng" w="9525">
            <a:solidFill>
              <a:srgbClr val="1A1A2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2" name="Google Shape;972;p19"/>
          <p:cNvSpPr/>
          <p:nvPr/>
        </p:nvSpPr>
        <p:spPr>
          <a:xfrm>
            <a:off x="781050" y="6381750"/>
            <a:ext cx="1905000" cy="2095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C9C6D8"/>
              </a:buClr>
              <a:buSzPts val="900"/>
              <a:buFont typeface="Arial"/>
              <a:buNone/>
            </a:pPr>
            <a:r>
              <a:rPr b="1" lang="en-US" sz="900">
                <a:solidFill>
                  <a:srgbClr val="C9C6D8"/>
                </a:solidFill>
              </a:rPr>
              <a:t>APPENDIX</a:t>
            </a:r>
            <a:endParaRPr/>
          </a:p>
        </p:txBody>
      </p:sp>
      <p:sp>
        <p:nvSpPr>
          <p:cNvPr id="973" name="Google Shape;973;p19"/>
          <p:cNvSpPr/>
          <p:nvPr/>
        </p:nvSpPr>
        <p:spPr>
          <a:xfrm>
            <a:off x="2686050" y="6334125"/>
            <a:ext cx="8724900" cy="3048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FFFFFF"/>
              </a:buClr>
              <a:buSzPts val="1350"/>
              <a:buFont typeface="Arial"/>
              <a:buNone/>
            </a:pPr>
            <a:r>
              <a:rPr b="1" lang="en-US" sz="1350">
                <a:solidFill>
                  <a:srgbClr val="FFFFFF"/>
                </a:solidFill>
              </a:rPr>
              <a:t>Inspectable evidence for every principal claim in the submission.</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4EE"/>
        </a:solidFill>
      </p:bgPr>
    </p:bg>
    <p:spTree>
      <p:nvGrpSpPr>
        <p:cNvPr id="978" name="Shape 978"/>
        <p:cNvGrpSpPr/>
        <p:nvPr/>
      </p:nvGrpSpPr>
      <p:grpSpPr>
        <a:xfrm>
          <a:off x="0" y="0"/>
          <a:ext cx="0" cy="0"/>
          <a:chOff x="0" y="0"/>
          <a:chExt cx="0" cy="0"/>
        </a:xfrm>
      </p:grpSpPr>
      <p:sp>
        <p:nvSpPr>
          <p:cNvPr id="979" name="Google Shape;979;p20"/>
          <p:cNvSpPr/>
          <p:nvPr/>
        </p:nvSpPr>
        <p:spPr>
          <a:xfrm>
            <a:off x="0" y="0"/>
            <a:ext cx="12192000" cy="76200"/>
          </a:xfrm>
          <a:prstGeom prst="rect">
            <a:avLst/>
          </a:prstGeom>
          <a:solidFill>
            <a:srgbClr val="B85042"/>
          </a:solidFill>
          <a:ln cap="flat" cmpd="sng" w="9525">
            <a:solidFill>
              <a:srgbClr val="B8504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0" name="Google Shape;980;p20"/>
          <p:cNvSpPr/>
          <p:nvPr/>
        </p:nvSpPr>
        <p:spPr>
          <a:xfrm>
            <a:off x="514350" y="685800"/>
            <a:ext cx="66675" cy="800100"/>
          </a:xfrm>
          <a:prstGeom prst="rect">
            <a:avLst/>
          </a:prstGeom>
          <a:solidFill>
            <a:srgbClr val="B85042"/>
          </a:solidFill>
          <a:ln cap="flat" cmpd="sng" w="9525">
            <a:solidFill>
              <a:srgbClr val="B8504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1" name="Google Shape;981;p20"/>
          <p:cNvSpPr/>
          <p:nvPr/>
        </p:nvSpPr>
        <p:spPr>
          <a:xfrm>
            <a:off x="781050" y="495300"/>
            <a:ext cx="6667500" cy="2667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B85042"/>
              </a:buClr>
              <a:buSzPts val="975"/>
              <a:buFont typeface="Arial"/>
              <a:buNone/>
            </a:pPr>
            <a:r>
              <a:rPr b="1" lang="en-US" sz="975">
                <a:solidFill>
                  <a:srgbClr val="B85042"/>
                </a:solidFill>
              </a:rPr>
              <a:t>A1  ·  RUBRIC-TO-EVIDENCE CROSS-REFERENCE</a:t>
            </a:r>
            <a:endParaRPr/>
          </a:p>
        </p:txBody>
      </p:sp>
      <p:sp>
        <p:nvSpPr>
          <p:cNvPr id="982" name="Google Shape;982;p20"/>
          <p:cNvSpPr/>
          <p:nvPr/>
        </p:nvSpPr>
        <p:spPr>
          <a:xfrm>
            <a:off x="781050" y="828675"/>
            <a:ext cx="10629900" cy="552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2550"/>
              <a:buFont typeface="Arial"/>
              <a:buNone/>
            </a:pPr>
            <a:r>
              <a:rPr b="1" lang="en-US" sz="2550">
                <a:solidFill>
                  <a:srgbClr val="1A1A2E"/>
                </a:solidFill>
              </a:rPr>
              <a:t>Every scored requirement maps to inspectable evidence</a:t>
            </a:r>
            <a:endParaRPr/>
          </a:p>
        </p:txBody>
      </p:sp>
      <p:sp>
        <p:nvSpPr>
          <p:cNvPr id="983" name="Google Shape;983;p20"/>
          <p:cNvSpPr/>
          <p:nvPr/>
        </p:nvSpPr>
        <p:spPr>
          <a:xfrm>
            <a:off x="781050" y="1438275"/>
            <a:ext cx="10629900" cy="29527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1238"/>
              <a:buFont typeface="Arial"/>
              <a:buNone/>
            </a:pPr>
            <a:r>
              <a:rPr lang="en-US" sz="1238">
                <a:solidFill>
                  <a:srgbClr val="666B70"/>
                </a:solidFill>
              </a:rPr>
              <a:t>The main deck communicates the argument; the written package and platform records provide the verification path.</a:t>
            </a:r>
            <a:endParaRPr/>
          </a:p>
        </p:txBody>
      </p:sp>
      <p:sp>
        <p:nvSpPr>
          <p:cNvPr id="984" name="Google Shape;984;p20"/>
          <p:cNvSpPr/>
          <p:nvPr/>
        </p:nvSpPr>
        <p:spPr>
          <a:xfrm>
            <a:off x="619125" y="1981200"/>
            <a:ext cx="7143750" cy="3724275"/>
          </a:xfrm>
          <a:prstGeom prst="roundRect">
            <a:avLst>
              <a:gd fmla="val 2046" name="adj"/>
            </a:avLst>
          </a:prstGeom>
          <a:solidFill>
            <a:srgbClr val="FFFFFF"/>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5" name="Google Shape;985;p20"/>
          <p:cNvSpPr/>
          <p:nvPr/>
        </p:nvSpPr>
        <p:spPr>
          <a:xfrm>
            <a:off x="619125" y="1981200"/>
            <a:ext cx="7143750" cy="457200"/>
          </a:xfrm>
          <a:prstGeom prst="roundRect">
            <a:avLst>
              <a:gd fmla="val 16667" name="adj"/>
            </a:avLst>
          </a:prstGeom>
          <a:solidFill>
            <a:srgbClr val="1A1A2E"/>
          </a:solidFill>
          <a:ln cap="flat" cmpd="sng" w="9525">
            <a:solidFill>
              <a:srgbClr val="1A1A2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6" name="Google Shape;986;p20"/>
          <p:cNvSpPr/>
          <p:nvPr/>
        </p:nvSpPr>
        <p:spPr>
          <a:xfrm>
            <a:off x="809625" y="2095500"/>
            <a:ext cx="1809750" cy="2095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FFFFFF"/>
              </a:buClr>
              <a:buSzPts val="788"/>
              <a:buFont typeface="Arial"/>
              <a:buNone/>
            </a:pPr>
            <a:r>
              <a:rPr b="1" lang="en-US" sz="788">
                <a:solidFill>
                  <a:srgbClr val="FFFFFF"/>
                </a:solidFill>
              </a:rPr>
              <a:t>ASSIGNMENT</a:t>
            </a:r>
            <a:endParaRPr/>
          </a:p>
        </p:txBody>
      </p:sp>
      <p:sp>
        <p:nvSpPr>
          <p:cNvPr id="987" name="Google Shape;987;p20"/>
          <p:cNvSpPr/>
          <p:nvPr/>
        </p:nvSpPr>
        <p:spPr>
          <a:xfrm>
            <a:off x="2676525" y="2095500"/>
            <a:ext cx="419100" cy="2095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FFFFFF"/>
              </a:buClr>
              <a:buSzPts val="788"/>
              <a:buFont typeface="Arial"/>
              <a:buNone/>
            </a:pPr>
            <a:r>
              <a:rPr b="1" lang="en-US" sz="788">
                <a:solidFill>
                  <a:srgbClr val="FFFFFF"/>
                </a:solidFill>
              </a:rPr>
              <a:t>PTS</a:t>
            </a:r>
            <a:endParaRPr/>
          </a:p>
        </p:txBody>
      </p:sp>
      <p:sp>
        <p:nvSpPr>
          <p:cNvPr id="988" name="Google Shape;988;p20"/>
          <p:cNvSpPr/>
          <p:nvPr/>
        </p:nvSpPr>
        <p:spPr>
          <a:xfrm>
            <a:off x="3209925" y="2095500"/>
            <a:ext cx="590550" cy="2095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FFFFFF"/>
              </a:buClr>
              <a:buSzPts val="788"/>
              <a:buFont typeface="Arial"/>
              <a:buNone/>
            </a:pPr>
            <a:r>
              <a:rPr b="1" lang="en-US" sz="788">
                <a:solidFill>
                  <a:srgbClr val="FFFFFF"/>
                </a:solidFill>
              </a:rPr>
              <a:t>DECK</a:t>
            </a:r>
            <a:endParaRPr/>
          </a:p>
        </p:txBody>
      </p:sp>
      <p:sp>
        <p:nvSpPr>
          <p:cNvPr id="989" name="Google Shape;989;p20"/>
          <p:cNvSpPr/>
          <p:nvPr/>
        </p:nvSpPr>
        <p:spPr>
          <a:xfrm>
            <a:off x="3952875" y="2095500"/>
            <a:ext cx="3581400" cy="2095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FFFFFF"/>
              </a:buClr>
              <a:buSzPts val="788"/>
              <a:buFont typeface="Arial"/>
              <a:buNone/>
            </a:pPr>
            <a:r>
              <a:rPr b="1" lang="en-US" sz="788">
                <a:solidFill>
                  <a:srgbClr val="FFFFFF"/>
                </a:solidFill>
              </a:rPr>
              <a:t>PRIMARY EVIDENCE</a:t>
            </a:r>
            <a:endParaRPr/>
          </a:p>
        </p:txBody>
      </p:sp>
      <p:sp>
        <p:nvSpPr>
          <p:cNvPr id="990" name="Google Shape;990;p20"/>
          <p:cNvSpPr/>
          <p:nvPr/>
        </p:nvSpPr>
        <p:spPr>
          <a:xfrm>
            <a:off x="619125" y="2438400"/>
            <a:ext cx="7143750" cy="733425"/>
          </a:xfrm>
          <a:prstGeom prst="rect">
            <a:avLst/>
          </a:prstGeom>
          <a:solidFill>
            <a:srgbClr val="FFFFFF"/>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1" name="Google Shape;991;p20"/>
          <p:cNvSpPr/>
          <p:nvPr/>
        </p:nvSpPr>
        <p:spPr>
          <a:xfrm>
            <a:off x="619125" y="2438400"/>
            <a:ext cx="66675" cy="733425"/>
          </a:xfrm>
          <a:prstGeom prst="rect">
            <a:avLst/>
          </a:prstGeom>
          <a:solidFill>
            <a:srgbClr val="3B6EBF"/>
          </a:solidFill>
          <a:ln cap="flat" cmpd="sng" w="9525">
            <a:solidFill>
              <a:srgbClr val="3B6EB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2" name="Google Shape;992;p20"/>
          <p:cNvSpPr/>
          <p:nvPr/>
        </p:nvSpPr>
        <p:spPr>
          <a:xfrm>
            <a:off x="800100" y="2619375"/>
            <a:ext cx="1714500" cy="371475"/>
          </a:xfrm>
          <a:prstGeom prst="roundRect">
            <a:avLst>
              <a:gd fmla="val 20513" name="adj"/>
            </a:avLst>
          </a:prstGeom>
          <a:solidFill>
            <a:srgbClr val="E8EFF9"/>
          </a:solidFill>
          <a:ln cap="flat" cmpd="sng" w="9525">
            <a:solidFill>
              <a:srgbClr val="3B6EB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3" name="Google Shape;993;p20"/>
          <p:cNvSpPr/>
          <p:nvPr/>
        </p:nvSpPr>
        <p:spPr>
          <a:xfrm>
            <a:off x="876300" y="2667000"/>
            <a:ext cx="1562100" cy="2762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3B6EBF"/>
              </a:buClr>
              <a:buSzPts val="914"/>
              <a:buFont typeface="Arial"/>
              <a:buNone/>
            </a:pPr>
            <a:r>
              <a:rPr b="1" lang="en-US" sz="915">
                <a:solidFill>
                  <a:srgbClr val="3B6EBF"/>
                </a:solidFill>
              </a:rPr>
              <a:t>Q1 — Ideation</a:t>
            </a:r>
            <a:endParaRPr/>
          </a:p>
        </p:txBody>
      </p:sp>
      <p:sp>
        <p:nvSpPr>
          <p:cNvPr id="994" name="Google Shape;994;p20"/>
          <p:cNvSpPr/>
          <p:nvPr/>
        </p:nvSpPr>
        <p:spPr>
          <a:xfrm>
            <a:off x="2686050" y="2633663"/>
            <a:ext cx="400050" cy="3429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1425"/>
              <a:buFont typeface="Arial"/>
              <a:buNone/>
            </a:pPr>
            <a:r>
              <a:rPr b="1" lang="en-US" sz="1425">
                <a:solidFill>
                  <a:srgbClr val="1A1A2E"/>
                </a:solidFill>
              </a:rPr>
              <a:t>15</a:t>
            </a:r>
            <a:endParaRPr/>
          </a:p>
        </p:txBody>
      </p:sp>
      <p:sp>
        <p:nvSpPr>
          <p:cNvPr id="995" name="Google Shape;995;p20"/>
          <p:cNvSpPr/>
          <p:nvPr/>
        </p:nvSpPr>
        <p:spPr>
          <a:xfrm>
            <a:off x="3219450" y="2633663"/>
            <a:ext cx="571500" cy="3429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1050"/>
              <a:buFont typeface="Arial"/>
              <a:buNone/>
            </a:pPr>
            <a:r>
              <a:rPr b="1" lang="en-US" sz="1050">
                <a:solidFill>
                  <a:srgbClr val="666B70"/>
                </a:solidFill>
              </a:rPr>
              <a:t>3–4</a:t>
            </a:r>
            <a:endParaRPr/>
          </a:p>
        </p:txBody>
      </p:sp>
      <p:sp>
        <p:nvSpPr>
          <p:cNvPr id="996" name="Google Shape;996;p20"/>
          <p:cNvSpPr/>
          <p:nvPr/>
        </p:nvSpPr>
        <p:spPr>
          <a:xfrm>
            <a:off x="3962400" y="2586038"/>
            <a:ext cx="3562350" cy="4381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893"/>
              <a:buFont typeface="Arial"/>
              <a:buNone/>
            </a:pPr>
            <a:r>
              <a:rPr lang="en-US" sz="893">
                <a:solidFill>
                  <a:srgbClr val="666B70"/>
                </a:solidFill>
              </a:rPr>
              <a:t>Pain-point analysis; manual step → agent capability → input / output → risk and control</a:t>
            </a:r>
            <a:endParaRPr/>
          </a:p>
        </p:txBody>
      </p:sp>
      <p:sp>
        <p:nvSpPr>
          <p:cNvPr id="997" name="Google Shape;997;p20"/>
          <p:cNvSpPr/>
          <p:nvPr/>
        </p:nvSpPr>
        <p:spPr>
          <a:xfrm>
            <a:off x="619125" y="3171825"/>
            <a:ext cx="7143750" cy="733425"/>
          </a:xfrm>
          <a:prstGeom prst="rect">
            <a:avLst/>
          </a:prstGeom>
          <a:solidFill>
            <a:srgbClr val="FCFAF7"/>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8" name="Google Shape;998;p20"/>
          <p:cNvSpPr/>
          <p:nvPr/>
        </p:nvSpPr>
        <p:spPr>
          <a:xfrm>
            <a:off x="619125" y="3171825"/>
            <a:ext cx="66675" cy="733425"/>
          </a:xfrm>
          <a:prstGeom prst="rect">
            <a:avLst/>
          </a:prstGeom>
          <a:solidFill>
            <a:srgbClr val="B85042"/>
          </a:solidFill>
          <a:ln cap="flat" cmpd="sng" w="9525">
            <a:solidFill>
              <a:srgbClr val="B8504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9" name="Google Shape;999;p20"/>
          <p:cNvSpPr/>
          <p:nvPr/>
        </p:nvSpPr>
        <p:spPr>
          <a:xfrm>
            <a:off x="800100" y="3352800"/>
            <a:ext cx="1714500" cy="371475"/>
          </a:xfrm>
          <a:prstGeom prst="roundRect">
            <a:avLst>
              <a:gd fmla="val 20513" name="adj"/>
            </a:avLst>
          </a:prstGeom>
          <a:solidFill>
            <a:srgbClr val="F3E6E2"/>
          </a:solidFill>
          <a:ln cap="flat" cmpd="sng" w="9525">
            <a:solidFill>
              <a:srgbClr val="B8504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0" name="Google Shape;1000;p20"/>
          <p:cNvSpPr/>
          <p:nvPr/>
        </p:nvSpPr>
        <p:spPr>
          <a:xfrm>
            <a:off x="876300" y="3400425"/>
            <a:ext cx="1562100" cy="2762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B85042"/>
              </a:buClr>
              <a:buSzPts val="839"/>
              <a:buFont typeface="Arial"/>
              <a:buNone/>
            </a:pPr>
            <a:r>
              <a:rPr b="1" lang="en-US" sz="840">
                <a:solidFill>
                  <a:srgbClr val="B85042"/>
                </a:solidFill>
              </a:rPr>
              <a:t>Q2 — Program Charter</a:t>
            </a:r>
            <a:endParaRPr/>
          </a:p>
        </p:txBody>
      </p:sp>
      <p:sp>
        <p:nvSpPr>
          <p:cNvPr id="1001" name="Google Shape;1001;p20"/>
          <p:cNvSpPr/>
          <p:nvPr/>
        </p:nvSpPr>
        <p:spPr>
          <a:xfrm>
            <a:off x="2686050" y="3367088"/>
            <a:ext cx="400050" cy="3429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1425"/>
              <a:buFont typeface="Arial"/>
              <a:buNone/>
            </a:pPr>
            <a:r>
              <a:rPr b="1" lang="en-US" sz="1425">
                <a:solidFill>
                  <a:srgbClr val="1A1A2E"/>
                </a:solidFill>
              </a:rPr>
              <a:t>15</a:t>
            </a:r>
            <a:endParaRPr/>
          </a:p>
        </p:txBody>
      </p:sp>
      <p:sp>
        <p:nvSpPr>
          <p:cNvPr id="1002" name="Google Shape;1002;p20"/>
          <p:cNvSpPr/>
          <p:nvPr/>
        </p:nvSpPr>
        <p:spPr>
          <a:xfrm>
            <a:off x="3219450" y="3367088"/>
            <a:ext cx="571500" cy="3429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1050"/>
              <a:buFont typeface="Arial"/>
              <a:buNone/>
            </a:pPr>
            <a:r>
              <a:rPr b="1" lang="en-US" sz="1050">
                <a:solidFill>
                  <a:srgbClr val="666B70"/>
                </a:solidFill>
              </a:rPr>
              <a:t>5–6</a:t>
            </a:r>
            <a:endParaRPr/>
          </a:p>
        </p:txBody>
      </p:sp>
      <p:sp>
        <p:nvSpPr>
          <p:cNvPr id="1003" name="Google Shape;1003;p20"/>
          <p:cNvSpPr/>
          <p:nvPr/>
        </p:nvSpPr>
        <p:spPr>
          <a:xfrm>
            <a:off x="3962400" y="3319463"/>
            <a:ext cx="3562350" cy="4381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893"/>
              <a:buFont typeface="Arial"/>
              <a:buNone/>
            </a:pPr>
            <a:r>
              <a:rPr lang="en-US" sz="893">
                <a:solidFill>
                  <a:srgbClr val="666B70"/>
                </a:solidFill>
              </a:rPr>
              <a:t>Vision, objectives, scope, success criteria, ownership, timeline, risks, and rollout plan</a:t>
            </a:r>
            <a:endParaRPr/>
          </a:p>
        </p:txBody>
      </p:sp>
      <p:sp>
        <p:nvSpPr>
          <p:cNvPr id="1004" name="Google Shape;1004;p20"/>
          <p:cNvSpPr/>
          <p:nvPr/>
        </p:nvSpPr>
        <p:spPr>
          <a:xfrm>
            <a:off x="619125" y="3905250"/>
            <a:ext cx="7143750" cy="1066800"/>
          </a:xfrm>
          <a:prstGeom prst="rect">
            <a:avLst/>
          </a:prstGeom>
          <a:solidFill>
            <a:srgbClr val="FFFFFF"/>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5" name="Google Shape;1005;p20"/>
          <p:cNvSpPr/>
          <p:nvPr/>
        </p:nvSpPr>
        <p:spPr>
          <a:xfrm>
            <a:off x="619125" y="3905250"/>
            <a:ext cx="66675" cy="1066800"/>
          </a:xfrm>
          <a:prstGeom prst="rect">
            <a:avLst/>
          </a:prstGeom>
          <a:solidFill>
            <a:srgbClr val="2F6F57"/>
          </a:solidFill>
          <a:ln cap="flat" cmpd="sng" w="9525">
            <a:solidFill>
              <a:srgbClr val="2F6F5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6" name="Google Shape;1006;p20"/>
          <p:cNvSpPr/>
          <p:nvPr/>
        </p:nvSpPr>
        <p:spPr>
          <a:xfrm>
            <a:off x="800100" y="4252913"/>
            <a:ext cx="1714500" cy="371475"/>
          </a:xfrm>
          <a:prstGeom prst="roundRect">
            <a:avLst>
              <a:gd fmla="val 20513" name="adj"/>
            </a:avLst>
          </a:prstGeom>
          <a:solidFill>
            <a:srgbClr val="E6F0EB"/>
          </a:solidFill>
          <a:ln cap="flat" cmpd="sng" w="9525">
            <a:solidFill>
              <a:srgbClr val="2F6F5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7" name="Google Shape;1007;p20"/>
          <p:cNvSpPr/>
          <p:nvPr/>
        </p:nvSpPr>
        <p:spPr>
          <a:xfrm>
            <a:off x="876300" y="4300538"/>
            <a:ext cx="1562100" cy="2762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F6F57"/>
              </a:buClr>
              <a:buSzPts val="914"/>
              <a:buFont typeface="Arial"/>
              <a:buNone/>
            </a:pPr>
            <a:r>
              <a:rPr b="1" lang="en-US" sz="915">
                <a:solidFill>
                  <a:srgbClr val="2F6F57"/>
                </a:solidFill>
              </a:rPr>
              <a:t>Q3 — Build</a:t>
            </a:r>
            <a:endParaRPr/>
          </a:p>
        </p:txBody>
      </p:sp>
      <p:sp>
        <p:nvSpPr>
          <p:cNvPr id="1008" name="Google Shape;1008;p20"/>
          <p:cNvSpPr/>
          <p:nvPr/>
        </p:nvSpPr>
        <p:spPr>
          <a:xfrm>
            <a:off x="2686050" y="4295775"/>
            <a:ext cx="400050" cy="2286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1425"/>
              <a:buFont typeface="Arial"/>
              <a:buNone/>
            </a:pPr>
            <a:r>
              <a:rPr b="1" lang="en-US" sz="1425">
                <a:solidFill>
                  <a:srgbClr val="1A1A2E"/>
                </a:solidFill>
              </a:rPr>
              <a:t>45</a:t>
            </a:r>
            <a:endParaRPr/>
          </a:p>
        </p:txBody>
      </p:sp>
      <p:sp>
        <p:nvSpPr>
          <p:cNvPr id="1009" name="Google Shape;1009;p20"/>
          <p:cNvSpPr/>
          <p:nvPr/>
        </p:nvSpPr>
        <p:spPr>
          <a:xfrm>
            <a:off x="3219450" y="4295775"/>
            <a:ext cx="571500" cy="2286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1050"/>
              <a:buFont typeface="Arial"/>
              <a:buNone/>
            </a:pPr>
            <a:r>
              <a:rPr b="1" lang="en-US" sz="1050">
                <a:solidFill>
                  <a:srgbClr val="666B70"/>
                </a:solidFill>
              </a:rPr>
              <a:t>7–15</a:t>
            </a:r>
            <a:endParaRPr/>
          </a:p>
        </p:txBody>
      </p:sp>
      <p:sp>
        <p:nvSpPr>
          <p:cNvPr id="1010" name="Google Shape;1010;p20"/>
          <p:cNvSpPr/>
          <p:nvPr/>
        </p:nvSpPr>
        <p:spPr>
          <a:xfrm>
            <a:off x="3962400" y="4248150"/>
            <a:ext cx="3562350" cy="3238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863"/>
              <a:buFont typeface="Arial"/>
              <a:buNone/>
            </a:pPr>
            <a:r>
              <a:rPr lang="en-US" sz="863">
                <a:solidFill>
                  <a:srgbClr val="666B70"/>
                </a:solidFill>
              </a:rPr>
              <a:t>Architecture; agents; controls; outputs; T1–T12; code + LLM evaluation; accepted-run results; traceability; loaded cost</a:t>
            </a:r>
            <a:endParaRPr/>
          </a:p>
        </p:txBody>
      </p:sp>
      <p:sp>
        <p:nvSpPr>
          <p:cNvPr id="1011" name="Google Shape;1011;p20"/>
          <p:cNvSpPr/>
          <p:nvPr/>
        </p:nvSpPr>
        <p:spPr>
          <a:xfrm>
            <a:off x="619125" y="4972050"/>
            <a:ext cx="7143750" cy="733425"/>
          </a:xfrm>
          <a:prstGeom prst="rect">
            <a:avLst/>
          </a:prstGeom>
          <a:solidFill>
            <a:srgbClr val="FCFAF7"/>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2" name="Google Shape;1012;p20"/>
          <p:cNvSpPr/>
          <p:nvPr/>
        </p:nvSpPr>
        <p:spPr>
          <a:xfrm>
            <a:off x="619125" y="4972050"/>
            <a:ext cx="66675" cy="733425"/>
          </a:xfrm>
          <a:prstGeom prst="rect">
            <a:avLst/>
          </a:prstGeom>
          <a:solidFill>
            <a:srgbClr val="7546C8"/>
          </a:solidFill>
          <a:ln cap="flat" cmpd="sng" w="9525">
            <a:solidFill>
              <a:srgbClr val="7546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3" name="Google Shape;1013;p20"/>
          <p:cNvSpPr/>
          <p:nvPr/>
        </p:nvSpPr>
        <p:spPr>
          <a:xfrm>
            <a:off x="800100" y="5153025"/>
            <a:ext cx="1714500" cy="371475"/>
          </a:xfrm>
          <a:prstGeom prst="roundRect">
            <a:avLst>
              <a:gd fmla="val 20513" name="adj"/>
            </a:avLst>
          </a:prstGeom>
          <a:solidFill>
            <a:srgbClr val="F0EAFB"/>
          </a:solidFill>
          <a:ln cap="flat" cmpd="sng" w="9525">
            <a:solidFill>
              <a:srgbClr val="7546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4" name="Google Shape;1014;p20"/>
          <p:cNvSpPr/>
          <p:nvPr/>
        </p:nvSpPr>
        <p:spPr>
          <a:xfrm>
            <a:off x="876300" y="5200650"/>
            <a:ext cx="1562100" cy="2762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7546C8"/>
              </a:buClr>
              <a:buSzPts val="914"/>
              <a:buFont typeface="Arial"/>
              <a:buNone/>
            </a:pPr>
            <a:r>
              <a:rPr b="1" lang="en-US" sz="915">
                <a:solidFill>
                  <a:srgbClr val="7546C8"/>
                </a:solidFill>
              </a:rPr>
              <a:t>Q4 — Reflection</a:t>
            </a:r>
            <a:endParaRPr/>
          </a:p>
        </p:txBody>
      </p:sp>
      <p:sp>
        <p:nvSpPr>
          <p:cNvPr id="1015" name="Google Shape;1015;p20"/>
          <p:cNvSpPr/>
          <p:nvPr/>
        </p:nvSpPr>
        <p:spPr>
          <a:xfrm>
            <a:off x="2686050" y="5167313"/>
            <a:ext cx="400050" cy="3429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1425"/>
              <a:buFont typeface="Arial"/>
              <a:buNone/>
            </a:pPr>
            <a:r>
              <a:rPr b="1" lang="en-US" sz="1425">
                <a:solidFill>
                  <a:srgbClr val="1A1A2E"/>
                </a:solidFill>
              </a:rPr>
              <a:t>5</a:t>
            </a:r>
            <a:endParaRPr/>
          </a:p>
        </p:txBody>
      </p:sp>
      <p:sp>
        <p:nvSpPr>
          <p:cNvPr id="1016" name="Google Shape;1016;p20"/>
          <p:cNvSpPr/>
          <p:nvPr/>
        </p:nvSpPr>
        <p:spPr>
          <a:xfrm>
            <a:off x="3219450" y="5167313"/>
            <a:ext cx="571500" cy="3429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1050"/>
              <a:buFont typeface="Arial"/>
              <a:buNone/>
            </a:pPr>
            <a:r>
              <a:rPr b="1" lang="en-US" sz="1050">
                <a:solidFill>
                  <a:srgbClr val="666B70"/>
                </a:solidFill>
              </a:rPr>
              <a:t>16</a:t>
            </a:r>
            <a:endParaRPr/>
          </a:p>
        </p:txBody>
      </p:sp>
      <p:sp>
        <p:nvSpPr>
          <p:cNvPr id="1017" name="Google Shape;1017;p20"/>
          <p:cNvSpPr/>
          <p:nvPr/>
        </p:nvSpPr>
        <p:spPr>
          <a:xfrm>
            <a:off x="3962400" y="5119688"/>
            <a:ext cx="3562350" cy="4381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893"/>
              <a:buFont typeface="Arial"/>
              <a:buNone/>
            </a:pPr>
            <a:r>
              <a:rPr lang="en-US" sz="893">
                <a:solidFill>
                  <a:srgbClr val="666B70"/>
                </a:solidFill>
              </a:rPr>
              <a:t>Observed failures, production controls, AI risks, lessons learned, and v0.3.9 improvement plan</a:t>
            </a:r>
            <a:endParaRPr/>
          </a:p>
        </p:txBody>
      </p:sp>
      <p:sp>
        <p:nvSpPr>
          <p:cNvPr id="1018" name="Google Shape;1018;p20"/>
          <p:cNvSpPr/>
          <p:nvPr/>
        </p:nvSpPr>
        <p:spPr>
          <a:xfrm>
            <a:off x="8020050" y="1981200"/>
            <a:ext cx="3552825" cy="3724275"/>
          </a:xfrm>
          <a:prstGeom prst="roundRect">
            <a:avLst>
              <a:gd fmla="val 2145" name="adj"/>
            </a:avLst>
          </a:prstGeom>
          <a:solidFill>
            <a:srgbClr val="FFFFFF"/>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9" name="Google Shape;1019;p20"/>
          <p:cNvSpPr/>
          <p:nvPr/>
        </p:nvSpPr>
        <p:spPr>
          <a:xfrm>
            <a:off x="8020050" y="1981200"/>
            <a:ext cx="3552825" cy="66675"/>
          </a:xfrm>
          <a:prstGeom prst="rect">
            <a:avLst/>
          </a:prstGeom>
          <a:solidFill>
            <a:srgbClr val="2F6F57"/>
          </a:solidFill>
          <a:ln cap="flat" cmpd="sng" w="9525">
            <a:solidFill>
              <a:srgbClr val="2F6F5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0" name="Google Shape;1020;p20"/>
          <p:cNvSpPr/>
          <p:nvPr/>
        </p:nvSpPr>
        <p:spPr>
          <a:xfrm>
            <a:off x="8267700" y="2209800"/>
            <a:ext cx="3048000" cy="2095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F6F57"/>
              </a:buClr>
              <a:buSzPts val="825"/>
              <a:buFont typeface="Arial"/>
              <a:buNone/>
            </a:pPr>
            <a:r>
              <a:rPr b="1" lang="en-US" sz="825">
                <a:solidFill>
                  <a:srgbClr val="2F6F57"/>
                </a:solidFill>
              </a:rPr>
              <a:t>Q3 · 45-POINT DETAIL</a:t>
            </a:r>
            <a:endParaRPr/>
          </a:p>
        </p:txBody>
      </p:sp>
      <p:sp>
        <p:nvSpPr>
          <p:cNvPr id="1021" name="Google Shape;1021;p20"/>
          <p:cNvSpPr/>
          <p:nvPr/>
        </p:nvSpPr>
        <p:spPr>
          <a:xfrm>
            <a:off x="8267700" y="2486025"/>
            <a:ext cx="3048000" cy="3238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1725"/>
              <a:buFont typeface="Arial"/>
              <a:buNone/>
            </a:pPr>
            <a:r>
              <a:rPr b="1" lang="en-US" sz="1725">
                <a:solidFill>
                  <a:srgbClr val="1A1A2E"/>
                </a:solidFill>
              </a:rPr>
              <a:t>Build evidence coverage</a:t>
            </a:r>
            <a:endParaRPr/>
          </a:p>
        </p:txBody>
      </p:sp>
      <p:sp>
        <p:nvSpPr>
          <p:cNvPr id="1022" name="Google Shape;1022;p20"/>
          <p:cNvSpPr/>
          <p:nvPr/>
        </p:nvSpPr>
        <p:spPr>
          <a:xfrm>
            <a:off x="8267700" y="2962275"/>
            <a:ext cx="352425" cy="276225"/>
          </a:xfrm>
          <a:prstGeom prst="roundRect">
            <a:avLst>
              <a:gd fmla="val 27586" name="adj"/>
            </a:avLst>
          </a:prstGeom>
          <a:solidFill>
            <a:srgbClr val="E6F0EB"/>
          </a:solidFill>
          <a:ln cap="flat" cmpd="sng" w="9525">
            <a:solidFill>
              <a:srgbClr val="2F6F5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3" name="Google Shape;1023;p20"/>
          <p:cNvSpPr/>
          <p:nvPr/>
        </p:nvSpPr>
        <p:spPr>
          <a:xfrm>
            <a:off x="8267700" y="3000375"/>
            <a:ext cx="352425" cy="190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F6F57"/>
              </a:buClr>
              <a:buSzPts val="900"/>
              <a:buFont typeface="Arial"/>
              <a:buNone/>
            </a:pPr>
            <a:r>
              <a:rPr b="1" lang="en-US" sz="900">
                <a:solidFill>
                  <a:srgbClr val="2F6F57"/>
                </a:solidFill>
              </a:rPr>
              <a:t>10</a:t>
            </a:r>
            <a:endParaRPr/>
          </a:p>
        </p:txBody>
      </p:sp>
      <p:sp>
        <p:nvSpPr>
          <p:cNvPr id="1024" name="Google Shape;1024;p20"/>
          <p:cNvSpPr/>
          <p:nvPr/>
        </p:nvSpPr>
        <p:spPr>
          <a:xfrm>
            <a:off x="8734425" y="2943225"/>
            <a:ext cx="1590675" cy="3238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810"/>
              <a:buFont typeface="Arial"/>
              <a:buNone/>
            </a:pPr>
            <a:r>
              <a:rPr b="1" lang="en-US" sz="810">
                <a:solidFill>
                  <a:srgbClr val="1A1A2E"/>
                </a:solidFill>
              </a:rPr>
              <a:t>Architecture, orchestration, tool rationale</a:t>
            </a:r>
            <a:endParaRPr/>
          </a:p>
        </p:txBody>
      </p:sp>
      <p:sp>
        <p:nvSpPr>
          <p:cNvPr id="1025" name="Google Shape;1025;p20"/>
          <p:cNvSpPr/>
          <p:nvPr/>
        </p:nvSpPr>
        <p:spPr>
          <a:xfrm>
            <a:off x="10363200" y="2990850"/>
            <a:ext cx="933450" cy="21907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713"/>
              <a:buFont typeface="Arial"/>
              <a:buNone/>
            </a:pPr>
            <a:r>
              <a:rPr lang="en-US" sz="713">
                <a:solidFill>
                  <a:srgbClr val="666B70"/>
                </a:solidFill>
              </a:rPr>
              <a:t>7–8</a:t>
            </a:r>
            <a:endParaRPr/>
          </a:p>
        </p:txBody>
      </p:sp>
      <p:sp>
        <p:nvSpPr>
          <p:cNvPr id="1026" name="Google Shape;1026;p20"/>
          <p:cNvSpPr/>
          <p:nvPr/>
        </p:nvSpPr>
        <p:spPr>
          <a:xfrm>
            <a:off x="8267700" y="3362325"/>
            <a:ext cx="352425" cy="276225"/>
          </a:xfrm>
          <a:prstGeom prst="roundRect">
            <a:avLst>
              <a:gd fmla="val 27586" name="adj"/>
            </a:avLst>
          </a:prstGeom>
          <a:solidFill>
            <a:srgbClr val="E6F0EB"/>
          </a:solidFill>
          <a:ln cap="flat" cmpd="sng" w="9525">
            <a:solidFill>
              <a:srgbClr val="2F6F5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7" name="Google Shape;1027;p20"/>
          <p:cNvSpPr/>
          <p:nvPr/>
        </p:nvSpPr>
        <p:spPr>
          <a:xfrm>
            <a:off x="8267700" y="3400425"/>
            <a:ext cx="352425" cy="190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F6F57"/>
              </a:buClr>
              <a:buSzPts val="900"/>
              <a:buFont typeface="Arial"/>
              <a:buNone/>
            </a:pPr>
            <a:r>
              <a:rPr b="1" lang="en-US" sz="900">
                <a:solidFill>
                  <a:srgbClr val="2F6F57"/>
                </a:solidFill>
              </a:rPr>
              <a:t>12</a:t>
            </a:r>
            <a:endParaRPr/>
          </a:p>
        </p:txBody>
      </p:sp>
      <p:sp>
        <p:nvSpPr>
          <p:cNvPr id="1028" name="Google Shape;1028;p20"/>
          <p:cNvSpPr/>
          <p:nvPr/>
        </p:nvSpPr>
        <p:spPr>
          <a:xfrm>
            <a:off x="8734425" y="3343275"/>
            <a:ext cx="1590675" cy="3238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810"/>
              <a:buFont typeface="Arial"/>
              <a:buNone/>
            </a:pPr>
            <a:r>
              <a:rPr b="1" lang="en-US" sz="810">
                <a:solidFill>
                  <a:srgbClr val="1A1A2E"/>
                </a:solidFill>
              </a:rPr>
              <a:t>Core capabilities end to end</a:t>
            </a:r>
            <a:endParaRPr/>
          </a:p>
        </p:txBody>
      </p:sp>
      <p:sp>
        <p:nvSpPr>
          <p:cNvPr id="1029" name="Google Shape;1029;p20"/>
          <p:cNvSpPr/>
          <p:nvPr/>
        </p:nvSpPr>
        <p:spPr>
          <a:xfrm>
            <a:off x="10363200" y="3390900"/>
            <a:ext cx="933450" cy="21907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713"/>
              <a:buFont typeface="Arial"/>
              <a:buNone/>
            </a:pPr>
            <a:r>
              <a:rPr lang="en-US" sz="713">
                <a:solidFill>
                  <a:srgbClr val="666B70"/>
                </a:solidFill>
              </a:rPr>
              <a:t>9–10,13</a:t>
            </a:r>
            <a:endParaRPr/>
          </a:p>
        </p:txBody>
      </p:sp>
      <p:sp>
        <p:nvSpPr>
          <p:cNvPr id="1030" name="Google Shape;1030;p20"/>
          <p:cNvSpPr/>
          <p:nvPr/>
        </p:nvSpPr>
        <p:spPr>
          <a:xfrm>
            <a:off x="8267700" y="3762375"/>
            <a:ext cx="352425" cy="276225"/>
          </a:xfrm>
          <a:prstGeom prst="roundRect">
            <a:avLst>
              <a:gd fmla="val 27586" name="adj"/>
            </a:avLst>
          </a:prstGeom>
          <a:solidFill>
            <a:srgbClr val="E6F0EB"/>
          </a:solidFill>
          <a:ln cap="flat" cmpd="sng" w="9525">
            <a:solidFill>
              <a:srgbClr val="2F6F5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1" name="Google Shape;1031;p20"/>
          <p:cNvSpPr/>
          <p:nvPr/>
        </p:nvSpPr>
        <p:spPr>
          <a:xfrm>
            <a:off x="8267700" y="3800475"/>
            <a:ext cx="352425" cy="190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F6F57"/>
              </a:buClr>
              <a:buSzPts val="900"/>
              <a:buFont typeface="Arial"/>
              <a:buNone/>
            </a:pPr>
            <a:r>
              <a:rPr b="1" lang="en-US" sz="900">
                <a:solidFill>
                  <a:srgbClr val="2F6F57"/>
                </a:solidFill>
              </a:rPr>
              <a:t>8</a:t>
            </a:r>
            <a:endParaRPr/>
          </a:p>
        </p:txBody>
      </p:sp>
      <p:sp>
        <p:nvSpPr>
          <p:cNvPr id="1032" name="Google Shape;1032;p20"/>
          <p:cNvSpPr/>
          <p:nvPr/>
        </p:nvSpPr>
        <p:spPr>
          <a:xfrm>
            <a:off x="8734425" y="3743325"/>
            <a:ext cx="1590675" cy="3238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810"/>
              <a:buFont typeface="Arial"/>
              <a:buNone/>
            </a:pPr>
            <a:r>
              <a:rPr b="1" lang="en-US" sz="810">
                <a:solidFill>
                  <a:srgbClr val="1A1A2E"/>
                </a:solidFill>
              </a:rPr>
              <a:t>Extended capability</a:t>
            </a:r>
            <a:endParaRPr/>
          </a:p>
        </p:txBody>
      </p:sp>
      <p:sp>
        <p:nvSpPr>
          <p:cNvPr id="1033" name="Google Shape;1033;p20"/>
          <p:cNvSpPr/>
          <p:nvPr/>
        </p:nvSpPr>
        <p:spPr>
          <a:xfrm>
            <a:off x="10363200" y="3790950"/>
            <a:ext cx="933450" cy="21907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713"/>
              <a:buFont typeface="Arial"/>
              <a:buNone/>
            </a:pPr>
            <a:r>
              <a:rPr lang="en-US" sz="713">
                <a:solidFill>
                  <a:srgbClr val="666B70"/>
                </a:solidFill>
              </a:rPr>
              <a:t>9, 14</a:t>
            </a:r>
            <a:endParaRPr/>
          </a:p>
        </p:txBody>
      </p:sp>
      <p:sp>
        <p:nvSpPr>
          <p:cNvPr id="1034" name="Google Shape;1034;p20"/>
          <p:cNvSpPr/>
          <p:nvPr/>
        </p:nvSpPr>
        <p:spPr>
          <a:xfrm>
            <a:off x="8267700" y="4162425"/>
            <a:ext cx="352425" cy="276225"/>
          </a:xfrm>
          <a:prstGeom prst="roundRect">
            <a:avLst>
              <a:gd fmla="val 27586" name="adj"/>
            </a:avLst>
          </a:prstGeom>
          <a:solidFill>
            <a:srgbClr val="E6F0EB"/>
          </a:solidFill>
          <a:ln cap="flat" cmpd="sng" w="9525">
            <a:solidFill>
              <a:srgbClr val="2F6F5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5" name="Google Shape;1035;p20"/>
          <p:cNvSpPr/>
          <p:nvPr/>
        </p:nvSpPr>
        <p:spPr>
          <a:xfrm>
            <a:off x="8267700" y="4200525"/>
            <a:ext cx="352425" cy="190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F6F57"/>
              </a:buClr>
              <a:buSzPts val="900"/>
              <a:buFont typeface="Arial"/>
              <a:buNone/>
            </a:pPr>
            <a:r>
              <a:rPr b="1" lang="en-US" sz="900">
                <a:solidFill>
                  <a:srgbClr val="2F6F57"/>
                </a:solidFill>
              </a:rPr>
              <a:t>5</a:t>
            </a:r>
            <a:endParaRPr/>
          </a:p>
        </p:txBody>
      </p:sp>
      <p:sp>
        <p:nvSpPr>
          <p:cNvPr id="1036" name="Google Shape;1036;p20"/>
          <p:cNvSpPr/>
          <p:nvPr/>
        </p:nvSpPr>
        <p:spPr>
          <a:xfrm>
            <a:off x="8734425" y="4143375"/>
            <a:ext cx="1590675" cy="3238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810"/>
              <a:buFont typeface="Arial"/>
              <a:buNone/>
            </a:pPr>
            <a:r>
              <a:rPr b="1" lang="en-US" sz="810">
                <a:solidFill>
                  <a:srgbClr val="1A1A2E"/>
                </a:solidFill>
              </a:rPr>
              <a:t>Observability connected</a:t>
            </a:r>
            <a:endParaRPr/>
          </a:p>
        </p:txBody>
      </p:sp>
      <p:sp>
        <p:nvSpPr>
          <p:cNvPr id="1037" name="Google Shape;1037;p20"/>
          <p:cNvSpPr/>
          <p:nvPr/>
        </p:nvSpPr>
        <p:spPr>
          <a:xfrm>
            <a:off x="10363200" y="4191000"/>
            <a:ext cx="933450" cy="21907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713"/>
              <a:buFont typeface="Arial"/>
              <a:buNone/>
            </a:pPr>
            <a:r>
              <a:rPr lang="en-US" sz="713">
                <a:solidFill>
                  <a:srgbClr val="666B70"/>
                </a:solidFill>
              </a:rPr>
              <a:t>12–13</a:t>
            </a:r>
            <a:endParaRPr/>
          </a:p>
        </p:txBody>
      </p:sp>
      <p:sp>
        <p:nvSpPr>
          <p:cNvPr id="1038" name="Google Shape;1038;p20"/>
          <p:cNvSpPr/>
          <p:nvPr/>
        </p:nvSpPr>
        <p:spPr>
          <a:xfrm>
            <a:off x="8267700" y="4562475"/>
            <a:ext cx="352425" cy="276225"/>
          </a:xfrm>
          <a:prstGeom prst="roundRect">
            <a:avLst>
              <a:gd fmla="val 27586" name="adj"/>
            </a:avLst>
          </a:prstGeom>
          <a:solidFill>
            <a:srgbClr val="E6F0EB"/>
          </a:solidFill>
          <a:ln cap="flat" cmpd="sng" w="9525">
            <a:solidFill>
              <a:srgbClr val="2F6F5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9" name="Google Shape;1039;p20"/>
          <p:cNvSpPr/>
          <p:nvPr/>
        </p:nvSpPr>
        <p:spPr>
          <a:xfrm>
            <a:off x="8267700" y="4600575"/>
            <a:ext cx="352425" cy="190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F6F57"/>
              </a:buClr>
              <a:buSzPts val="900"/>
              <a:buFont typeface="Arial"/>
              <a:buNone/>
            </a:pPr>
            <a:r>
              <a:rPr b="1" lang="en-US" sz="900">
                <a:solidFill>
                  <a:srgbClr val="2F6F57"/>
                </a:solidFill>
              </a:rPr>
              <a:t>5</a:t>
            </a:r>
            <a:endParaRPr/>
          </a:p>
        </p:txBody>
      </p:sp>
      <p:sp>
        <p:nvSpPr>
          <p:cNvPr id="1040" name="Google Shape;1040;p20"/>
          <p:cNvSpPr/>
          <p:nvPr/>
        </p:nvSpPr>
        <p:spPr>
          <a:xfrm>
            <a:off x="8734425" y="4543425"/>
            <a:ext cx="1590675" cy="3238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810"/>
              <a:buFont typeface="Arial"/>
              <a:buNone/>
            </a:pPr>
            <a:r>
              <a:rPr b="1" lang="en-US" sz="810">
                <a:solidFill>
                  <a:srgbClr val="1A1A2E"/>
                </a:solidFill>
              </a:rPr>
              <a:t>Baseline dataset tested</a:t>
            </a:r>
            <a:endParaRPr/>
          </a:p>
        </p:txBody>
      </p:sp>
      <p:sp>
        <p:nvSpPr>
          <p:cNvPr id="1041" name="Google Shape;1041;p20"/>
          <p:cNvSpPr/>
          <p:nvPr/>
        </p:nvSpPr>
        <p:spPr>
          <a:xfrm>
            <a:off x="10363200" y="4591050"/>
            <a:ext cx="933450" cy="21907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713"/>
              <a:buFont typeface="Arial"/>
              <a:buNone/>
            </a:pPr>
            <a:r>
              <a:rPr lang="en-US" sz="713">
                <a:solidFill>
                  <a:srgbClr val="666B70"/>
                </a:solidFill>
              </a:rPr>
              <a:t>11</a:t>
            </a:r>
            <a:endParaRPr/>
          </a:p>
        </p:txBody>
      </p:sp>
      <p:sp>
        <p:nvSpPr>
          <p:cNvPr id="1042" name="Google Shape;1042;p20"/>
          <p:cNvSpPr/>
          <p:nvPr/>
        </p:nvSpPr>
        <p:spPr>
          <a:xfrm>
            <a:off x="8267700" y="4962525"/>
            <a:ext cx="352425" cy="276225"/>
          </a:xfrm>
          <a:prstGeom prst="roundRect">
            <a:avLst>
              <a:gd fmla="val 27586" name="adj"/>
            </a:avLst>
          </a:prstGeom>
          <a:solidFill>
            <a:srgbClr val="E6F0EB"/>
          </a:solidFill>
          <a:ln cap="flat" cmpd="sng" w="9525">
            <a:solidFill>
              <a:srgbClr val="2F6F5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3" name="Google Shape;1043;p20"/>
          <p:cNvSpPr/>
          <p:nvPr/>
        </p:nvSpPr>
        <p:spPr>
          <a:xfrm>
            <a:off x="8267700" y="5000625"/>
            <a:ext cx="352425" cy="190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F6F57"/>
              </a:buClr>
              <a:buSzPts val="900"/>
              <a:buFont typeface="Arial"/>
              <a:buNone/>
            </a:pPr>
            <a:r>
              <a:rPr b="1" lang="en-US" sz="900">
                <a:solidFill>
                  <a:srgbClr val="2F6F57"/>
                </a:solidFill>
              </a:rPr>
              <a:t>5</a:t>
            </a:r>
            <a:endParaRPr/>
          </a:p>
        </p:txBody>
      </p:sp>
      <p:sp>
        <p:nvSpPr>
          <p:cNvPr id="1044" name="Google Shape;1044;p20"/>
          <p:cNvSpPr/>
          <p:nvPr/>
        </p:nvSpPr>
        <p:spPr>
          <a:xfrm>
            <a:off x="8734425" y="4943475"/>
            <a:ext cx="1590675" cy="3238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810"/>
              <a:buFont typeface="Arial"/>
              <a:buNone/>
            </a:pPr>
            <a:r>
              <a:rPr b="1" lang="en-US" sz="810">
                <a:solidFill>
                  <a:srgbClr val="1A1A2E"/>
                </a:solidFill>
              </a:rPr>
              <a:t>Cost and evaluation strategy</a:t>
            </a:r>
            <a:endParaRPr/>
          </a:p>
        </p:txBody>
      </p:sp>
      <p:sp>
        <p:nvSpPr>
          <p:cNvPr id="1045" name="Google Shape;1045;p20"/>
          <p:cNvSpPr/>
          <p:nvPr/>
        </p:nvSpPr>
        <p:spPr>
          <a:xfrm>
            <a:off x="10363200" y="4991100"/>
            <a:ext cx="933450" cy="21907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713"/>
              <a:buFont typeface="Arial"/>
              <a:buNone/>
            </a:pPr>
            <a:r>
              <a:rPr lang="en-US" sz="713">
                <a:solidFill>
                  <a:srgbClr val="666B70"/>
                </a:solidFill>
              </a:rPr>
              <a:t>12,15</a:t>
            </a:r>
            <a:endParaRPr/>
          </a:p>
        </p:txBody>
      </p:sp>
      <p:sp>
        <p:nvSpPr>
          <p:cNvPr id="1046" name="Google Shape;1046;p20"/>
          <p:cNvSpPr/>
          <p:nvPr/>
        </p:nvSpPr>
        <p:spPr>
          <a:xfrm>
            <a:off x="8267700" y="5400675"/>
            <a:ext cx="3048000" cy="228600"/>
          </a:xfrm>
          <a:prstGeom prst="roundRect">
            <a:avLst>
              <a:gd fmla="val 33333" name="adj"/>
            </a:avLst>
          </a:prstGeom>
          <a:solidFill>
            <a:srgbClr val="E6F0EB"/>
          </a:solidFill>
          <a:ln cap="flat" cmpd="sng" w="9525">
            <a:solidFill>
              <a:srgbClr val="2F6F5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7" name="Google Shape;1047;p20"/>
          <p:cNvSpPr/>
          <p:nvPr/>
        </p:nvSpPr>
        <p:spPr>
          <a:xfrm>
            <a:off x="8267700" y="5419725"/>
            <a:ext cx="3048000" cy="171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F6F57"/>
              </a:buClr>
              <a:buSzPts val="863"/>
              <a:buFont typeface="Arial"/>
              <a:buNone/>
            </a:pPr>
            <a:r>
              <a:rPr b="1" lang="en-US" sz="863">
                <a:solidFill>
                  <a:srgbClr val="2F6F57"/>
                </a:solidFill>
              </a:rPr>
              <a:t>45 / 45 points represented</a:t>
            </a:r>
            <a:endParaRPr/>
          </a:p>
        </p:txBody>
      </p:sp>
      <p:sp>
        <p:nvSpPr>
          <p:cNvPr id="1048" name="Google Shape;1048;p20"/>
          <p:cNvSpPr/>
          <p:nvPr/>
        </p:nvSpPr>
        <p:spPr>
          <a:xfrm>
            <a:off x="619125" y="5838825"/>
            <a:ext cx="10953750" cy="266700"/>
          </a:xfrm>
          <a:prstGeom prst="roundRect">
            <a:avLst>
              <a:gd fmla="val 28571" name="adj"/>
            </a:avLst>
          </a:prstGeom>
          <a:solidFill>
            <a:srgbClr val="F0EBE5"/>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9" name="Google Shape;1049;p20"/>
          <p:cNvSpPr/>
          <p:nvPr/>
        </p:nvSpPr>
        <p:spPr>
          <a:xfrm>
            <a:off x="809625" y="5886450"/>
            <a:ext cx="1524000" cy="171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B85042"/>
              </a:buClr>
              <a:buSzPts val="788"/>
              <a:buFont typeface="Arial"/>
              <a:buNone/>
            </a:pPr>
            <a:r>
              <a:rPr b="1" lang="en-US" sz="788">
                <a:solidFill>
                  <a:srgbClr val="B85042"/>
                </a:solidFill>
              </a:rPr>
              <a:t>TOTAL COVERAGE</a:t>
            </a:r>
            <a:endParaRPr/>
          </a:p>
        </p:txBody>
      </p:sp>
      <p:sp>
        <p:nvSpPr>
          <p:cNvPr id="1050" name="Google Shape;1050;p20"/>
          <p:cNvSpPr/>
          <p:nvPr/>
        </p:nvSpPr>
        <p:spPr>
          <a:xfrm>
            <a:off x="4972050" y="5876925"/>
            <a:ext cx="2381250" cy="190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1013"/>
              <a:buFont typeface="Arial"/>
              <a:buNone/>
            </a:pPr>
            <a:r>
              <a:rPr b="1" lang="en-US" sz="1013">
                <a:solidFill>
                  <a:srgbClr val="1A1A2E"/>
                </a:solidFill>
              </a:rPr>
              <a:t>80 / 80 points mapped</a:t>
            </a:r>
            <a:endParaRPr/>
          </a:p>
        </p:txBody>
      </p:sp>
      <p:sp>
        <p:nvSpPr>
          <p:cNvPr id="1051" name="Google Shape;1051;p20"/>
          <p:cNvSpPr/>
          <p:nvPr/>
        </p:nvSpPr>
        <p:spPr>
          <a:xfrm>
            <a:off x="7924800" y="5876925"/>
            <a:ext cx="3333750" cy="190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F6F57"/>
              </a:buClr>
              <a:buSzPts val="863"/>
              <a:buFont typeface="Arial"/>
              <a:buNone/>
            </a:pPr>
            <a:r>
              <a:rPr b="1" lang="en-US" sz="863">
                <a:solidFill>
                  <a:srgbClr val="2F6F57"/>
                </a:solidFill>
              </a:rPr>
              <a:t>Written evidence + deck + runtime receipts</a:t>
            </a:r>
            <a:endParaRPr/>
          </a:p>
        </p:txBody>
      </p:sp>
      <p:sp>
        <p:nvSpPr>
          <p:cNvPr id="1052" name="Google Shape;1052;p20"/>
          <p:cNvSpPr/>
          <p:nvPr/>
        </p:nvSpPr>
        <p:spPr>
          <a:xfrm>
            <a:off x="0" y="6267450"/>
            <a:ext cx="12192000" cy="590550"/>
          </a:xfrm>
          <a:prstGeom prst="rect">
            <a:avLst/>
          </a:prstGeom>
          <a:solidFill>
            <a:srgbClr val="1A1A2E"/>
          </a:solidFill>
          <a:ln cap="flat" cmpd="sng" w="9525">
            <a:solidFill>
              <a:srgbClr val="1A1A2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3" name="Google Shape;1053;p20"/>
          <p:cNvSpPr/>
          <p:nvPr/>
        </p:nvSpPr>
        <p:spPr>
          <a:xfrm>
            <a:off x="781050" y="6381750"/>
            <a:ext cx="1905000" cy="190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C9C6D8"/>
              </a:buClr>
              <a:buSzPts val="825"/>
              <a:buFont typeface="Arial"/>
              <a:buNone/>
            </a:pPr>
            <a:r>
              <a:rPr b="1" lang="en-US" sz="825">
                <a:solidFill>
                  <a:srgbClr val="C9C6D8"/>
                </a:solidFill>
              </a:rPr>
              <a:t>APPENDIX A1</a:t>
            </a:r>
            <a:endParaRPr/>
          </a:p>
        </p:txBody>
      </p:sp>
      <p:sp>
        <p:nvSpPr>
          <p:cNvPr id="1054" name="Google Shape;1054;p20"/>
          <p:cNvSpPr/>
          <p:nvPr/>
        </p:nvSpPr>
        <p:spPr>
          <a:xfrm>
            <a:off x="2705100" y="6343650"/>
            <a:ext cx="8705850" cy="29527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FFFFFF"/>
              </a:buClr>
              <a:buSzPts val="1200"/>
              <a:buFont typeface="Arial"/>
              <a:buNone/>
            </a:pPr>
            <a:r>
              <a:rPr b="1" lang="en-US" sz="1200">
                <a:solidFill>
                  <a:srgbClr val="FFFFFF"/>
                </a:solidFill>
              </a:rPr>
              <a:t>No rubric claim stands alone: each resolves to a written artifact, a slide, and supporting evidence.</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4EE"/>
        </a:solidFill>
      </p:bgPr>
    </p:bg>
    <p:spTree>
      <p:nvGrpSpPr>
        <p:cNvPr id="1059" name="Shape 1059"/>
        <p:cNvGrpSpPr/>
        <p:nvPr/>
      </p:nvGrpSpPr>
      <p:grpSpPr>
        <a:xfrm>
          <a:off x="0" y="0"/>
          <a:ext cx="0" cy="0"/>
          <a:chOff x="0" y="0"/>
          <a:chExt cx="0" cy="0"/>
        </a:xfrm>
      </p:grpSpPr>
      <p:sp>
        <p:nvSpPr>
          <p:cNvPr id="1060" name="Google Shape;1060;p21"/>
          <p:cNvSpPr/>
          <p:nvPr/>
        </p:nvSpPr>
        <p:spPr>
          <a:xfrm>
            <a:off x="0" y="0"/>
            <a:ext cx="12192000" cy="76200"/>
          </a:xfrm>
          <a:prstGeom prst="rect">
            <a:avLst/>
          </a:prstGeom>
          <a:solidFill>
            <a:srgbClr val="B85042"/>
          </a:solidFill>
          <a:ln cap="flat" cmpd="sng" w="9525">
            <a:solidFill>
              <a:srgbClr val="B8504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1" name="Google Shape;1061;p21"/>
          <p:cNvSpPr/>
          <p:nvPr/>
        </p:nvSpPr>
        <p:spPr>
          <a:xfrm>
            <a:off x="514350" y="685800"/>
            <a:ext cx="66675" cy="800100"/>
          </a:xfrm>
          <a:prstGeom prst="rect">
            <a:avLst/>
          </a:prstGeom>
          <a:solidFill>
            <a:srgbClr val="B85042"/>
          </a:solidFill>
          <a:ln cap="flat" cmpd="sng" w="9525">
            <a:solidFill>
              <a:srgbClr val="B8504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2" name="Google Shape;1062;p21"/>
          <p:cNvSpPr/>
          <p:nvPr/>
        </p:nvSpPr>
        <p:spPr>
          <a:xfrm>
            <a:off x="781050" y="495300"/>
            <a:ext cx="6667500" cy="2667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B85042"/>
              </a:buClr>
              <a:buSzPts val="975"/>
              <a:buFont typeface="Arial"/>
              <a:buNone/>
            </a:pPr>
            <a:r>
              <a:rPr b="1" lang="en-US" sz="975">
                <a:solidFill>
                  <a:srgbClr val="B85042"/>
                </a:solidFill>
              </a:rPr>
              <a:t>A2  ·  COMPLETE WORKFLOW INVENTORY</a:t>
            </a:r>
            <a:endParaRPr/>
          </a:p>
        </p:txBody>
      </p:sp>
      <p:sp>
        <p:nvSpPr>
          <p:cNvPr id="1063" name="Google Shape;1063;p21"/>
          <p:cNvSpPr/>
          <p:nvPr/>
        </p:nvSpPr>
        <p:spPr>
          <a:xfrm>
            <a:off x="781050" y="828675"/>
            <a:ext cx="10629900" cy="552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2550"/>
              <a:buFont typeface="Arial"/>
              <a:buNone/>
            </a:pPr>
            <a:r>
              <a:rPr b="1" lang="en-US" sz="2550">
                <a:solidFill>
                  <a:srgbClr val="1A1A2E"/>
                </a:solidFill>
              </a:rPr>
              <a:t>Nine versioned workflows form the v0.3.8 candidate set</a:t>
            </a:r>
            <a:endParaRPr/>
          </a:p>
        </p:txBody>
      </p:sp>
      <p:sp>
        <p:nvSpPr>
          <p:cNvPr id="1064" name="Google Shape;1064;p21"/>
          <p:cNvSpPr/>
          <p:nvPr/>
        </p:nvSpPr>
        <p:spPr>
          <a:xfrm>
            <a:off x="781050" y="1438275"/>
            <a:ext cx="10629900" cy="29527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1238"/>
              <a:buFont typeface="Arial"/>
              <a:buNone/>
            </a:pPr>
            <a:r>
              <a:rPr lang="en-US" sz="1238">
                <a:solidFill>
                  <a:srgbClr val="666B70"/>
                </a:solidFill>
              </a:rPr>
              <a:t>The accepted parent uses a minimal-change hybrid call graph while the complete candidate copy remains exportable and auditable.</a:t>
            </a:r>
            <a:endParaRPr/>
          </a:p>
        </p:txBody>
      </p:sp>
      <p:sp>
        <p:nvSpPr>
          <p:cNvPr id="1065" name="Google Shape;1065;p21"/>
          <p:cNvSpPr/>
          <p:nvPr/>
        </p:nvSpPr>
        <p:spPr>
          <a:xfrm>
            <a:off x="619125" y="1943100"/>
            <a:ext cx="7362825" cy="4029075"/>
          </a:xfrm>
          <a:prstGeom prst="roundRect">
            <a:avLst>
              <a:gd fmla="val 1891" name="adj"/>
            </a:avLst>
          </a:prstGeom>
          <a:solidFill>
            <a:srgbClr val="FFFFFF"/>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6" name="Google Shape;1066;p21"/>
          <p:cNvSpPr/>
          <p:nvPr/>
        </p:nvSpPr>
        <p:spPr>
          <a:xfrm>
            <a:off x="619125" y="1943100"/>
            <a:ext cx="7362825" cy="419100"/>
          </a:xfrm>
          <a:prstGeom prst="roundRect">
            <a:avLst>
              <a:gd fmla="val 18182" name="adj"/>
            </a:avLst>
          </a:prstGeom>
          <a:solidFill>
            <a:srgbClr val="1A1A2E"/>
          </a:solidFill>
          <a:ln cap="flat" cmpd="sng" w="9525">
            <a:solidFill>
              <a:srgbClr val="1A1A2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7" name="Google Shape;1067;p21"/>
          <p:cNvSpPr/>
          <p:nvPr/>
        </p:nvSpPr>
        <p:spPr>
          <a:xfrm>
            <a:off x="742950" y="2047875"/>
            <a:ext cx="285750" cy="190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FFFFFF"/>
              </a:buClr>
              <a:buSzPts val="788"/>
              <a:buFont typeface="Arial"/>
              <a:buNone/>
            </a:pPr>
            <a:r>
              <a:rPr b="1" lang="en-US" sz="788">
                <a:solidFill>
                  <a:srgbClr val="FFFFFF"/>
                </a:solidFill>
              </a:rPr>
              <a:t>#</a:t>
            </a:r>
            <a:endParaRPr/>
          </a:p>
        </p:txBody>
      </p:sp>
      <p:sp>
        <p:nvSpPr>
          <p:cNvPr id="1068" name="Google Shape;1068;p21"/>
          <p:cNvSpPr/>
          <p:nvPr/>
        </p:nvSpPr>
        <p:spPr>
          <a:xfrm>
            <a:off x="1123950" y="2047875"/>
            <a:ext cx="3429000" cy="190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FFFFFF"/>
              </a:buClr>
              <a:buSzPts val="788"/>
              <a:buFont typeface="Arial"/>
              <a:buNone/>
            </a:pPr>
            <a:r>
              <a:rPr b="1" lang="en-US" sz="788">
                <a:solidFill>
                  <a:srgbClr val="FFFFFF"/>
                </a:solidFill>
              </a:rPr>
              <a:t>v0.3.8 CANDIDATE WORKFLOW</a:t>
            </a:r>
            <a:endParaRPr/>
          </a:p>
        </p:txBody>
      </p:sp>
      <p:sp>
        <p:nvSpPr>
          <p:cNvPr id="1069" name="Google Shape;1069;p21"/>
          <p:cNvSpPr/>
          <p:nvPr/>
        </p:nvSpPr>
        <p:spPr>
          <a:xfrm>
            <a:off x="4657725" y="2047875"/>
            <a:ext cx="1762125" cy="190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FFFFFF"/>
              </a:buClr>
              <a:buSzPts val="788"/>
              <a:buFont typeface="Arial"/>
              <a:buNone/>
            </a:pPr>
            <a:r>
              <a:rPr b="1" lang="en-US" sz="788">
                <a:solidFill>
                  <a:srgbClr val="FFFFFF"/>
                </a:solidFill>
              </a:rPr>
              <a:t>LIVE n8n ID</a:t>
            </a:r>
            <a:endParaRPr/>
          </a:p>
        </p:txBody>
      </p:sp>
      <p:sp>
        <p:nvSpPr>
          <p:cNvPr id="1070" name="Google Shape;1070;p21"/>
          <p:cNvSpPr/>
          <p:nvPr/>
        </p:nvSpPr>
        <p:spPr>
          <a:xfrm>
            <a:off x="6496050" y="2047875"/>
            <a:ext cx="1304925" cy="190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FFFFFF"/>
              </a:buClr>
              <a:buSzPts val="788"/>
              <a:buFont typeface="Arial"/>
              <a:buNone/>
            </a:pPr>
            <a:r>
              <a:rPr b="1" lang="en-US" sz="788">
                <a:solidFill>
                  <a:srgbClr val="FFFFFF"/>
                </a:solidFill>
              </a:rPr>
              <a:t>DISPOSITION</a:t>
            </a:r>
            <a:endParaRPr/>
          </a:p>
        </p:txBody>
      </p:sp>
      <p:sp>
        <p:nvSpPr>
          <p:cNvPr id="1071" name="Google Shape;1071;p21"/>
          <p:cNvSpPr/>
          <p:nvPr/>
        </p:nvSpPr>
        <p:spPr>
          <a:xfrm>
            <a:off x="619125" y="2362200"/>
            <a:ext cx="7362825" cy="400050"/>
          </a:xfrm>
          <a:prstGeom prst="rect">
            <a:avLst/>
          </a:prstGeom>
          <a:solidFill>
            <a:srgbClr val="FFFFFF"/>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2" name="Google Shape;1072;p21"/>
          <p:cNvSpPr/>
          <p:nvPr/>
        </p:nvSpPr>
        <p:spPr>
          <a:xfrm>
            <a:off x="619125" y="2362200"/>
            <a:ext cx="57150" cy="400050"/>
          </a:xfrm>
          <a:prstGeom prst="rect">
            <a:avLst/>
          </a:prstGeom>
          <a:solidFill>
            <a:srgbClr val="B85042"/>
          </a:solidFill>
          <a:ln cap="flat" cmpd="sng" w="9525">
            <a:solidFill>
              <a:srgbClr val="B8504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3" name="Google Shape;1073;p21"/>
          <p:cNvSpPr/>
          <p:nvPr/>
        </p:nvSpPr>
        <p:spPr>
          <a:xfrm>
            <a:off x="723900" y="2438400"/>
            <a:ext cx="361950" cy="247650"/>
          </a:xfrm>
          <a:prstGeom prst="roundRect">
            <a:avLst>
              <a:gd fmla="val 30769" name="adj"/>
            </a:avLst>
          </a:prstGeom>
          <a:solidFill>
            <a:srgbClr val="F3E6E2"/>
          </a:solidFill>
          <a:ln cap="flat" cmpd="sng" w="9525">
            <a:solidFill>
              <a:srgbClr val="B8504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4" name="Google Shape;1074;p21"/>
          <p:cNvSpPr/>
          <p:nvPr/>
        </p:nvSpPr>
        <p:spPr>
          <a:xfrm>
            <a:off x="723900" y="2466975"/>
            <a:ext cx="361950" cy="18097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B85042"/>
              </a:buClr>
              <a:buSzPts val="675"/>
              <a:buFont typeface="Arial"/>
              <a:buNone/>
            </a:pPr>
            <a:r>
              <a:rPr b="1" lang="en-US" sz="675">
                <a:solidFill>
                  <a:srgbClr val="B85042"/>
                </a:solidFill>
              </a:rPr>
              <a:t>00</a:t>
            </a:r>
            <a:endParaRPr/>
          </a:p>
        </p:txBody>
      </p:sp>
      <p:sp>
        <p:nvSpPr>
          <p:cNvPr id="1075" name="Google Shape;1075;p21"/>
          <p:cNvSpPr/>
          <p:nvPr/>
        </p:nvSpPr>
        <p:spPr>
          <a:xfrm>
            <a:off x="1181100" y="2428875"/>
            <a:ext cx="3352800" cy="2667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788"/>
              <a:buFont typeface="Arial"/>
              <a:buNone/>
            </a:pPr>
            <a:r>
              <a:rPr b="1" lang="en-US" sz="788">
                <a:solidFill>
                  <a:srgbClr val="1A1A2E"/>
                </a:solidFill>
              </a:rPr>
              <a:t>PRD Genie — Main Orchestrator — v0.3.8 Candidate</a:t>
            </a:r>
            <a:endParaRPr/>
          </a:p>
        </p:txBody>
      </p:sp>
      <p:sp>
        <p:nvSpPr>
          <p:cNvPr id="1076" name="Google Shape;1076;p21"/>
          <p:cNvSpPr/>
          <p:nvPr/>
        </p:nvSpPr>
        <p:spPr>
          <a:xfrm>
            <a:off x="4657725" y="2438400"/>
            <a:ext cx="1724025" cy="2476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788"/>
              <a:buFont typeface="Arial"/>
              <a:buNone/>
            </a:pPr>
            <a:r>
              <a:rPr lang="en-US" sz="788">
                <a:solidFill>
                  <a:srgbClr val="666B70"/>
                </a:solidFill>
              </a:rPr>
              <a:t>YCgHHBa8xUvSOYGI</a:t>
            </a:r>
            <a:endParaRPr/>
          </a:p>
        </p:txBody>
      </p:sp>
      <p:sp>
        <p:nvSpPr>
          <p:cNvPr id="1077" name="Google Shape;1077;p21"/>
          <p:cNvSpPr/>
          <p:nvPr/>
        </p:nvSpPr>
        <p:spPr>
          <a:xfrm>
            <a:off x="6515100" y="2438400"/>
            <a:ext cx="1266825" cy="247650"/>
          </a:xfrm>
          <a:prstGeom prst="roundRect">
            <a:avLst>
              <a:gd fmla="val 30769" name="adj"/>
            </a:avLst>
          </a:prstGeom>
          <a:solidFill>
            <a:srgbClr val="E6F0EB"/>
          </a:solidFill>
          <a:ln cap="flat" cmpd="sng" w="9525">
            <a:solidFill>
              <a:srgbClr val="2F6F5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8" name="Google Shape;1078;p21"/>
          <p:cNvSpPr/>
          <p:nvPr/>
        </p:nvSpPr>
        <p:spPr>
          <a:xfrm>
            <a:off x="6562725" y="2466975"/>
            <a:ext cx="1171575" cy="18097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F6F57"/>
              </a:buClr>
              <a:buSzPts val="728"/>
              <a:buFont typeface="Arial"/>
              <a:buNone/>
            </a:pPr>
            <a:r>
              <a:rPr b="1" lang="en-US" sz="728">
                <a:solidFill>
                  <a:srgbClr val="2F6F57"/>
                </a:solidFill>
              </a:rPr>
              <a:t>Accepted parent</a:t>
            </a:r>
            <a:endParaRPr/>
          </a:p>
        </p:txBody>
      </p:sp>
      <p:sp>
        <p:nvSpPr>
          <p:cNvPr id="1079" name="Google Shape;1079;p21"/>
          <p:cNvSpPr/>
          <p:nvPr/>
        </p:nvSpPr>
        <p:spPr>
          <a:xfrm>
            <a:off x="619125" y="2762250"/>
            <a:ext cx="7362825" cy="400050"/>
          </a:xfrm>
          <a:prstGeom prst="rect">
            <a:avLst/>
          </a:prstGeom>
          <a:solidFill>
            <a:srgbClr val="FCFAF7"/>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0" name="Google Shape;1080;p21"/>
          <p:cNvSpPr/>
          <p:nvPr/>
        </p:nvSpPr>
        <p:spPr>
          <a:xfrm>
            <a:off x="619125" y="2762250"/>
            <a:ext cx="57150" cy="400050"/>
          </a:xfrm>
          <a:prstGeom prst="rect">
            <a:avLst/>
          </a:prstGeom>
          <a:solidFill>
            <a:srgbClr val="3B6EBF"/>
          </a:solidFill>
          <a:ln cap="flat" cmpd="sng" w="9525">
            <a:solidFill>
              <a:srgbClr val="3B6EB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1" name="Google Shape;1081;p21"/>
          <p:cNvSpPr/>
          <p:nvPr/>
        </p:nvSpPr>
        <p:spPr>
          <a:xfrm>
            <a:off x="723900" y="2838450"/>
            <a:ext cx="361950" cy="247650"/>
          </a:xfrm>
          <a:prstGeom prst="roundRect">
            <a:avLst>
              <a:gd fmla="val 30769" name="adj"/>
            </a:avLst>
          </a:prstGeom>
          <a:solidFill>
            <a:srgbClr val="E8EFF9"/>
          </a:solidFill>
          <a:ln cap="flat" cmpd="sng" w="9525">
            <a:solidFill>
              <a:srgbClr val="3B6EB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2" name="Google Shape;1082;p21"/>
          <p:cNvSpPr/>
          <p:nvPr/>
        </p:nvSpPr>
        <p:spPr>
          <a:xfrm>
            <a:off x="723900" y="2867025"/>
            <a:ext cx="361950" cy="18097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3B6EBF"/>
              </a:buClr>
              <a:buSzPts val="675"/>
              <a:buFont typeface="Arial"/>
              <a:buNone/>
            </a:pPr>
            <a:r>
              <a:rPr b="1" lang="en-US" sz="675">
                <a:solidFill>
                  <a:srgbClr val="3B6EBF"/>
                </a:solidFill>
              </a:rPr>
              <a:t>01</a:t>
            </a:r>
            <a:endParaRPr/>
          </a:p>
        </p:txBody>
      </p:sp>
      <p:sp>
        <p:nvSpPr>
          <p:cNvPr id="1083" name="Google Shape;1083;p21"/>
          <p:cNvSpPr/>
          <p:nvPr/>
        </p:nvSpPr>
        <p:spPr>
          <a:xfrm>
            <a:off x="1181100" y="2828925"/>
            <a:ext cx="3352800" cy="2667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788"/>
              <a:buFont typeface="Arial"/>
              <a:buNone/>
            </a:pPr>
            <a:r>
              <a:rPr b="1" lang="en-US" sz="788">
                <a:solidFill>
                  <a:srgbClr val="1A1A2E"/>
                </a:solidFill>
              </a:rPr>
              <a:t>PRD Genie — Drive Intake + Clarification Gate — v0.3.8 Candidate</a:t>
            </a:r>
            <a:endParaRPr/>
          </a:p>
        </p:txBody>
      </p:sp>
      <p:sp>
        <p:nvSpPr>
          <p:cNvPr id="1084" name="Google Shape;1084;p21"/>
          <p:cNvSpPr/>
          <p:nvPr/>
        </p:nvSpPr>
        <p:spPr>
          <a:xfrm>
            <a:off x="4657725" y="2838450"/>
            <a:ext cx="1724025" cy="2476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788"/>
              <a:buFont typeface="Arial"/>
              <a:buNone/>
            </a:pPr>
            <a:r>
              <a:rPr lang="en-US" sz="788">
                <a:solidFill>
                  <a:srgbClr val="666B70"/>
                </a:solidFill>
              </a:rPr>
              <a:t>CQEgz6G2sPHhehjW</a:t>
            </a:r>
            <a:endParaRPr/>
          </a:p>
        </p:txBody>
      </p:sp>
      <p:sp>
        <p:nvSpPr>
          <p:cNvPr id="1085" name="Google Shape;1085;p21"/>
          <p:cNvSpPr/>
          <p:nvPr/>
        </p:nvSpPr>
        <p:spPr>
          <a:xfrm>
            <a:off x="6515100" y="2838450"/>
            <a:ext cx="1266825" cy="247650"/>
          </a:xfrm>
          <a:prstGeom prst="roundRect">
            <a:avLst>
              <a:gd fmla="val 30769" name="adj"/>
            </a:avLst>
          </a:prstGeom>
          <a:solidFill>
            <a:srgbClr val="F0EBE5"/>
          </a:solidFill>
          <a:ln cap="flat" cmpd="sng" w="9525">
            <a:solidFill>
              <a:srgbClr val="666B7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6" name="Google Shape;1086;p21"/>
          <p:cNvSpPr/>
          <p:nvPr/>
        </p:nvSpPr>
        <p:spPr>
          <a:xfrm>
            <a:off x="6562725" y="2867025"/>
            <a:ext cx="1171575" cy="18097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728"/>
              <a:buFont typeface="Arial"/>
              <a:buNone/>
            </a:pPr>
            <a:r>
              <a:rPr b="1" lang="en-US" sz="728">
                <a:solidFill>
                  <a:srgbClr val="666B70"/>
                </a:solidFill>
              </a:rPr>
              <a:t>Snapshot copy</a:t>
            </a:r>
            <a:endParaRPr/>
          </a:p>
        </p:txBody>
      </p:sp>
      <p:sp>
        <p:nvSpPr>
          <p:cNvPr id="1087" name="Google Shape;1087;p21"/>
          <p:cNvSpPr/>
          <p:nvPr/>
        </p:nvSpPr>
        <p:spPr>
          <a:xfrm>
            <a:off x="619125" y="3162300"/>
            <a:ext cx="7362825" cy="400050"/>
          </a:xfrm>
          <a:prstGeom prst="rect">
            <a:avLst/>
          </a:prstGeom>
          <a:solidFill>
            <a:srgbClr val="FFFFFF"/>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8" name="Google Shape;1088;p21"/>
          <p:cNvSpPr/>
          <p:nvPr/>
        </p:nvSpPr>
        <p:spPr>
          <a:xfrm>
            <a:off x="619125" y="3162300"/>
            <a:ext cx="57150" cy="400050"/>
          </a:xfrm>
          <a:prstGeom prst="rect">
            <a:avLst/>
          </a:prstGeom>
          <a:solidFill>
            <a:srgbClr val="3B6EBF"/>
          </a:solidFill>
          <a:ln cap="flat" cmpd="sng" w="9525">
            <a:solidFill>
              <a:srgbClr val="3B6EB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9" name="Google Shape;1089;p21"/>
          <p:cNvSpPr/>
          <p:nvPr/>
        </p:nvSpPr>
        <p:spPr>
          <a:xfrm>
            <a:off x="723900" y="3238500"/>
            <a:ext cx="361950" cy="247650"/>
          </a:xfrm>
          <a:prstGeom prst="roundRect">
            <a:avLst>
              <a:gd fmla="val 30769" name="adj"/>
            </a:avLst>
          </a:prstGeom>
          <a:solidFill>
            <a:srgbClr val="E8EFF9"/>
          </a:solidFill>
          <a:ln cap="flat" cmpd="sng" w="9525">
            <a:solidFill>
              <a:srgbClr val="3B6EB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0" name="Google Shape;1090;p21"/>
          <p:cNvSpPr/>
          <p:nvPr/>
        </p:nvSpPr>
        <p:spPr>
          <a:xfrm>
            <a:off x="723900" y="3267075"/>
            <a:ext cx="361950" cy="18097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3B6EBF"/>
              </a:buClr>
              <a:buSzPts val="675"/>
              <a:buFont typeface="Arial"/>
              <a:buNone/>
            </a:pPr>
            <a:r>
              <a:rPr b="1" lang="en-US" sz="675">
                <a:solidFill>
                  <a:srgbClr val="3B6EBF"/>
                </a:solidFill>
              </a:rPr>
              <a:t>02</a:t>
            </a:r>
            <a:endParaRPr/>
          </a:p>
        </p:txBody>
      </p:sp>
      <p:sp>
        <p:nvSpPr>
          <p:cNvPr id="1091" name="Google Shape;1091;p21"/>
          <p:cNvSpPr/>
          <p:nvPr/>
        </p:nvSpPr>
        <p:spPr>
          <a:xfrm>
            <a:off x="1181100" y="3228975"/>
            <a:ext cx="3352800" cy="2667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788"/>
              <a:buFont typeface="Arial"/>
              <a:buNone/>
            </a:pPr>
            <a:r>
              <a:rPr b="1" lang="en-US" sz="788">
                <a:solidFill>
                  <a:srgbClr val="1A1A2E"/>
                </a:solidFill>
              </a:rPr>
              <a:t>PRD Genie — Requirement Extractor — v0.3.8 Candidate</a:t>
            </a:r>
            <a:endParaRPr/>
          </a:p>
        </p:txBody>
      </p:sp>
      <p:sp>
        <p:nvSpPr>
          <p:cNvPr id="1092" name="Google Shape;1092;p21"/>
          <p:cNvSpPr/>
          <p:nvPr/>
        </p:nvSpPr>
        <p:spPr>
          <a:xfrm>
            <a:off x="4657725" y="3238500"/>
            <a:ext cx="1724025" cy="2476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788"/>
              <a:buFont typeface="Arial"/>
              <a:buNone/>
            </a:pPr>
            <a:r>
              <a:rPr lang="en-US" sz="788">
                <a:solidFill>
                  <a:srgbClr val="666B70"/>
                </a:solidFill>
              </a:rPr>
              <a:t>YcNGjVHdyAJgZeod</a:t>
            </a:r>
            <a:endParaRPr/>
          </a:p>
        </p:txBody>
      </p:sp>
      <p:sp>
        <p:nvSpPr>
          <p:cNvPr id="1093" name="Google Shape;1093;p21"/>
          <p:cNvSpPr/>
          <p:nvPr/>
        </p:nvSpPr>
        <p:spPr>
          <a:xfrm>
            <a:off x="6515100" y="3238500"/>
            <a:ext cx="1266825" cy="247650"/>
          </a:xfrm>
          <a:prstGeom prst="roundRect">
            <a:avLst>
              <a:gd fmla="val 30769" name="adj"/>
            </a:avLst>
          </a:prstGeom>
          <a:solidFill>
            <a:srgbClr val="F0EBE5"/>
          </a:solidFill>
          <a:ln cap="flat" cmpd="sng" w="9525">
            <a:solidFill>
              <a:srgbClr val="666B7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4" name="Google Shape;1094;p21"/>
          <p:cNvSpPr/>
          <p:nvPr/>
        </p:nvSpPr>
        <p:spPr>
          <a:xfrm>
            <a:off x="6562725" y="3267075"/>
            <a:ext cx="1171575" cy="18097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728"/>
              <a:buFont typeface="Arial"/>
              <a:buNone/>
            </a:pPr>
            <a:r>
              <a:rPr b="1" lang="en-US" sz="728">
                <a:solidFill>
                  <a:srgbClr val="666B70"/>
                </a:solidFill>
              </a:rPr>
              <a:t>Snapshot copy</a:t>
            </a:r>
            <a:endParaRPr/>
          </a:p>
        </p:txBody>
      </p:sp>
      <p:sp>
        <p:nvSpPr>
          <p:cNvPr id="1095" name="Google Shape;1095;p21"/>
          <p:cNvSpPr/>
          <p:nvPr/>
        </p:nvSpPr>
        <p:spPr>
          <a:xfrm>
            <a:off x="619125" y="3562350"/>
            <a:ext cx="7362825" cy="400050"/>
          </a:xfrm>
          <a:prstGeom prst="rect">
            <a:avLst/>
          </a:prstGeom>
          <a:solidFill>
            <a:srgbClr val="FCFAF7"/>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6" name="Google Shape;1096;p21"/>
          <p:cNvSpPr/>
          <p:nvPr/>
        </p:nvSpPr>
        <p:spPr>
          <a:xfrm>
            <a:off x="619125" y="3562350"/>
            <a:ext cx="57150" cy="400050"/>
          </a:xfrm>
          <a:prstGeom prst="rect">
            <a:avLst/>
          </a:prstGeom>
          <a:solidFill>
            <a:srgbClr val="3B6EBF"/>
          </a:solidFill>
          <a:ln cap="flat" cmpd="sng" w="9525">
            <a:solidFill>
              <a:srgbClr val="3B6EB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7" name="Google Shape;1097;p21"/>
          <p:cNvSpPr/>
          <p:nvPr/>
        </p:nvSpPr>
        <p:spPr>
          <a:xfrm>
            <a:off x="723900" y="3638550"/>
            <a:ext cx="361950" cy="247650"/>
          </a:xfrm>
          <a:prstGeom prst="roundRect">
            <a:avLst>
              <a:gd fmla="val 30769" name="adj"/>
            </a:avLst>
          </a:prstGeom>
          <a:solidFill>
            <a:srgbClr val="E8EFF9"/>
          </a:solidFill>
          <a:ln cap="flat" cmpd="sng" w="9525">
            <a:solidFill>
              <a:srgbClr val="3B6EB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8" name="Google Shape;1098;p21"/>
          <p:cNvSpPr/>
          <p:nvPr/>
        </p:nvSpPr>
        <p:spPr>
          <a:xfrm>
            <a:off x="723900" y="3667125"/>
            <a:ext cx="361950" cy="18097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3B6EBF"/>
              </a:buClr>
              <a:buSzPts val="675"/>
              <a:buFont typeface="Arial"/>
              <a:buNone/>
            </a:pPr>
            <a:r>
              <a:rPr b="1" lang="en-US" sz="675">
                <a:solidFill>
                  <a:srgbClr val="3B6EBF"/>
                </a:solidFill>
              </a:rPr>
              <a:t>03</a:t>
            </a:r>
            <a:endParaRPr/>
          </a:p>
        </p:txBody>
      </p:sp>
      <p:sp>
        <p:nvSpPr>
          <p:cNvPr id="1099" name="Google Shape;1099;p21"/>
          <p:cNvSpPr/>
          <p:nvPr/>
        </p:nvSpPr>
        <p:spPr>
          <a:xfrm>
            <a:off x="1181100" y="3629025"/>
            <a:ext cx="3352800" cy="2667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788"/>
              <a:buFont typeface="Arial"/>
              <a:buNone/>
            </a:pPr>
            <a:r>
              <a:rPr b="1" lang="en-US" sz="788">
                <a:solidFill>
                  <a:srgbClr val="1A1A2E"/>
                </a:solidFill>
              </a:rPr>
              <a:t>PRD Genie — Gap Analyzer — v0.3.8 Candidate</a:t>
            </a:r>
            <a:endParaRPr/>
          </a:p>
        </p:txBody>
      </p:sp>
      <p:sp>
        <p:nvSpPr>
          <p:cNvPr id="1100" name="Google Shape;1100;p21"/>
          <p:cNvSpPr/>
          <p:nvPr/>
        </p:nvSpPr>
        <p:spPr>
          <a:xfrm>
            <a:off x="4657725" y="3638550"/>
            <a:ext cx="1724025" cy="2476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788"/>
              <a:buFont typeface="Arial"/>
              <a:buNone/>
            </a:pPr>
            <a:r>
              <a:rPr lang="en-US" sz="788">
                <a:solidFill>
                  <a:srgbClr val="666B70"/>
                </a:solidFill>
              </a:rPr>
              <a:t>6F4ANeRIDJVkA28C</a:t>
            </a:r>
            <a:endParaRPr/>
          </a:p>
        </p:txBody>
      </p:sp>
      <p:sp>
        <p:nvSpPr>
          <p:cNvPr id="1101" name="Google Shape;1101;p21"/>
          <p:cNvSpPr/>
          <p:nvPr/>
        </p:nvSpPr>
        <p:spPr>
          <a:xfrm>
            <a:off x="6515100" y="3638550"/>
            <a:ext cx="1266825" cy="247650"/>
          </a:xfrm>
          <a:prstGeom prst="roundRect">
            <a:avLst>
              <a:gd fmla="val 30769" name="adj"/>
            </a:avLst>
          </a:prstGeom>
          <a:solidFill>
            <a:srgbClr val="F0EBE5"/>
          </a:solidFill>
          <a:ln cap="flat" cmpd="sng" w="9525">
            <a:solidFill>
              <a:srgbClr val="666B7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2" name="Google Shape;1102;p21"/>
          <p:cNvSpPr/>
          <p:nvPr/>
        </p:nvSpPr>
        <p:spPr>
          <a:xfrm>
            <a:off x="6562725" y="3667125"/>
            <a:ext cx="1171575" cy="18097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728"/>
              <a:buFont typeface="Arial"/>
              <a:buNone/>
            </a:pPr>
            <a:r>
              <a:rPr b="1" lang="en-US" sz="728">
                <a:solidFill>
                  <a:srgbClr val="666B70"/>
                </a:solidFill>
              </a:rPr>
              <a:t>Snapshot copy</a:t>
            </a:r>
            <a:endParaRPr/>
          </a:p>
        </p:txBody>
      </p:sp>
      <p:sp>
        <p:nvSpPr>
          <p:cNvPr id="1103" name="Google Shape;1103;p21"/>
          <p:cNvSpPr/>
          <p:nvPr/>
        </p:nvSpPr>
        <p:spPr>
          <a:xfrm>
            <a:off x="619125" y="3962400"/>
            <a:ext cx="7362825" cy="400050"/>
          </a:xfrm>
          <a:prstGeom prst="rect">
            <a:avLst/>
          </a:prstGeom>
          <a:solidFill>
            <a:srgbClr val="FFFFFF"/>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4" name="Google Shape;1104;p21"/>
          <p:cNvSpPr/>
          <p:nvPr/>
        </p:nvSpPr>
        <p:spPr>
          <a:xfrm>
            <a:off x="619125" y="3962400"/>
            <a:ext cx="57150" cy="400050"/>
          </a:xfrm>
          <a:prstGeom prst="rect">
            <a:avLst/>
          </a:prstGeom>
          <a:solidFill>
            <a:srgbClr val="3B6EBF"/>
          </a:solidFill>
          <a:ln cap="flat" cmpd="sng" w="9525">
            <a:solidFill>
              <a:srgbClr val="3B6EB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5" name="Google Shape;1105;p21"/>
          <p:cNvSpPr/>
          <p:nvPr/>
        </p:nvSpPr>
        <p:spPr>
          <a:xfrm>
            <a:off x="723900" y="4038600"/>
            <a:ext cx="361950" cy="247650"/>
          </a:xfrm>
          <a:prstGeom prst="roundRect">
            <a:avLst>
              <a:gd fmla="val 30769" name="adj"/>
            </a:avLst>
          </a:prstGeom>
          <a:solidFill>
            <a:srgbClr val="E8EFF9"/>
          </a:solidFill>
          <a:ln cap="flat" cmpd="sng" w="9525">
            <a:solidFill>
              <a:srgbClr val="3B6EB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6" name="Google Shape;1106;p21"/>
          <p:cNvSpPr/>
          <p:nvPr/>
        </p:nvSpPr>
        <p:spPr>
          <a:xfrm>
            <a:off x="723900" y="4067175"/>
            <a:ext cx="361950" cy="18097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3B6EBF"/>
              </a:buClr>
              <a:buSzPts val="675"/>
              <a:buFont typeface="Arial"/>
              <a:buNone/>
            </a:pPr>
            <a:r>
              <a:rPr b="1" lang="en-US" sz="675">
                <a:solidFill>
                  <a:srgbClr val="3B6EBF"/>
                </a:solidFill>
              </a:rPr>
              <a:t>04</a:t>
            </a:r>
            <a:endParaRPr/>
          </a:p>
        </p:txBody>
      </p:sp>
      <p:sp>
        <p:nvSpPr>
          <p:cNvPr id="1107" name="Google Shape;1107;p21"/>
          <p:cNvSpPr/>
          <p:nvPr/>
        </p:nvSpPr>
        <p:spPr>
          <a:xfrm>
            <a:off x="1181100" y="4029075"/>
            <a:ext cx="3352800" cy="2667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788"/>
              <a:buFont typeface="Arial"/>
              <a:buNone/>
            </a:pPr>
            <a:r>
              <a:rPr b="1" lang="en-US" sz="788">
                <a:solidFill>
                  <a:srgbClr val="1A1A2E"/>
                </a:solidFill>
              </a:rPr>
              <a:t>PRD Genie — Human Approval — v0.3.8 Candidate</a:t>
            </a:r>
            <a:endParaRPr/>
          </a:p>
        </p:txBody>
      </p:sp>
      <p:sp>
        <p:nvSpPr>
          <p:cNvPr id="1108" name="Google Shape;1108;p21"/>
          <p:cNvSpPr/>
          <p:nvPr/>
        </p:nvSpPr>
        <p:spPr>
          <a:xfrm>
            <a:off x="4657725" y="4038600"/>
            <a:ext cx="1724025" cy="2476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788"/>
              <a:buFont typeface="Arial"/>
              <a:buNone/>
            </a:pPr>
            <a:r>
              <a:rPr lang="en-US" sz="788">
                <a:solidFill>
                  <a:srgbClr val="666B70"/>
                </a:solidFill>
              </a:rPr>
              <a:t>uMSo2zvHLGWcM2vo</a:t>
            </a:r>
            <a:endParaRPr/>
          </a:p>
        </p:txBody>
      </p:sp>
      <p:sp>
        <p:nvSpPr>
          <p:cNvPr id="1109" name="Google Shape;1109;p21"/>
          <p:cNvSpPr/>
          <p:nvPr/>
        </p:nvSpPr>
        <p:spPr>
          <a:xfrm>
            <a:off x="6515100" y="4038600"/>
            <a:ext cx="1266825" cy="247650"/>
          </a:xfrm>
          <a:prstGeom prst="roundRect">
            <a:avLst>
              <a:gd fmla="val 30769" name="adj"/>
            </a:avLst>
          </a:prstGeom>
          <a:solidFill>
            <a:srgbClr val="F0EBE5"/>
          </a:solidFill>
          <a:ln cap="flat" cmpd="sng" w="9525">
            <a:solidFill>
              <a:srgbClr val="666B7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0" name="Google Shape;1110;p21"/>
          <p:cNvSpPr/>
          <p:nvPr/>
        </p:nvSpPr>
        <p:spPr>
          <a:xfrm>
            <a:off x="6562725" y="4067175"/>
            <a:ext cx="1171575" cy="18097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728"/>
              <a:buFont typeface="Arial"/>
              <a:buNone/>
            </a:pPr>
            <a:r>
              <a:rPr b="1" lang="en-US" sz="728">
                <a:solidFill>
                  <a:srgbClr val="666B70"/>
                </a:solidFill>
              </a:rPr>
              <a:t>Snapshot copy</a:t>
            </a:r>
            <a:endParaRPr/>
          </a:p>
        </p:txBody>
      </p:sp>
      <p:sp>
        <p:nvSpPr>
          <p:cNvPr id="1111" name="Google Shape;1111;p21"/>
          <p:cNvSpPr/>
          <p:nvPr/>
        </p:nvSpPr>
        <p:spPr>
          <a:xfrm>
            <a:off x="619125" y="4362450"/>
            <a:ext cx="7362825" cy="400050"/>
          </a:xfrm>
          <a:prstGeom prst="rect">
            <a:avLst/>
          </a:prstGeom>
          <a:solidFill>
            <a:srgbClr val="FCFAF7"/>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2" name="Google Shape;1112;p21"/>
          <p:cNvSpPr/>
          <p:nvPr/>
        </p:nvSpPr>
        <p:spPr>
          <a:xfrm>
            <a:off x="619125" y="4362450"/>
            <a:ext cx="57150" cy="400050"/>
          </a:xfrm>
          <a:prstGeom prst="rect">
            <a:avLst/>
          </a:prstGeom>
          <a:solidFill>
            <a:srgbClr val="2F6F57"/>
          </a:solidFill>
          <a:ln cap="flat" cmpd="sng" w="9525">
            <a:solidFill>
              <a:srgbClr val="2F6F5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3" name="Google Shape;1113;p21"/>
          <p:cNvSpPr/>
          <p:nvPr/>
        </p:nvSpPr>
        <p:spPr>
          <a:xfrm>
            <a:off x="723900" y="4438650"/>
            <a:ext cx="361950" cy="247650"/>
          </a:xfrm>
          <a:prstGeom prst="roundRect">
            <a:avLst>
              <a:gd fmla="val 30769" name="adj"/>
            </a:avLst>
          </a:prstGeom>
          <a:solidFill>
            <a:srgbClr val="E6F0EB"/>
          </a:solidFill>
          <a:ln cap="flat" cmpd="sng" w="9525">
            <a:solidFill>
              <a:srgbClr val="2F6F5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4" name="Google Shape;1114;p21"/>
          <p:cNvSpPr/>
          <p:nvPr/>
        </p:nvSpPr>
        <p:spPr>
          <a:xfrm>
            <a:off x="723900" y="4467225"/>
            <a:ext cx="361950" cy="18097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F6F57"/>
              </a:buClr>
              <a:buSzPts val="675"/>
              <a:buFont typeface="Arial"/>
              <a:buNone/>
            </a:pPr>
            <a:r>
              <a:rPr b="1" lang="en-US" sz="675">
                <a:solidFill>
                  <a:srgbClr val="2F6F57"/>
                </a:solidFill>
              </a:rPr>
              <a:t>05</a:t>
            </a:r>
            <a:endParaRPr/>
          </a:p>
        </p:txBody>
      </p:sp>
      <p:sp>
        <p:nvSpPr>
          <p:cNvPr id="1115" name="Google Shape;1115;p21"/>
          <p:cNvSpPr/>
          <p:nvPr/>
        </p:nvSpPr>
        <p:spPr>
          <a:xfrm>
            <a:off x="1181100" y="4429125"/>
            <a:ext cx="3352800" cy="2667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788"/>
              <a:buFont typeface="Arial"/>
              <a:buNone/>
            </a:pPr>
            <a:r>
              <a:rPr b="1" lang="en-US" sz="788">
                <a:solidFill>
                  <a:srgbClr val="1A1A2E"/>
                </a:solidFill>
              </a:rPr>
              <a:t>PRD Genie — Production PRD — v0.3.8 Candidate</a:t>
            </a:r>
            <a:endParaRPr/>
          </a:p>
        </p:txBody>
      </p:sp>
      <p:sp>
        <p:nvSpPr>
          <p:cNvPr id="1116" name="Google Shape;1116;p21"/>
          <p:cNvSpPr/>
          <p:nvPr/>
        </p:nvSpPr>
        <p:spPr>
          <a:xfrm>
            <a:off x="4657725" y="4438650"/>
            <a:ext cx="1724025" cy="2476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788"/>
              <a:buFont typeface="Arial"/>
              <a:buNone/>
            </a:pPr>
            <a:r>
              <a:rPr lang="en-US" sz="788">
                <a:solidFill>
                  <a:srgbClr val="666B70"/>
                </a:solidFill>
              </a:rPr>
              <a:t>ocoEGqFDyzzFYf3U</a:t>
            </a:r>
            <a:endParaRPr/>
          </a:p>
        </p:txBody>
      </p:sp>
      <p:sp>
        <p:nvSpPr>
          <p:cNvPr id="1117" name="Google Shape;1117;p21"/>
          <p:cNvSpPr/>
          <p:nvPr/>
        </p:nvSpPr>
        <p:spPr>
          <a:xfrm>
            <a:off x="6515100" y="4438650"/>
            <a:ext cx="1266825" cy="247650"/>
          </a:xfrm>
          <a:prstGeom prst="roundRect">
            <a:avLst>
              <a:gd fmla="val 30769" name="adj"/>
            </a:avLst>
          </a:prstGeom>
          <a:solidFill>
            <a:srgbClr val="E6F0EB"/>
          </a:solidFill>
          <a:ln cap="flat" cmpd="sng" w="9525">
            <a:solidFill>
              <a:srgbClr val="2F6F5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8" name="Google Shape;1118;p21"/>
          <p:cNvSpPr/>
          <p:nvPr/>
        </p:nvSpPr>
        <p:spPr>
          <a:xfrm>
            <a:off x="6562725" y="4467225"/>
            <a:ext cx="1171575" cy="18097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F6F57"/>
              </a:buClr>
              <a:buSzPts val="728"/>
              <a:buFont typeface="Arial"/>
              <a:buNone/>
            </a:pPr>
            <a:r>
              <a:rPr b="1" lang="en-US" sz="728">
                <a:solidFill>
                  <a:srgbClr val="2F6F57"/>
                </a:solidFill>
              </a:rPr>
              <a:t>Invoked</a:t>
            </a:r>
            <a:endParaRPr/>
          </a:p>
        </p:txBody>
      </p:sp>
      <p:sp>
        <p:nvSpPr>
          <p:cNvPr id="1119" name="Google Shape;1119;p21"/>
          <p:cNvSpPr/>
          <p:nvPr/>
        </p:nvSpPr>
        <p:spPr>
          <a:xfrm>
            <a:off x="619125" y="4762500"/>
            <a:ext cx="7362825" cy="400050"/>
          </a:xfrm>
          <a:prstGeom prst="rect">
            <a:avLst/>
          </a:prstGeom>
          <a:solidFill>
            <a:srgbClr val="FFFFFF"/>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0" name="Google Shape;1120;p21"/>
          <p:cNvSpPr/>
          <p:nvPr/>
        </p:nvSpPr>
        <p:spPr>
          <a:xfrm>
            <a:off x="619125" y="4762500"/>
            <a:ext cx="57150" cy="400050"/>
          </a:xfrm>
          <a:prstGeom prst="rect">
            <a:avLst/>
          </a:prstGeom>
          <a:solidFill>
            <a:srgbClr val="2F6F57"/>
          </a:solidFill>
          <a:ln cap="flat" cmpd="sng" w="9525">
            <a:solidFill>
              <a:srgbClr val="2F6F5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1" name="Google Shape;1121;p21"/>
          <p:cNvSpPr/>
          <p:nvPr/>
        </p:nvSpPr>
        <p:spPr>
          <a:xfrm>
            <a:off x="723900" y="4838700"/>
            <a:ext cx="361950" cy="247650"/>
          </a:xfrm>
          <a:prstGeom prst="roundRect">
            <a:avLst>
              <a:gd fmla="val 30769" name="adj"/>
            </a:avLst>
          </a:prstGeom>
          <a:solidFill>
            <a:srgbClr val="E6F0EB"/>
          </a:solidFill>
          <a:ln cap="flat" cmpd="sng" w="9525">
            <a:solidFill>
              <a:srgbClr val="2F6F5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2" name="Google Shape;1122;p21"/>
          <p:cNvSpPr/>
          <p:nvPr/>
        </p:nvSpPr>
        <p:spPr>
          <a:xfrm>
            <a:off x="723900" y="4867275"/>
            <a:ext cx="361950" cy="18097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F6F57"/>
              </a:buClr>
              <a:buSzPts val="675"/>
              <a:buFont typeface="Arial"/>
              <a:buNone/>
            </a:pPr>
            <a:r>
              <a:rPr b="1" lang="en-US" sz="675">
                <a:solidFill>
                  <a:srgbClr val="2F6F57"/>
                </a:solidFill>
              </a:rPr>
              <a:t>06</a:t>
            </a:r>
            <a:endParaRPr/>
          </a:p>
        </p:txBody>
      </p:sp>
      <p:sp>
        <p:nvSpPr>
          <p:cNvPr id="1123" name="Google Shape;1123;p21"/>
          <p:cNvSpPr/>
          <p:nvPr/>
        </p:nvSpPr>
        <p:spPr>
          <a:xfrm>
            <a:off x="1181100" y="4829175"/>
            <a:ext cx="3352800" cy="2667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788"/>
              <a:buFont typeface="Arial"/>
              <a:buNone/>
            </a:pPr>
            <a:r>
              <a:rPr b="1" lang="en-US" sz="788">
                <a:solidFill>
                  <a:srgbClr val="1A1A2E"/>
                </a:solidFill>
              </a:rPr>
              <a:t>PRD Genie — Story Breakdown — v0.3.8 Candidate</a:t>
            </a:r>
            <a:endParaRPr/>
          </a:p>
        </p:txBody>
      </p:sp>
      <p:sp>
        <p:nvSpPr>
          <p:cNvPr id="1124" name="Google Shape;1124;p21"/>
          <p:cNvSpPr/>
          <p:nvPr/>
        </p:nvSpPr>
        <p:spPr>
          <a:xfrm>
            <a:off x="4657725" y="4838700"/>
            <a:ext cx="1724025" cy="2476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788"/>
              <a:buFont typeface="Arial"/>
              <a:buNone/>
            </a:pPr>
            <a:r>
              <a:rPr lang="en-US" sz="788">
                <a:solidFill>
                  <a:srgbClr val="666B70"/>
                </a:solidFill>
              </a:rPr>
              <a:t>kswPN0mT0u7rp4vq</a:t>
            </a:r>
            <a:endParaRPr/>
          </a:p>
        </p:txBody>
      </p:sp>
      <p:sp>
        <p:nvSpPr>
          <p:cNvPr id="1125" name="Google Shape;1125;p21"/>
          <p:cNvSpPr/>
          <p:nvPr/>
        </p:nvSpPr>
        <p:spPr>
          <a:xfrm>
            <a:off x="6515100" y="4838700"/>
            <a:ext cx="1266825" cy="247650"/>
          </a:xfrm>
          <a:prstGeom prst="roundRect">
            <a:avLst>
              <a:gd fmla="val 30769" name="adj"/>
            </a:avLst>
          </a:prstGeom>
          <a:solidFill>
            <a:srgbClr val="E6F0EB"/>
          </a:solidFill>
          <a:ln cap="flat" cmpd="sng" w="9525">
            <a:solidFill>
              <a:srgbClr val="2F6F5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6" name="Google Shape;1126;p21"/>
          <p:cNvSpPr/>
          <p:nvPr/>
        </p:nvSpPr>
        <p:spPr>
          <a:xfrm>
            <a:off x="6562725" y="4867275"/>
            <a:ext cx="1171575" cy="18097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F6F57"/>
              </a:buClr>
              <a:buSzPts val="728"/>
              <a:buFont typeface="Arial"/>
              <a:buNone/>
            </a:pPr>
            <a:r>
              <a:rPr b="1" lang="en-US" sz="728">
                <a:solidFill>
                  <a:srgbClr val="2F6F57"/>
                </a:solidFill>
              </a:rPr>
              <a:t>Invoked</a:t>
            </a:r>
            <a:endParaRPr/>
          </a:p>
        </p:txBody>
      </p:sp>
      <p:sp>
        <p:nvSpPr>
          <p:cNvPr id="1127" name="Google Shape;1127;p21"/>
          <p:cNvSpPr/>
          <p:nvPr/>
        </p:nvSpPr>
        <p:spPr>
          <a:xfrm>
            <a:off x="619125" y="5162550"/>
            <a:ext cx="7362825" cy="400050"/>
          </a:xfrm>
          <a:prstGeom prst="rect">
            <a:avLst/>
          </a:prstGeom>
          <a:solidFill>
            <a:srgbClr val="FCFAF7"/>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8" name="Google Shape;1128;p21"/>
          <p:cNvSpPr/>
          <p:nvPr/>
        </p:nvSpPr>
        <p:spPr>
          <a:xfrm>
            <a:off x="619125" y="5162550"/>
            <a:ext cx="57150" cy="400050"/>
          </a:xfrm>
          <a:prstGeom prst="rect">
            <a:avLst/>
          </a:prstGeom>
          <a:solidFill>
            <a:srgbClr val="3B6EBF"/>
          </a:solidFill>
          <a:ln cap="flat" cmpd="sng" w="9525">
            <a:solidFill>
              <a:srgbClr val="3B6EB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9" name="Google Shape;1129;p21"/>
          <p:cNvSpPr/>
          <p:nvPr/>
        </p:nvSpPr>
        <p:spPr>
          <a:xfrm>
            <a:off x="723900" y="5238750"/>
            <a:ext cx="361950" cy="247650"/>
          </a:xfrm>
          <a:prstGeom prst="roundRect">
            <a:avLst>
              <a:gd fmla="val 30769" name="adj"/>
            </a:avLst>
          </a:prstGeom>
          <a:solidFill>
            <a:srgbClr val="E8EFF9"/>
          </a:solidFill>
          <a:ln cap="flat" cmpd="sng" w="9525">
            <a:solidFill>
              <a:srgbClr val="3B6EB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0" name="Google Shape;1130;p21"/>
          <p:cNvSpPr/>
          <p:nvPr/>
        </p:nvSpPr>
        <p:spPr>
          <a:xfrm>
            <a:off x="723900" y="5267325"/>
            <a:ext cx="361950" cy="18097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3B6EBF"/>
              </a:buClr>
              <a:buSzPts val="675"/>
              <a:buFont typeface="Arial"/>
              <a:buNone/>
            </a:pPr>
            <a:r>
              <a:rPr b="1" lang="en-US" sz="675">
                <a:solidFill>
                  <a:srgbClr val="3B6EBF"/>
                </a:solidFill>
              </a:rPr>
              <a:t>07</a:t>
            </a:r>
            <a:endParaRPr/>
          </a:p>
        </p:txBody>
      </p:sp>
      <p:sp>
        <p:nvSpPr>
          <p:cNvPr id="1131" name="Google Shape;1131;p21"/>
          <p:cNvSpPr/>
          <p:nvPr/>
        </p:nvSpPr>
        <p:spPr>
          <a:xfrm>
            <a:off x="1181100" y="5229225"/>
            <a:ext cx="3352800" cy="2667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788"/>
              <a:buFont typeface="Arial"/>
              <a:buNone/>
            </a:pPr>
            <a:r>
              <a:rPr b="1" lang="en-US" sz="788">
                <a:solidFill>
                  <a:srgbClr val="1A1A2E"/>
                </a:solidFill>
              </a:rPr>
              <a:t>PRD Genie — Final Validator + Export — v0.3.8 Candidate</a:t>
            </a:r>
            <a:endParaRPr/>
          </a:p>
        </p:txBody>
      </p:sp>
      <p:sp>
        <p:nvSpPr>
          <p:cNvPr id="1132" name="Google Shape;1132;p21"/>
          <p:cNvSpPr/>
          <p:nvPr/>
        </p:nvSpPr>
        <p:spPr>
          <a:xfrm>
            <a:off x="4657725" y="5238750"/>
            <a:ext cx="1724025" cy="2476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788"/>
              <a:buFont typeface="Arial"/>
              <a:buNone/>
            </a:pPr>
            <a:r>
              <a:rPr lang="en-US" sz="788">
                <a:solidFill>
                  <a:srgbClr val="666B70"/>
                </a:solidFill>
              </a:rPr>
              <a:t>gU24pjEsig7u60S4</a:t>
            </a:r>
            <a:endParaRPr/>
          </a:p>
        </p:txBody>
      </p:sp>
      <p:sp>
        <p:nvSpPr>
          <p:cNvPr id="1133" name="Google Shape;1133;p21"/>
          <p:cNvSpPr/>
          <p:nvPr/>
        </p:nvSpPr>
        <p:spPr>
          <a:xfrm>
            <a:off x="6515100" y="5238750"/>
            <a:ext cx="1266825" cy="247650"/>
          </a:xfrm>
          <a:prstGeom prst="roundRect">
            <a:avLst>
              <a:gd fmla="val 30769" name="adj"/>
            </a:avLst>
          </a:prstGeom>
          <a:solidFill>
            <a:srgbClr val="F0EBE5"/>
          </a:solidFill>
          <a:ln cap="flat" cmpd="sng" w="9525">
            <a:solidFill>
              <a:srgbClr val="666B7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4" name="Google Shape;1134;p21"/>
          <p:cNvSpPr/>
          <p:nvPr/>
        </p:nvSpPr>
        <p:spPr>
          <a:xfrm>
            <a:off x="6562725" y="5267325"/>
            <a:ext cx="1171575" cy="18097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728"/>
              <a:buFont typeface="Arial"/>
              <a:buNone/>
            </a:pPr>
            <a:r>
              <a:rPr b="1" lang="en-US" sz="728">
                <a:solidFill>
                  <a:srgbClr val="666B70"/>
                </a:solidFill>
              </a:rPr>
              <a:t>Snapshot copy</a:t>
            </a:r>
            <a:endParaRPr/>
          </a:p>
        </p:txBody>
      </p:sp>
      <p:sp>
        <p:nvSpPr>
          <p:cNvPr id="1135" name="Google Shape;1135;p21"/>
          <p:cNvSpPr/>
          <p:nvPr/>
        </p:nvSpPr>
        <p:spPr>
          <a:xfrm>
            <a:off x="619125" y="5562600"/>
            <a:ext cx="7362825" cy="400050"/>
          </a:xfrm>
          <a:prstGeom prst="rect">
            <a:avLst/>
          </a:prstGeom>
          <a:solidFill>
            <a:srgbClr val="FFFFFF"/>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6" name="Google Shape;1136;p21"/>
          <p:cNvSpPr/>
          <p:nvPr/>
        </p:nvSpPr>
        <p:spPr>
          <a:xfrm>
            <a:off x="619125" y="5562600"/>
            <a:ext cx="57150" cy="400050"/>
          </a:xfrm>
          <a:prstGeom prst="rect">
            <a:avLst/>
          </a:prstGeom>
          <a:solidFill>
            <a:srgbClr val="7546C8"/>
          </a:solidFill>
          <a:ln cap="flat" cmpd="sng" w="9525">
            <a:solidFill>
              <a:srgbClr val="7546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7" name="Google Shape;1137;p21"/>
          <p:cNvSpPr/>
          <p:nvPr/>
        </p:nvSpPr>
        <p:spPr>
          <a:xfrm>
            <a:off x="723900" y="5638800"/>
            <a:ext cx="361950" cy="247650"/>
          </a:xfrm>
          <a:prstGeom prst="roundRect">
            <a:avLst>
              <a:gd fmla="val 30769" name="adj"/>
            </a:avLst>
          </a:prstGeom>
          <a:solidFill>
            <a:srgbClr val="F0EAFB"/>
          </a:solidFill>
          <a:ln cap="flat" cmpd="sng" w="9525">
            <a:solidFill>
              <a:srgbClr val="7546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8" name="Google Shape;1138;p21"/>
          <p:cNvSpPr/>
          <p:nvPr/>
        </p:nvSpPr>
        <p:spPr>
          <a:xfrm>
            <a:off x="723900" y="5667375"/>
            <a:ext cx="361950" cy="18097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7546C8"/>
              </a:buClr>
              <a:buSzPts val="675"/>
              <a:buFont typeface="Arial"/>
              <a:buNone/>
            </a:pPr>
            <a:r>
              <a:rPr b="1" lang="en-US" sz="675">
                <a:solidFill>
                  <a:srgbClr val="7546C8"/>
                </a:solidFill>
              </a:rPr>
              <a:t>08</a:t>
            </a:r>
            <a:endParaRPr/>
          </a:p>
        </p:txBody>
      </p:sp>
      <p:sp>
        <p:nvSpPr>
          <p:cNvPr id="1139" name="Google Shape;1139;p21"/>
          <p:cNvSpPr/>
          <p:nvPr/>
        </p:nvSpPr>
        <p:spPr>
          <a:xfrm>
            <a:off x="1181100" y="5629275"/>
            <a:ext cx="3352800" cy="2667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788"/>
              <a:buFont typeface="Arial"/>
              <a:buNone/>
            </a:pPr>
            <a:r>
              <a:rPr b="1" lang="en-US" sz="788">
                <a:solidFill>
                  <a:srgbClr val="1A1A2E"/>
                </a:solidFill>
              </a:rPr>
              <a:t>PRD Genie — Post-Stage-7 Story Sizing — v0.3.8 Candidate</a:t>
            </a:r>
            <a:endParaRPr/>
          </a:p>
        </p:txBody>
      </p:sp>
      <p:sp>
        <p:nvSpPr>
          <p:cNvPr id="1140" name="Google Shape;1140;p21"/>
          <p:cNvSpPr/>
          <p:nvPr/>
        </p:nvSpPr>
        <p:spPr>
          <a:xfrm>
            <a:off x="4657725" y="5638800"/>
            <a:ext cx="1724025" cy="2476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788"/>
              <a:buFont typeface="Arial"/>
              <a:buNone/>
            </a:pPr>
            <a:r>
              <a:rPr lang="en-US" sz="788">
                <a:solidFill>
                  <a:srgbClr val="666B70"/>
                </a:solidFill>
              </a:rPr>
              <a:t>cFuv8QCLpLhtX6A6</a:t>
            </a:r>
            <a:endParaRPr/>
          </a:p>
        </p:txBody>
      </p:sp>
      <p:sp>
        <p:nvSpPr>
          <p:cNvPr id="1141" name="Google Shape;1141;p21"/>
          <p:cNvSpPr/>
          <p:nvPr/>
        </p:nvSpPr>
        <p:spPr>
          <a:xfrm>
            <a:off x="6515100" y="5638800"/>
            <a:ext cx="1266825" cy="247650"/>
          </a:xfrm>
          <a:prstGeom prst="roundRect">
            <a:avLst>
              <a:gd fmla="val 30769" name="adj"/>
            </a:avLst>
          </a:prstGeom>
          <a:solidFill>
            <a:srgbClr val="E6F0EB"/>
          </a:solidFill>
          <a:ln cap="flat" cmpd="sng" w="9525">
            <a:solidFill>
              <a:srgbClr val="2F6F5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2" name="Google Shape;1142;p21"/>
          <p:cNvSpPr/>
          <p:nvPr/>
        </p:nvSpPr>
        <p:spPr>
          <a:xfrm>
            <a:off x="6562725" y="5667375"/>
            <a:ext cx="1171575" cy="18097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F6F57"/>
              </a:buClr>
              <a:buSzPts val="728"/>
              <a:buFont typeface="Arial"/>
              <a:buNone/>
            </a:pPr>
            <a:r>
              <a:rPr b="1" lang="en-US" sz="728">
                <a:solidFill>
                  <a:srgbClr val="2F6F57"/>
                </a:solidFill>
              </a:rPr>
              <a:t>Invoked</a:t>
            </a:r>
            <a:endParaRPr/>
          </a:p>
        </p:txBody>
      </p:sp>
      <p:sp>
        <p:nvSpPr>
          <p:cNvPr id="1143" name="Google Shape;1143;p21"/>
          <p:cNvSpPr/>
          <p:nvPr/>
        </p:nvSpPr>
        <p:spPr>
          <a:xfrm>
            <a:off x="8220075" y="1943100"/>
            <a:ext cx="3352800" cy="4029075"/>
          </a:xfrm>
          <a:prstGeom prst="roundRect">
            <a:avLst>
              <a:gd fmla="val 2273" name="adj"/>
            </a:avLst>
          </a:prstGeom>
          <a:solidFill>
            <a:srgbClr val="FFFFFF"/>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4" name="Google Shape;1144;p21"/>
          <p:cNvSpPr/>
          <p:nvPr/>
        </p:nvSpPr>
        <p:spPr>
          <a:xfrm>
            <a:off x="8220075" y="1943100"/>
            <a:ext cx="3352800" cy="66675"/>
          </a:xfrm>
          <a:prstGeom prst="rect">
            <a:avLst/>
          </a:prstGeom>
          <a:solidFill>
            <a:srgbClr val="2F6F57"/>
          </a:solidFill>
          <a:ln cap="flat" cmpd="sng" w="9525">
            <a:solidFill>
              <a:srgbClr val="2F6F5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5" name="Google Shape;1145;p21"/>
          <p:cNvSpPr/>
          <p:nvPr/>
        </p:nvSpPr>
        <p:spPr>
          <a:xfrm>
            <a:off x="8467725" y="2171700"/>
            <a:ext cx="2857500" cy="2095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F6F57"/>
              </a:buClr>
              <a:buSzPts val="810"/>
              <a:buFont typeface="Arial"/>
              <a:buNone/>
            </a:pPr>
            <a:r>
              <a:rPr b="1" lang="en-US" sz="810">
                <a:solidFill>
                  <a:srgbClr val="2F6F57"/>
                </a:solidFill>
              </a:rPr>
              <a:t>AUTHORITATIVE RUNTIME PATH</a:t>
            </a:r>
            <a:endParaRPr/>
          </a:p>
        </p:txBody>
      </p:sp>
      <p:sp>
        <p:nvSpPr>
          <p:cNvPr id="1146" name="Google Shape;1146;p21"/>
          <p:cNvSpPr/>
          <p:nvPr/>
        </p:nvSpPr>
        <p:spPr>
          <a:xfrm>
            <a:off x="8467725" y="2409825"/>
            <a:ext cx="2857500" cy="5143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1575"/>
              <a:buFont typeface="Arial"/>
              <a:buNone/>
            </a:pPr>
            <a:r>
              <a:rPr b="1" lang="en-US" sz="1575">
                <a:solidFill>
                  <a:srgbClr val="1A1A2E"/>
                </a:solidFill>
              </a:rPr>
              <a:t>Accepted hybrid call graph</a:t>
            </a:r>
            <a:endParaRPr/>
          </a:p>
        </p:txBody>
      </p:sp>
      <p:sp>
        <p:nvSpPr>
          <p:cNvPr id="1147" name="Google Shape;1147;p21"/>
          <p:cNvSpPr/>
          <p:nvPr/>
        </p:nvSpPr>
        <p:spPr>
          <a:xfrm>
            <a:off x="8467725" y="2943225"/>
            <a:ext cx="2857500" cy="3429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810"/>
              <a:buFont typeface="Arial"/>
              <a:buNone/>
            </a:pPr>
            <a:r>
              <a:rPr lang="en-US" sz="810">
                <a:solidFill>
                  <a:srgbClr val="666B70"/>
                </a:solidFill>
              </a:rPr>
              <a:t>Stable controls remain in place; corrected generation and sizing stages use v0.3.8 IDs.</a:t>
            </a:r>
            <a:endParaRPr/>
          </a:p>
        </p:txBody>
      </p:sp>
      <p:sp>
        <p:nvSpPr>
          <p:cNvPr id="1148" name="Google Shape;1148;p21"/>
          <p:cNvSpPr/>
          <p:nvPr/>
        </p:nvSpPr>
        <p:spPr>
          <a:xfrm>
            <a:off x="8467725" y="3352800"/>
            <a:ext cx="295275" cy="276225"/>
          </a:xfrm>
          <a:prstGeom prst="roundRect">
            <a:avLst>
              <a:gd fmla="val 27586" name="adj"/>
            </a:avLst>
          </a:prstGeom>
          <a:solidFill>
            <a:srgbClr val="F0EBE5"/>
          </a:solidFill>
          <a:ln cap="flat" cmpd="sng" w="9525">
            <a:solidFill>
              <a:srgbClr val="666B7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9" name="Google Shape;1149;p21"/>
          <p:cNvSpPr/>
          <p:nvPr/>
        </p:nvSpPr>
        <p:spPr>
          <a:xfrm>
            <a:off x="8467725" y="3390900"/>
            <a:ext cx="295275" cy="190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788"/>
              <a:buFont typeface="Arial"/>
              <a:buNone/>
            </a:pPr>
            <a:r>
              <a:rPr b="1" lang="en-US" sz="788">
                <a:solidFill>
                  <a:srgbClr val="666B70"/>
                </a:solidFill>
              </a:rPr>
              <a:t>01</a:t>
            </a:r>
            <a:endParaRPr/>
          </a:p>
        </p:txBody>
      </p:sp>
      <p:sp>
        <p:nvSpPr>
          <p:cNvPr id="1150" name="Google Shape;1150;p21"/>
          <p:cNvSpPr/>
          <p:nvPr/>
        </p:nvSpPr>
        <p:spPr>
          <a:xfrm>
            <a:off x="8867775" y="3333750"/>
            <a:ext cx="1438275" cy="190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803"/>
              <a:buFont typeface="Arial"/>
              <a:buNone/>
            </a:pPr>
            <a:r>
              <a:rPr b="1" lang="en-US" sz="803">
                <a:solidFill>
                  <a:srgbClr val="1A1A2E"/>
                </a:solidFill>
              </a:rPr>
              <a:t>Drive + Clarification</a:t>
            </a:r>
            <a:endParaRPr/>
          </a:p>
        </p:txBody>
      </p:sp>
      <p:sp>
        <p:nvSpPr>
          <p:cNvPr id="1151" name="Google Shape;1151;p21"/>
          <p:cNvSpPr/>
          <p:nvPr/>
        </p:nvSpPr>
        <p:spPr>
          <a:xfrm>
            <a:off x="8867775" y="3505200"/>
            <a:ext cx="1600200" cy="1524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660"/>
              <a:buFont typeface="Arial"/>
              <a:buNone/>
            </a:pPr>
            <a:r>
              <a:rPr lang="en-US" sz="660">
                <a:solidFill>
                  <a:srgbClr val="666B70"/>
                </a:solidFill>
              </a:rPr>
              <a:t>m4WqDP4xJLhwyBnC</a:t>
            </a:r>
            <a:endParaRPr/>
          </a:p>
        </p:txBody>
      </p:sp>
      <p:sp>
        <p:nvSpPr>
          <p:cNvPr id="1152" name="Google Shape;1152;p21"/>
          <p:cNvSpPr/>
          <p:nvPr/>
        </p:nvSpPr>
        <p:spPr>
          <a:xfrm>
            <a:off x="10477500" y="3381375"/>
            <a:ext cx="781050" cy="190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675"/>
              <a:buFont typeface="Arial"/>
              <a:buNone/>
            </a:pPr>
            <a:r>
              <a:rPr b="1" lang="en-US" sz="675">
                <a:solidFill>
                  <a:srgbClr val="666B70"/>
                </a:solidFill>
              </a:rPr>
              <a:t>STABLE</a:t>
            </a:r>
            <a:endParaRPr/>
          </a:p>
        </p:txBody>
      </p:sp>
      <p:sp>
        <p:nvSpPr>
          <p:cNvPr id="1153" name="Google Shape;1153;p21"/>
          <p:cNvSpPr/>
          <p:nvPr/>
        </p:nvSpPr>
        <p:spPr>
          <a:xfrm>
            <a:off x="8467725" y="3724275"/>
            <a:ext cx="295275" cy="276225"/>
          </a:xfrm>
          <a:prstGeom prst="roundRect">
            <a:avLst>
              <a:gd fmla="val 27586" name="adj"/>
            </a:avLst>
          </a:prstGeom>
          <a:solidFill>
            <a:srgbClr val="F0EBE5"/>
          </a:solidFill>
          <a:ln cap="flat" cmpd="sng" w="9525">
            <a:solidFill>
              <a:srgbClr val="666B7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4" name="Google Shape;1154;p21"/>
          <p:cNvSpPr/>
          <p:nvPr/>
        </p:nvSpPr>
        <p:spPr>
          <a:xfrm>
            <a:off x="8467725" y="3762375"/>
            <a:ext cx="295275" cy="190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788"/>
              <a:buFont typeface="Arial"/>
              <a:buNone/>
            </a:pPr>
            <a:r>
              <a:rPr b="1" lang="en-US" sz="788">
                <a:solidFill>
                  <a:srgbClr val="666B70"/>
                </a:solidFill>
              </a:rPr>
              <a:t>04</a:t>
            </a:r>
            <a:endParaRPr/>
          </a:p>
        </p:txBody>
      </p:sp>
      <p:sp>
        <p:nvSpPr>
          <p:cNvPr id="1155" name="Google Shape;1155;p21"/>
          <p:cNvSpPr/>
          <p:nvPr/>
        </p:nvSpPr>
        <p:spPr>
          <a:xfrm>
            <a:off x="8867775" y="3705225"/>
            <a:ext cx="1438275" cy="190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803"/>
              <a:buFont typeface="Arial"/>
              <a:buNone/>
            </a:pPr>
            <a:r>
              <a:rPr b="1" lang="en-US" sz="803">
                <a:solidFill>
                  <a:srgbClr val="1A1A2E"/>
                </a:solidFill>
              </a:rPr>
              <a:t>Human Approval</a:t>
            </a:r>
            <a:endParaRPr/>
          </a:p>
        </p:txBody>
      </p:sp>
      <p:sp>
        <p:nvSpPr>
          <p:cNvPr id="1156" name="Google Shape;1156;p21"/>
          <p:cNvSpPr/>
          <p:nvPr/>
        </p:nvSpPr>
        <p:spPr>
          <a:xfrm>
            <a:off x="8867775" y="3876675"/>
            <a:ext cx="1600200" cy="1524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660"/>
              <a:buFont typeface="Arial"/>
              <a:buNone/>
            </a:pPr>
            <a:r>
              <a:rPr lang="en-US" sz="660">
                <a:solidFill>
                  <a:srgbClr val="666B70"/>
                </a:solidFill>
              </a:rPr>
              <a:t>pui6krDb6mF9emRH</a:t>
            </a:r>
            <a:endParaRPr/>
          </a:p>
        </p:txBody>
      </p:sp>
      <p:sp>
        <p:nvSpPr>
          <p:cNvPr id="1157" name="Google Shape;1157;p21"/>
          <p:cNvSpPr/>
          <p:nvPr/>
        </p:nvSpPr>
        <p:spPr>
          <a:xfrm>
            <a:off x="10477500" y="3752850"/>
            <a:ext cx="781050" cy="190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675"/>
              <a:buFont typeface="Arial"/>
              <a:buNone/>
            </a:pPr>
            <a:r>
              <a:rPr b="1" lang="en-US" sz="675">
                <a:solidFill>
                  <a:srgbClr val="666B70"/>
                </a:solidFill>
              </a:rPr>
              <a:t>STABLE</a:t>
            </a:r>
            <a:endParaRPr/>
          </a:p>
        </p:txBody>
      </p:sp>
      <p:sp>
        <p:nvSpPr>
          <p:cNvPr id="1158" name="Google Shape;1158;p21"/>
          <p:cNvSpPr/>
          <p:nvPr/>
        </p:nvSpPr>
        <p:spPr>
          <a:xfrm>
            <a:off x="8467725" y="4095750"/>
            <a:ext cx="295275" cy="276225"/>
          </a:xfrm>
          <a:prstGeom prst="roundRect">
            <a:avLst>
              <a:gd fmla="val 27586" name="adj"/>
            </a:avLst>
          </a:prstGeom>
          <a:solidFill>
            <a:srgbClr val="E6F0EB"/>
          </a:solidFill>
          <a:ln cap="flat" cmpd="sng" w="9525">
            <a:solidFill>
              <a:srgbClr val="2F6F5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9" name="Google Shape;1159;p21"/>
          <p:cNvSpPr/>
          <p:nvPr/>
        </p:nvSpPr>
        <p:spPr>
          <a:xfrm>
            <a:off x="8467725" y="4133850"/>
            <a:ext cx="295275" cy="190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F6F57"/>
              </a:buClr>
              <a:buSzPts val="788"/>
              <a:buFont typeface="Arial"/>
              <a:buNone/>
            </a:pPr>
            <a:r>
              <a:rPr b="1" lang="en-US" sz="788">
                <a:solidFill>
                  <a:srgbClr val="2F6F57"/>
                </a:solidFill>
              </a:rPr>
              <a:t>05</a:t>
            </a:r>
            <a:endParaRPr/>
          </a:p>
        </p:txBody>
      </p:sp>
      <p:sp>
        <p:nvSpPr>
          <p:cNvPr id="1160" name="Google Shape;1160;p21"/>
          <p:cNvSpPr/>
          <p:nvPr/>
        </p:nvSpPr>
        <p:spPr>
          <a:xfrm>
            <a:off x="8867775" y="4076700"/>
            <a:ext cx="1438275" cy="190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803"/>
              <a:buFont typeface="Arial"/>
              <a:buNone/>
            </a:pPr>
            <a:r>
              <a:rPr b="1" lang="en-US" sz="803">
                <a:solidFill>
                  <a:srgbClr val="1A1A2E"/>
                </a:solidFill>
              </a:rPr>
              <a:t>Production PRD</a:t>
            </a:r>
            <a:endParaRPr/>
          </a:p>
        </p:txBody>
      </p:sp>
      <p:sp>
        <p:nvSpPr>
          <p:cNvPr id="1161" name="Google Shape;1161;p21"/>
          <p:cNvSpPr/>
          <p:nvPr/>
        </p:nvSpPr>
        <p:spPr>
          <a:xfrm>
            <a:off x="8867775" y="4248150"/>
            <a:ext cx="1600200" cy="1524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660"/>
              <a:buFont typeface="Arial"/>
              <a:buNone/>
            </a:pPr>
            <a:r>
              <a:rPr lang="en-US" sz="660">
                <a:solidFill>
                  <a:srgbClr val="666B70"/>
                </a:solidFill>
              </a:rPr>
              <a:t>ocoEGqFDyzzFYf3U</a:t>
            </a:r>
            <a:endParaRPr/>
          </a:p>
        </p:txBody>
      </p:sp>
      <p:sp>
        <p:nvSpPr>
          <p:cNvPr id="1162" name="Google Shape;1162;p21"/>
          <p:cNvSpPr/>
          <p:nvPr/>
        </p:nvSpPr>
        <p:spPr>
          <a:xfrm>
            <a:off x="10477500" y="4124325"/>
            <a:ext cx="781050" cy="190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F6F57"/>
              </a:buClr>
              <a:buSzPts val="675"/>
              <a:buFont typeface="Arial"/>
              <a:buNone/>
            </a:pPr>
            <a:r>
              <a:rPr b="1" lang="en-US" sz="675">
                <a:solidFill>
                  <a:srgbClr val="2F6F57"/>
                </a:solidFill>
              </a:rPr>
              <a:t>v0.3.8</a:t>
            </a:r>
            <a:endParaRPr/>
          </a:p>
        </p:txBody>
      </p:sp>
      <p:sp>
        <p:nvSpPr>
          <p:cNvPr id="1163" name="Google Shape;1163;p21"/>
          <p:cNvSpPr/>
          <p:nvPr/>
        </p:nvSpPr>
        <p:spPr>
          <a:xfrm>
            <a:off x="8467725" y="4467225"/>
            <a:ext cx="295275" cy="276225"/>
          </a:xfrm>
          <a:prstGeom prst="roundRect">
            <a:avLst>
              <a:gd fmla="val 27586" name="adj"/>
            </a:avLst>
          </a:prstGeom>
          <a:solidFill>
            <a:srgbClr val="E6F0EB"/>
          </a:solidFill>
          <a:ln cap="flat" cmpd="sng" w="9525">
            <a:solidFill>
              <a:srgbClr val="2F6F5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4" name="Google Shape;1164;p21"/>
          <p:cNvSpPr/>
          <p:nvPr/>
        </p:nvSpPr>
        <p:spPr>
          <a:xfrm>
            <a:off x="8467725" y="4505325"/>
            <a:ext cx="295275" cy="190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F6F57"/>
              </a:buClr>
              <a:buSzPts val="788"/>
              <a:buFont typeface="Arial"/>
              <a:buNone/>
            </a:pPr>
            <a:r>
              <a:rPr b="1" lang="en-US" sz="788">
                <a:solidFill>
                  <a:srgbClr val="2F6F57"/>
                </a:solidFill>
              </a:rPr>
              <a:t>06</a:t>
            </a:r>
            <a:endParaRPr/>
          </a:p>
        </p:txBody>
      </p:sp>
      <p:sp>
        <p:nvSpPr>
          <p:cNvPr id="1165" name="Google Shape;1165;p21"/>
          <p:cNvSpPr/>
          <p:nvPr/>
        </p:nvSpPr>
        <p:spPr>
          <a:xfrm>
            <a:off x="8867775" y="4448175"/>
            <a:ext cx="1438275" cy="190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803"/>
              <a:buFont typeface="Arial"/>
              <a:buNone/>
            </a:pPr>
            <a:r>
              <a:rPr b="1" lang="en-US" sz="803">
                <a:solidFill>
                  <a:srgbClr val="1A1A2E"/>
                </a:solidFill>
              </a:rPr>
              <a:t>Story Breakdown</a:t>
            </a:r>
            <a:endParaRPr/>
          </a:p>
        </p:txBody>
      </p:sp>
      <p:sp>
        <p:nvSpPr>
          <p:cNvPr id="1166" name="Google Shape;1166;p21"/>
          <p:cNvSpPr/>
          <p:nvPr/>
        </p:nvSpPr>
        <p:spPr>
          <a:xfrm>
            <a:off x="8867775" y="4619625"/>
            <a:ext cx="1600200" cy="1524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660"/>
              <a:buFont typeface="Arial"/>
              <a:buNone/>
            </a:pPr>
            <a:r>
              <a:rPr lang="en-US" sz="660">
                <a:solidFill>
                  <a:srgbClr val="666B70"/>
                </a:solidFill>
              </a:rPr>
              <a:t>kswPN0mT0u7rp4vq</a:t>
            </a:r>
            <a:endParaRPr/>
          </a:p>
        </p:txBody>
      </p:sp>
      <p:sp>
        <p:nvSpPr>
          <p:cNvPr id="1167" name="Google Shape;1167;p21"/>
          <p:cNvSpPr/>
          <p:nvPr/>
        </p:nvSpPr>
        <p:spPr>
          <a:xfrm>
            <a:off x="10477500" y="4495800"/>
            <a:ext cx="781050" cy="190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F6F57"/>
              </a:buClr>
              <a:buSzPts val="675"/>
              <a:buFont typeface="Arial"/>
              <a:buNone/>
            </a:pPr>
            <a:r>
              <a:rPr b="1" lang="en-US" sz="675">
                <a:solidFill>
                  <a:srgbClr val="2F6F57"/>
                </a:solidFill>
              </a:rPr>
              <a:t>v0.3.8</a:t>
            </a:r>
            <a:endParaRPr/>
          </a:p>
        </p:txBody>
      </p:sp>
      <p:sp>
        <p:nvSpPr>
          <p:cNvPr id="1168" name="Google Shape;1168;p21"/>
          <p:cNvSpPr/>
          <p:nvPr/>
        </p:nvSpPr>
        <p:spPr>
          <a:xfrm>
            <a:off x="8467725" y="4838700"/>
            <a:ext cx="295275" cy="276225"/>
          </a:xfrm>
          <a:prstGeom prst="roundRect">
            <a:avLst>
              <a:gd fmla="val 27586" name="adj"/>
            </a:avLst>
          </a:prstGeom>
          <a:solidFill>
            <a:srgbClr val="F0EBE5"/>
          </a:solidFill>
          <a:ln cap="flat" cmpd="sng" w="9525">
            <a:solidFill>
              <a:srgbClr val="666B7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9" name="Google Shape;1169;p21"/>
          <p:cNvSpPr/>
          <p:nvPr/>
        </p:nvSpPr>
        <p:spPr>
          <a:xfrm>
            <a:off x="8467725" y="4876800"/>
            <a:ext cx="295275" cy="190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788"/>
              <a:buFont typeface="Arial"/>
              <a:buNone/>
            </a:pPr>
            <a:r>
              <a:rPr b="1" lang="en-US" sz="788">
                <a:solidFill>
                  <a:srgbClr val="666B70"/>
                </a:solidFill>
              </a:rPr>
              <a:t>07</a:t>
            </a:r>
            <a:endParaRPr/>
          </a:p>
        </p:txBody>
      </p:sp>
      <p:sp>
        <p:nvSpPr>
          <p:cNvPr id="1170" name="Google Shape;1170;p21"/>
          <p:cNvSpPr/>
          <p:nvPr/>
        </p:nvSpPr>
        <p:spPr>
          <a:xfrm>
            <a:off x="8867775" y="4819650"/>
            <a:ext cx="1438275" cy="190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803"/>
              <a:buFont typeface="Arial"/>
              <a:buNone/>
            </a:pPr>
            <a:r>
              <a:rPr b="1" lang="en-US" sz="803">
                <a:solidFill>
                  <a:srgbClr val="1A1A2E"/>
                </a:solidFill>
              </a:rPr>
              <a:t>Validator + Export</a:t>
            </a:r>
            <a:endParaRPr/>
          </a:p>
        </p:txBody>
      </p:sp>
      <p:sp>
        <p:nvSpPr>
          <p:cNvPr id="1171" name="Google Shape;1171;p21"/>
          <p:cNvSpPr/>
          <p:nvPr/>
        </p:nvSpPr>
        <p:spPr>
          <a:xfrm>
            <a:off x="8867775" y="4991100"/>
            <a:ext cx="1600200" cy="1524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660"/>
              <a:buFont typeface="Arial"/>
              <a:buNone/>
            </a:pPr>
            <a:r>
              <a:rPr lang="en-US" sz="660">
                <a:solidFill>
                  <a:srgbClr val="666B70"/>
                </a:solidFill>
              </a:rPr>
              <a:t>PCV1gEpUt8ZxOVyw</a:t>
            </a:r>
            <a:endParaRPr/>
          </a:p>
        </p:txBody>
      </p:sp>
      <p:sp>
        <p:nvSpPr>
          <p:cNvPr id="1172" name="Google Shape;1172;p21"/>
          <p:cNvSpPr/>
          <p:nvPr/>
        </p:nvSpPr>
        <p:spPr>
          <a:xfrm>
            <a:off x="10477500" y="4867275"/>
            <a:ext cx="781050" cy="190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675"/>
              <a:buFont typeface="Arial"/>
              <a:buNone/>
            </a:pPr>
            <a:r>
              <a:rPr b="1" lang="en-US" sz="675">
                <a:solidFill>
                  <a:srgbClr val="666B70"/>
                </a:solidFill>
              </a:rPr>
              <a:t>STABLE</a:t>
            </a:r>
            <a:endParaRPr/>
          </a:p>
        </p:txBody>
      </p:sp>
      <p:sp>
        <p:nvSpPr>
          <p:cNvPr id="1173" name="Google Shape;1173;p21"/>
          <p:cNvSpPr/>
          <p:nvPr/>
        </p:nvSpPr>
        <p:spPr>
          <a:xfrm>
            <a:off x="8467725" y="5210175"/>
            <a:ext cx="295275" cy="276225"/>
          </a:xfrm>
          <a:prstGeom prst="roundRect">
            <a:avLst>
              <a:gd fmla="val 27586" name="adj"/>
            </a:avLst>
          </a:prstGeom>
          <a:solidFill>
            <a:srgbClr val="E6F0EB"/>
          </a:solidFill>
          <a:ln cap="flat" cmpd="sng" w="9525">
            <a:solidFill>
              <a:srgbClr val="2F6F5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4" name="Google Shape;1174;p21"/>
          <p:cNvSpPr/>
          <p:nvPr/>
        </p:nvSpPr>
        <p:spPr>
          <a:xfrm>
            <a:off x="8467725" y="5248275"/>
            <a:ext cx="295275" cy="190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F6F57"/>
              </a:buClr>
              <a:buSzPts val="788"/>
              <a:buFont typeface="Arial"/>
              <a:buNone/>
            </a:pPr>
            <a:r>
              <a:rPr b="1" lang="en-US" sz="788">
                <a:solidFill>
                  <a:srgbClr val="2F6F57"/>
                </a:solidFill>
              </a:rPr>
              <a:t>08</a:t>
            </a:r>
            <a:endParaRPr/>
          </a:p>
        </p:txBody>
      </p:sp>
      <p:sp>
        <p:nvSpPr>
          <p:cNvPr id="1175" name="Google Shape;1175;p21"/>
          <p:cNvSpPr/>
          <p:nvPr/>
        </p:nvSpPr>
        <p:spPr>
          <a:xfrm>
            <a:off x="8867775" y="5191125"/>
            <a:ext cx="1438275" cy="190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803"/>
              <a:buFont typeface="Arial"/>
              <a:buNone/>
            </a:pPr>
            <a:r>
              <a:rPr b="1" lang="en-US" sz="803">
                <a:solidFill>
                  <a:srgbClr val="1A1A2E"/>
                </a:solidFill>
              </a:rPr>
              <a:t>Story Sizing</a:t>
            </a:r>
            <a:endParaRPr/>
          </a:p>
        </p:txBody>
      </p:sp>
      <p:sp>
        <p:nvSpPr>
          <p:cNvPr id="1176" name="Google Shape;1176;p21"/>
          <p:cNvSpPr/>
          <p:nvPr/>
        </p:nvSpPr>
        <p:spPr>
          <a:xfrm>
            <a:off x="8867775" y="5362575"/>
            <a:ext cx="1600200" cy="1524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660"/>
              <a:buFont typeface="Arial"/>
              <a:buNone/>
            </a:pPr>
            <a:r>
              <a:rPr lang="en-US" sz="660">
                <a:solidFill>
                  <a:srgbClr val="666B70"/>
                </a:solidFill>
              </a:rPr>
              <a:t>cFuv8QCLpLhtX6A6</a:t>
            </a:r>
            <a:endParaRPr/>
          </a:p>
        </p:txBody>
      </p:sp>
      <p:sp>
        <p:nvSpPr>
          <p:cNvPr id="1177" name="Google Shape;1177;p21"/>
          <p:cNvSpPr/>
          <p:nvPr/>
        </p:nvSpPr>
        <p:spPr>
          <a:xfrm>
            <a:off x="10477500" y="5238750"/>
            <a:ext cx="781050" cy="190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F6F57"/>
              </a:buClr>
              <a:buSzPts val="675"/>
              <a:buFont typeface="Arial"/>
              <a:buNone/>
            </a:pPr>
            <a:r>
              <a:rPr b="1" lang="en-US" sz="675">
                <a:solidFill>
                  <a:srgbClr val="2F6F57"/>
                </a:solidFill>
              </a:rPr>
              <a:t>v0.3.8</a:t>
            </a:r>
            <a:endParaRPr/>
          </a:p>
        </p:txBody>
      </p:sp>
      <p:sp>
        <p:nvSpPr>
          <p:cNvPr id="1178" name="Google Shape;1178;p21"/>
          <p:cNvSpPr/>
          <p:nvPr/>
        </p:nvSpPr>
        <p:spPr>
          <a:xfrm>
            <a:off x="8420100" y="5638800"/>
            <a:ext cx="2952750" cy="238125"/>
          </a:xfrm>
          <a:prstGeom prst="roundRect">
            <a:avLst>
              <a:gd fmla="val 32000" name="adj"/>
            </a:avLst>
          </a:prstGeom>
          <a:solidFill>
            <a:srgbClr val="E6F0EB"/>
          </a:solidFill>
          <a:ln cap="flat" cmpd="sng" w="9525">
            <a:solidFill>
              <a:srgbClr val="2F6F5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9" name="Google Shape;1179;p21"/>
          <p:cNvSpPr/>
          <p:nvPr/>
        </p:nvSpPr>
        <p:spPr>
          <a:xfrm>
            <a:off x="8486775" y="5676900"/>
            <a:ext cx="2819400" cy="1619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F6F57"/>
              </a:buClr>
              <a:buSzPts val="728"/>
              <a:buFont typeface="Arial"/>
              <a:buNone/>
            </a:pPr>
            <a:r>
              <a:rPr b="1" lang="en-US" sz="728">
                <a:solidFill>
                  <a:srgbClr val="2F6F57"/>
                </a:solidFill>
              </a:rPr>
              <a:t>Execution 11901 · RUN-S2-11902-16e7090e</a:t>
            </a:r>
            <a:endParaRPr/>
          </a:p>
        </p:txBody>
      </p:sp>
      <p:sp>
        <p:nvSpPr>
          <p:cNvPr id="1180" name="Google Shape;1180;p21"/>
          <p:cNvSpPr/>
          <p:nvPr/>
        </p:nvSpPr>
        <p:spPr>
          <a:xfrm>
            <a:off x="0" y="6267450"/>
            <a:ext cx="12192000" cy="590550"/>
          </a:xfrm>
          <a:prstGeom prst="rect">
            <a:avLst/>
          </a:prstGeom>
          <a:solidFill>
            <a:srgbClr val="1A1A2E"/>
          </a:solidFill>
          <a:ln cap="flat" cmpd="sng" w="9525">
            <a:solidFill>
              <a:srgbClr val="1A1A2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1" name="Google Shape;1181;p21"/>
          <p:cNvSpPr/>
          <p:nvPr/>
        </p:nvSpPr>
        <p:spPr>
          <a:xfrm>
            <a:off x="781050" y="6381750"/>
            <a:ext cx="1905000" cy="190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C9C6D8"/>
              </a:buClr>
              <a:buSzPts val="825"/>
              <a:buFont typeface="Arial"/>
              <a:buNone/>
            </a:pPr>
            <a:r>
              <a:rPr b="1" lang="en-US" sz="825">
                <a:solidFill>
                  <a:srgbClr val="C9C6D8"/>
                </a:solidFill>
              </a:rPr>
              <a:t>APPENDIX A2</a:t>
            </a:r>
            <a:endParaRPr/>
          </a:p>
        </p:txBody>
      </p:sp>
      <p:sp>
        <p:nvSpPr>
          <p:cNvPr id="1182" name="Google Shape;1182;p21"/>
          <p:cNvSpPr/>
          <p:nvPr/>
        </p:nvSpPr>
        <p:spPr>
          <a:xfrm>
            <a:off x="2705100" y="6343650"/>
            <a:ext cx="8705850" cy="29527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FFFFFF"/>
              </a:buClr>
              <a:buSzPts val="1200"/>
              <a:buFont typeface="Arial"/>
              <a:buNone/>
            </a:pPr>
            <a:r>
              <a:rPr b="1" lang="en-US" sz="1200">
                <a:solidFill>
                  <a:srgbClr val="FFFFFF"/>
                </a:solidFill>
              </a:rPr>
              <a:t>Complete candidate exports preserve reproducibility; the accepted runtime preserves proven controls.</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4EE"/>
        </a:solidFill>
      </p:bgPr>
    </p:bg>
    <p:spTree>
      <p:nvGrpSpPr>
        <p:cNvPr id="1187" name="Shape 1187"/>
        <p:cNvGrpSpPr/>
        <p:nvPr/>
      </p:nvGrpSpPr>
      <p:grpSpPr>
        <a:xfrm>
          <a:off x="0" y="0"/>
          <a:ext cx="0" cy="0"/>
          <a:chOff x="0" y="0"/>
          <a:chExt cx="0" cy="0"/>
        </a:xfrm>
      </p:grpSpPr>
      <p:sp>
        <p:nvSpPr>
          <p:cNvPr id="1188" name="Google Shape;1188;p22"/>
          <p:cNvSpPr/>
          <p:nvPr/>
        </p:nvSpPr>
        <p:spPr>
          <a:xfrm>
            <a:off x="0" y="0"/>
            <a:ext cx="12192000" cy="76200"/>
          </a:xfrm>
          <a:prstGeom prst="rect">
            <a:avLst/>
          </a:prstGeom>
          <a:solidFill>
            <a:srgbClr val="B85042"/>
          </a:solidFill>
          <a:ln cap="flat" cmpd="sng" w="9525">
            <a:solidFill>
              <a:srgbClr val="B8504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9" name="Google Shape;1189;p22"/>
          <p:cNvSpPr/>
          <p:nvPr/>
        </p:nvSpPr>
        <p:spPr>
          <a:xfrm>
            <a:off x="514350" y="685800"/>
            <a:ext cx="66675" cy="800100"/>
          </a:xfrm>
          <a:prstGeom prst="rect">
            <a:avLst/>
          </a:prstGeom>
          <a:solidFill>
            <a:srgbClr val="B85042"/>
          </a:solidFill>
          <a:ln cap="flat" cmpd="sng" w="9525">
            <a:solidFill>
              <a:srgbClr val="B8504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0" name="Google Shape;1190;p22"/>
          <p:cNvSpPr/>
          <p:nvPr/>
        </p:nvSpPr>
        <p:spPr>
          <a:xfrm>
            <a:off x="781050" y="495300"/>
            <a:ext cx="6667500" cy="2667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B85042"/>
              </a:buClr>
              <a:buSzPts val="975"/>
              <a:buFont typeface="Arial"/>
              <a:buNone/>
            </a:pPr>
            <a:r>
              <a:rPr b="1" lang="en-US" sz="975">
                <a:solidFill>
                  <a:srgbClr val="B85042"/>
                </a:solidFill>
              </a:rPr>
              <a:t>A3  ·  TECHNICAL CALL GRAPH</a:t>
            </a:r>
            <a:endParaRPr/>
          </a:p>
        </p:txBody>
      </p:sp>
      <p:sp>
        <p:nvSpPr>
          <p:cNvPr id="1191" name="Google Shape;1191;p22"/>
          <p:cNvSpPr/>
          <p:nvPr/>
        </p:nvSpPr>
        <p:spPr>
          <a:xfrm>
            <a:off x="781050" y="828675"/>
            <a:ext cx="10629900" cy="552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2550"/>
              <a:buFont typeface="Arial"/>
              <a:buNone/>
            </a:pPr>
            <a:r>
              <a:rPr b="1" lang="en-US" sz="2550">
                <a:solidFill>
                  <a:srgbClr val="1A1A2E"/>
                </a:solidFill>
              </a:rPr>
              <a:t>One governed sequence connects all eight logical stages</a:t>
            </a:r>
            <a:endParaRPr/>
          </a:p>
        </p:txBody>
      </p:sp>
      <p:sp>
        <p:nvSpPr>
          <p:cNvPr id="1192" name="Google Shape;1192;p22"/>
          <p:cNvSpPr/>
          <p:nvPr/>
        </p:nvSpPr>
        <p:spPr>
          <a:xfrm>
            <a:off x="781050" y="1438275"/>
            <a:ext cx="10629900" cy="29527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1163"/>
              <a:buFont typeface="Arial"/>
              <a:buNone/>
            </a:pPr>
            <a:r>
              <a:rPr lang="en-US" sz="1163">
                <a:solidFill>
                  <a:srgbClr val="666B70"/>
                </a:solidFill>
              </a:rPr>
              <a:t>Six stages are direct child calls; Requirement Extraction and Gap Analysis remain retained logical contracts within the analysis path.</a:t>
            </a:r>
            <a:endParaRPr/>
          </a:p>
        </p:txBody>
      </p:sp>
      <p:sp>
        <p:nvSpPr>
          <p:cNvPr id="1193" name="Google Shape;1193;p22"/>
          <p:cNvSpPr/>
          <p:nvPr/>
        </p:nvSpPr>
        <p:spPr>
          <a:xfrm>
            <a:off x="781050" y="1971675"/>
            <a:ext cx="1562100" cy="609600"/>
          </a:xfrm>
          <a:prstGeom prst="roundRect">
            <a:avLst>
              <a:gd fmla="val 12500" name="adj"/>
            </a:avLst>
          </a:prstGeom>
          <a:solidFill>
            <a:srgbClr val="E8EFF9"/>
          </a:solidFill>
          <a:ln cap="flat" cmpd="sng" w="9525">
            <a:solidFill>
              <a:srgbClr val="3B6EB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4" name="Google Shape;1194;p22"/>
          <p:cNvSpPr/>
          <p:nvPr/>
        </p:nvSpPr>
        <p:spPr>
          <a:xfrm>
            <a:off x="933450" y="2076450"/>
            <a:ext cx="1257300" cy="18097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3B6EBF"/>
              </a:buClr>
              <a:buSzPts val="788"/>
              <a:buFont typeface="Arial"/>
              <a:buNone/>
            </a:pPr>
            <a:r>
              <a:rPr b="1" lang="en-US" sz="788">
                <a:solidFill>
                  <a:srgbClr val="3B6EBF"/>
                </a:solidFill>
              </a:rPr>
              <a:t>MANUAL TRIGGER</a:t>
            </a:r>
            <a:endParaRPr/>
          </a:p>
        </p:txBody>
      </p:sp>
      <p:sp>
        <p:nvSpPr>
          <p:cNvPr id="1195" name="Google Shape;1195;p22"/>
          <p:cNvSpPr/>
          <p:nvPr/>
        </p:nvSpPr>
        <p:spPr>
          <a:xfrm>
            <a:off x="838200" y="2286000"/>
            <a:ext cx="1447800" cy="190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713"/>
              <a:buFont typeface="Arial"/>
              <a:buNone/>
            </a:pPr>
            <a:r>
              <a:rPr lang="en-US" sz="713">
                <a:solidFill>
                  <a:srgbClr val="1A1A2E"/>
                </a:solidFill>
              </a:rPr>
              <a:t>Approved source package</a:t>
            </a:r>
            <a:endParaRPr/>
          </a:p>
        </p:txBody>
      </p:sp>
      <p:sp>
        <p:nvSpPr>
          <p:cNvPr id="1196" name="Google Shape;1196;p22"/>
          <p:cNvSpPr/>
          <p:nvPr/>
        </p:nvSpPr>
        <p:spPr>
          <a:xfrm>
            <a:off x="2486025" y="2143125"/>
            <a:ext cx="285750" cy="209550"/>
          </a:xfrm>
          <a:prstGeom prst="rightArrow">
            <a:avLst>
              <a:gd fmla="val 50000" name="adj1"/>
              <a:gd fmla="val 50000" name="adj2"/>
            </a:avLst>
          </a:prstGeom>
          <a:solidFill>
            <a:srgbClr val="B85042"/>
          </a:solidFill>
          <a:ln cap="flat" cmpd="sng" w="9525">
            <a:solidFill>
              <a:srgbClr val="B8504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7" name="Google Shape;1197;p22"/>
          <p:cNvSpPr/>
          <p:nvPr/>
        </p:nvSpPr>
        <p:spPr>
          <a:xfrm>
            <a:off x="2876550" y="1885950"/>
            <a:ext cx="6191250" cy="781050"/>
          </a:xfrm>
          <a:prstGeom prst="roundRect">
            <a:avLst>
              <a:gd fmla="val 9756" name="adj"/>
            </a:avLst>
          </a:prstGeom>
          <a:solidFill>
            <a:srgbClr val="F3E6E2"/>
          </a:solidFill>
          <a:ln cap="flat" cmpd="sng" w="9525">
            <a:solidFill>
              <a:srgbClr val="B8504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8" name="Google Shape;1198;p22"/>
          <p:cNvSpPr/>
          <p:nvPr/>
        </p:nvSpPr>
        <p:spPr>
          <a:xfrm>
            <a:off x="3124200" y="2009775"/>
            <a:ext cx="5715000" cy="25717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1350"/>
              <a:buFont typeface="Arial"/>
              <a:buNone/>
            </a:pPr>
            <a:r>
              <a:rPr b="1" lang="en-US" sz="1350">
                <a:solidFill>
                  <a:srgbClr val="1A1A2E"/>
                </a:solidFill>
              </a:rPr>
              <a:t>PRD Genie — Main Orchestrator — v0.3.8 Candidate</a:t>
            </a:r>
            <a:endParaRPr/>
          </a:p>
        </p:txBody>
      </p:sp>
      <p:sp>
        <p:nvSpPr>
          <p:cNvPr id="1199" name="Google Shape;1199;p22"/>
          <p:cNvSpPr/>
          <p:nvPr/>
        </p:nvSpPr>
        <p:spPr>
          <a:xfrm>
            <a:off x="3124200" y="2314575"/>
            <a:ext cx="5715000" cy="2095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788"/>
              <a:buFont typeface="Arial"/>
              <a:buNone/>
            </a:pPr>
            <a:r>
              <a:rPr lang="en-US" sz="788">
                <a:solidFill>
                  <a:srgbClr val="666B70"/>
                </a:solidFill>
              </a:rPr>
              <a:t>YCgHHBa8xUvSOYGI  ·  creates run ID  ·  invokes children by workflow ID  ·  preserves handoff lineage</a:t>
            </a:r>
            <a:endParaRPr/>
          </a:p>
        </p:txBody>
      </p:sp>
      <p:sp>
        <p:nvSpPr>
          <p:cNvPr id="1200" name="Google Shape;1200;p22"/>
          <p:cNvSpPr/>
          <p:nvPr/>
        </p:nvSpPr>
        <p:spPr>
          <a:xfrm>
            <a:off x="9534525" y="1971675"/>
            <a:ext cx="1876425" cy="609600"/>
          </a:xfrm>
          <a:prstGeom prst="roundRect">
            <a:avLst>
              <a:gd fmla="val 12500" name="adj"/>
            </a:avLst>
          </a:prstGeom>
          <a:solidFill>
            <a:srgbClr val="E6F0EB"/>
          </a:solidFill>
          <a:ln cap="flat" cmpd="sng" w="9525">
            <a:solidFill>
              <a:srgbClr val="2F6F5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1" name="Google Shape;1201;p22"/>
          <p:cNvSpPr/>
          <p:nvPr/>
        </p:nvSpPr>
        <p:spPr>
          <a:xfrm>
            <a:off x="9696450" y="2076450"/>
            <a:ext cx="1552575" cy="18097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F6F57"/>
              </a:buClr>
              <a:buSzPts val="788"/>
              <a:buFont typeface="Arial"/>
              <a:buNone/>
            </a:pPr>
            <a:r>
              <a:rPr b="1" lang="en-US" sz="788">
                <a:solidFill>
                  <a:srgbClr val="2F6F57"/>
                </a:solidFill>
              </a:rPr>
              <a:t>GOOGLE DRIVE</a:t>
            </a:r>
            <a:endParaRPr/>
          </a:p>
        </p:txBody>
      </p:sp>
      <p:sp>
        <p:nvSpPr>
          <p:cNvPr id="1202" name="Google Shape;1202;p22"/>
          <p:cNvSpPr/>
          <p:nvPr/>
        </p:nvSpPr>
        <p:spPr>
          <a:xfrm>
            <a:off x="9696450" y="2286000"/>
            <a:ext cx="1552575" cy="190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788"/>
              <a:buFont typeface="Arial"/>
              <a:buNone/>
            </a:pPr>
            <a:r>
              <a:rPr lang="en-US" sz="788">
                <a:solidFill>
                  <a:srgbClr val="1A1A2E"/>
                </a:solidFill>
              </a:rPr>
              <a:t>7 validated artifacts</a:t>
            </a:r>
            <a:endParaRPr/>
          </a:p>
        </p:txBody>
      </p:sp>
      <p:sp>
        <p:nvSpPr>
          <p:cNvPr id="1203" name="Google Shape;1203;p22"/>
          <p:cNvSpPr/>
          <p:nvPr/>
        </p:nvSpPr>
        <p:spPr>
          <a:xfrm>
            <a:off x="9172575" y="2143125"/>
            <a:ext cx="266700" cy="209550"/>
          </a:xfrm>
          <a:prstGeom prst="rightArrow">
            <a:avLst>
              <a:gd fmla="val 50000" name="adj1"/>
              <a:gd fmla="val 50000" name="adj2"/>
            </a:avLst>
          </a:prstGeom>
          <a:solidFill>
            <a:srgbClr val="B85042"/>
          </a:solidFill>
          <a:ln cap="flat" cmpd="sng" w="9525">
            <a:solidFill>
              <a:srgbClr val="B8504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4" name="Google Shape;1204;p22"/>
          <p:cNvSpPr/>
          <p:nvPr/>
        </p:nvSpPr>
        <p:spPr>
          <a:xfrm>
            <a:off x="5876925" y="2686050"/>
            <a:ext cx="200025" cy="257175"/>
          </a:xfrm>
          <a:prstGeom prst="downArrow">
            <a:avLst>
              <a:gd fmla="val 50000" name="adj1"/>
              <a:gd fmla="val 50000" name="adj2"/>
            </a:avLst>
          </a:prstGeom>
          <a:solidFill>
            <a:srgbClr val="B85042"/>
          </a:solidFill>
          <a:ln cap="flat" cmpd="sng" w="9525">
            <a:solidFill>
              <a:srgbClr val="B8504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5" name="Google Shape;1205;p22"/>
          <p:cNvSpPr/>
          <p:nvPr/>
        </p:nvSpPr>
        <p:spPr>
          <a:xfrm>
            <a:off x="781050" y="2943225"/>
            <a:ext cx="5905500" cy="2095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B85042"/>
              </a:buClr>
              <a:buSzPts val="825"/>
              <a:buFont typeface="Arial"/>
              <a:buNone/>
            </a:pPr>
            <a:r>
              <a:rPr b="1" lang="en-US" sz="825">
                <a:solidFill>
                  <a:srgbClr val="B85042"/>
                </a:solidFill>
              </a:rPr>
              <a:t>CONTINUOUS LOGICAL FLOW · ACCEPTED EXECUTION 11901</a:t>
            </a:r>
            <a:endParaRPr/>
          </a:p>
        </p:txBody>
      </p:sp>
      <p:sp>
        <p:nvSpPr>
          <p:cNvPr id="1206" name="Google Shape;1206;p22"/>
          <p:cNvSpPr/>
          <p:nvPr/>
        </p:nvSpPr>
        <p:spPr>
          <a:xfrm>
            <a:off x="781050" y="3295650"/>
            <a:ext cx="1171575" cy="1104900"/>
          </a:xfrm>
          <a:prstGeom prst="roundRect">
            <a:avLst>
              <a:gd fmla="val 6897" name="adj"/>
            </a:avLst>
          </a:prstGeom>
          <a:solidFill>
            <a:srgbClr val="E8EFF9"/>
          </a:solidFill>
          <a:ln cap="flat" cmpd="sng" w="9525">
            <a:solidFill>
              <a:srgbClr val="3B6EB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7" name="Google Shape;1207;p22"/>
          <p:cNvSpPr/>
          <p:nvPr/>
        </p:nvSpPr>
        <p:spPr>
          <a:xfrm>
            <a:off x="781050" y="3295650"/>
            <a:ext cx="1171575" cy="76200"/>
          </a:xfrm>
          <a:prstGeom prst="rect">
            <a:avLst/>
          </a:prstGeom>
          <a:solidFill>
            <a:srgbClr val="3B6EBF"/>
          </a:solidFill>
          <a:ln cap="flat" cmpd="sng" w="9525">
            <a:solidFill>
              <a:srgbClr val="3B6EB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8" name="Google Shape;1208;p22"/>
          <p:cNvSpPr/>
          <p:nvPr/>
        </p:nvSpPr>
        <p:spPr>
          <a:xfrm>
            <a:off x="1204913" y="3419475"/>
            <a:ext cx="323850" cy="228600"/>
          </a:xfrm>
          <a:prstGeom prst="roundRect">
            <a:avLst>
              <a:gd fmla="val 33333" name="adj"/>
            </a:avLst>
          </a:prstGeom>
          <a:solidFill>
            <a:srgbClr val="E8EFF9"/>
          </a:solidFill>
          <a:ln cap="flat" cmpd="sng" w="9525">
            <a:solidFill>
              <a:srgbClr val="3B6EB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9" name="Google Shape;1209;p22"/>
          <p:cNvSpPr/>
          <p:nvPr/>
        </p:nvSpPr>
        <p:spPr>
          <a:xfrm>
            <a:off x="1204913" y="3438525"/>
            <a:ext cx="323850" cy="18097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3B6EBF"/>
              </a:buClr>
              <a:buSzPts val="660"/>
              <a:buFont typeface="Arial"/>
              <a:buNone/>
            </a:pPr>
            <a:r>
              <a:rPr b="1" lang="en-US" sz="660">
                <a:solidFill>
                  <a:srgbClr val="3B6EBF"/>
                </a:solidFill>
              </a:rPr>
              <a:t>01</a:t>
            </a:r>
            <a:endParaRPr/>
          </a:p>
        </p:txBody>
      </p:sp>
      <p:sp>
        <p:nvSpPr>
          <p:cNvPr id="1210" name="Google Shape;1210;p22"/>
          <p:cNvSpPr/>
          <p:nvPr/>
        </p:nvSpPr>
        <p:spPr>
          <a:xfrm>
            <a:off x="857250" y="3695700"/>
            <a:ext cx="1019175" cy="2857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720"/>
              <a:buFont typeface="Arial"/>
              <a:buNone/>
            </a:pPr>
            <a:r>
              <a:rPr b="1" lang="en-US" sz="720">
                <a:solidFill>
                  <a:srgbClr val="1A1A2E"/>
                </a:solidFill>
              </a:rPr>
              <a:t>Drive +</a:t>
            </a:r>
            <a:endParaRPr/>
          </a:p>
          <a:p>
            <a:pPr indent="0" lvl="0" marL="0" marR="0" rtl="0" algn="l">
              <a:spcBef>
                <a:spcPts val="0"/>
              </a:spcBef>
              <a:spcAft>
                <a:spcPts val="0"/>
              </a:spcAft>
              <a:buClr>
                <a:srgbClr val="1A1A2E"/>
              </a:buClr>
              <a:buSzPts val="720"/>
              <a:buFont typeface="Arial"/>
              <a:buNone/>
            </a:pPr>
            <a:r>
              <a:rPr b="1" lang="en-US" sz="720">
                <a:solidFill>
                  <a:srgbClr val="1A1A2E"/>
                </a:solidFill>
              </a:rPr>
              <a:t>Clarification</a:t>
            </a:r>
            <a:endParaRPr/>
          </a:p>
        </p:txBody>
      </p:sp>
      <p:sp>
        <p:nvSpPr>
          <p:cNvPr id="1211" name="Google Shape;1211;p22"/>
          <p:cNvSpPr/>
          <p:nvPr/>
        </p:nvSpPr>
        <p:spPr>
          <a:xfrm>
            <a:off x="857250" y="4010025"/>
            <a:ext cx="1019175" cy="14287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540"/>
              <a:buFont typeface="Arial"/>
              <a:buNone/>
            </a:pPr>
            <a:r>
              <a:rPr lang="en-US" sz="540">
                <a:solidFill>
                  <a:srgbClr val="666B70"/>
                </a:solidFill>
              </a:rPr>
              <a:t>m4WqDP4xJLhwyBnC</a:t>
            </a:r>
            <a:endParaRPr/>
          </a:p>
        </p:txBody>
      </p:sp>
      <p:sp>
        <p:nvSpPr>
          <p:cNvPr id="1212" name="Google Shape;1212;p22"/>
          <p:cNvSpPr/>
          <p:nvPr/>
        </p:nvSpPr>
        <p:spPr>
          <a:xfrm>
            <a:off x="857250" y="4210050"/>
            <a:ext cx="1019175" cy="1333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3B6EBF"/>
              </a:buClr>
              <a:buSzPts val="578"/>
              <a:buFont typeface="Arial"/>
              <a:buNone/>
            </a:pPr>
            <a:r>
              <a:rPr b="1" lang="en-US" sz="578">
                <a:solidFill>
                  <a:srgbClr val="3B6EBF"/>
                </a:solidFill>
              </a:rPr>
              <a:t>DIRECT · STABLE</a:t>
            </a:r>
            <a:endParaRPr/>
          </a:p>
        </p:txBody>
      </p:sp>
      <p:sp>
        <p:nvSpPr>
          <p:cNvPr id="1213" name="Google Shape;1213;p22"/>
          <p:cNvSpPr/>
          <p:nvPr/>
        </p:nvSpPr>
        <p:spPr>
          <a:xfrm>
            <a:off x="1981200" y="3705225"/>
            <a:ext cx="104775" cy="161925"/>
          </a:xfrm>
          <a:prstGeom prst="rightArrow">
            <a:avLst>
              <a:gd fmla="val 50000" name="adj1"/>
              <a:gd fmla="val 50000" name="adj2"/>
            </a:avLst>
          </a:prstGeom>
          <a:solidFill>
            <a:srgbClr val="B85042"/>
          </a:solidFill>
          <a:ln cap="flat" cmpd="sng" w="9525">
            <a:solidFill>
              <a:srgbClr val="B8504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4" name="Google Shape;1214;p22"/>
          <p:cNvSpPr/>
          <p:nvPr/>
        </p:nvSpPr>
        <p:spPr>
          <a:xfrm>
            <a:off x="2114550" y="3295650"/>
            <a:ext cx="1171575" cy="1104900"/>
          </a:xfrm>
          <a:prstGeom prst="roundRect">
            <a:avLst>
              <a:gd fmla="val 6897" name="adj"/>
            </a:avLst>
          </a:prstGeom>
          <a:solidFill>
            <a:srgbClr val="FFFFFF"/>
          </a:solidFill>
          <a:ln cap="flat" cmpd="sng" w="9525">
            <a:solidFill>
              <a:srgbClr val="666B7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5" name="Google Shape;1215;p22"/>
          <p:cNvSpPr/>
          <p:nvPr/>
        </p:nvSpPr>
        <p:spPr>
          <a:xfrm>
            <a:off x="2114550" y="3295650"/>
            <a:ext cx="1171575" cy="76200"/>
          </a:xfrm>
          <a:prstGeom prst="rect">
            <a:avLst/>
          </a:prstGeom>
          <a:solidFill>
            <a:srgbClr val="666B70"/>
          </a:solidFill>
          <a:ln cap="flat" cmpd="sng" w="9525">
            <a:solidFill>
              <a:srgbClr val="666B7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6" name="Google Shape;1216;p22"/>
          <p:cNvSpPr/>
          <p:nvPr/>
        </p:nvSpPr>
        <p:spPr>
          <a:xfrm>
            <a:off x="2538413" y="3419475"/>
            <a:ext cx="323850" cy="228600"/>
          </a:xfrm>
          <a:prstGeom prst="roundRect">
            <a:avLst>
              <a:gd fmla="val 33333" name="adj"/>
            </a:avLst>
          </a:prstGeom>
          <a:solidFill>
            <a:srgbClr val="E8EFF9"/>
          </a:solidFill>
          <a:ln cap="flat" cmpd="sng" w="9525">
            <a:solidFill>
              <a:srgbClr val="3B6EB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7" name="Google Shape;1217;p22"/>
          <p:cNvSpPr/>
          <p:nvPr/>
        </p:nvSpPr>
        <p:spPr>
          <a:xfrm>
            <a:off x="2538413" y="3438525"/>
            <a:ext cx="323850" cy="18097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3B6EBF"/>
              </a:buClr>
              <a:buSzPts val="660"/>
              <a:buFont typeface="Arial"/>
              <a:buNone/>
            </a:pPr>
            <a:r>
              <a:rPr b="1" lang="en-US" sz="660">
                <a:solidFill>
                  <a:srgbClr val="3B6EBF"/>
                </a:solidFill>
              </a:rPr>
              <a:t>02</a:t>
            </a:r>
            <a:endParaRPr/>
          </a:p>
        </p:txBody>
      </p:sp>
      <p:sp>
        <p:nvSpPr>
          <p:cNvPr id="1218" name="Google Shape;1218;p22"/>
          <p:cNvSpPr/>
          <p:nvPr/>
        </p:nvSpPr>
        <p:spPr>
          <a:xfrm>
            <a:off x="2190750" y="3695700"/>
            <a:ext cx="1019175" cy="2857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720"/>
              <a:buFont typeface="Arial"/>
              <a:buNone/>
            </a:pPr>
            <a:r>
              <a:rPr b="1" lang="en-US" sz="720">
                <a:solidFill>
                  <a:srgbClr val="1A1A2E"/>
                </a:solidFill>
              </a:rPr>
              <a:t>Requirement</a:t>
            </a:r>
            <a:endParaRPr/>
          </a:p>
          <a:p>
            <a:pPr indent="0" lvl="0" marL="0" marR="0" rtl="0" algn="l">
              <a:spcBef>
                <a:spcPts val="0"/>
              </a:spcBef>
              <a:spcAft>
                <a:spcPts val="0"/>
              </a:spcAft>
              <a:buClr>
                <a:srgbClr val="1A1A2E"/>
              </a:buClr>
              <a:buSzPts val="720"/>
              <a:buFont typeface="Arial"/>
              <a:buNone/>
            </a:pPr>
            <a:r>
              <a:rPr b="1" lang="en-US" sz="720">
                <a:solidFill>
                  <a:srgbClr val="1A1A2E"/>
                </a:solidFill>
              </a:rPr>
              <a:t>Extractor</a:t>
            </a:r>
            <a:endParaRPr/>
          </a:p>
        </p:txBody>
      </p:sp>
      <p:sp>
        <p:nvSpPr>
          <p:cNvPr id="1219" name="Google Shape;1219;p22"/>
          <p:cNvSpPr/>
          <p:nvPr/>
        </p:nvSpPr>
        <p:spPr>
          <a:xfrm>
            <a:off x="2190750" y="4010025"/>
            <a:ext cx="1019175" cy="14287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540"/>
              <a:buFont typeface="Arial"/>
              <a:buNone/>
            </a:pPr>
            <a:r>
              <a:rPr lang="en-US" sz="540">
                <a:solidFill>
                  <a:srgbClr val="666B70"/>
                </a:solidFill>
              </a:rPr>
              <a:t>retained analysis path</a:t>
            </a:r>
            <a:endParaRPr/>
          </a:p>
        </p:txBody>
      </p:sp>
      <p:sp>
        <p:nvSpPr>
          <p:cNvPr id="1220" name="Google Shape;1220;p22"/>
          <p:cNvSpPr/>
          <p:nvPr/>
        </p:nvSpPr>
        <p:spPr>
          <a:xfrm>
            <a:off x="2190750" y="4210050"/>
            <a:ext cx="1019175" cy="1333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578"/>
              <a:buFont typeface="Arial"/>
              <a:buNone/>
            </a:pPr>
            <a:r>
              <a:rPr b="1" lang="en-US" sz="578">
                <a:solidFill>
                  <a:srgbClr val="666B70"/>
                </a:solidFill>
              </a:rPr>
              <a:t>INTERNAL STEP</a:t>
            </a:r>
            <a:endParaRPr/>
          </a:p>
        </p:txBody>
      </p:sp>
      <p:sp>
        <p:nvSpPr>
          <p:cNvPr id="1221" name="Google Shape;1221;p22"/>
          <p:cNvSpPr/>
          <p:nvPr/>
        </p:nvSpPr>
        <p:spPr>
          <a:xfrm>
            <a:off x="3314700" y="3705225"/>
            <a:ext cx="104775" cy="161925"/>
          </a:xfrm>
          <a:prstGeom prst="rightArrow">
            <a:avLst>
              <a:gd fmla="val 50000" name="adj1"/>
              <a:gd fmla="val 50000" name="adj2"/>
            </a:avLst>
          </a:prstGeom>
          <a:solidFill>
            <a:srgbClr val="B85042"/>
          </a:solidFill>
          <a:ln cap="flat" cmpd="sng" w="9525">
            <a:solidFill>
              <a:srgbClr val="B8504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2" name="Google Shape;1222;p22"/>
          <p:cNvSpPr/>
          <p:nvPr/>
        </p:nvSpPr>
        <p:spPr>
          <a:xfrm>
            <a:off x="3448050" y="3295650"/>
            <a:ext cx="1171575" cy="1104900"/>
          </a:xfrm>
          <a:prstGeom prst="roundRect">
            <a:avLst>
              <a:gd fmla="val 6897" name="adj"/>
            </a:avLst>
          </a:prstGeom>
          <a:solidFill>
            <a:srgbClr val="FFFFFF"/>
          </a:solidFill>
          <a:ln cap="flat" cmpd="sng" w="9525">
            <a:solidFill>
              <a:srgbClr val="666B7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3" name="Google Shape;1223;p22"/>
          <p:cNvSpPr/>
          <p:nvPr/>
        </p:nvSpPr>
        <p:spPr>
          <a:xfrm>
            <a:off x="3448050" y="3295650"/>
            <a:ext cx="1171575" cy="76200"/>
          </a:xfrm>
          <a:prstGeom prst="rect">
            <a:avLst/>
          </a:prstGeom>
          <a:solidFill>
            <a:srgbClr val="666B70"/>
          </a:solidFill>
          <a:ln cap="flat" cmpd="sng" w="9525">
            <a:solidFill>
              <a:srgbClr val="666B7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4" name="Google Shape;1224;p22"/>
          <p:cNvSpPr/>
          <p:nvPr/>
        </p:nvSpPr>
        <p:spPr>
          <a:xfrm>
            <a:off x="3871913" y="3419475"/>
            <a:ext cx="323850" cy="228600"/>
          </a:xfrm>
          <a:prstGeom prst="roundRect">
            <a:avLst>
              <a:gd fmla="val 33333" name="adj"/>
            </a:avLst>
          </a:prstGeom>
          <a:solidFill>
            <a:srgbClr val="E8EFF9"/>
          </a:solidFill>
          <a:ln cap="flat" cmpd="sng" w="9525">
            <a:solidFill>
              <a:srgbClr val="3B6EB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5" name="Google Shape;1225;p22"/>
          <p:cNvSpPr/>
          <p:nvPr/>
        </p:nvSpPr>
        <p:spPr>
          <a:xfrm>
            <a:off x="3871913" y="3438525"/>
            <a:ext cx="323850" cy="18097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3B6EBF"/>
              </a:buClr>
              <a:buSzPts val="660"/>
              <a:buFont typeface="Arial"/>
              <a:buNone/>
            </a:pPr>
            <a:r>
              <a:rPr b="1" lang="en-US" sz="660">
                <a:solidFill>
                  <a:srgbClr val="3B6EBF"/>
                </a:solidFill>
              </a:rPr>
              <a:t>03</a:t>
            </a:r>
            <a:endParaRPr/>
          </a:p>
        </p:txBody>
      </p:sp>
      <p:sp>
        <p:nvSpPr>
          <p:cNvPr id="1226" name="Google Shape;1226;p22"/>
          <p:cNvSpPr/>
          <p:nvPr/>
        </p:nvSpPr>
        <p:spPr>
          <a:xfrm>
            <a:off x="3524250" y="3695700"/>
            <a:ext cx="1019175" cy="2857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720"/>
              <a:buFont typeface="Arial"/>
              <a:buNone/>
            </a:pPr>
            <a:r>
              <a:rPr b="1" lang="en-US" sz="720">
                <a:solidFill>
                  <a:srgbClr val="1A1A2E"/>
                </a:solidFill>
              </a:rPr>
              <a:t>Gap</a:t>
            </a:r>
            <a:endParaRPr/>
          </a:p>
          <a:p>
            <a:pPr indent="0" lvl="0" marL="0" marR="0" rtl="0" algn="l">
              <a:spcBef>
                <a:spcPts val="0"/>
              </a:spcBef>
              <a:spcAft>
                <a:spcPts val="0"/>
              </a:spcAft>
              <a:buClr>
                <a:srgbClr val="1A1A2E"/>
              </a:buClr>
              <a:buSzPts val="720"/>
              <a:buFont typeface="Arial"/>
              <a:buNone/>
            </a:pPr>
            <a:r>
              <a:rPr b="1" lang="en-US" sz="720">
                <a:solidFill>
                  <a:srgbClr val="1A1A2E"/>
                </a:solidFill>
              </a:rPr>
              <a:t>Analyzer</a:t>
            </a:r>
            <a:endParaRPr/>
          </a:p>
        </p:txBody>
      </p:sp>
      <p:sp>
        <p:nvSpPr>
          <p:cNvPr id="1227" name="Google Shape;1227;p22"/>
          <p:cNvSpPr/>
          <p:nvPr/>
        </p:nvSpPr>
        <p:spPr>
          <a:xfrm>
            <a:off x="3524250" y="4010025"/>
            <a:ext cx="1019175" cy="14287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540"/>
              <a:buFont typeface="Arial"/>
              <a:buNone/>
            </a:pPr>
            <a:r>
              <a:rPr lang="en-US" sz="540">
                <a:solidFill>
                  <a:srgbClr val="666B70"/>
                </a:solidFill>
              </a:rPr>
              <a:t>retained analysis path</a:t>
            </a:r>
            <a:endParaRPr/>
          </a:p>
        </p:txBody>
      </p:sp>
      <p:sp>
        <p:nvSpPr>
          <p:cNvPr id="1228" name="Google Shape;1228;p22"/>
          <p:cNvSpPr/>
          <p:nvPr/>
        </p:nvSpPr>
        <p:spPr>
          <a:xfrm>
            <a:off x="3524250" y="4210050"/>
            <a:ext cx="1019175" cy="1333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578"/>
              <a:buFont typeface="Arial"/>
              <a:buNone/>
            </a:pPr>
            <a:r>
              <a:rPr b="1" lang="en-US" sz="578">
                <a:solidFill>
                  <a:srgbClr val="666B70"/>
                </a:solidFill>
              </a:rPr>
              <a:t>INTERNAL STEP</a:t>
            </a:r>
            <a:endParaRPr/>
          </a:p>
        </p:txBody>
      </p:sp>
      <p:sp>
        <p:nvSpPr>
          <p:cNvPr id="1229" name="Google Shape;1229;p22"/>
          <p:cNvSpPr/>
          <p:nvPr/>
        </p:nvSpPr>
        <p:spPr>
          <a:xfrm>
            <a:off x="4648200" y="3705225"/>
            <a:ext cx="104775" cy="161925"/>
          </a:xfrm>
          <a:prstGeom prst="rightArrow">
            <a:avLst>
              <a:gd fmla="val 50000" name="adj1"/>
              <a:gd fmla="val 50000" name="adj2"/>
            </a:avLst>
          </a:prstGeom>
          <a:solidFill>
            <a:srgbClr val="B85042"/>
          </a:solidFill>
          <a:ln cap="flat" cmpd="sng" w="9525">
            <a:solidFill>
              <a:srgbClr val="B8504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0" name="Google Shape;1230;p22"/>
          <p:cNvSpPr/>
          <p:nvPr/>
        </p:nvSpPr>
        <p:spPr>
          <a:xfrm>
            <a:off x="4781550" y="3295650"/>
            <a:ext cx="1171575" cy="1104900"/>
          </a:xfrm>
          <a:prstGeom prst="roundRect">
            <a:avLst>
              <a:gd fmla="val 6897" name="adj"/>
            </a:avLst>
          </a:prstGeom>
          <a:solidFill>
            <a:srgbClr val="E8EFF9"/>
          </a:solidFill>
          <a:ln cap="flat" cmpd="sng" w="9525">
            <a:solidFill>
              <a:srgbClr val="3B6EB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1" name="Google Shape;1231;p22"/>
          <p:cNvSpPr/>
          <p:nvPr/>
        </p:nvSpPr>
        <p:spPr>
          <a:xfrm>
            <a:off x="4781550" y="3295650"/>
            <a:ext cx="1171575" cy="76200"/>
          </a:xfrm>
          <a:prstGeom prst="rect">
            <a:avLst/>
          </a:prstGeom>
          <a:solidFill>
            <a:srgbClr val="3B6EBF"/>
          </a:solidFill>
          <a:ln cap="flat" cmpd="sng" w="9525">
            <a:solidFill>
              <a:srgbClr val="3B6EB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2" name="Google Shape;1232;p22"/>
          <p:cNvSpPr/>
          <p:nvPr/>
        </p:nvSpPr>
        <p:spPr>
          <a:xfrm>
            <a:off x="5205413" y="3419475"/>
            <a:ext cx="323850" cy="228600"/>
          </a:xfrm>
          <a:prstGeom prst="roundRect">
            <a:avLst>
              <a:gd fmla="val 33333" name="adj"/>
            </a:avLst>
          </a:prstGeom>
          <a:solidFill>
            <a:srgbClr val="E8EFF9"/>
          </a:solidFill>
          <a:ln cap="flat" cmpd="sng" w="9525">
            <a:solidFill>
              <a:srgbClr val="3B6EB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3" name="Google Shape;1233;p22"/>
          <p:cNvSpPr/>
          <p:nvPr/>
        </p:nvSpPr>
        <p:spPr>
          <a:xfrm>
            <a:off x="5205413" y="3438525"/>
            <a:ext cx="323850" cy="18097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3B6EBF"/>
              </a:buClr>
              <a:buSzPts val="660"/>
              <a:buFont typeface="Arial"/>
              <a:buNone/>
            </a:pPr>
            <a:r>
              <a:rPr b="1" lang="en-US" sz="660">
                <a:solidFill>
                  <a:srgbClr val="3B6EBF"/>
                </a:solidFill>
              </a:rPr>
              <a:t>04</a:t>
            </a:r>
            <a:endParaRPr/>
          </a:p>
        </p:txBody>
      </p:sp>
      <p:sp>
        <p:nvSpPr>
          <p:cNvPr id="1234" name="Google Shape;1234;p22"/>
          <p:cNvSpPr/>
          <p:nvPr/>
        </p:nvSpPr>
        <p:spPr>
          <a:xfrm>
            <a:off x="4857750" y="3695700"/>
            <a:ext cx="1019175" cy="2857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720"/>
              <a:buFont typeface="Arial"/>
              <a:buNone/>
            </a:pPr>
            <a:r>
              <a:rPr b="1" lang="en-US" sz="720">
                <a:solidFill>
                  <a:srgbClr val="1A1A2E"/>
                </a:solidFill>
              </a:rPr>
              <a:t>Human</a:t>
            </a:r>
            <a:endParaRPr/>
          </a:p>
          <a:p>
            <a:pPr indent="0" lvl="0" marL="0" marR="0" rtl="0" algn="l">
              <a:spcBef>
                <a:spcPts val="0"/>
              </a:spcBef>
              <a:spcAft>
                <a:spcPts val="0"/>
              </a:spcAft>
              <a:buClr>
                <a:srgbClr val="1A1A2E"/>
              </a:buClr>
              <a:buSzPts val="720"/>
              <a:buFont typeface="Arial"/>
              <a:buNone/>
            </a:pPr>
            <a:r>
              <a:rPr b="1" lang="en-US" sz="720">
                <a:solidFill>
                  <a:srgbClr val="1A1A2E"/>
                </a:solidFill>
              </a:rPr>
              <a:t>Approval</a:t>
            </a:r>
            <a:endParaRPr/>
          </a:p>
        </p:txBody>
      </p:sp>
      <p:sp>
        <p:nvSpPr>
          <p:cNvPr id="1235" name="Google Shape;1235;p22"/>
          <p:cNvSpPr/>
          <p:nvPr/>
        </p:nvSpPr>
        <p:spPr>
          <a:xfrm>
            <a:off x="4857750" y="4010025"/>
            <a:ext cx="1019175" cy="14287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540"/>
              <a:buFont typeface="Arial"/>
              <a:buNone/>
            </a:pPr>
            <a:r>
              <a:rPr lang="en-US" sz="540">
                <a:solidFill>
                  <a:srgbClr val="666B70"/>
                </a:solidFill>
              </a:rPr>
              <a:t>pui6krDb6mF9emRH</a:t>
            </a:r>
            <a:endParaRPr/>
          </a:p>
        </p:txBody>
      </p:sp>
      <p:sp>
        <p:nvSpPr>
          <p:cNvPr id="1236" name="Google Shape;1236;p22"/>
          <p:cNvSpPr/>
          <p:nvPr/>
        </p:nvSpPr>
        <p:spPr>
          <a:xfrm>
            <a:off x="4857750" y="4210050"/>
            <a:ext cx="1019175" cy="1333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3B6EBF"/>
              </a:buClr>
              <a:buSzPts val="578"/>
              <a:buFont typeface="Arial"/>
              <a:buNone/>
            </a:pPr>
            <a:r>
              <a:rPr b="1" lang="en-US" sz="578">
                <a:solidFill>
                  <a:srgbClr val="3B6EBF"/>
                </a:solidFill>
              </a:rPr>
              <a:t>DIRECT · STABLE</a:t>
            </a:r>
            <a:endParaRPr/>
          </a:p>
        </p:txBody>
      </p:sp>
      <p:sp>
        <p:nvSpPr>
          <p:cNvPr id="1237" name="Google Shape;1237;p22"/>
          <p:cNvSpPr/>
          <p:nvPr/>
        </p:nvSpPr>
        <p:spPr>
          <a:xfrm>
            <a:off x="5981700" y="3705225"/>
            <a:ext cx="104775" cy="161925"/>
          </a:xfrm>
          <a:prstGeom prst="rightArrow">
            <a:avLst>
              <a:gd fmla="val 50000" name="adj1"/>
              <a:gd fmla="val 50000" name="adj2"/>
            </a:avLst>
          </a:prstGeom>
          <a:solidFill>
            <a:srgbClr val="B85042"/>
          </a:solidFill>
          <a:ln cap="flat" cmpd="sng" w="9525">
            <a:solidFill>
              <a:srgbClr val="B8504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8" name="Google Shape;1238;p22"/>
          <p:cNvSpPr/>
          <p:nvPr/>
        </p:nvSpPr>
        <p:spPr>
          <a:xfrm>
            <a:off x="6115050" y="3295650"/>
            <a:ext cx="1171575" cy="1104900"/>
          </a:xfrm>
          <a:prstGeom prst="roundRect">
            <a:avLst>
              <a:gd fmla="val 6897" name="adj"/>
            </a:avLst>
          </a:prstGeom>
          <a:solidFill>
            <a:srgbClr val="E6F0EB"/>
          </a:solidFill>
          <a:ln cap="flat" cmpd="sng" w="9525">
            <a:solidFill>
              <a:srgbClr val="2F6F5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9" name="Google Shape;1239;p22"/>
          <p:cNvSpPr/>
          <p:nvPr/>
        </p:nvSpPr>
        <p:spPr>
          <a:xfrm>
            <a:off x="6115050" y="3295650"/>
            <a:ext cx="1171575" cy="76200"/>
          </a:xfrm>
          <a:prstGeom prst="rect">
            <a:avLst/>
          </a:prstGeom>
          <a:solidFill>
            <a:srgbClr val="2F6F57"/>
          </a:solidFill>
          <a:ln cap="flat" cmpd="sng" w="9525">
            <a:solidFill>
              <a:srgbClr val="2F6F5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0" name="Google Shape;1240;p22"/>
          <p:cNvSpPr/>
          <p:nvPr/>
        </p:nvSpPr>
        <p:spPr>
          <a:xfrm>
            <a:off x="6538913" y="3419475"/>
            <a:ext cx="323850" cy="228600"/>
          </a:xfrm>
          <a:prstGeom prst="roundRect">
            <a:avLst>
              <a:gd fmla="val 33333" name="adj"/>
            </a:avLst>
          </a:prstGeom>
          <a:solidFill>
            <a:srgbClr val="E6F0EB"/>
          </a:solidFill>
          <a:ln cap="flat" cmpd="sng" w="9525">
            <a:solidFill>
              <a:srgbClr val="2F6F5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1" name="Google Shape;1241;p22"/>
          <p:cNvSpPr/>
          <p:nvPr/>
        </p:nvSpPr>
        <p:spPr>
          <a:xfrm>
            <a:off x="6538913" y="3438525"/>
            <a:ext cx="323850" cy="18097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F6F57"/>
              </a:buClr>
              <a:buSzPts val="660"/>
              <a:buFont typeface="Arial"/>
              <a:buNone/>
            </a:pPr>
            <a:r>
              <a:rPr b="1" lang="en-US" sz="660">
                <a:solidFill>
                  <a:srgbClr val="2F6F57"/>
                </a:solidFill>
              </a:rPr>
              <a:t>05</a:t>
            </a:r>
            <a:endParaRPr/>
          </a:p>
        </p:txBody>
      </p:sp>
      <p:sp>
        <p:nvSpPr>
          <p:cNvPr id="1242" name="Google Shape;1242;p22"/>
          <p:cNvSpPr/>
          <p:nvPr/>
        </p:nvSpPr>
        <p:spPr>
          <a:xfrm>
            <a:off x="6191250" y="3695700"/>
            <a:ext cx="1019175" cy="2857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720"/>
              <a:buFont typeface="Arial"/>
              <a:buNone/>
            </a:pPr>
            <a:r>
              <a:rPr b="1" lang="en-US" sz="720">
                <a:solidFill>
                  <a:srgbClr val="1A1A2E"/>
                </a:solidFill>
              </a:rPr>
              <a:t>Production</a:t>
            </a:r>
            <a:endParaRPr/>
          </a:p>
          <a:p>
            <a:pPr indent="0" lvl="0" marL="0" marR="0" rtl="0" algn="l">
              <a:spcBef>
                <a:spcPts val="0"/>
              </a:spcBef>
              <a:spcAft>
                <a:spcPts val="0"/>
              </a:spcAft>
              <a:buClr>
                <a:srgbClr val="1A1A2E"/>
              </a:buClr>
              <a:buSzPts val="720"/>
              <a:buFont typeface="Arial"/>
              <a:buNone/>
            </a:pPr>
            <a:r>
              <a:rPr b="1" lang="en-US" sz="720">
                <a:solidFill>
                  <a:srgbClr val="1A1A2E"/>
                </a:solidFill>
              </a:rPr>
              <a:t>PRD</a:t>
            </a:r>
            <a:endParaRPr/>
          </a:p>
        </p:txBody>
      </p:sp>
      <p:sp>
        <p:nvSpPr>
          <p:cNvPr id="1243" name="Google Shape;1243;p22"/>
          <p:cNvSpPr/>
          <p:nvPr/>
        </p:nvSpPr>
        <p:spPr>
          <a:xfrm>
            <a:off x="6191250" y="4010025"/>
            <a:ext cx="1019175" cy="14287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540"/>
              <a:buFont typeface="Arial"/>
              <a:buNone/>
            </a:pPr>
            <a:r>
              <a:rPr lang="en-US" sz="540">
                <a:solidFill>
                  <a:srgbClr val="666B70"/>
                </a:solidFill>
              </a:rPr>
              <a:t>ocoEGqFDyzzFYf3U</a:t>
            </a:r>
            <a:endParaRPr/>
          </a:p>
        </p:txBody>
      </p:sp>
      <p:sp>
        <p:nvSpPr>
          <p:cNvPr id="1244" name="Google Shape;1244;p22"/>
          <p:cNvSpPr/>
          <p:nvPr/>
        </p:nvSpPr>
        <p:spPr>
          <a:xfrm>
            <a:off x="6191250" y="4210050"/>
            <a:ext cx="1019175" cy="1333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F6F57"/>
              </a:buClr>
              <a:buSzPts val="578"/>
              <a:buFont typeface="Arial"/>
              <a:buNone/>
            </a:pPr>
            <a:r>
              <a:rPr b="1" lang="en-US" sz="578">
                <a:solidFill>
                  <a:srgbClr val="2F6F57"/>
                </a:solidFill>
              </a:rPr>
              <a:t>DIRECT · v0.3.8</a:t>
            </a:r>
            <a:endParaRPr/>
          </a:p>
        </p:txBody>
      </p:sp>
      <p:sp>
        <p:nvSpPr>
          <p:cNvPr id="1245" name="Google Shape;1245;p22"/>
          <p:cNvSpPr/>
          <p:nvPr/>
        </p:nvSpPr>
        <p:spPr>
          <a:xfrm>
            <a:off x="7315200" y="3705225"/>
            <a:ext cx="104775" cy="161925"/>
          </a:xfrm>
          <a:prstGeom prst="rightArrow">
            <a:avLst>
              <a:gd fmla="val 50000" name="adj1"/>
              <a:gd fmla="val 50000" name="adj2"/>
            </a:avLst>
          </a:prstGeom>
          <a:solidFill>
            <a:srgbClr val="B85042"/>
          </a:solidFill>
          <a:ln cap="flat" cmpd="sng" w="9525">
            <a:solidFill>
              <a:srgbClr val="B8504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6" name="Google Shape;1246;p22"/>
          <p:cNvSpPr/>
          <p:nvPr/>
        </p:nvSpPr>
        <p:spPr>
          <a:xfrm>
            <a:off x="7448550" y="3295650"/>
            <a:ext cx="1171575" cy="1104900"/>
          </a:xfrm>
          <a:prstGeom prst="roundRect">
            <a:avLst>
              <a:gd fmla="val 6897" name="adj"/>
            </a:avLst>
          </a:prstGeom>
          <a:solidFill>
            <a:srgbClr val="E6F0EB"/>
          </a:solidFill>
          <a:ln cap="flat" cmpd="sng" w="9525">
            <a:solidFill>
              <a:srgbClr val="2F6F5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7" name="Google Shape;1247;p22"/>
          <p:cNvSpPr/>
          <p:nvPr/>
        </p:nvSpPr>
        <p:spPr>
          <a:xfrm>
            <a:off x="7448550" y="3295650"/>
            <a:ext cx="1171575" cy="76200"/>
          </a:xfrm>
          <a:prstGeom prst="rect">
            <a:avLst/>
          </a:prstGeom>
          <a:solidFill>
            <a:srgbClr val="2F6F57"/>
          </a:solidFill>
          <a:ln cap="flat" cmpd="sng" w="9525">
            <a:solidFill>
              <a:srgbClr val="2F6F5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8" name="Google Shape;1248;p22"/>
          <p:cNvSpPr/>
          <p:nvPr/>
        </p:nvSpPr>
        <p:spPr>
          <a:xfrm>
            <a:off x="7872413" y="3419475"/>
            <a:ext cx="323850" cy="228600"/>
          </a:xfrm>
          <a:prstGeom prst="roundRect">
            <a:avLst>
              <a:gd fmla="val 33333" name="adj"/>
            </a:avLst>
          </a:prstGeom>
          <a:solidFill>
            <a:srgbClr val="E6F0EB"/>
          </a:solidFill>
          <a:ln cap="flat" cmpd="sng" w="9525">
            <a:solidFill>
              <a:srgbClr val="2F6F5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9" name="Google Shape;1249;p22"/>
          <p:cNvSpPr/>
          <p:nvPr/>
        </p:nvSpPr>
        <p:spPr>
          <a:xfrm>
            <a:off x="7872413" y="3438525"/>
            <a:ext cx="323850" cy="18097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F6F57"/>
              </a:buClr>
              <a:buSzPts val="660"/>
              <a:buFont typeface="Arial"/>
              <a:buNone/>
            </a:pPr>
            <a:r>
              <a:rPr b="1" lang="en-US" sz="660">
                <a:solidFill>
                  <a:srgbClr val="2F6F57"/>
                </a:solidFill>
              </a:rPr>
              <a:t>06</a:t>
            </a:r>
            <a:endParaRPr/>
          </a:p>
        </p:txBody>
      </p:sp>
      <p:sp>
        <p:nvSpPr>
          <p:cNvPr id="1250" name="Google Shape;1250;p22"/>
          <p:cNvSpPr/>
          <p:nvPr/>
        </p:nvSpPr>
        <p:spPr>
          <a:xfrm>
            <a:off x="7524750" y="3695700"/>
            <a:ext cx="1019175" cy="2857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720"/>
              <a:buFont typeface="Arial"/>
              <a:buNone/>
            </a:pPr>
            <a:r>
              <a:rPr b="1" lang="en-US" sz="720">
                <a:solidFill>
                  <a:srgbClr val="1A1A2E"/>
                </a:solidFill>
              </a:rPr>
              <a:t>Story</a:t>
            </a:r>
            <a:endParaRPr/>
          </a:p>
          <a:p>
            <a:pPr indent="0" lvl="0" marL="0" marR="0" rtl="0" algn="l">
              <a:spcBef>
                <a:spcPts val="0"/>
              </a:spcBef>
              <a:spcAft>
                <a:spcPts val="0"/>
              </a:spcAft>
              <a:buClr>
                <a:srgbClr val="1A1A2E"/>
              </a:buClr>
              <a:buSzPts val="720"/>
              <a:buFont typeface="Arial"/>
              <a:buNone/>
            </a:pPr>
            <a:r>
              <a:rPr b="1" lang="en-US" sz="720">
                <a:solidFill>
                  <a:srgbClr val="1A1A2E"/>
                </a:solidFill>
              </a:rPr>
              <a:t>Breakdown</a:t>
            </a:r>
            <a:endParaRPr/>
          </a:p>
        </p:txBody>
      </p:sp>
      <p:sp>
        <p:nvSpPr>
          <p:cNvPr id="1251" name="Google Shape;1251;p22"/>
          <p:cNvSpPr/>
          <p:nvPr/>
        </p:nvSpPr>
        <p:spPr>
          <a:xfrm>
            <a:off x="7524750" y="4010025"/>
            <a:ext cx="1019175" cy="14287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540"/>
              <a:buFont typeface="Arial"/>
              <a:buNone/>
            </a:pPr>
            <a:r>
              <a:rPr lang="en-US" sz="540">
                <a:solidFill>
                  <a:srgbClr val="666B70"/>
                </a:solidFill>
              </a:rPr>
              <a:t>kswPN0mT0u7rp4vq</a:t>
            </a:r>
            <a:endParaRPr/>
          </a:p>
        </p:txBody>
      </p:sp>
      <p:sp>
        <p:nvSpPr>
          <p:cNvPr id="1252" name="Google Shape;1252;p22"/>
          <p:cNvSpPr/>
          <p:nvPr/>
        </p:nvSpPr>
        <p:spPr>
          <a:xfrm>
            <a:off x="7524750" y="4210050"/>
            <a:ext cx="1019175" cy="1333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F6F57"/>
              </a:buClr>
              <a:buSzPts val="578"/>
              <a:buFont typeface="Arial"/>
              <a:buNone/>
            </a:pPr>
            <a:r>
              <a:rPr b="1" lang="en-US" sz="578">
                <a:solidFill>
                  <a:srgbClr val="2F6F57"/>
                </a:solidFill>
              </a:rPr>
              <a:t>DIRECT · v0.3.8</a:t>
            </a:r>
            <a:endParaRPr/>
          </a:p>
        </p:txBody>
      </p:sp>
      <p:sp>
        <p:nvSpPr>
          <p:cNvPr id="1253" name="Google Shape;1253;p22"/>
          <p:cNvSpPr/>
          <p:nvPr/>
        </p:nvSpPr>
        <p:spPr>
          <a:xfrm>
            <a:off x="8648700" y="3705225"/>
            <a:ext cx="104775" cy="161925"/>
          </a:xfrm>
          <a:prstGeom prst="rightArrow">
            <a:avLst>
              <a:gd fmla="val 50000" name="adj1"/>
              <a:gd fmla="val 50000" name="adj2"/>
            </a:avLst>
          </a:prstGeom>
          <a:solidFill>
            <a:srgbClr val="B85042"/>
          </a:solidFill>
          <a:ln cap="flat" cmpd="sng" w="9525">
            <a:solidFill>
              <a:srgbClr val="B8504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4" name="Google Shape;1254;p22"/>
          <p:cNvSpPr/>
          <p:nvPr/>
        </p:nvSpPr>
        <p:spPr>
          <a:xfrm>
            <a:off x="8782050" y="3295650"/>
            <a:ext cx="1171575" cy="1104900"/>
          </a:xfrm>
          <a:prstGeom prst="roundRect">
            <a:avLst>
              <a:gd fmla="val 6897" name="adj"/>
            </a:avLst>
          </a:prstGeom>
          <a:solidFill>
            <a:srgbClr val="E8EFF9"/>
          </a:solidFill>
          <a:ln cap="flat" cmpd="sng" w="9525">
            <a:solidFill>
              <a:srgbClr val="3B6EB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5" name="Google Shape;1255;p22"/>
          <p:cNvSpPr/>
          <p:nvPr/>
        </p:nvSpPr>
        <p:spPr>
          <a:xfrm>
            <a:off x="8782050" y="3295650"/>
            <a:ext cx="1171575" cy="76200"/>
          </a:xfrm>
          <a:prstGeom prst="rect">
            <a:avLst/>
          </a:prstGeom>
          <a:solidFill>
            <a:srgbClr val="3B6EBF"/>
          </a:solidFill>
          <a:ln cap="flat" cmpd="sng" w="9525">
            <a:solidFill>
              <a:srgbClr val="3B6EB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6" name="Google Shape;1256;p22"/>
          <p:cNvSpPr/>
          <p:nvPr/>
        </p:nvSpPr>
        <p:spPr>
          <a:xfrm>
            <a:off x="9205913" y="3419475"/>
            <a:ext cx="323850" cy="228600"/>
          </a:xfrm>
          <a:prstGeom prst="roundRect">
            <a:avLst>
              <a:gd fmla="val 33333" name="adj"/>
            </a:avLst>
          </a:prstGeom>
          <a:solidFill>
            <a:srgbClr val="E8EFF9"/>
          </a:solidFill>
          <a:ln cap="flat" cmpd="sng" w="9525">
            <a:solidFill>
              <a:srgbClr val="3B6EB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7" name="Google Shape;1257;p22"/>
          <p:cNvSpPr/>
          <p:nvPr/>
        </p:nvSpPr>
        <p:spPr>
          <a:xfrm>
            <a:off x="9205913" y="3438525"/>
            <a:ext cx="323850" cy="18097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3B6EBF"/>
              </a:buClr>
              <a:buSzPts val="660"/>
              <a:buFont typeface="Arial"/>
              <a:buNone/>
            </a:pPr>
            <a:r>
              <a:rPr b="1" lang="en-US" sz="660">
                <a:solidFill>
                  <a:srgbClr val="3B6EBF"/>
                </a:solidFill>
              </a:rPr>
              <a:t>07</a:t>
            </a:r>
            <a:endParaRPr/>
          </a:p>
        </p:txBody>
      </p:sp>
      <p:sp>
        <p:nvSpPr>
          <p:cNvPr id="1258" name="Google Shape;1258;p22"/>
          <p:cNvSpPr/>
          <p:nvPr/>
        </p:nvSpPr>
        <p:spPr>
          <a:xfrm>
            <a:off x="8858250" y="3695700"/>
            <a:ext cx="1019175" cy="2857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720"/>
              <a:buFont typeface="Arial"/>
              <a:buNone/>
            </a:pPr>
            <a:r>
              <a:rPr b="1" lang="en-US" sz="720">
                <a:solidFill>
                  <a:srgbClr val="1A1A2E"/>
                </a:solidFill>
              </a:rPr>
              <a:t>Validator +</a:t>
            </a:r>
            <a:endParaRPr/>
          </a:p>
          <a:p>
            <a:pPr indent="0" lvl="0" marL="0" marR="0" rtl="0" algn="l">
              <a:spcBef>
                <a:spcPts val="0"/>
              </a:spcBef>
              <a:spcAft>
                <a:spcPts val="0"/>
              </a:spcAft>
              <a:buClr>
                <a:srgbClr val="1A1A2E"/>
              </a:buClr>
              <a:buSzPts val="720"/>
              <a:buFont typeface="Arial"/>
              <a:buNone/>
            </a:pPr>
            <a:r>
              <a:rPr b="1" lang="en-US" sz="720">
                <a:solidFill>
                  <a:srgbClr val="1A1A2E"/>
                </a:solidFill>
              </a:rPr>
              <a:t>Export</a:t>
            </a:r>
            <a:endParaRPr/>
          </a:p>
        </p:txBody>
      </p:sp>
      <p:sp>
        <p:nvSpPr>
          <p:cNvPr id="1259" name="Google Shape;1259;p22"/>
          <p:cNvSpPr/>
          <p:nvPr/>
        </p:nvSpPr>
        <p:spPr>
          <a:xfrm>
            <a:off x="8858250" y="4010025"/>
            <a:ext cx="1019175" cy="14287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540"/>
              <a:buFont typeface="Arial"/>
              <a:buNone/>
            </a:pPr>
            <a:r>
              <a:rPr lang="en-US" sz="540">
                <a:solidFill>
                  <a:srgbClr val="666B70"/>
                </a:solidFill>
              </a:rPr>
              <a:t>PCV1gEpUt8ZxOVyw</a:t>
            </a:r>
            <a:endParaRPr/>
          </a:p>
        </p:txBody>
      </p:sp>
      <p:sp>
        <p:nvSpPr>
          <p:cNvPr id="1260" name="Google Shape;1260;p22"/>
          <p:cNvSpPr/>
          <p:nvPr/>
        </p:nvSpPr>
        <p:spPr>
          <a:xfrm>
            <a:off x="8858250" y="4210050"/>
            <a:ext cx="1019175" cy="1333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3B6EBF"/>
              </a:buClr>
              <a:buSzPts val="578"/>
              <a:buFont typeface="Arial"/>
              <a:buNone/>
            </a:pPr>
            <a:r>
              <a:rPr b="1" lang="en-US" sz="578">
                <a:solidFill>
                  <a:srgbClr val="3B6EBF"/>
                </a:solidFill>
              </a:rPr>
              <a:t>DIRECT · STABLE</a:t>
            </a:r>
            <a:endParaRPr/>
          </a:p>
        </p:txBody>
      </p:sp>
      <p:sp>
        <p:nvSpPr>
          <p:cNvPr id="1261" name="Google Shape;1261;p22"/>
          <p:cNvSpPr/>
          <p:nvPr/>
        </p:nvSpPr>
        <p:spPr>
          <a:xfrm>
            <a:off x="9982200" y="3705225"/>
            <a:ext cx="104775" cy="161925"/>
          </a:xfrm>
          <a:prstGeom prst="rightArrow">
            <a:avLst>
              <a:gd fmla="val 50000" name="adj1"/>
              <a:gd fmla="val 50000" name="adj2"/>
            </a:avLst>
          </a:prstGeom>
          <a:solidFill>
            <a:srgbClr val="B85042"/>
          </a:solidFill>
          <a:ln cap="flat" cmpd="sng" w="9525">
            <a:solidFill>
              <a:srgbClr val="B8504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2" name="Google Shape;1262;p22"/>
          <p:cNvSpPr/>
          <p:nvPr/>
        </p:nvSpPr>
        <p:spPr>
          <a:xfrm>
            <a:off x="10115550" y="3295650"/>
            <a:ext cx="1295400" cy="1104900"/>
          </a:xfrm>
          <a:prstGeom prst="roundRect">
            <a:avLst>
              <a:gd fmla="val 6897" name="adj"/>
            </a:avLst>
          </a:prstGeom>
          <a:solidFill>
            <a:srgbClr val="F0EAFB"/>
          </a:solidFill>
          <a:ln cap="flat" cmpd="sng" w="9525">
            <a:solidFill>
              <a:srgbClr val="7546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3" name="Google Shape;1263;p22"/>
          <p:cNvSpPr/>
          <p:nvPr/>
        </p:nvSpPr>
        <p:spPr>
          <a:xfrm>
            <a:off x="10115550" y="3295650"/>
            <a:ext cx="1295400" cy="76200"/>
          </a:xfrm>
          <a:prstGeom prst="rect">
            <a:avLst/>
          </a:prstGeom>
          <a:solidFill>
            <a:srgbClr val="7546C8"/>
          </a:solidFill>
          <a:ln cap="flat" cmpd="sng" w="9525">
            <a:solidFill>
              <a:srgbClr val="7546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4" name="Google Shape;1264;p22"/>
          <p:cNvSpPr/>
          <p:nvPr/>
        </p:nvSpPr>
        <p:spPr>
          <a:xfrm>
            <a:off x="10601325" y="3419475"/>
            <a:ext cx="323850" cy="228600"/>
          </a:xfrm>
          <a:prstGeom prst="roundRect">
            <a:avLst>
              <a:gd fmla="val 33333" name="adj"/>
            </a:avLst>
          </a:prstGeom>
          <a:solidFill>
            <a:srgbClr val="F0EAFB"/>
          </a:solidFill>
          <a:ln cap="flat" cmpd="sng" w="9525">
            <a:solidFill>
              <a:srgbClr val="7546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5" name="Google Shape;1265;p22"/>
          <p:cNvSpPr/>
          <p:nvPr/>
        </p:nvSpPr>
        <p:spPr>
          <a:xfrm>
            <a:off x="10601325" y="3438525"/>
            <a:ext cx="323850" cy="18097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7546C8"/>
              </a:buClr>
              <a:buSzPts val="660"/>
              <a:buFont typeface="Arial"/>
              <a:buNone/>
            </a:pPr>
            <a:r>
              <a:rPr b="1" lang="en-US" sz="660">
                <a:solidFill>
                  <a:srgbClr val="7546C8"/>
                </a:solidFill>
              </a:rPr>
              <a:t>08</a:t>
            </a:r>
            <a:endParaRPr/>
          </a:p>
        </p:txBody>
      </p:sp>
      <p:sp>
        <p:nvSpPr>
          <p:cNvPr id="1266" name="Google Shape;1266;p22"/>
          <p:cNvSpPr/>
          <p:nvPr/>
        </p:nvSpPr>
        <p:spPr>
          <a:xfrm>
            <a:off x="10191750" y="3695700"/>
            <a:ext cx="1143000" cy="2857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720"/>
              <a:buFont typeface="Arial"/>
              <a:buNone/>
            </a:pPr>
            <a:r>
              <a:rPr b="1" lang="en-US" sz="720">
                <a:solidFill>
                  <a:srgbClr val="1A1A2E"/>
                </a:solidFill>
              </a:rPr>
              <a:t>Story</a:t>
            </a:r>
            <a:endParaRPr/>
          </a:p>
          <a:p>
            <a:pPr indent="0" lvl="0" marL="0" marR="0" rtl="0" algn="l">
              <a:spcBef>
                <a:spcPts val="0"/>
              </a:spcBef>
              <a:spcAft>
                <a:spcPts val="0"/>
              </a:spcAft>
              <a:buClr>
                <a:srgbClr val="1A1A2E"/>
              </a:buClr>
              <a:buSzPts val="720"/>
              <a:buFont typeface="Arial"/>
              <a:buNone/>
            </a:pPr>
            <a:r>
              <a:rPr b="1" lang="en-US" sz="720">
                <a:solidFill>
                  <a:srgbClr val="1A1A2E"/>
                </a:solidFill>
              </a:rPr>
              <a:t>Sizing</a:t>
            </a:r>
            <a:endParaRPr/>
          </a:p>
        </p:txBody>
      </p:sp>
      <p:sp>
        <p:nvSpPr>
          <p:cNvPr id="1267" name="Google Shape;1267;p22"/>
          <p:cNvSpPr/>
          <p:nvPr/>
        </p:nvSpPr>
        <p:spPr>
          <a:xfrm>
            <a:off x="10191750" y="4010025"/>
            <a:ext cx="1143000" cy="14287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540"/>
              <a:buFont typeface="Arial"/>
              <a:buNone/>
            </a:pPr>
            <a:r>
              <a:rPr lang="en-US" sz="540">
                <a:solidFill>
                  <a:srgbClr val="666B70"/>
                </a:solidFill>
              </a:rPr>
              <a:t>cFuv8QCLpLhtX6A6</a:t>
            </a:r>
            <a:endParaRPr/>
          </a:p>
        </p:txBody>
      </p:sp>
      <p:sp>
        <p:nvSpPr>
          <p:cNvPr id="1268" name="Google Shape;1268;p22"/>
          <p:cNvSpPr/>
          <p:nvPr/>
        </p:nvSpPr>
        <p:spPr>
          <a:xfrm>
            <a:off x="10191750" y="4210050"/>
            <a:ext cx="1143000" cy="1333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7546C8"/>
              </a:buClr>
              <a:buSzPts val="578"/>
              <a:buFont typeface="Arial"/>
              <a:buNone/>
            </a:pPr>
            <a:r>
              <a:rPr b="1" lang="en-US" sz="578">
                <a:solidFill>
                  <a:srgbClr val="7546C8"/>
                </a:solidFill>
              </a:rPr>
              <a:t>DIRECT · ADVISORY</a:t>
            </a:r>
            <a:endParaRPr/>
          </a:p>
        </p:txBody>
      </p:sp>
      <p:sp>
        <p:nvSpPr>
          <p:cNvPr id="1269" name="Google Shape;1269;p22"/>
          <p:cNvSpPr/>
          <p:nvPr/>
        </p:nvSpPr>
        <p:spPr>
          <a:xfrm>
            <a:off x="781050" y="4552950"/>
            <a:ext cx="3324225" cy="933450"/>
          </a:xfrm>
          <a:prstGeom prst="roundRect">
            <a:avLst>
              <a:gd fmla="val 8163" name="adj"/>
            </a:avLst>
          </a:prstGeom>
          <a:solidFill>
            <a:srgbClr val="FFFFFF"/>
          </a:solidFill>
          <a:ln cap="flat" cmpd="sng" w="9525">
            <a:solidFill>
              <a:srgbClr val="3B6EB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0" name="Google Shape;1270;p22"/>
          <p:cNvSpPr/>
          <p:nvPr/>
        </p:nvSpPr>
        <p:spPr>
          <a:xfrm>
            <a:off x="962025" y="4638675"/>
            <a:ext cx="2962275" cy="18097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3B6EBF"/>
              </a:buClr>
              <a:buSzPts val="698"/>
              <a:buFont typeface="Arial"/>
              <a:buNone/>
            </a:pPr>
            <a:r>
              <a:rPr b="1" lang="en-US" sz="698">
                <a:solidFill>
                  <a:srgbClr val="3B6EBF"/>
                </a:solidFill>
              </a:rPr>
              <a:t>HOW THE PARENT RUNS THE PIPELINE</a:t>
            </a:r>
            <a:endParaRPr/>
          </a:p>
        </p:txBody>
      </p:sp>
      <p:sp>
        <p:nvSpPr>
          <p:cNvPr id="1271" name="Google Shape;1271;p22"/>
          <p:cNvSpPr/>
          <p:nvPr/>
        </p:nvSpPr>
        <p:spPr>
          <a:xfrm>
            <a:off x="962025" y="4886325"/>
            <a:ext cx="276225" cy="142875"/>
          </a:xfrm>
          <a:prstGeom prst="roundRect">
            <a:avLst>
              <a:gd fmla="val 50000" name="adj"/>
            </a:avLst>
          </a:prstGeom>
          <a:solidFill>
            <a:srgbClr val="E8EFF9"/>
          </a:solidFill>
          <a:ln cap="flat" cmpd="sng" w="9525">
            <a:solidFill>
              <a:srgbClr val="3B6EB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2" name="Google Shape;1272;p22"/>
          <p:cNvSpPr/>
          <p:nvPr/>
        </p:nvSpPr>
        <p:spPr>
          <a:xfrm>
            <a:off x="962025" y="4876800"/>
            <a:ext cx="276225" cy="1524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3B6EBF"/>
              </a:buClr>
              <a:buSzPts val="638"/>
              <a:buFont typeface="Arial"/>
              <a:buNone/>
            </a:pPr>
            <a:r>
              <a:rPr b="1" lang="en-US" sz="638">
                <a:solidFill>
                  <a:srgbClr val="3B6EBF"/>
                </a:solidFill>
              </a:rPr>
              <a:t>6</a:t>
            </a:r>
            <a:endParaRPr/>
          </a:p>
        </p:txBody>
      </p:sp>
      <p:sp>
        <p:nvSpPr>
          <p:cNvPr id="1273" name="Google Shape;1273;p22"/>
          <p:cNvSpPr/>
          <p:nvPr/>
        </p:nvSpPr>
        <p:spPr>
          <a:xfrm>
            <a:off x="1343025" y="4867275"/>
            <a:ext cx="2476500" cy="171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645"/>
              <a:buFont typeface="Arial"/>
              <a:buNone/>
            </a:pPr>
            <a:r>
              <a:rPr lang="en-US" sz="645">
                <a:solidFill>
                  <a:srgbClr val="1A1A2E"/>
                </a:solidFill>
              </a:rPr>
              <a:t>direct workflows · 01, 04, 05, 06, 07, 08</a:t>
            </a:r>
            <a:endParaRPr/>
          </a:p>
        </p:txBody>
      </p:sp>
      <p:sp>
        <p:nvSpPr>
          <p:cNvPr id="1274" name="Google Shape;1274;p22"/>
          <p:cNvSpPr/>
          <p:nvPr/>
        </p:nvSpPr>
        <p:spPr>
          <a:xfrm>
            <a:off x="962025" y="5057775"/>
            <a:ext cx="276225" cy="142875"/>
          </a:xfrm>
          <a:prstGeom prst="roundRect">
            <a:avLst>
              <a:gd fmla="val 50000" name="adj"/>
            </a:avLst>
          </a:prstGeom>
          <a:solidFill>
            <a:srgbClr val="E8EFF9"/>
          </a:solidFill>
          <a:ln cap="flat" cmpd="sng" w="9525">
            <a:solidFill>
              <a:srgbClr val="3B6EB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5" name="Google Shape;1275;p22"/>
          <p:cNvSpPr/>
          <p:nvPr/>
        </p:nvSpPr>
        <p:spPr>
          <a:xfrm>
            <a:off x="962025" y="5048250"/>
            <a:ext cx="276225" cy="1524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3B6EBF"/>
              </a:buClr>
              <a:buSzPts val="638"/>
              <a:buFont typeface="Arial"/>
              <a:buNone/>
            </a:pPr>
            <a:r>
              <a:rPr b="1" lang="en-US" sz="638">
                <a:solidFill>
                  <a:srgbClr val="3B6EBF"/>
                </a:solidFill>
              </a:rPr>
              <a:t>2</a:t>
            </a:r>
            <a:endParaRPr/>
          </a:p>
        </p:txBody>
      </p:sp>
      <p:sp>
        <p:nvSpPr>
          <p:cNvPr id="1276" name="Google Shape;1276;p22"/>
          <p:cNvSpPr/>
          <p:nvPr/>
        </p:nvSpPr>
        <p:spPr>
          <a:xfrm>
            <a:off x="1343025" y="5038725"/>
            <a:ext cx="2476500" cy="171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645"/>
              <a:buFont typeface="Arial"/>
              <a:buNone/>
            </a:pPr>
            <a:r>
              <a:rPr lang="en-US" sz="645">
                <a:solidFill>
                  <a:srgbClr val="1A1A2E"/>
                </a:solidFill>
              </a:rPr>
              <a:t>internal analysis steps · 02, 03</a:t>
            </a:r>
            <a:endParaRPr/>
          </a:p>
        </p:txBody>
      </p:sp>
      <p:sp>
        <p:nvSpPr>
          <p:cNvPr id="1277" name="Google Shape;1277;p22"/>
          <p:cNvSpPr/>
          <p:nvPr/>
        </p:nvSpPr>
        <p:spPr>
          <a:xfrm>
            <a:off x="962025" y="5229225"/>
            <a:ext cx="276225" cy="142875"/>
          </a:xfrm>
          <a:prstGeom prst="roundRect">
            <a:avLst>
              <a:gd fmla="val 50000" name="adj"/>
            </a:avLst>
          </a:prstGeom>
          <a:solidFill>
            <a:srgbClr val="E8EFF9"/>
          </a:solidFill>
          <a:ln cap="flat" cmpd="sng" w="9525">
            <a:solidFill>
              <a:srgbClr val="3B6EB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8" name="Google Shape;1278;p22"/>
          <p:cNvSpPr/>
          <p:nvPr/>
        </p:nvSpPr>
        <p:spPr>
          <a:xfrm>
            <a:off x="962025" y="5219700"/>
            <a:ext cx="276225" cy="1524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3B6EBF"/>
              </a:buClr>
              <a:buSzPts val="638"/>
              <a:buFont typeface="Arial"/>
              <a:buNone/>
            </a:pPr>
            <a:r>
              <a:rPr b="1" lang="en-US" sz="638">
                <a:solidFill>
                  <a:srgbClr val="3B6EBF"/>
                </a:solidFill>
              </a:rPr>
              <a:t>1</a:t>
            </a:r>
            <a:endParaRPr/>
          </a:p>
        </p:txBody>
      </p:sp>
      <p:sp>
        <p:nvSpPr>
          <p:cNvPr id="1279" name="Google Shape;1279;p22"/>
          <p:cNvSpPr/>
          <p:nvPr/>
        </p:nvSpPr>
        <p:spPr>
          <a:xfrm>
            <a:off x="1343025" y="5210175"/>
            <a:ext cx="2476500" cy="171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645"/>
              <a:buFont typeface="Arial"/>
              <a:buNone/>
            </a:pPr>
            <a:r>
              <a:rPr lang="en-US" sz="645">
                <a:solidFill>
                  <a:srgbClr val="1A1A2E"/>
                </a:solidFill>
              </a:rPr>
              <a:t>non-blocking sizing after export · 08</a:t>
            </a:r>
            <a:endParaRPr/>
          </a:p>
        </p:txBody>
      </p:sp>
      <p:sp>
        <p:nvSpPr>
          <p:cNvPr id="1280" name="Google Shape;1280;p22"/>
          <p:cNvSpPr/>
          <p:nvPr/>
        </p:nvSpPr>
        <p:spPr>
          <a:xfrm>
            <a:off x="4343400" y="4552950"/>
            <a:ext cx="3419475" cy="933450"/>
          </a:xfrm>
          <a:prstGeom prst="roundRect">
            <a:avLst>
              <a:gd fmla="val 8163" name="adj"/>
            </a:avLst>
          </a:prstGeom>
          <a:solidFill>
            <a:srgbClr val="FFFFFF"/>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1" name="Google Shape;1281;p22"/>
          <p:cNvSpPr/>
          <p:nvPr/>
        </p:nvSpPr>
        <p:spPr>
          <a:xfrm>
            <a:off x="4552950" y="4638675"/>
            <a:ext cx="3000375" cy="18097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B85042"/>
              </a:buClr>
              <a:buSzPts val="735"/>
              <a:buFont typeface="Arial"/>
              <a:buNone/>
            </a:pPr>
            <a:r>
              <a:rPr b="1" lang="en-US" sz="735">
                <a:solidFill>
                  <a:srgbClr val="B85042"/>
                </a:solidFill>
              </a:rPr>
              <a:t>GOVERNED HANDOFF CONTRACT</a:t>
            </a:r>
            <a:endParaRPr/>
          </a:p>
        </p:txBody>
      </p:sp>
      <p:sp>
        <p:nvSpPr>
          <p:cNvPr id="1282" name="Google Shape;1282;p22"/>
          <p:cNvSpPr/>
          <p:nvPr/>
        </p:nvSpPr>
        <p:spPr>
          <a:xfrm>
            <a:off x="4457700" y="4924425"/>
            <a:ext cx="876300" cy="361950"/>
          </a:xfrm>
          <a:prstGeom prst="roundRect">
            <a:avLst>
              <a:gd fmla="val 21053" name="adj"/>
            </a:avLst>
          </a:prstGeom>
          <a:solidFill>
            <a:srgbClr val="F0EBE5"/>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3" name="Google Shape;1283;p22"/>
          <p:cNvSpPr/>
          <p:nvPr/>
        </p:nvSpPr>
        <p:spPr>
          <a:xfrm>
            <a:off x="4495800" y="5010150"/>
            <a:ext cx="800100" cy="190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615"/>
              <a:buFont typeface="Arial"/>
              <a:buNone/>
            </a:pPr>
            <a:r>
              <a:rPr b="1" lang="en-US" sz="615">
                <a:solidFill>
                  <a:srgbClr val="1A1A2E"/>
                </a:solidFill>
              </a:rPr>
              <a:t>Run + trace IDs</a:t>
            </a:r>
            <a:endParaRPr/>
          </a:p>
        </p:txBody>
      </p:sp>
      <p:sp>
        <p:nvSpPr>
          <p:cNvPr id="1284" name="Google Shape;1284;p22"/>
          <p:cNvSpPr/>
          <p:nvPr/>
        </p:nvSpPr>
        <p:spPr>
          <a:xfrm>
            <a:off x="5410200" y="4924425"/>
            <a:ext cx="1000125" cy="361950"/>
          </a:xfrm>
          <a:prstGeom prst="roundRect">
            <a:avLst>
              <a:gd fmla="val 21053" name="adj"/>
            </a:avLst>
          </a:prstGeom>
          <a:solidFill>
            <a:srgbClr val="F0EBE5"/>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5" name="Google Shape;1285;p22"/>
          <p:cNvSpPr/>
          <p:nvPr/>
        </p:nvSpPr>
        <p:spPr>
          <a:xfrm>
            <a:off x="5448300" y="5010150"/>
            <a:ext cx="923925" cy="190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615"/>
              <a:buFont typeface="Arial"/>
              <a:buNone/>
            </a:pPr>
            <a:r>
              <a:rPr b="1" lang="en-US" sz="615">
                <a:solidFill>
                  <a:srgbClr val="1A1A2E"/>
                </a:solidFill>
              </a:rPr>
              <a:t>Approved citations</a:t>
            </a:r>
            <a:endParaRPr/>
          </a:p>
        </p:txBody>
      </p:sp>
      <p:sp>
        <p:nvSpPr>
          <p:cNvPr id="1286" name="Google Shape;1286;p22"/>
          <p:cNvSpPr/>
          <p:nvPr/>
        </p:nvSpPr>
        <p:spPr>
          <a:xfrm>
            <a:off x="6486525" y="4924425"/>
            <a:ext cx="1181100" cy="361950"/>
          </a:xfrm>
          <a:prstGeom prst="roundRect">
            <a:avLst>
              <a:gd fmla="val 21053" name="adj"/>
            </a:avLst>
          </a:prstGeom>
          <a:solidFill>
            <a:srgbClr val="F0EBE5"/>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7" name="Google Shape;1287;p22"/>
          <p:cNvSpPr/>
          <p:nvPr/>
        </p:nvSpPr>
        <p:spPr>
          <a:xfrm>
            <a:off x="6524625" y="5010150"/>
            <a:ext cx="1104900" cy="190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615"/>
              <a:buFont typeface="Arial"/>
              <a:buNone/>
            </a:pPr>
            <a:r>
              <a:rPr b="1" lang="en-US" sz="615">
                <a:solidFill>
                  <a:srgbClr val="1A1A2E"/>
                </a:solidFill>
              </a:rPr>
              <a:t>Decision + artifact IDs</a:t>
            </a:r>
            <a:endParaRPr/>
          </a:p>
        </p:txBody>
      </p:sp>
      <p:sp>
        <p:nvSpPr>
          <p:cNvPr id="1288" name="Google Shape;1288;p22"/>
          <p:cNvSpPr/>
          <p:nvPr/>
        </p:nvSpPr>
        <p:spPr>
          <a:xfrm>
            <a:off x="8001000" y="4552950"/>
            <a:ext cx="3409950" cy="933450"/>
          </a:xfrm>
          <a:prstGeom prst="roundRect">
            <a:avLst>
              <a:gd fmla="val 8163" name="adj"/>
            </a:avLst>
          </a:prstGeom>
          <a:solidFill>
            <a:srgbClr val="FFFFFF"/>
          </a:solidFill>
          <a:ln cap="flat" cmpd="sng" w="9525">
            <a:solidFill>
              <a:srgbClr val="2F6F5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9" name="Google Shape;1289;p22"/>
          <p:cNvSpPr/>
          <p:nvPr/>
        </p:nvSpPr>
        <p:spPr>
          <a:xfrm>
            <a:off x="8201025" y="4638675"/>
            <a:ext cx="3009900" cy="18097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F6F57"/>
              </a:buClr>
              <a:buSzPts val="735"/>
              <a:buFont typeface="Arial"/>
              <a:buNone/>
            </a:pPr>
            <a:r>
              <a:rPr b="1" lang="en-US" sz="735">
                <a:solidFill>
                  <a:srgbClr val="2F6F57"/>
                </a:solidFill>
              </a:rPr>
              <a:t>CROSS-CUTTING CONTROL PLANES</a:t>
            </a:r>
            <a:endParaRPr/>
          </a:p>
        </p:txBody>
      </p:sp>
      <p:sp>
        <p:nvSpPr>
          <p:cNvPr id="1290" name="Google Shape;1290;p22"/>
          <p:cNvSpPr/>
          <p:nvPr/>
        </p:nvSpPr>
        <p:spPr>
          <a:xfrm>
            <a:off x="8191500" y="4895850"/>
            <a:ext cx="1352550" cy="419100"/>
          </a:xfrm>
          <a:prstGeom prst="roundRect">
            <a:avLst>
              <a:gd fmla="val 18182" name="adj"/>
            </a:avLst>
          </a:prstGeom>
          <a:solidFill>
            <a:srgbClr val="F0EAFB"/>
          </a:solidFill>
          <a:ln cap="flat" cmpd="sng" w="9525">
            <a:solidFill>
              <a:srgbClr val="7546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1" name="Google Shape;1291;p22"/>
          <p:cNvSpPr/>
          <p:nvPr/>
        </p:nvSpPr>
        <p:spPr>
          <a:xfrm>
            <a:off x="8286750" y="4924425"/>
            <a:ext cx="1162050" cy="1619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7546C8"/>
              </a:buClr>
              <a:buSzPts val="698"/>
              <a:buFont typeface="Arial"/>
              <a:buNone/>
            </a:pPr>
            <a:r>
              <a:rPr b="1" lang="en-US" sz="698">
                <a:solidFill>
                  <a:srgbClr val="7546C8"/>
                </a:solidFill>
              </a:rPr>
              <a:t>LANGFUSE</a:t>
            </a:r>
            <a:endParaRPr/>
          </a:p>
        </p:txBody>
      </p:sp>
      <p:sp>
        <p:nvSpPr>
          <p:cNvPr id="1292" name="Google Shape;1292;p22"/>
          <p:cNvSpPr/>
          <p:nvPr/>
        </p:nvSpPr>
        <p:spPr>
          <a:xfrm>
            <a:off x="8286750" y="5095875"/>
            <a:ext cx="1162050" cy="1619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630"/>
              <a:buFont typeface="Arial"/>
              <a:buNone/>
            </a:pPr>
            <a:r>
              <a:rPr lang="en-US" sz="630">
                <a:solidFill>
                  <a:srgbClr val="666B70"/>
                </a:solidFill>
              </a:rPr>
              <a:t>traces · evaluators · cost</a:t>
            </a:r>
            <a:endParaRPr/>
          </a:p>
        </p:txBody>
      </p:sp>
      <p:sp>
        <p:nvSpPr>
          <p:cNvPr id="1293" name="Google Shape;1293;p22"/>
          <p:cNvSpPr/>
          <p:nvPr/>
        </p:nvSpPr>
        <p:spPr>
          <a:xfrm>
            <a:off x="9686925" y="4895850"/>
            <a:ext cx="1352550" cy="419100"/>
          </a:xfrm>
          <a:prstGeom prst="roundRect">
            <a:avLst>
              <a:gd fmla="val 18182" name="adj"/>
            </a:avLst>
          </a:prstGeom>
          <a:solidFill>
            <a:srgbClr val="E6F0EB"/>
          </a:solidFill>
          <a:ln cap="flat" cmpd="sng" w="9525">
            <a:solidFill>
              <a:srgbClr val="2F6F5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4" name="Google Shape;1294;p22"/>
          <p:cNvSpPr/>
          <p:nvPr/>
        </p:nvSpPr>
        <p:spPr>
          <a:xfrm>
            <a:off x="9782175" y="4924425"/>
            <a:ext cx="1162050" cy="1619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F6F57"/>
              </a:buClr>
              <a:buSzPts val="698"/>
              <a:buFont typeface="Arial"/>
              <a:buNone/>
            </a:pPr>
            <a:r>
              <a:rPr b="1" lang="en-US" sz="698">
                <a:solidFill>
                  <a:srgbClr val="2F6F57"/>
                </a:solidFill>
              </a:rPr>
              <a:t>GOVERNANCE</a:t>
            </a:r>
            <a:endParaRPr/>
          </a:p>
        </p:txBody>
      </p:sp>
      <p:sp>
        <p:nvSpPr>
          <p:cNvPr id="1295" name="Google Shape;1295;p22"/>
          <p:cNvSpPr/>
          <p:nvPr/>
        </p:nvSpPr>
        <p:spPr>
          <a:xfrm>
            <a:off x="9782175" y="5095875"/>
            <a:ext cx="1162050" cy="1619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630"/>
              <a:buFont typeface="Arial"/>
              <a:buNone/>
            </a:pPr>
            <a:r>
              <a:rPr lang="en-US" sz="630">
                <a:solidFill>
                  <a:srgbClr val="666B70"/>
                </a:solidFill>
              </a:rPr>
              <a:t>citations · approval · gate</a:t>
            </a:r>
            <a:endParaRPr/>
          </a:p>
        </p:txBody>
      </p:sp>
      <p:sp>
        <p:nvSpPr>
          <p:cNvPr id="1296" name="Google Shape;1296;p22"/>
          <p:cNvSpPr/>
          <p:nvPr/>
        </p:nvSpPr>
        <p:spPr>
          <a:xfrm>
            <a:off x="781050" y="5638800"/>
            <a:ext cx="10629900" cy="323850"/>
          </a:xfrm>
          <a:prstGeom prst="roundRect">
            <a:avLst>
              <a:gd fmla="val 23529" name="adj"/>
            </a:avLst>
          </a:prstGeom>
          <a:solidFill>
            <a:srgbClr val="F0EBE5"/>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7" name="Google Shape;1297;p22"/>
          <p:cNvSpPr/>
          <p:nvPr/>
        </p:nvSpPr>
        <p:spPr>
          <a:xfrm>
            <a:off x="1000125" y="5705475"/>
            <a:ext cx="2857500" cy="190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3B6EBF"/>
              </a:buClr>
              <a:buSzPts val="788"/>
              <a:buFont typeface="Arial"/>
              <a:buNone/>
            </a:pPr>
            <a:r>
              <a:rPr b="1" lang="en-US" sz="788">
                <a:solidFill>
                  <a:srgbClr val="3B6EBF"/>
                </a:solidFill>
              </a:rPr>
              <a:t>TINTED BOX · direct parent call</a:t>
            </a:r>
            <a:endParaRPr/>
          </a:p>
        </p:txBody>
      </p:sp>
      <p:sp>
        <p:nvSpPr>
          <p:cNvPr id="1298" name="Google Shape;1298;p22"/>
          <p:cNvSpPr/>
          <p:nvPr/>
        </p:nvSpPr>
        <p:spPr>
          <a:xfrm>
            <a:off x="4095750" y="5705475"/>
            <a:ext cx="3143250" cy="190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788"/>
              <a:buFont typeface="Arial"/>
              <a:buNone/>
            </a:pPr>
            <a:r>
              <a:rPr b="1" lang="en-US" sz="788">
                <a:solidFill>
                  <a:srgbClr val="666B70"/>
                </a:solidFill>
              </a:rPr>
              <a:t>WHITE BOX · internal analysis step</a:t>
            </a:r>
            <a:endParaRPr/>
          </a:p>
        </p:txBody>
      </p:sp>
      <p:sp>
        <p:nvSpPr>
          <p:cNvPr id="1299" name="Google Shape;1299;p22"/>
          <p:cNvSpPr/>
          <p:nvPr/>
        </p:nvSpPr>
        <p:spPr>
          <a:xfrm>
            <a:off x="7762875" y="5705475"/>
            <a:ext cx="3381375" cy="190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7546C8"/>
              </a:buClr>
              <a:buSzPts val="788"/>
              <a:buFont typeface="Arial"/>
              <a:buNone/>
            </a:pPr>
            <a:r>
              <a:rPr b="1" lang="en-US" sz="788">
                <a:solidFill>
                  <a:srgbClr val="7546C8"/>
                </a:solidFill>
              </a:rPr>
              <a:t>PURPLE · non-blocking direct sizing</a:t>
            </a:r>
            <a:endParaRPr/>
          </a:p>
        </p:txBody>
      </p:sp>
      <p:sp>
        <p:nvSpPr>
          <p:cNvPr id="1300" name="Google Shape;1300;p22"/>
          <p:cNvSpPr/>
          <p:nvPr/>
        </p:nvSpPr>
        <p:spPr>
          <a:xfrm>
            <a:off x="0" y="6267450"/>
            <a:ext cx="12192000" cy="590550"/>
          </a:xfrm>
          <a:prstGeom prst="rect">
            <a:avLst/>
          </a:prstGeom>
          <a:solidFill>
            <a:srgbClr val="1A1A2E"/>
          </a:solidFill>
          <a:ln cap="flat" cmpd="sng" w="9525">
            <a:solidFill>
              <a:srgbClr val="1A1A2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1" name="Google Shape;1301;p22"/>
          <p:cNvSpPr/>
          <p:nvPr/>
        </p:nvSpPr>
        <p:spPr>
          <a:xfrm>
            <a:off x="781050" y="6381750"/>
            <a:ext cx="1905000" cy="190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C9C6D8"/>
              </a:buClr>
              <a:buSzPts val="825"/>
              <a:buFont typeface="Arial"/>
              <a:buNone/>
            </a:pPr>
            <a:r>
              <a:rPr b="1" lang="en-US" sz="825">
                <a:solidFill>
                  <a:srgbClr val="C9C6D8"/>
                </a:solidFill>
              </a:rPr>
              <a:t>APPENDIX A3</a:t>
            </a:r>
            <a:endParaRPr/>
          </a:p>
        </p:txBody>
      </p:sp>
      <p:sp>
        <p:nvSpPr>
          <p:cNvPr id="1302" name="Google Shape;1302;p22"/>
          <p:cNvSpPr/>
          <p:nvPr/>
        </p:nvSpPr>
        <p:spPr>
          <a:xfrm>
            <a:off x="2705100" y="6343650"/>
            <a:ext cx="8705850" cy="29527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FFFFFF"/>
              </a:buClr>
              <a:buSzPts val="1200"/>
              <a:buFont typeface="Arial"/>
              <a:buNone/>
            </a:pPr>
            <a:r>
              <a:rPr b="1" lang="en-US" sz="1200">
                <a:solidFill>
                  <a:srgbClr val="FFFFFF"/>
                </a:solidFill>
              </a:rPr>
              <a:t>The call graph separates orchestration, logical agent contracts, evidence handoffs, and release controls.</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4EE"/>
        </a:solidFill>
      </p:bgPr>
    </p:bg>
    <p:spTree>
      <p:nvGrpSpPr>
        <p:cNvPr id="1307" name="Shape 1307"/>
        <p:cNvGrpSpPr/>
        <p:nvPr/>
      </p:nvGrpSpPr>
      <p:grpSpPr>
        <a:xfrm>
          <a:off x="0" y="0"/>
          <a:ext cx="0" cy="0"/>
          <a:chOff x="0" y="0"/>
          <a:chExt cx="0" cy="0"/>
        </a:xfrm>
      </p:grpSpPr>
      <p:sp>
        <p:nvSpPr>
          <p:cNvPr id="1308" name="Google Shape;1308;p23"/>
          <p:cNvSpPr/>
          <p:nvPr/>
        </p:nvSpPr>
        <p:spPr>
          <a:xfrm>
            <a:off x="0" y="0"/>
            <a:ext cx="12192000" cy="76200"/>
          </a:xfrm>
          <a:prstGeom prst="rect">
            <a:avLst/>
          </a:prstGeom>
          <a:solidFill>
            <a:srgbClr val="B85042"/>
          </a:solidFill>
          <a:ln cap="flat" cmpd="sng" w="9525">
            <a:solidFill>
              <a:srgbClr val="B8504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9" name="Google Shape;1309;p23"/>
          <p:cNvSpPr/>
          <p:nvPr/>
        </p:nvSpPr>
        <p:spPr>
          <a:xfrm>
            <a:off x="514350" y="685800"/>
            <a:ext cx="66675" cy="800100"/>
          </a:xfrm>
          <a:prstGeom prst="rect">
            <a:avLst/>
          </a:prstGeom>
          <a:solidFill>
            <a:srgbClr val="B85042"/>
          </a:solidFill>
          <a:ln cap="flat" cmpd="sng" w="9525">
            <a:solidFill>
              <a:srgbClr val="B8504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0" name="Google Shape;1310;p23"/>
          <p:cNvSpPr/>
          <p:nvPr/>
        </p:nvSpPr>
        <p:spPr>
          <a:xfrm>
            <a:off x="781050" y="495300"/>
            <a:ext cx="7620000" cy="2667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B85042"/>
              </a:buClr>
              <a:buSzPts val="975"/>
              <a:buFont typeface="Arial"/>
              <a:buNone/>
            </a:pPr>
            <a:r>
              <a:rPr b="1" lang="en-US" sz="975">
                <a:solidFill>
                  <a:srgbClr val="B85042"/>
                </a:solidFill>
              </a:rPr>
              <a:t>A4  ·  PROMPT RULES &amp; HALLUCINATION GUARDRAILS</a:t>
            </a:r>
            <a:endParaRPr/>
          </a:p>
        </p:txBody>
      </p:sp>
      <p:sp>
        <p:nvSpPr>
          <p:cNvPr id="1311" name="Google Shape;1311;p23"/>
          <p:cNvSpPr/>
          <p:nvPr/>
        </p:nvSpPr>
        <p:spPr>
          <a:xfrm>
            <a:off x="781050" y="828675"/>
            <a:ext cx="10629900" cy="552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2550"/>
              <a:buFont typeface="Arial"/>
              <a:buNone/>
            </a:pPr>
            <a:r>
              <a:rPr b="1" lang="en-US" sz="2550">
                <a:solidFill>
                  <a:srgbClr val="1A1A2E"/>
                </a:solidFill>
              </a:rPr>
              <a:t>Prompts constrain generation; independent gates control release</a:t>
            </a:r>
            <a:endParaRPr/>
          </a:p>
        </p:txBody>
      </p:sp>
      <p:sp>
        <p:nvSpPr>
          <p:cNvPr id="1312" name="Google Shape;1312;p23"/>
          <p:cNvSpPr/>
          <p:nvPr/>
        </p:nvSpPr>
        <p:spPr>
          <a:xfrm>
            <a:off x="781050" y="1438275"/>
            <a:ext cx="10629900" cy="3238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1200"/>
              <a:buFont typeface="Arial"/>
              <a:buNone/>
            </a:pPr>
            <a:r>
              <a:rPr lang="en-US" sz="1200">
                <a:solidFill>
                  <a:srgbClr val="666B70"/>
                </a:solidFill>
              </a:rPr>
              <a:t>The model may propose content, but it cannot authorize unsupported requirements or bypass evidence, approval, and reconciliation controls.</a:t>
            </a:r>
            <a:endParaRPr/>
          </a:p>
        </p:txBody>
      </p:sp>
      <p:sp>
        <p:nvSpPr>
          <p:cNvPr id="1313" name="Google Shape;1313;p23"/>
          <p:cNvSpPr/>
          <p:nvPr/>
        </p:nvSpPr>
        <p:spPr>
          <a:xfrm>
            <a:off x="781050" y="1971675"/>
            <a:ext cx="4457700" cy="2381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3B6EBF"/>
              </a:buClr>
              <a:buSzPts val="900"/>
              <a:buFont typeface="Arial"/>
              <a:buNone/>
            </a:pPr>
            <a:r>
              <a:rPr b="1" lang="en-US" sz="900">
                <a:solidFill>
                  <a:srgbClr val="3B6EBF"/>
                </a:solidFill>
              </a:rPr>
              <a:t>AGENT PROMPT CONTRACT</a:t>
            </a:r>
            <a:endParaRPr/>
          </a:p>
        </p:txBody>
      </p:sp>
      <p:sp>
        <p:nvSpPr>
          <p:cNvPr id="1314" name="Google Shape;1314;p23"/>
          <p:cNvSpPr/>
          <p:nvPr/>
        </p:nvSpPr>
        <p:spPr>
          <a:xfrm>
            <a:off x="6858000" y="1971675"/>
            <a:ext cx="4552950" cy="2381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F6F57"/>
              </a:buClr>
              <a:buSzPts val="900"/>
              <a:buFont typeface="Arial"/>
              <a:buNone/>
            </a:pPr>
            <a:r>
              <a:rPr b="1" lang="en-US" sz="900">
                <a:solidFill>
                  <a:srgbClr val="2F6F57"/>
                </a:solidFill>
              </a:rPr>
              <a:t>INDEPENDENT ENFORCEMENT</a:t>
            </a:r>
            <a:endParaRPr/>
          </a:p>
        </p:txBody>
      </p:sp>
      <p:sp>
        <p:nvSpPr>
          <p:cNvPr id="1315" name="Google Shape;1315;p23"/>
          <p:cNvSpPr/>
          <p:nvPr/>
        </p:nvSpPr>
        <p:spPr>
          <a:xfrm>
            <a:off x="781050" y="2305050"/>
            <a:ext cx="4762500" cy="514350"/>
          </a:xfrm>
          <a:prstGeom prst="roundRect">
            <a:avLst>
              <a:gd fmla="val 14815" name="adj"/>
            </a:avLst>
          </a:prstGeom>
          <a:solidFill>
            <a:srgbClr val="FFFFFF"/>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6" name="Google Shape;1316;p23"/>
          <p:cNvSpPr/>
          <p:nvPr/>
        </p:nvSpPr>
        <p:spPr>
          <a:xfrm>
            <a:off x="933450" y="2419350"/>
            <a:ext cx="361950" cy="285750"/>
          </a:xfrm>
          <a:prstGeom prst="roundRect">
            <a:avLst>
              <a:gd fmla="val 26667" name="adj"/>
            </a:avLst>
          </a:prstGeom>
          <a:solidFill>
            <a:srgbClr val="E8EFF9"/>
          </a:solidFill>
          <a:ln cap="flat" cmpd="sng" w="9525">
            <a:solidFill>
              <a:srgbClr val="3B6EB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7" name="Google Shape;1317;p23"/>
          <p:cNvSpPr/>
          <p:nvPr/>
        </p:nvSpPr>
        <p:spPr>
          <a:xfrm>
            <a:off x="933450" y="2466975"/>
            <a:ext cx="361950" cy="190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3B6EBF"/>
              </a:buClr>
              <a:buSzPts val="750"/>
              <a:buFont typeface="Arial"/>
              <a:buNone/>
            </a:pPr>
            <a:r>
              <a:rPr b="1" lang="en-US" sz="750">
                <a:solidFill>
                  <a:srgbClr val="3B6EBF"/>
                </a:solidFill>
              </a:rPr>
              <a:t>01</a:t>
            </a:r>
            <a:endParaRPr/>
          </a:p>
        </p:txBody>
      </p:sp>
      <p:sp>
        <p:nvSpPr>
          <p:cNvPr id="1318" name="Google Shape;1318;p23"/>
          <p:cNvSpPr/>
          <p:nvPr/>
        </p:nvSpPr>
        <p:spPr>
          <a:xfrm>
            <a:off x="1438275" y="2371725"/>
            <a:ext cx="3905250" cy="190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938"/>
              <a:buFont typeface="Arial"/>
              <a:buNone/>
            </a:pPr>
            <a:r>
              <a:rPr b="1" lang="en-US" sz="938">
                <a:solidFill>
                  <a:srgbClr val="1A1A2E"/>
                </a:solidFill>
              </a:rPr>
              <a:t>Use approved evidence only</a:t>
            </a:r>
            <a:endParaRPr/>
          </a:p>
        </p:txBody>
      </p:sp>
      <p:sp>
        <p:nvSpPr>
          <p:cNvPr id="1319" name="Google Shape;1319;p23"/>
          <p:cNvSpPr/>
          <p:nvPr/>
        </p:nvSpPr>
        <p:spPr>
          <a:xfrm>
            <a:off x="1438275" y="2562225"/>
            <a:ext cx="3905250" cy="2095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735"/>
              <a:buFont typeface="Arial"/>
              <a:buNone/>
            </a:pPr>
            <a:r>
              <a:rPr lang="en-US" sz="735">
                <a:solidFill>
                  <a:srgbClr val="666B70"/>
                </a:solidFill>
              </a:rPr>
              <a:t>No requirement, date, priority, dependency, or product fact may be invented.</a:t>
            </a:r>
            <a:endParaRPr/>
          </a:p>
        </p:txBody>
      </p:sp>
      <p:sp>
        <p:nvSpPr>
          <p:cNvPr id="1320" name="Google Shape;1320;p23"/>
          <p:cNvSpPr/>
          <p:nvPr/>
        </p:nvSpPr>
        <p:spPr>
          <a:xfrm>
            <a:off x="781050" y="2933700"/>
            <a:ext cx="4762500" cy="514350"/>
          </a:xfrm>
          <a:prstGeom prst="roundRect">
            <a:avLst>
              <a:gd fmla="val 14815" name="adj"/>
            </a:avLst>
          </a:prstGeom>
          <a:solidFill>
            <a:srgbClr val="FFFFFF"/>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1" name="Google Shape;1321;p23"/>
          <p:cNvSpPr/>
          <p:nvPr/>
        </p:nvSpPr>
        <p:spPr>
          <a:xfrm>
            <a:off x="933450" y="3048000"/>
            <a:ext cx="361950" cy="285750"/>
          </a:xfrm>
          <a:prstGeom prst="roundRect">
            <a:avLst>
              <a:gd fmla="val 26667" name="adj"/>
            </a:avLst>
          </a:prstGeom>
          <a:solidFill>
            <a:srgbClr val="E8EFF9"/>
          </a:solidFill>
          <a:ln cap="flat" cmpd="sng" w="9525">
            <a:solidFill>
              <a:srgbClr val="3B6EB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2" name="Google Shape;1322;p23"/>
          <p:cNvSpPr/>
          <p:nvPr/>
        </p:nvSpPr>
        <p:spPr>
          <a:xfrm>
            <a:off x="933450" y="3095625"/>
            <a:ext cx="361950" cy="190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3B6EBF"/>
              </a:buClr>
              <a:buSzPts val="750"/>
              <a:buFont typeface="Arial"/>
              <a:buNone/>
            </a:pPr>
            <a:r>
              <a:rPr b="1" lang="en-US" sz="750">
                <a:solidFill>
                  <a:srgbClr val="3B6EBF"/>
                </a:solidFill>
              </a:rPr>
              <a:t>02</a:t>
            </a:r>
            <a:endParaRPr/>
          </a:p>
        </p:txBody>
      </p:sp>
      <p:sp>
        <p:nvSpPr>
          <p:cNvPr id="1323" name="Google Shape;1323;p23"/>
          <p:cNvSpPr/>
          <p:nvPr/>
        </p:nvSpPr>
        <p:spPr>
          <a:xfrm>
            <a:off x="1438275" y="3000375"/>
            <a:ext cx="3905250" cy="190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938"/>
              <a:buFont typeface="Arial"/>
              <a:buNone/>
            </a:pPr>
            <a:r>
              <a:rPr b="1" lang="en-US" sz="938">
                <a:solidFill>
                  <a:srgbClr val="1A1A2E"/>
                </a:solidFill>
              </a:rPr>
              <a:t>Attach exact citations</a:t>
            </a:r>
            <a:endParaRPr/>
          </a:p>
        </p:txBody>
      </p:sp>
      <p:sp>
        <p:nvSpPr>
          <p:cNvPr id="1324" name="Google Shape;1324;p23"/>
          <p:cNvSpPr/>
          <p:nvPr/>
        </p:nvSpPr>
        <p:spPr>
          <a:xfrm>
            <a:off x="1438275" y="3190875"/>
            <a:ext cx="3905250" cy="2095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735"/>
              <a:buFont typeface="Arial"/>
              <a:buNone/>
            </a:pPr>
            <a:r>
              <a:rPr lang="en-US" sz="735">
                <a:solidFill>
                  <a:srgbClr val="666B70"/>
                </a:solidFill>
              </a:rPr>
              <a:t>Every factual output resolves to a source ID, evidence segment, and requirement ID.</a:t>
            </a:r>
            <a:endParaRPr/>
          </a:p>
        </p:txBody>
      </p:sp>
      <p:sp>
        <p:nvSpPr>
          <p:cNvPr id="1325" name="Google Shape;1325;p23"/>
          <p:cNvSpPr/>
          <p:nvPr/>
        </p:nvSpPr>
        <p:spPr>
          <a:xfrm>
            <a:off x="781050" y="3562350"/>
            <a:ext cx="4762500" cy="514350"/>
          </a:xfrm>
          <a:prstGeom prst="roundRect">
            <a:avLst>
              <a:gd fmla="val 14815" name="adj"/>
            </a:avLst>
          </a:prstGeom>
          <a:solidFill>
            <a:srgbClr val="FFFFFF"/>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6" name="Google Shape;1326;p23"/>
          <p:cNvSpPr/>
          <p:nvPr/>
        </p:nvSpPr>
        <p:spPr>
          <a:xfrm>
            <a:off x="933450" y="3676650"/>
            <a:ext cx="361950" cy="285750"/>
          </a:xfrm>
          <a:prstGeom prst="roundRect">
            <a:avLst>
              <a:gd fmla="val 26667" name="adj"/>
            </a:avLst>
          </a:prstGeom>
          <a:solidFill>
            <a:srgbClr val="E8EFF9"/>
          </a:solidFill>
          <a:ln cap="flat" cmpd="sng" w="9525">
            <a:solidFill>
              <a:srgbClr val="3B6EB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7" name="Google Shape;1327;p23"/>
          <p:cNvSpPr/>
          <p:nvPr/>
        </p:nvSpPr>
        <p:spPr>
          <a:xfrm>
            <a:off x="933450" y="3724275"/>
            <a:ext cx="361950" cy="190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3B6EBF"/>
              </a:buClr>
              <a:buSzPts val="750"/>
              <a:buFont typeface="Arial"/>
              <a:buNone/>
            </a:pPr>
            <a:r>
              <a:rPr b="1" lang="en-US" sz="750">
                <a:solidFill>
                  <a:srgbClr val="3B6EBF"/>
                </a:solidFill>
              </a:rPr>
              <a:t>03</a:t>
            </a:r>
            <a:endParaRPr/>
          </a:p>
        </p:txBody>
      </p:sp>
      <p:sp>
        <p:nvSpPr>
          <p:cNvPr id="1328" name="Google Shape;1328;p23"/>
          <p:cNvSpPr/>
          <p:nvPr/>
        </p:nvSpPr>
        <p:spPr>
          <a:xfrm>
            <a:off x="1438275" y="3629025"/>
            <a:ext cx="3905250" cy="190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938"/>
              <a:buFont typeface="Arial"/>
              <a:buNone/>
            </a:pPr>
            <a:r>
              <a:rPr b="1" lang="en-US" sz="938">
                <a:solidFill>
                  <a:srgbClr val="1A1A2E"/>
                </a:solidFill>
              </a:rPr>
              <a:t>Preserve uncertainty</a:t>
            </a:r>
            <a:endParaRPr/>
          </a:p>
        </p:txBody>
      </p:sp>
      <p:sp>
        <p:nvSpPr>
          <p:cNvPr id="1329" name="Google Shape;1329;p23"/>
          <p:cNvSpPr/>
          <p:nvPr/>
        </p:nvSpPr>
        <p:spPr>
          <a:xfrm>
            <a:off x="1438275" y="3819525"/>
            <a:ext cx="3905250" cy="2095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735"/>
              <a:buFont typeface="Arial"/>
              <a:buNone/>
            </a:pPr>
            <a:r>
              <a:rPr lang="en-US" sz="735">
                <a:solidFill>
                  <a:srgbClr val="666B70"/>
                </a:solidFill>
              </a:rPr>
              <a:t>Ambiguity, contradiction, and missing information remain visible until resolved.</a:t>
            </a:r>
            <a:endParaRPr/>
          </a:p>
        </p:txBody>
      </p:sp>
      <p:sp>
        <p:nvSpPr>
          <p:cNvPr id="1330" name="Google Shape;1330;p23"/>
          <p:cNvSpPr/>
          <p:nvPr/>
        </p:nvSpPr>
        <p:spPr>
          <a:xfrm>
            <a:off x="781050" y="4191000"/>
            <a:ext cx="4762500" cy="514350"/>
          </a:xfrm>
          <a:prstGeom prst="roundRect">
            <a:avLst>
              <a:gd fmla="val 14815" name="adj"/>
            </a:avLst>
          </a:prstGeom>
          <a:solidFill>
            <a:srgbClr val="FFFFFF"/>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1" name="Google Shape;1331;p23"/>
          <p:cNvSpPr/>
          <p:nvPr/>
        </p:nvSpPr>
        <p:spPr>
          <a:xfrm>
            <a:off x="933450" y="4305300"/>
            <a:ext cx="361950" cy="285750"/>
          </a:xfrm>
          <a:prstGeom prst="roundRect">
            <a:avLst>
              <a:gd fmla="val 26667" name="adj"/>
            </a:avLst>
          </a:prstGeom>
          <a:solidFill>
            <a:srgbClr val="E8EFF9"/>
          </a:solidFill>
          <a:ln cap="flat" cmpd="sng" w="9525">
            <a:solidFill>
              <a:srgbClr val="3B6EB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2" name="Google Shape;1332;p23"/>
          <p:cNvSpPr/>
          <p:nvPr/>
        </p:nvSpPr>
        <p:spPr>
          <a:xfrm>
            <a:off x="933450" y="4352925"/>
            <a:ext cx="361950" cy="190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3B6EBF"/>
              </a:buClr>
              <a:buSzPts val="750"/>
              <a:buFont typeface="Arial"/>
              <a:buNone/>
            </a:pPr>
            <a:r>
              <a:rPr b="1" lang="en-US" sz="750">
                <a:solidFill>
                  <a:srgbClr val="3B6EBF"/>
                </a:solidFill>
              </a:rPr>
              <a:t>04</a:t>
            </a:r>
            <a:endParaRPr/>
          </a:p>
        </p:txBody>
      </p:sp>
      <p:sp>
        <p:nvSpPr>
          <p:cNvPr id="1333" name="Google Shape;1333;p23"/>
          <p:cNvSpPr/>
          <p:nvPr/>
        </p:nvSpPr>
        <p:spPr>
          <a:xfrm>
            <a:off x="1438275" y="4257675"/>
            <a:ext cx="3905250" cy="190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938"/>
              <a:buFont typeface="Arial"/>
              <a:buNone/>
            </a:pPr>
            <a:r>
              <a:rPr b="1" lang="en-US" sz="938">
                <a:solidFill>
                  <a:srgbClr val="1A1A2E"/>
                </a:solidFill>
              </a:rPr>
              <a:t>Honor structured contracts</a:t>
            </a:r>
            <a:endParaRPr/>
          </a:p>
        </p:txBody>
      </p:sp>
      <p:sp>
        <p:nvSpPr>
          <p:cNvPr id="1334" name="Google Shape;1334;p23"/>
          <p:cNvSpPr/>
          <p:nvPr/>
        </p:nvSpPr>
        <p:spPr>
          <a:xfrm>
            <a:off x="1438275" y="4448175"/>
            <a:ext cx="3905250" cy="2095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735"/>
              <a:buFont typeface="Arial"/>
              <a:buNone/>
            </a:pPr>
            <a:r>
              <a:rPr lang="en-US" sz="735">
                <a:solidFill>
                  <a:srgbClr val="666B70"/>
                </a:solidFill>
              </a:rPr>
              <a:t>Return schema-valid JSON and synchronized Markdown with stable identifiers.</a:t>
            </a:r>
            <a:endParaRPr/>
          </a:p>
        </p:txBody>
      </p:sp>
      <p:sp>
        <p:nvSpPr>
          <p:cNvPr id="1335" name="Google Shape;1335;p23"/>
          <p:cNvSpPr/>
          <p:nvPr/>
        </p:nvSpPr>
        <p:spPr>
          <a:xfrm>
            <a:off x="781050" y="4819650"/>
            <a:ext cx="4762500" cy="514350"/>
          </a:xfrm>
          <a:prstGeom prst="roundRect">
            <a:avLst>
              <a:gd fmla="val 14815" name="adj"/>
            </a:avLst>
          </a:prstGeom>
          <a:solidFill>
            <a:srgbClr val="FFFFFF"/>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6" name="Google Shape;1336;p23"/>
          <p:cNvSpPr/>
          <p:nvPr/>
        </p:nvSpPr>
        <p:spPr>
          <a:xfrm>
            <a:off x="933450" y="4933950"/>
            <a:ext cx="361950" cy="285750"/>
          </a:xfrm>
          <a:prstGeom prst="roundRect">
            <a:avLst>
              <a:gd fmla="val 26667" name="adj"/>
            </a:avLst>
          </a:prstGeom>
          <a:solidFill>
            <a:srgbClr val="E8EFF9"/>
          </a:solidFill>
          <a:ln cap="flat" cmpd="sng" w="9525">
            <a:solidFill>
              <a:srgbClr val="3B6EB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7" name="Google Shape;1337;p23"/>
          <p:cNvSpPr/>
          <p:nvPr/>
        </p:nvSpPr>
        <p:spPr>
          <a:xfrm>
            <a:off x="933450" y="4981575"/>
            <a:ext cx="361950" cy="190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3B6EBF"/>
              </a:buClr>
              <a:buSzPts val="750"/>
              <a:buFont typeface="Arial"/>
              <a:buNone/>
            </a:pPr>
            <a:r>
              <a:rPr b="1" lang="en-US" sz="750">
                <a:solidFill>
                  <a:srgbClr val="3B6EBF"/>
                </a:solidFill>
              </a:rPr>
              <a:t>05</a:t>
            </a:r>
            <a:endParaRPr/>
          </a:p>
        </p:txBody>
      </p:sp>
      <p:sp>
        <p:nvSpPr>
          <p:cNvPr id="1338" name="Google Shape;1338;p23"/>
          <p:cNvSpPr/>
          <p:nvPr/>
        </p:nvSpPr>
        <p:spPr>
          <a:xfrm>
            <a:off x="1438275" y="4886325"/>
            <a:ext cx="3905250" cy="190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938"/>
              <a:buFont typeface="Arial"/>
              <a:buNone/>
            </a:pPr>
            <a:r>
              <a:rPr b="1" lang="en-US" sz="938">
                <a:solidFill>
                  <a:srgbClr val="1A1A2E"/>
                </a:solidFill>
              </a:rPr>
              <a:t>Respect authority boundaries</a:t>
            </a:r>
            <a:endParaRPr/>
          </a:p>
        </p:txBody>
      </p:sp>
      <p:sp>
        <p:nvSpPr>
          <p:cNvPr id="1339" name="Google Shape;1339;p23"/>
          <p:cNvSpPr/>
          <p:nvPr/>
        </p:nvSpPr>
        <p:spPr>
          <a:xfrm>
            <a:off x="1438275" y="5076825"/>
            <a:ext cx="3905250" cy="2095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735"/>
              <a:buFont typeface="Arial"/>
              <a:buNone/>
            </a:pPr>
            <a:r>
              <a:rPr lang="en-US" sz="735">
                <a:solidFill>
                  <a:srgbClr val="666B70"/>
                </a:solidFill>
              </a:rPr>
              <a:t>Extraction, analysis, approval, generation, validation, and sizing retain distinct roles.</a:t>
            </a:r>
            <a:endParaRPr/>
          </a:p>
        </p:txBody>
      </p:sp>
      <p:sp>
        <p:nvSpPr>
          <p:cNvPr id="1340" name="Google Shape;1340;p23"/>
          <p:cNvSpPr/>
          <p:nvPr/>
        </p:nvSpPr>
        <p:spPr>
          <a:xfrm>
            <a:off x="5810250" y="3562350"/>
            <a:ext cx="666750" cy="323850"/>
          </a:xfrm>
          <a:prstGeom prst="rightArrow">
            <a:avLst>
              <a:gd fmla="val 50000" name="adj1"/>
              <a:gd fmla="val 50000" name="adj2"/>
            </a:avLst>
          </a:prstGeom>
          <a:solidFill>
            <a:srgbClr val="B85042"/>
          </a:solidFill>
          <a:ln cap="flat" cmpd="sng" w="9525">
            <a:solidFill>
              <a:srgbClr val="B8504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1" name="Google Shape;1341;p23"/>
          <p:cNvSpPr/>
          <p:nvPr/>
        </p:nvSpPr>
        <p:spPr>
          <a:xfrm>
            <a:off x="5610225" y="3943350"/>
            <a:ext cx="1066800" cy="171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B85042"/>
              </a:buClr>
              <a:buSzPts val="630"/>
              <a:buFont typeface="Arial"/>
              <a:buNone/>
            </a:pPr>
            <a:r>
              <a:rPr b="1" lang="en-US" sz="630">
                <a:solidFill>
                  <a:srgbClr val="B85042"/>
                </a:solidFill>
              </a:rPr>
              <a:t>VERIFY—DON'T TRUST</a:t>
            </a:r>
            <a:endParaRPr/>
          </a:p>
        </p:txBody>
      </p:sp>
      <p:sp>
        <p:nvSpPr>
          <p:cNvPr id="1342" name="Google Shape;1342;p23"/>
          <p:cNvSpPr/>
          <p:nvPr/>
        </p:nvSpPr>
        <p:spPr>
          <a:xfrm>
            <a:off x="6858000" y="2305050"/>
            <a:ext cx="4552950" cy="514350"/>
          </a:xfrm>
          <a:prstGeom prst="roundRect">
            <a:avLst>
              <a:gd fmla="val 14815" name="adj"/>
            </a:avLst>
          </a:prstGeom>
          <a:solidFill>
            <a:srgbClr val="FFFFFF"/>
          </a:solidFill>
          <a:ln cap="flat" cmpd="sng" w="9525">
            <a:solidFill>
              <a:srgbClr val="3B6EB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3" name="Google Shape;1343;p23"/>
          <p:cNvSpPr/>
          <p:nvPr/>
        </p:nvSpPr>
        <p:spPr>
          <a:xfrm>
            <a:off x="6858000" y="2305050"/>
            <a:ext cx="76200" cy="514350"/>
          </a:xfrm>
          <a:prstGeom prst="rect">
            <a:avLst/>
          </a:prstGeom>
          <a:solidFill>
            <a:srgbClr val="3B6EBF"/>
          </a:solidFill>
          <a:ln cap="flat" cmpd="sng" w="9525">
            <a:solidFill>
              <a:srgbClr val="3B6EB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4" name="Google Shape;1344;p23"/>
          <p:cNvSpPr/>
          <p:nvPr/>
        </p:nvSpPr>
        <p:spPr>
          <a:xfrm>
            <a:off x="7134225" y="2371725"/>
            <a:ext cx="4000500" cy="190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3B6EBF"/>
              </a:buClr>
              <a:buSzPts val="914"/>
              <a:buFont typeface="Arial"/>
              <a:buNone/>
            </a:pPr>
            <a:r>
              <a:rPr b="1" lang="en-US" sz="915">
                <a:solidFill>
                  <a:srgbClr val="3B6EBF"/>
                </a:solidFill>
              </a:rPr>
              <a:t>INPUT INTEGRITY</a:t>
            </a:r>
            <a:endParaRPr/>
          </a:p>
        </p:txBody>
      </p:sp>
      <p:sp>
        <p:nvSpPr>
          <p:cNvPr id="1345" name="Google Shape;1345;p23"/>
          <p:cNvSpPr/>
          <p:nvPr/>
        </p:nvSpPr>
        <p:spPr>
          <a:xfrm>
            <a:off x="7134225" y="2562225"/>
            <a:ext cx="4000500" cy="2095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773"/>
              <a:buFont typeface="Arial"/>
              <a:buNone/>
            </a:pPr>
            <a:r>
              <a:rPr lang="en-US" sz="773">
                <a:solidFill>
                  <a:srgbClr val="666B70"/>
                </a:solidFill>
              </a:rPr>
              <a:t>Source hashes, exact lines, unique IDs</a:t>
            </a:r>
            <a:endParaRPr/>
          </a:p>
        </p:txBody>
      </p:sp>
      <p:sp>
        <p:nvSpPr>
          <p:cNvPr id="1346" name="Google Shape;1346;p23"/>
          <p:cNvSpPr/>
          <p:nvPr/>
        </p:nvSpPr>
        <p:spPr>
          <a:xfrm>
            <a:off x="6858000" y="2933700"/>
            <a:ext cx="4552950" cy="514350"/>
          </a:xfrm>
          <a:prstGeom prst="roundRect">
            <a:avLst>
              <a:gd fmla="val 14815" name="adj"/>
            </a:avLst>
          </a:prstGeom>
          <a:solidFill>
            <a:srgbClr val="FFFFFF"/>
          </a:solidFill>
          <a:ln cap="flat" cmpd="sng" w="9525">
            <a:solidFill>
              <a:srgbClr val="2F6F5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7" name="Google Shape;1347;p23"/>
          <p:cNvSpPr/>
          <p:nvPr/>
        </p:nvSpPr>
        <p:spPr>
          <a:xfrm>
            <a:off x="6858000" y="2933700"/>
            <a:ext cx="76200" cy="514350"/>
          </a:xfrm>
          <a:prstGeom prst="rect">
            <a:avLst/>
          </a:prstGeom>
          <a:solidFill>
            <a:srgbClr val="2F6F57"/>
          </a:solidFill>
          <a:ln cap="flat" cmpd="sng" w="9525">
            <a:solidFill>
              <a:srgbClr val="2F6F5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8" name="Google Shape;1348;p23"/>
          <p:cNvSpPr/>
          <p:nvPr/>
        </p:nvSpPr>
        <p:spPr>
          <a:xfrm>
            <a:off x="7134225" y="3000375"/>
            <a:ext cx="4000500" cy="190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F6F57"/>
              </a:buClr>
              <a:buSzPts val="914"/>
              <a:buFont typeface="Arial"/>
              <a:buNone/>
            </a:pPr>
            <a:r>
              <a:rPr b="1" lang="en-US" sz="915">
                <a:solidFill>
                  <a:srgbClr val="2F6F57"/>
                </a:solidFill>
              </a:rPr>
              <a:t>DETERMINISTIC VALIDATION</a:t>
            </a:r>
            <a:endParaRPr/>
          </a:p>
        </p:txBody>
      </p:sp>
      <p:sp>
        <p:nvSpPr>
          <p:cNvPr id="1349" name="Google Shape;1349;p23"/>
          <p:cNvSpPr/>
          <p:nvPr/>
        </p:nvSpPr>
        <p:spPr>
          <a:xfrm>
            <a:off x="7134225" y="3190875"/>
            <a:ext cx="4000500" cy="2095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773"/>
              <a:buFont typeface="Arial"/>
              <a:buNone/>
            </a:pPr>
            <a:r>
              <a:rPr lang="en-US" sz="773">
                <a:solidFill>
                  <a:srgbClr val="666B70"/>
                </a:solidFill>
              </a:rPr>
              <a:t>Schema, coverage, set equality, zero orphans</a:t>
            </a:r>
            <a:endParaRPr/>
          </a:p>
        </p:txBody>
      </p:sp>
      <p:sp>
        <p:nvSpPr>
          <p:cNvPr id="1350" name="Google Shape;1350;p23"/>
          <p:cNvSpPr/>
          <p:nvPr/>
        </p:nvSpPr>
        <p:spPr>
          <a:xfrm>
            <a:off x="6858000" y="3562350"/>
            <a:ext cx="4552950" cy="514350"/>
          </a:xfrm>
          <a:prstGeom prst="roundRect">
            <a:avLst>
              <a:gd fmla="val 14815" name="adj"/>
            </a:avLst>
          </a:prstGeom>
          <a:solidFill>
            <a:srgbClr val="FFFFFF"/>
          </a:solidFill>
          <a:ln cap="flat" cmpd="sng" w="9525">
            <a:solidFill>
              <a:srgbClr val="3B6EB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1" name="Google Shape;1351;p23"/>
          <p:cNvSpPr/>
          <p:nvPr/>
        </p:nvSpPr>
        <p:spPr>
          <a:xfrm>
            <a:off x="6858000" y="3562350"/>
            <a:ext cx="76200" cy="514350"/>
          </a:xfrm>
          <a:prstGeom prst="rect">
            <a:avLst/>
          </a:prstGeom>
          <a:solidFill>
            <a:srgbClr val="3B6EBF"/>
          </a:solidFill>
          <a:ln cap="flat" cmpd="sng" w="9525">
            <a:solidFill>
              <a:srgbClr val="3B6EB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2" name="Google Shape;1352;p23"/>
          <p:cNvSpPr/>
          <p:nvPr/>
        </p:nvSpPr>
        <p:spPr>
          <a:xfrm>
            <a:off x="7134225" y="3629025"/>
            <a:ext cx="4000500" cy="190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3B6EBF"/>
              </a:buClr>
              <a:buSzPts val="914"/>
              <a:buFont typeface="Arial"/>
              <a:buNone/>
            </a:pPr>
            <a:r>
              <a:rPr b="1" lang="en-US" sz="915">
                <a:solidFill>
                  <a:srgbClr val="3B6EBF"/>
                </a:solidFill>
              </a:rPr>
              <a:t>HUMAN APPROVAL</a:t>
            </a:r>
            <a:endParaRPr/>
          </a:p>
        </p:txBody>
      </p:sp>
      <p:sp>
        <p:nvSpPr>
          <p:cNvPr id="1353" name="Google Shape;1353;p23"/>
          <p:cNvSpPr/>
          <p:nvPr/>
        </p:nvSpPr>
        <p:spPr>
          <a:xfrm>
            <a:off x="7134225" y="3819525"/>
            <a:ext cx="4000500" cy="2095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773"/>
              <a:buFont typeface="Arial"/>
              <a:buNone/>
            </a:pPr>
            <a:r>
              <a:rPr lang="en-US" sz="773">
                <a:solidFill>
                  <a:srgbClr val="666B70"/>
                </a:solidFill>
              </a:rPr>
              <a:t>Signed decisions and approved scope lineage</a:t>
            </a:r>
            <a:endParaRPr/>
          </a:p>
        </p:txBody>
      </p:sp>
      <p:sp>
        <p:nvSpPr>
          <p:cNvPr id="1354" name="Google Shape;1354;p23"/>
          <p:cNvSpPr/>
          <p:nvPr/>
        </p:nvSpPr>
        <p:spPr>
          <a:xfrm>
            <a:off x="6858000" y="4191000"/>
            <a:ext cx="4552950" cy="514350"/>
          </a:xfrm>
          <a:prstGeom prst="roundRect">
            <a:avLst>
              <a:gd fmla="val 14815" name="adj"/>
            </a:avLst>
          </a:prstGeom>
          <a:solidFill>
            <a:srgbClr val="FFFFFF"/>
          </a:solidFill>
          <a:ln cap="flat" cmpd="sng" w="9525">
            <a:solidFill>
              <a:srgbClr val="7546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5" name="Google Shape;1355;p23"/>
          <p:cNvSpPr/>
          <p:nvPr/>
        </p:nvSpPr>
        <p:spPr>
          <a:xfrm>
            <a:off x="6858000" y="4191000"/>
            <a:ext cx="76200" cy="514350"/>
          </a:xfrm>
          <a:prstGeom prst="rect">
            <a:avLst/>
          </a:prstGeom>
          <a:solidFill>
            <a:srgbClr val="7546C8"/>
          </a:solidFill>
          <a:ln cap="flat" cmpd="sng" w="9525">
            <a:solidFill>
              <a:srgbClr val="7546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6" name="Google Shape;1356;p23"/>
          <p:cNvSpPr/>
          <p:nvPr/>
        </p:nvSpPr>
        <p:spPr>
          <a:xfrm>
            <a:off x="7134225" y="4257675"/>
            <a:ext cx="4000500" cy="190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7546C8"/>
              </a:buClr>
              <a:buSzPts val="914"/>
              <a:buFont typeface="Arial"/>
              <a:buNone/>
            </a:pPr>
            <a:r>
              <a:rPr b="1" lang="en-US" sz="915">
                <a:solidFill>
                  <a:srgbClr val="7546C8"/>
                </a:solidFill>
              </a:rPr>
              <a:t>SEMANTIC EVALUATION</a:t>
            </a:r>
            <a:endParaRPr/>
          </a:p>
        </p:txBody>
      </p:sp>
      <p:sp>
        <p:nvSpPr>
          <p:cNvPr id="1357" name="Google Shape;1357;p23"/>
          <p:cNvSpPr/>
          <p:nvPr/>
        </p:nvSpPr>
        <p:spPr>
          <a:xfrm>
            <a:off x="7134225" y="4448175"/>
            <a:ext cx="4000500" cy="2095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773"/>
              <a:buFont typeface="Arial"/>
              <a:buNone/>
            </a:pPr>
            <a:r>
              <a:rPr lang="en-US" sz="773">
                <a:solidFill>
                  <a:srgbClr val="666B70"/>
                </a:solidFill>
              </a:rPr>
              <a:t>Faithfulness, hallucination, reasonableness</a:t>
            </a:r>
            <a:endParaRPr/>
          </a:p>
        </p:txBody>
      </p:sp>
      <p:sp>
        <p:nvSpPr>
          <p:cNvPr id="1358" name="Google Shape;1358;p23"/>
          <p:cNvSpPr/>
          <p:nvPr/>
        </p:nvSpPr>
        <p:spPr>
          <a:xfrm>
            <a:off x="6858000" y="4819650"/>
            <a:ext cx="4552950" cy="514350"/>
          </a:xfrm>
          <a:prstGeom prst="roundRect">
            <a:avLst>
              <a:gd fmla="val 14815" name="adj"/>
            </a:avLst>
          </a:prstGeom>
          <a:solidFill>
            <a:srgbClr val="FFFFFF"/>
          </a:solidFill>
          <a:ln cap="flat" cmpd="sng" w="9525">
            <a:solidFill>
              <a:srgbClr val="2F6F5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9" name="Google Shape;1359;p23"/>
          <p:cNvSpPr/>
          <p:nvPr/>
        </p:nvSpPr>
        <p:spPr>
          <a:xfrm>
            <a:off x="6858000" y="4819650"/>
            <a:ext cx="76200" cy="514350"/>
          </a:xfrm>
          <a:prstGeom prst="rect">
            <a:avLst/>
          </a:prstGeom>
          <a:solidFill>
            <a:srgbClr val="2F6F57"/>
          </a:solidFill>
          <a:ln cap="flat" cmpd="sng" w="9525">
            <a:solidFill>
              <a:srgbClr val="2F6F5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0" name="Google Shape;1360;p23"/>
          <p:cNvSpPr/>
          <p:nvPr/>
        </p:nvSpPr>
        <p:spPr>
          <a:xfrm>
            <a:off x="7134225" y="4886325"/>
            <a:ext cx="4000500" cy="190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F6F57"/>
              </a:buClr>
              <a:buSzPts val="914"/>
              <a:buFont typeface="Arial"/>
              <a:buNone/>
            </a:pPr>
            <a:r>
              <a:rPr b="1" lang="en-US" sz="915">
                <a:solidFill>
                  <a:srgbClr val="2F6F57"/>
                </a:solidFill>
              </a:rPr>
              <a:t>AGREEMENT GATE</a:t>
            </a:r>
            <a:endParaRPr/>
          </a:p>
        </p:txBody>
      </p:sp>
      <p:sp>
        <p:nvSpPr>
          <p:cNvPr id="1361" name="Google Shape;1361;p23"/>
          <p:cNvSpPr/>
          <p:nvPr/>
        </p:nvSpPr>
        <p:spPr>
          <a:xfrm>
            <a:off x="7134225" y="5076825"/>
            <a:ext cx="4000500" cy="2095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773"/>
              <a:buFont typeface="Arial"/>
              <a:buNone/>
            </a:pPr>
            <a:r>
              <a:rPr lang="en-US" sz="773">
                <a:solidFill>
                  <a:srgbClr val="666B70"/>
                </a:solidFill>
              </a:rPr>
              <a:t>Release only when code and LLM controls agree</a:t>
            </a:r>
            <a:endParaRPr/>
          </a:p>
        </p:txBody>
      </p:sp>
      <p:sp>
        <p:nvSpPr>
          <p:cNvPr id="1362" name="Google Shape;1362;p23"/>
          <p:cNvSpPr/>
          <p:nvPr/>
        </p:nvSpPr>
        <p:spPr>
          <a:xfrm>
            <a:off x="781050" y="5553075"/>
            <a:ext cx="10629900" cy="457200"/>
          </a:xfrm>
          <a:prstGeom prst="roundRect">
            <a:avLst>
              <a:gd fmla="val 16667" name="adj"/>
            </a:avLst>
          </a:prstGeom>
          <a:solidFill>
            <a:srgbClr val="E6F0EB"/>
          </a:solidFill>
          <a:ln cap="flat" cmpd="sng" w="9525">
            <a:solidFill>
              <a:srgbClr val="2F6F5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3" name="Google Shape;1363;p23"/>
          <p:cNvSpPr/>
          <p:nvPr/>
        </p:nvSpPr>
        <p:spPr>
          <a:xfrm>
            <a:off x="981075" y="5657850"/>
            <a:ext cx="2381250" cy="2286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F6F57"/>
              </a:buClr>
              <a:buSzPts val="863"/>
              <a:buFont typeface="Arial"/>
              <a:buNone/>
            </a:pPr>
            <a:r>
              <a:rPr b="1" lang="en-US" sz="863">
                <a:solidFill>
                  <a:srgbClr val="2F6F57"/>
                </a:solidFill>
              </a:rPr>
              <a:t>ACCEPTED RELEASE CONDITION</a:t>
            </a:r>
            <a:endParaRPr/>
          </a:p>
        </p:txBody>
      </p:sp>
      <p:sp>
        <p:nvSpPr>
          <p:cNvPr id="1364" name="Google Shape;1364;p23"/>
          <p:cNvSpPr/>
          <p:nvPr/>
        </p:nvSpPr>
        <p:spPr>
          <a:xfrm>
            <a:off x="3848100" y="5657850"/>
            <a:ext cx="1809750" cy="2286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1050"/>
              <a:buFont typeface="Arial"/>
              <a:buNone/>
            </a:pPr>
            <a:r>
              <a:rPr b="1" lang="en-US" sz="1050">
                <a:solidFill>
                  <a:srgbClr val="1A1A2E"/>
                </a:solidFill>
              </a:rPr>
              <a:t>100% groundedness</a:t>
            </a:r>
            <a:endParaRPr/>
          </a:p>
        </p:txBody>
      </p:sp>
      <p:sp>
        <p:nvSpPr>
          <p:cNvPr id="1365" name="Google Shape;1365;p23"/>
          <p:cNvSpPr/>
          <p:nvPr/>
        </p:nvSpPr>
        <p:spPr>
          <a:xfrm>
            <a:off x="6029325" y="5657850"/>
            <a:ext cx="2000250" cy="2286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1050"/>
              <a:buFont typeface="Arial"/>
              <a:buNone/>
            </a:pPr>
            <a:r>
              <a:rPr b="1" lang="en-US" sz="1050">
                <a:solidFill>
                  <a:srgbClr val="1A1A2E"/>
                </a:solidFill>
              </a:rPr>
              <a:t>0 unsupported claims</a:t>
            </a:r>
            <a:endParaRPr/>
          </a:p>
        </p:txBody>
      </p:sp>
      <p:sp>
        <p:nvSpPr>
          <p:cNvPr id="1366" name="Google Shape;1366;p23"/>
          <p:cNvSpPr/>
          <p:nvPr/>
        </p:nvSpPr>
        <p:spPr>
          <a:xfrm>
            <a:off x="8524875" y="5657850"/>
            <a:ext cx="2381250" cy="2286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1050"/>
              <a:buFont typeface="Arial"/>
              <a:buNone/>
            </a:pPr>
            <a:r>
              <a:rPr b="1" lang="en-US" sz="1050">
                <a:solidFill>
                  <a:srgbClr val="1A1A2E"/>
                </a:solidFill>
              </a:rPr>
              <a:t>Fail closed on mismatch</a:t>
            </a:r>
            <a:endParaRPr/>
          </a:p>
        </p:txBody>
      </p:sp>
      <p:sp>
        <p:nvSpPr>
          <p:cNvPr id="1367" name="Google Shape;1367;p23"/>
          <p:cNvSpPr/>
          <p:nvPr/>
        </p:nvSpPr>
        <p:spPr>
          <a:xfrm>
            <a:off x="0" y="6267450"/>
            <a:ext cx="12192000" cy="590550"/>
          </a:xfrm>
          <a:prstGeom prst="rect">
            <a:avLst/>
          </a:prstGeom>
          <a:solidFill>
            <a:srgbClr val="1A1A2E"/>
          </a:solidFill>
          <a:ln cap="flat" cmpd="sng" w="9525">
            <a:solidFill>
              <a:srgbClr val="1A1A2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8" name="Google Shape;1368;p23"/>
          <p:cNvSpPr/>
          <p:nvPr/>
        </p:nvSpPr>
        <p:spPr>
          <a:xfrm>
            <a:off x="781050" y="6381750"/>
            <a:ext cx="1905000" cy="190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C9C6D8"/>
              </a:buClr>
              <a:buSzPts val="825"/>
              <a:buFont typeface="Arial"/>
              <a:buNone/>
            </a:pPr>
            <a:r>
              <a:rPr b="1" lang="en-US" sz="825">
                <a:solidFill>
                  <a:srgbClr val="C9C6D8"/>
                </a:solidFill>
              </a:rPr>
              <a:t>APPENDIX A4</a:t>
            </a:r>
            <a:endParaRPr/>
          </a:p>
        </p:txBody>
      </p:sp>
      <p:sp>
        <p:nvSpPr>
          <p:cNvPr id="1369" name="Google Shape;1369;p23"/>
          <p:cNvSpPr/>
          <p:nvPr/>
        </p:nvSpPr>
        <p:spPr>
          <a:xfrm>
            <a:off x="2705100" y="6343650"/>
            <a:ext cx="8705850" cy="29527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FFFFFF"/>
              </a:buClr>
              <a:buSzPts val="1163"/>
              <a:buFont typeface="Arial"/>
              <a:buNone/>
            </a:pPr>
            <a:r>
              <a:rPr b="1" lang="en-US" sz="1163">
                <a:solidFill>
                  <a:srgbClr val="FFFFFF"/>
                </a:solidFill>
              </a:rPr>
              <a:t>Prompt discipline reduces risk; independent validation determines whether an artifact may be released.</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4EE"/>
        </a:solidFill>
      </p:bgPr>
    </p:bg>
    <p:spTree>
      <p:nvGrpSpPr>
        <p:cNvPr id="1374" name="Shape 1374"/>
        <p:cNvGrpSpPr/>
        <p:nvPr/>
      </p:nvGrpSpPr>
      <p:grpSpPr>
        <a:xfrm>
          <a:off x="0" y="0"/>
          <a:ext cx="0" cy="0"/>
          <a:chOff x="0" y="0"/>
          <a:chExt cx="0" cy="0"/>
        </a:xfrm>
      </p:grpSpPr>
      <p:sp>
        <p:nvSpPr>
          <p:cNvPr id="1375" name="Google Shape;1375;p24"/>
          <p:cNvSpPr/>
          <p:nvPr/>
        </p:nvSpPr>
        <p:spPr>
          <a:xfrm>
            <a:off x="0" y="0"/>
            <a:ext cx="12192000" cy="76200"/>
          </a:xfrm>
          <a:prstGeom prst="rect">
            <a:avLst/>
          </a:prstGeom>
          <a:solidFill>
            <a:srgbClr val="B85042"/>
          </a:solidFill>
          <a:ln cap="flat" cmpd="sng" w="9525">
            <a:solidFill>
              <a:srgbClr val="B8504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6" name="Google Shape;1376;p24"/>
          <p:cNvSpPr/>
          <p:nvPr/>
        </p:nvSpPr>
        <p:spPr>
          <a:xfrm>
            <a:off x="514350" y="685800"/>
            <a:ext cx="66675" cy="800100"/>
          </a:xfrm>
          <a:prstGeom prst="rect">
            <a:avLst/>
          </a:prstGeom>
          <a:solidFill>
            <a:srgbClr val="B85042"/>
          </a:solidFill>
          <a:ln cap="flat" cmpd="sng" w="9525">
            <a:solidFill>
              <a:srgbClr val="B8504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7" name="Google Shape;1377;p24"/>
          <p:cNvSpPr/>
          <p:nvPr/>
        </p:nvSpPr>
        <p:spPr>
          <a:xfrm>
            <a:off x="781050" y="495300"/>
            <a:ext cx="7620000" cy="2667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B85042"/>
              </a:buClr>
              <a:buSzPts val="975"/>
              <a:buFont typeface="Arial"/>
              <a:buNone/>
            </a:pPr>
            <a:r>
              <a:rPr b="1" lang="en-US" sz="975">
                <a:solidFill>
                  <a:srgbClr val="B85042"/>
                </a:solidFill>
              </a:rPr>
              <a:t>A5  ·  T1–T12 DETAILED TEST-RESULT MATRIX</a:t>
            </a:r>
            <a:endParaRPr/>
          </a:p>
        </p:txBody>
      </p:sp>
      <p:sp>
        <p:nvSpPr>
          <p:cNvPr id="1378" name="Google Shape;1378;p24"/>
          <p:cNvSpPr/>
          <p:nvPr/>
        </p:nvSpPr>
        <p:spPr>
          <a:xfrm>
            <a:off x="781050" y="828675"/>
            <a:ext cx="10629900" cy="552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2550"/>
              <a:buFont typeface="Arial"/>
              <a:buNone/>
            </a:pPr>
            <a:r>
              <a:rPr b="1" lang="en-US" sz="2550">
                <a:solidFill>
                  <a:srgbClr val="1A1A2E"/>
                </a:solidFill>
              </a:rPr>
              <a:t>Twelve prescribed cases test extraction through delivery</a:t>
            </a:r>
            <a:endParaRPr/>
          </a:p>
        </p:txBody>
      </p:sp>
      <p:sp>
        <p:nvSpPr>
          <p:cNvPr id="1379" name="Google Shape;1379;p24"/>
          <p:cNvSpPr/>
          <p:nvPr/>
        </p:nvSpPr>
        <p:spPr>
          <a:xfrm>
            <a:off x="781050" y="1438275"/>
            <a:ext cx="10629900" cy="3238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1163"/>
              <a:buFont typeface="Arial"/>
              <a:buNone/>
            </a:pPr>
            <a:r>
              <a:rPr lang="en-US" sz="1163">
                <a:solidFill>
                  <a:srgbClr val="666B70"/>
                </a:solidFill>
              </a:rPr>
              <a:t>Human-reviewed ground truth covers precise, vague, contradictory, incomplete, persona, technical, dependency, PRD, and story-generation behavior.</a:t>
            </a:r>
            <a:endParaRPr/>
          </a:p>
        </p:txBody>
      </p:sp>
      <p:sp>
        <p:nvSpPr>
          <p:cNvPr id="1380" name="Google Shape;1380;p24"/>
          <p:cNvSpPr/>
          <p:nvPr/>
        </p:nvSpPr>
        <p:spPr>
          <a:xfrm>
            <a:off x="781050" y="1952625"/>
            <a:ext cx="5162550" cy="2095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3B6EBF"/>
              </a:buClr>
              <a:buSzPts val="863"/>
              <a:buFont typeface="Arial"/>
              <a:buNone/>
            </a:pPr>
            <a:r>
              <a:rPr b="1" lang="en-US" sz="863">
                <a:solidFill>
                  <a:srgbClr val="3B6EBF"/>
                </a:solidFill>
              </a:rPr>
              <a:t>T1–T6 · REQUIREMENT EXTRACTION</a:t>
            </a:r>
            <a:endParaRPr/>
          </a:p>
        </p:txBody>
      </p:sp>
      <p:sp>
        <p:nvSpPr>
          <p:cNvPr id="1381" name="Google Shape;1381;p24"/>
          <p:cNvSpPr/>
          <p:nvPr/>
        </p:nvSpPr>
        <p:spPr>
          <a:xfrm>
            <a:off x="6248400" y="1952625"/>
            <a:ext cx="5162550" cy="2095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F6F57"/>
              </a:buClr>
              <a:buSzPts val="863"/>
              <a:buFont typeface="Arial"/>
              <a:buNone/>
            </a:pPr>
            <a:r>
              <a:rPr b="1" lang="en-US" sz="863">
                <a:solidFill>
                  <a:srgbClr val="2F6F57"/>
                </a:solidFill>
              </a:rPr>
              <a:t>T7–T12 · TECHNICAL, PRD &amp; STORY CONTROLS</a:t>
            </a:r>
            <a:endParaRPr/>
          </a:p>
        </p:txBody>
      </p:sp>
      <p:sp>
        <p:nvSpPr>
          <p:cNvPr id="1382" name="Google Shape;1382;p24"/>
          <p:cNvSpPr/>
          <p:nvPr/>
        </p:nvSpPr>
        <p:spPr>
          <a:xfrm>
            <a:off x="781050" y="2238375"/>
            <a:ext cx="5162550" cy="476250"/>
          </a:xfrm>
          <a:prstGeom prst="roundRect">
            <a:avLst>
              <a:gd fmla="val 16000" name="adj"/>
            </a:avLst>
          </a:prstGeom>
          <a:solidFill>
            <a:srgbClr val="FFFFFF"/>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3" name="Google Shape;1383;p24"/>
          <p:cNvSpPr/>
          <p:nvPr/>
        </p:nvSpPr>
        <p:spPr>
          <a:xfrm>
            <a:off x="876300" y="2333625"/>
            <a:ext cx="361950" cy="285750"/>
          </a:xfrm>
          <a:prstGeom prst="roundRect">
            <a:avLst>
              <a:gd fmla="val 26667" name="adj"/>
            </a:avLst>
          </a:prstGeom>
          <a:solidFill>
            <a:srgbClr val="E8EFF9"/>
          </a:solidFill>
          <a:ln cap="flat" cmpd="sng" w="9525">
            <a:solidFill>
              <a:srgbClr val="3B6EB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4" name="Google Shape;1384;p24"/>
          <p:cNvSpPr/>
          <p:nvPr/>
        </p:nvSpPr>
        <p:spPr>
          <a:xfrm>
            <a:off x="876300" y="2381250"/>
            <a:ext cx="361950" cy="190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3B6EBF"/>
              </a:buClr>
              <a:buSzPts val="735"/>
              <a:buFont typeface="Arial"/>
              <a:buNone/>
            </a:pPr>
            <a:r>
              <a:rPr b="1" lang="en-US" sz="735">
                <a:solidFill>
                  <a:srgbClr val="3B6EBF"/>
                </a:solidFill>
              </a:rPr>
              <a:t>T1</a:t>
            </a:r>
            <a:endParaRPr/>
          </a:p>
        </p:txBody>
      </p:sp>
      <p:sp>
        <p:nvSpPr>
          <p:cNvPr id="1385" name="Google Shape;1385;p24"/>
          <p:cNvSpPr/>
          <p:nvPr/>
        </p:nvSpPr>
        <p:spPr>
          <a:xfrm>
            <a:off x="1352550" y="2286000"/>
            <a:ext cx="2238375" cy="171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765"/>
              <a:buFont typeface="Arial"/>
              <a:buNone/>
            </a:pPr>
            <a:r>
              <a:rPr b="1" lang="en-US" sz="765">
                <a:solidFill>
                  <a:srgbClr val="1A1A2E"/>
                </a:solidFill>
              </a:rPr>
              <a:t>Precise mixed requirements</a:t>
            </a:r>
            <a:endParaRPr/>
          </a:p>
        </p:txBody>
      </p:sp>
      <p:sp>
        <p:nvSpPr>
          <p:cNvPr id="1386" name="Google Shape;1386;p24"/>
          <p:cNvSpPr/>
          <p:nvPr/>
        </p:nvSpPr>
        <p:spPr>
          <a:xfrm>
            <a:off x="1352550" y="2457450"/>
            <a:ext cx="2524125" cy="190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623"/>
              <a:buFont typeface="Arial"/>
              <a:buNone/>
            </a:pPr>
            <a:r>
              <a:rPr lang="en-US" sz="623">
                <a:solidFill>
                  <a:srgbClr val="666B70"/>
                </a:solidFill>
              </a:rPr>
              <a:t>Complete · 1 FR, 1 NFR, stakeholder, deadline</a:t>
            </a:r>
            <a:endParaRPr/>
          </a:p>
        </p:txBody>
      </p:sp>
      <p:sp>
        <p:nvSpPr>
          <p:cNvPr id="1387" name="Google Shape;1387;p24"/>
          <p:cNvSpPr/>
          <p:nvPr/>
        </p:nvSpPr>
        <p:spPr>
          <a:xfrm>
            <a:off x="3924300" y="2295525"/>
            <a:ext cx="1314450" cy="1143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B85042"/>
              </a:buClr>
              <a:buSzPts val="503"/>
              <a:buFont typeface="Arial"/>
              <a:buNone/>
            </a:pPr>
            <a:r>
              <a:rPr b="1" lang="en-US" sz="503">
                <a:solidFill>
                  <a:srgbClr val="B85042"/>
                </a:solidFill>
              </a:rPr>
              <a:t>EXECUTION RECEIPT</a:t>
            </a:r>
            <a:endParaRPr/>
          </a:p>
        </p:txBody>
      </p:sp>
      <p:sp>
        <p:nvSpPr>
          <p:cNvPr id="1388" name="Google Shape;1388;p24"/>
          <p:cNvSpPr/>
          <p:nvPr/>
        </p:nvSpPr>
        <p:spPr>
          <a:xfrm>
            <a:off x="3924300" y="2428875"/>
            <a:ext cx="1314450" cy="2095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533"/>
              <a:buFont typeface="Arial"/>
              <a:buNone/>
            </a:pPr>
            <a:r>
              <a:rPr b="1" lang="en-US" sz="533">
                <a:solidFill>
                  <a:srgbClr val="1A1A2E"/>
                </a:solidFill>
              </a:rPr>
              <a:t>LF f14cab…0002</a:t>
            </a:r>
            <a:endParaRPr/>
          </a:p>
        </p:txBody>
      </p:sp>
      <p:sp>
        <p:nvSpPr>
          <p:cNvPr id="1389" name="Google Shape;1389;p24"/>
          <p:cNvSpPr/>
          <p:nvPr/>
        </p:nvSpPr>
        <p:spPr>
          <a:xfrm>
            <a:off x="5305425" y="2362200"/>
            <a:ext cx="523875" cy="228600"/>
          </a:xfrm>
          <a:prstGeom prst="roundRect">
            <a:avLst>
              <a:gd fmla="val 33333" name="adj"/>
            </a:avLst>
          </a:prstGeom>
          <a:solidFill>
            <a:srgbClr val="E6F0EB"/>
          </a:solidFill>
          <a:ln cap="flat" cmpd="sng" w="9525">
            <a:solidFill>
              <a:srgbClr val="2F6F5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0" name="Google Shape;1390;p24"/>
          <p:cNvSpPr/>
          <p:nvPr/>
        </p:nvSpPr>
        <p:spPr>
          <a:xfrm>
            <a:off x="5305425" y="2390775"/>
            <a:ext cx="523875" cy="171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F6F57"/>
              </a:buClr>
              <a:buSzPts val="690"/>
              <a:buFont typeface="Arial"/>
              <a:buNone/>
            </a:pPr>
            <a:r>
              <a:rPr b="1" lang="en-US" sz="690">
                <a:solidFill>
                  <a:srgbClr val="2F6F57"/>
                </a:solidFill>
              </a:rPr>
              <a:t>PASS</a:t>
            </a:r>
            <a:endParaRPr/>
          </a:p>
        </p:txBody>
      </p:sp>
      <p:sp>
        <p:nvSpPr>
          <p:cNvPr id="1391" name="Google Shape;1391;p24"/>
          <p:cNvSpPr/>
          <p:nvPr/>
        </p:nvSpPr>
        <p:spPr>
          <a:xfrm>
            <a:off x="781050" y="2752725"/>
            <a:ext cx="5162550" cy="476250"/>
          </a:xfrm>
          <a:prstGeom prst="roundRect">
            <a:avLst>
              <a:gd fmla="val 16000" name="adj"/>
            </a:avLst>
          </a:prstGeom>
          <a:solidFill>
            <a:srgbClr val="FFFFFF"/>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2" name="Google Shape;1392;p24"/>
          <p:cNvSpPr/>
          <p:nvPr/>
        </p:nvSpPr>
        <p:spPr>
          <a:xfrm>
            <a:off x="876300" y="2847975"/>
            <a:ext cx="361950" cy="285750"/>
          </a:xfrm>
          <a:prstGeom prst="roundRect">
            <a:avLst>
              <a:gd fmla="val 26667" name="adj"/>
            </a:avLst>
          </a:prstGeom>
          <a:solidFill>
            <a:srgbClr val="E8EFF9"/>
          </a:solidFill>
          <a:ln cap="flat" cmpd="sng" w="9525">
            <a:solidFill>
              <a:srgbClr val="3B6EB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3" name="Google Shape;1393;p24"/>
          <p:cNvSpPr/>
          <p:nvPr/>
        </p:nvSpPr>
        <p:spPr>
          <a:xfrm>
            <a:off x="876300" y="2895600"/>
            <a:ext cx="361950" cy="190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3B6EBF"/>
              </a:buClr>
              <a:buSzPts val="735"/>
              <a:buFont typeface="Arial"/>
              <a:buNone/>
            </a:pPr>
            <a:r>
              <a:rPr b="1" lang="en-US" sz="735">
                <a:solidFill>
                  <a:srgbClr val="3B6EBF"/>
                </a:solidFill>
              </a:rPr>
              <a:t>T2</a:t>
            </a:r>
            <a:endParaRPr/>
          </a:p>
        </p:txBody>
      </p:sp>
      <p:sp>
        <p:nvSpPr>
          <p:cNvPr id="1394" name="Google Shape;1394;p24"/>
          <p:cNvSpPr/>
          <p:nvPr/>
        </p:nvSpPr>
        <p:spPr>
          <a:xfrm>
            <a:off x="1352550" y="2800350"/>
            <a:ext cx="2238375" cy="171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765"/>
              <a:buFont typeface="Arial"/>
              <a:buNone/>
            </a:pPr>
            <a:r>
              <a:rPr b="1" lang="en-US" sz="765">
                <a:solidFill>
                  <a:srgbClr val="1A1A2E"/>
                </a:solidFill>
              </a:rPr>
              <a:t>Vague comparative request</a:t>
            </a:r>
            <a:endParaRPr/>
          </a:p>
        </p:txBody>
      </p:sp>
      <p:sp>
        <p:nvSpPr>
          <p:cNvPr id="1395" name="Google Shape;1395;p24"/>
          <p:cNvSpPr/>
          <p:nvPr/>
        </p:nvSpPr>
        <p:spPr>
          <a:xfrm>
            <a:off x="1352550" y="2971800"/>
            <a:ext cx="2524125" cy="190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623"/>
              <a:buFont typeface="Arial"/>
              <a:buNone/>
            </a:pPr>
            <a:r>
              <a:rPr lang="en-US" sz="623">
                <a:solidFill>
                  <a:srgbClr val="666B70"/>
                </a:solidFill>
              </a:rPr>
              <a:t>Partial · broad FR + 4 clarification records</a:t>
            </a:r>
            <a:endParaRPr/>
          </a:p>
        </p:txBody>
      </p:sp>
      <p:sp>
        <p:nvSpPr>
          <p:cNvPr id="1396" name="Google Shape;1396;p24"/>
          <p:cNvSpPr/>
          <p:nvPr/>
        </p:nvSpPr>
        <p:spPr>
          <a:xfrm>
            <a:off x="3924300" y="2809875"/>
            <a:ext cx="1314450" cy="1143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B85042"/>
              </a:buClr>
              <a:buSzPts val="503"/>
              <a:buFont typeface="Arial"/>
              <a:buNone/>
            </a:pPr>
            <a:r>
              <a:rPr b="1" lang="en-US" sz="503">
                <a:solidFill>
                  <a:srgbClr val="B85042"/>
                </a:solidFill>
              </a:rPr>
              <a:t>EXECUTION RECEIPT</a:t>
            </a:r>
            <a:endParaRPr/>
          </a:p>
        </p:txBody>
      </p:sp>
      <p:sp>
        <p:nvSpPr>
          <p:cNvPr id="1397" name="Google Shape;1397;p24"/>
          <p:cNvSpPr/>
          <p:nvPr/>
        </p:nvSpPr>
        <p:spPr>
          <a:xfrm>
            <a:off x="3924300" y="2943225"/>
            <a:ext cx="1314450" cy="2095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533"/>
              <a:buFont typeface="Arial"/>
              <a:buNone/>
            </a:pPr>
            <a:r>
              <a:rPr b="1" lang="en-US" sz="533">
                <a:solidFill>
                  <a:srgbClr val="1A1A2E"/>
                </a:solidFill>
              </a:rPr>
              <a:t>LF 114917…4b95</a:t>
            </a:r>
            <a:endParaRPr/>
          </a:p>
        </p:txBody>
      </p:sp>
      <p:sp>
        <p:nvSpPr>
          <p:cNvPr id="1398" name="Google Shape;1398;p24"/>
          <p:cNvSpPr/>
          <p:nvPr/>
        </p:nvSpPr>
        <p:spPr>
          <a:xfrm>
            <a:off x="5305425" y="2876550"/>
            <a:ext cx="523875" cy="228600"/>
          </a:xfrm>
          <a:prstGeom prst="roundRect">
            <a:avLst>
              <a:gd fmla="val 33333" name="adj"/>
            </a:avLst>
          </a:prstGeom>
          <a:solidFill>
            <a:srgbClr val="E6F0EB"/>
          </a:solidFill>
          <a:ln cap="flat" cmpd="sng" w="9525">
            <a:solidFill>
              <a:srgbClr val="2F6F5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9" name="Google Shape;1399;p24"/>
          <p:cNvSpPr/>
          <p:nvPr/>
        </p:nvSpPr>
        <p:spPr>
          <a:xfrm>
            <a:off x="5305425" y="2905125"/>
            <a:ext cx="523875" cy="171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F6F57"/>
              </a:buClr>
              <a:buSzPts val="690"/>
              <a:buFont typeface="Arial"/>
              <a:buNone/>
            </a:pPr>
            <a:r>
              <a:rPr b="1" lang="en-US" sz="690">
                <a:solidFill>
                  <a:srgbClr val="2F6F57"/>
                </a:solidFill>
              </a:rPr>
              <a:t>PASS</a:t>
            </a:r>
            <a:endParaRPr/>
          </a:p>
        </p:txBody>
      </p:sp>
      <p:sp>
        <p:nvSpPr>
          <p:cNvPr id="1400" name="Google Shape;1400;p24"/>
          <p:cNvSpPr/>
          <p:nvPr/>
        </p:nvSpPr>
        <p:spPr>
          <a:xfrm>
            <a:off x="781050" y="3267075"/>
            <a:ext cx="5162550" cy="476250"/>
          </a:xfrm>
          <a:prstGeom prst="roundRect">
            <a:avLst>
              <a:gd fmla="val 16000" name="adj"/>
            </a:avLst>
          </a:prstGeom>
          <a:solidFill>
            <a:srgbClr val="FFFFFF"/>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01" name="Google Shape;1401;p24"/>
          <p:cNvSpPr/>
          <p:nvPr/>
        </p:nvSpPr>
        <p:spPr>
          <a:xfrm>
            <a:off x="876300" y="3362325"/>
            <a:ext cx="361950" cy="285750"/>
          </a:xfrm>
          <a:prstGeom prst="roundRect">
            <a:avLst>
              <a:gd fmla="val 26667" name="adj"/>
            </a:avLst>
          </a:prstGeom>
          <a:solidFill>
            <a:srgbClr val="E8EFF9"/>
          </a:solidFill>
          <a:ln cap="flat" cmpd="sng" w="9525">
            <a:solidFill>
              <a:srgbClr val="3B6EB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02" name="Google Shape;1402;p24"/>
          <p:cNvSpPr/>
          <p:nvPr/>
        </p:nvSpPr>
        <p:spPr>
          <a:xfrm>
            <a:off x="876300" y="3409950"/>
            <a:ext cx="361950" cy="190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3B6EBF"/>
              </a:buClr>
              <a:buSzPts val="735"/>
              <a:buFont typeface="Arial"/>
              <a:buNone/>
            </a:pPr>
            <a:r>
              <a:rPr b="1" lang="en-US" sz="735">
                <a:solidFill>
                  <a:srgbClr val="3B6EBF"/>
                </a:solidFill>
              </a:rPr>
              <a:t>T3</a:t>
            </a:r>
            <a:endParaRPr/>
          </a:p>
        </p:txBody>
      </p:sp>
      <p:sp>
        <p:nvSpPr>
          <p:cNvPr id="1403" name="Google Shape;1403;p24"/>
          <p:cNvSpPr/>
          <p:nvPr/>
        </p:nvSpPr>
        <p:spPr>
          <a:xfrm>
            <a:off x="1352550" y="3314700"/>
            <a:ext cx="2238375" cy="171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765"/>
              <a:buFont typeface="Arial"/>
              <a:buNone/>
            </a:pPr>
            <a:r>
              <a:rPr b="1" lang="en-US" sz="765">
                <a:solidFill>
                  <a:srgbClr val="1A1A2E"/>
                </a:solidFill>
              </a:rPr>
              <a:t>Contradictory refresh goals</a:t>
            </a:r>
            <a:endParaRPr/>
          </a:p>
        </p:txBody>
      </p:sp>
      <p:sp>
        <p:nvSpPr>
          <p:cNvPr id="1404" name="Google Shape;1404;p24"/>
          <p:cNvSpPr/>
          <p:nvPr/>
        </p:nvSpPr>
        <p:spPr>
          <a:xfrm>
            <a:off x="1352550" y="3486150"/>
            <a:ext cx="2524125" cy="190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623"/>
              <a:buFont typeface="Arial"/>
              <a:buNone/>
            </a:pPr>
            <a:r>
              <a:rPr lang="en-US" sz="623">
                <a:solidFill>
                  <a:srgbClr val="666B70"/>
                </a:solidFill>
              </a:rPr>
              <a:t>Partial · FR, NFR, contradiction preserved</a:t>
            </a:r>
            <a:endParaRPr/>
          </a:p>
        </p:txBody>
      </p:sp>
      <p:sp>
        <p:nvSpPr>
          <p:cNvPr id="1405" name="Google Shape;1405;p24"/>
          <p:cNvSpPr/>
          <p:nvPr/>
        </p:nvSpPr>
        <p:spPr>
          <a:xfrm>
            <a:off x="3924300" y="3324225"/>
            <a:ext cx="1314450" cy="1143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B85042"/>
              </a:buClr>
              <a:buSzPts val="503"/>
              <a:buFont typeface="Arial"/>
              <a:buNone/>
            </a:pPr>
            <a:r>
              <a:rPr b="1" lang="en-US" sz="503">
                <a:solidFill>
                  <a:srgbClr val="B85042"/>
                </a:solidFill>
              </a:rPr>
              <a:t>EXECUTION RECEIPT</a:t>
            </a:r>
            <a:endParaRPr/>
          </a:p>
        </p:txBody>
      </p:sp>
      <p:sp>
        <p:nvSpPr>
          <p:cNvPr id="1406" name="Google Shape;1406;p24"/>
          <p:cNvSpPr/>
          <p:nvPr/>
        </p:nvSpPr>
        <p:spPr>
          <a:xfrm>
            <a:off x="3924300" y="3457575"/>
            <a:ext cx="1314450" cy="2095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533"/>
              <a:buFont typeface="Arial"/>
              <a:buNone/>
            </a:pPr>
            <a:r>
              <a:rPr b="1" lang="en-US" sz="533">
                <a:solidFill>
                  <a:srgbClr val="1A1A2E"/>
                </a:solidFill>
              </a:rPr>
              <a:t>LF 1d107c…7d9d</a:t>
            </a:r>
            <a:endParaRPr/>
          </a:p>
        </p:txBody>
      </p:sp>
      <p:sp>
        <p:nvSpPr>
          <p:cNvPr id="1407" name="Google Shape;1407;p24"/>
          <p:cNvSpPr/>
          <p:nvPr/>
        </p:nvSpPr>
        <p:spPr>
          <a:xfrm>
            <a:off x="5305425" y="3390900"/>
            <a:ext cx="523875" cy="228600"/>
          </a:xfrm>
          <a:prstGeom prst="roundRect">
            <a:avLst>
              <a:gd fmla="val 33333" name="adj"/>
            </a:avLst>
          </a:prstGeom>
          <a:solidFill>
            <a:srgbClr val="E6F0EB"/>
          </a:solidFill>
          <a:ln cap="flat" cmpd="sng" w="9525">
            <a:solidFill>
              <a:srgbClr val="2F6F5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08" name="Google Shape;1408;p24"/>
          <p:cNvSpPr/>
          <p:nvPr/>
        </p:nvSpPr>
        <p:spPr>
          <a:xfrm>
            <a:off x="5305425" y="3419475"/>
            <a:ext cx="523875" cy="171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F6F57"/>
              </a:buClr>
              <a:buSzPts val="690"/>
              <a:buFont typeface="Arial"/>
              <a:buNone/>
            </a:pPr>
            <a:r>
              <a:rPr b="1" lang="en-US" sz="690">
                <a:solidFill>
                  <a:srgbClr val="2F6F57"/>
                </a:solidFill>
              </a:rPr>
              <a:t>PASS</a:t>
            </a:r>
            <a:endParaRPr/>
          </a:p>
        </p:txBody>
      </p:sp>
      <p:sp>
        <p:nvSpPr>
          <p:cNvPr id="1409" name="Google Shape;1409;p24"/>
          <p:cNvSpPr/>
          <p:nvPr/>
        </p:nvSpPr>
        <p:spPr>
          <a:xfrm>
            <a:off x="781050" y="3781425"/>
            <a:ext cx="5162550" cy="476250"/>
          </a:xfrm>
          <a:prstGeom prst="roundRect">
            <a:avLst>
              <a:gd fmla="val 16000" name="adj"/>
            </a:avLst>
          </a:prstGeom>
          <a:solidFill>
            <a:srgbClr val="FFFFFF"/>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0" name="Google Shape;1410;p24"/>
          <p:cNvSpPr/>
          <p:nvPr/>
        </p:nvSpPr>
        <p:spPr>
          <a:xfrm>
            <a:off x="876300" y="3876675"/>
            <a:ext cx="361950" cy="285750"/>
          </a:xfrm>
          <a:prstGeom prst="roundRect">
            <a:avLst>
              <a:gd fmla="val 26667" name="adj"/>
            </a:avLst>
          </a:prstGeom>
          <a:solidFill>
            <a:srgbClr val="E8EFF9"/>
          </a:solidFill>
          <a:ln cap="flat" cmpd="sng" w="9525">
            <a:solidFill>
              <a:srgbClr val="3B6EB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1" name="Google Shape;1411;p24"/>
          <p:cNvSpPr/>
          <p:nvPr/>
        </p:nvSpPr>
        <p:spPr>
          <a:xfrm>
            <a:off x="876300" y="3924300"/>
            <a:ext cx="361950" cy="190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3B6EBF"/>
              </a:buClr>
              <a:buSzPts val="735"/>
              <a:buFont typeface="Arial"/>
              <a:buNone/>
            </a:pPr>
            <a:r>
              <a:rPr b="1" lang="en-US" sz="735">
                <a:solidFill>
                  <a:srgbClr val="3B6EBF"/>
                </a:solidFill>
              </a:rPr>
              <a:t>T4</a:t>
            </a:r>
            <a:endParaRPr/>
          </a:p>
        </p:txBody>
      </p:sp>
      <p:sp>
        <p:nvSpPr>
          <p:cNvPr id="1412" name="Google Shape;1412;p24"/>
          <p:cNvSpPr/>
          <p:nvPr/>
        </p:nvSpPr>
        <p:spPr>
          <a:xfrm>
            <a:off x="1352550" y="3829050"/>
            <a:ext cx="2238375" cy="171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765"/>
              <a:buFont typeface="Arial"/>
              <a:buNone/>
            </a:pPr>
            <a:r>
              <a:rPr b="1" lang="en-US" sz="765">
                <a:solidFill>
                  <a:srgbClr val="1A1A2E"/>
                </a:solidFill>
              </a:rPr>
              <a:t>Export acceptance criteria</a:t>
            </a:r>
            <a:endParaRPr/>
          </a:p>
        </p:txBody>
      </p:sp>
      <p:sp>
        <p:nvSpPr>
          <p:cNvPr id="1413" name="Google Shape;1413;p24"/>
          <p:cNvSpPr/>
          <p:nvPr/>
        </p:nvSpPr>
        <p:spPr>
          <a:xfrm>
            <a:off x="1352550" y="4000500"/>
            <a:ext cx="2524125" cy="190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623"/>
              <a:buFont typeface="Arial"/>
              <a:buNone/>
            </a:pPr>
            <a:r>
              <a:rPr lang="en-US" sz="623">
                <a:solidFill>
                  <a:srgbClr val="666B70"/>
                </a:solidFill>
              </a:rPr>
              <a:t>Complete · 1 FR + 2 testable criteria</a:t>
            </a:r>
            <a:endParaRPr/>
          </a:p>
        </p:txBody>
      </p:sp>
      <p:sp>
        <p:nvSpPr>
          <p:cNvPr id="1414" name="Google Shape;1414;p24"/>
          <p:cNvSpPr/>
          <p:nvPr/>
        </p:nvSpPr>
        <p:spPr>
          <a:xfrm>
            <a:off x="3924300" y="3838575"/>
            <a:ext cx="1314450" cy="1143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B85042"/>
              </a:buClr>
              <a:buSzPts val="503"/>
              <a:buFont typeface="Arial"/>
              <a:buNone/>
            </a:pPr>
            <a:r>
              <a:rPr b="1" lang="en-US" sz="503">
                <a:solidFill>
                  <a:srgbClr val="B85042"/>
                </a:solidFill>
              </a:rPr>
              <a:t>EXECUTION RECEIPT</a:t>
            </a:r>
            <a:endParaRPr/>
          </a:p>
        </p:txBody>
      </p:sp>
      <p:sp>
        <p:nvSpPr>
          <p:cNvPr id="1415" name="Google Shape;1415;p24"/>
          <p:cNvSpPr/>
          <p:nvPr/>
        </p:nvSpPr>
        <p:spPr>
          <a:xfrm>
            <a:off x="3924300" y="3971925"/>
            <a:ext cx="1314450" cy="2095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533"/>
              <a:buFont typeface="Arial"/>
              <a:buNone/>
            </a:pPr>
            <a:r>
              <a:rPr b="1" lang="en-US" sz="533">
                <a:solidFill>
                  <a:srgbClr val="1A1A2E"/>
                </a:solidFill>
              </a:rPr>
              <a:t>LF 119cf3…0901</a:t>
            </a:r>
            <a:endParaRPr/>
          </a:p>
        </p:txBody>
      </p:sp>
      <p:sp>
        <p:nvSpPr>
          <p:cNvPr id="1416" name="Google Shape;1416;p24"/>
          <p:cNvSpPr/>
          <p:nvPr/>
        </p:nvSpPr>
        <p:spPr>
          <a:xfrm>
            <a:off x="5305425" y="3905250"/>
            <a:ext cx="523875" cy="228600"/>
          </a:xfrm>
          <a:prstGeom prst="roundRect">
            <a:avLst>
              <a:gd fmla="val 33333" name="adj"/>
            </a:avLst>
          </a:prstGeom>
          <a:solidFill>
            <a:srgbClr val="E6F0EB"/>
          </a:solidFill>
          <a:ln cap="flat" cmpd="sng" w="9525">
            <a:solidFill>
              <a:srgbClr val="2F6F5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7" name="Google Shape;1417;p24"/>
          <p:cNvSpPr/>
          <p:nvPr/>
        </p:nvSpPr>
        <p:spPr>
          <a:xfrm>
            <a:off x="5305425" y="3933825"/>
            <a:ext cx="523875" cy="171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F6F57"/>
              </a:buClr>
              <a:buSzPts val="690"/>
              <a:buFont typeface="Arial"/>
              <a:buNone/>
            </a:pPr>
            <a:r>
              <a:rPr b="1" lang="en-US" sz="690">
                <a:solidFill>
                  <a:srgbClr val="2F6F57"/>
                </a:solidFill>
              </a:rPr>
              <a:t>PASS</a:t>
            </a:r>
            <a:endParaRPr/>
          </a:p>
        </p:txBody>
      </p:sp>
      <p:sp>
        <p:nvSpPr>
          <p:cNvPr id="1418" name="Google Shape;1418;p24"/>
          <p:cNvSpPr/>
          <p:nvPr/>
        </p:nvSpPr>
        <p:spPr>
          <a:xfrm>
            <a:off x="781050" y="4295775"/>
            <a:ext cx="5162550" cy="476250"/>
          </a:xfrm>
          <a:prstGeom prst="roundRect">
            <a:avLst>
              <a:gd fmla="val 16000" name="adj"/>
            </a:avLst>
          </a:prstGeom>
          <a:solidFill>
            <a:srgbClr val="FFFFFF"/>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9" name="Google Shape;1419;p24"/>
          <p:cNvSpPr/>
          <p:nvPr/>
        </p:nvSpPr>
        <p:spPr>
          <a:xfrm>
            <a:off x="876300" y="4391025"/>
            <a:ext cx="361950" cy="285750"/>
          </a:xfrm>
          <a:prstGeom prst="roundRect">
            <a:avLst>
              <a:gd fmla="val 26667" name="adj"/>
            </a:avLst>
          </a:prstGeom>
          <a:solidFill>
            <a:srgbClr val="E8EFF9"/>
          </a:solidFill>
          <a:ln cap="flat" cmpd="sng" w="9525">
            <a:solidFill>
              <a:srgbClr val="3B6EB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0" name="Google Shape;1420;p24"/>
          <p:cNvSpPr/>
          <p:nvPr/>
        </p:nvSpPr>
        <p:spPr>
          <a:xfrm>
            <a:off x="876300" y="4438650"/>
            <a:ext cx="361950" cy="190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3B6EBF"/>
              </a:buClr>
              <a:buSzPts val="735"/>
              <a:buFont typeface="Arial"/>
              <a:buNone/>
            </a:pPr>
            <a:r>
              <a:rPr b="1" lang="en-US" sz="735">
                <a:solidFill>
                  <a:srgbClr val="3B6EBF"/>
                </a:solidFill>
              </a:rPr>
              <a:t>T5</a:t>
            </a:r>
            <a:endParaRPr/>
          </a:p>
        </p:txBody>
      </p:sp>
      <p:sp>
        <p:nvSpPr>
          <p:cNvPr id="1421" name="Google Shape;1421;p24"/>
          <p:cNvSpPr/>
          <p:nvPr/>
        </p:nvSpPr>
        <p:spPr>
          <a:xfrm>
            <a:off x="1352550" y="4343400"/>
            <a:ext cx="2238375" cy="171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765"/>
              <a:buFont typeface="Arial"/>
              <a:buNone/>
            </a:pPr>
            <a:r>
              <a:rPr b="1" lang="en-US" sz="765">
                <a:solidFill>
                  <a:srgbClr val="1A1A2E"/>
                </a:solidFill>
              </a:rPr>
              <a:t>Fragmentary uncertain notes</a:t>
            </a:r>
            <a:endParaRPr/>
          </a:p>
        </p:txBody>
      </p:sp>
      <p:sp>
        <p:nvSpPr>
          <p:cNvPr id="1422" name="Google Shape;1422;p24"/>
          <p:cNvSpPr/>
          <p:nvPr/>
        </p:nvSpPr>
        <p:spPr>
          <a:xfrm>
            <a:off x="1352550" y="4514850"/>
            <a:ext cx="2524125" cy="190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623"/>
              <a:buFont typeface="Arial"/>
              <a:buNone/>
            </a:pPr>
            <a:r>
              <a:rPr lang="en-US" sz="623">
                <a:solidFill>
                  <a:srgbClr val="666B70"/>
                </a:solidFill>
              </a:rPr>
              <a:t>Partial · no invention + 3 clarifications</a:t>
            </a:r>
            <a:endParaRPr/>
          </a:p>
        </p:txBody>
      </p:sp>
      <p:sp>
        <p:nvSpPr>
          <p:cNvPr id="1423" name="Google Shape;1423;p24"/>
          <p:cNvSpPr/>
          <p:nvPr/>
        </p:nvSpPr>
        <p:spPr>
          <a:xfrm>
            <a:off x="3924300" y="4352925"/>
            <a:ext cx="1314450" cy="1143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B85042"/>
              </a:buClr>
              <a:buSzPts val="503"/>
              <a:buFont typeface="Arial"/>
              <a:buNone/>
            </a:pPr>
            <a:r>
              <a:rPr b="1" lang="en-US" sz="503">
                <a:solidFill>
                  <a:srgbClr val="B85042"/>
                </a:solidFill>
              </a:rPr>
              <a:t>EXECUTION RECEIPT</a:t>
            </a:r>
            <a:endParaRPr/>
          </a:p>
        </p:txBody>
      </p:sp>
      <p:sp>
        <p:nvSpPr>
          <p:cNvPr id="1424" name="Google Shape;1424;p24"/>
          <p:cNvSpPr/>
          <p:nvPr/>
        </p:nvSpPr>
        <p:spPr>
          <a:xfrm>
            <a:off x="3924300" y="4486275"/>
            <a:ext cx="1314450" cy="2095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533"/>
              <a:buFont typeface="Arial"/>
              <a:buNone/>
            </a:pPr>
            <a:r>
              <a:rPr b="1" lang="en-US" sz="533">
                <a:solidFill>
                  <a:srgbClr val="1A1A2E"/>
                </a:solidFill>
              </a:rPr>
              <a:t>LF e6fd72…38e1</a:t>
            </a:r>
            <a:endParaRPr/>
          </a:p>
        </p:txBody>
      </p:sp>
      <p:sp>
        <p:nvSpPr>
          <p:cNvPr id="1425" name="Google Shape;1425;p24"/>
          <p:cNvSpPr/>
          <p:nvPr/>
        </p:nvSpPr>
        <p:spPr>
          <a:xfrm>
            <a:off x="5305425" y="4419600"/>
            <a:ext cx="523875" cy="228600"/>
          </a:xfrm>
          <a:prstGeom prst="roundRect">
            <a:avLst>
              <a:gd fmla="val 33333" name="adj"/>
            </a:avLst>
          </a:prstGeom>
          <a:solidFill>
            <a:srgbClr val="E6F0EB"/>
          </a:solidFill>
          <a:ln cap="flat" cmpd="sng" w="9525">
            <a:solidFill>
              <a:srgbClr val="2F6F5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6" name="Google Shape;1426;p24"/>
          <p:cNvSpPr/>
          <p:nvPr/>
        </p:nvSpPr>
        <p:spPr>
          <a:xfrm>
            <a:off x="5305425" y="4448175"/>
            <a:ext cx="523875" cy="171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F6F57"/>
              </a:buClr>
              <a:buSzPts val="690"/>
              <a:buFont typeface="Arial"/>
              <a:buNone/>
            </a:pPr>
            <a:r>
              <a:rPr b="1" lang="en-US" sz="690">
                <a:solidFill>
                  <a:srgbClr val="2F6F57"/>
                </a:solidFill>
              </a:rPr>
              <a:t>PASS</a:t>
            </a:r>
            <a:endParaRPr/>
          </a:p>
        </p:txBody>
      </p:sp>
      <p:sp>
        <p:nvSpPr>
          <p:cNvPr id="1427" name="Google Shape;1427;p24"/>
          <p:cNvSpPr/>
          <p:nvPr/>
        </p:nvSpPr>
        <p:spPr>
          <a:xfrm>
            <a:off x="781050" y="4810125"/>
            <a:ext cx="5162550" cy="476250"/>
          </a:xfrm>
          <a:prstGeom prst="roundRect">
            <a:avLst>
              <a:gd fmla="val 16000" name="adj"/>
            </a:avLst>
          </a:prstGeom>
          <a:solidFill>
            <a:srgbClr val="FFFFFF"/>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8" name="Google Shape;1428;p24"/>
          <p:cNvSpPr/>
          <p:nvPr/>
        </p:nvSpPr>
        <p:spPr>
          <a:xfrm>
            <a:off x="876300" y="4905375"/>
            <a:ext cx="361950" cy="285750"/>
          </a:xfrm>
          <a:prstGeom prst="roundRect">
            <a:avLst>
              <a:gd fmla="val 26667" name="adj"/>
            </a:avLst>
          </a:prstGeom>
          <a:solidFill>
            <a:srgbClr val="E8EFF9"/>
          </a:solidFill>
          <a:ln cap="flat" cmpd="sng" w="9525">
            <a:solidFill>
              <a:srgbClr val="3B6EB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9" name="Google Shape;1429;p24"/>
          <p:cNvSpPr/>
          <p:nvPr/>
        </p:nvSpPr>
        <p:spPr>
          <a:xfrm>
            <a:off x="876300" y="4953000"/>
            <a:ext cx="361950" cy="190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3B6EBF"/>
              </a:buClr>
              <a:buSzPts val="735"/>
              <a:buFont typeface="Arial"/>
              <a:buNone/>
            </a:pPr>
            <a:r>
              <a:rPr b="1" lang="en-US" sz="735">
                <a:solidFill>
                  <a:srgbClr val="3B6EBF"/>
                </a:solidFill>
              </a:rPr>
              <a:t>T6</a:t>
            </a:r>
            <a:endParaRPr/>
          </a:p>
        </p:txBody>
      </p:sp>
      <p:sp>
        <p:nvSpPr>
          <p:cNvPr id="1430" name="Google Shape;1430;p24"/>
          <p:cNvSpPr/>
          <p:nvPr/>
        </p:nvSpPr>
        <p:spPr>
          <a:xfrm>
            <a:off x="1352550" y="4857750"/>
            <a:ext cx="2238375" cy="171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765"/>
              <a:buFont typeface="Arial"/>
              <a:buNone/>
            </a:pPr>
            <a:r>
              <a:rPr b="1" lang="en-US" sz="765">
                <a:solidFill>
                  <a:srgbClr val="1A1A2E"/>
                </a:solidFill>
              </a:rPr>
              <a:t>Conflicting technical direction</a:t>
            </a:r>
            <a:endParaRPr/>
          </a:p>
        </p:txBody>
      </p:sp>
      <p:sp>
        <p:nvSpPr>
          <p:cNvPr id="1431" name="Google Shape;1431;p24"/>
          <p:cNvSpPr/>
          <p:nvPr/>
        </p:nvSpPr>
        <p:spPr>
          <a:xfrm>
            <a:off x="1352550" y="5029200"/>
            <a:ext cx="2524125" cy="190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623"/>
              <a:buFont typeface="Arial"/>
              <a:buNone/>
            </a:pPr>
            <a:r>
              <a:rPr lang="en-US" sz="623">
                <a:solidFill>
                  <a:srgbClr val="666B70"/>
                </a:solidFill>
              </a:rPr>
              <a:t>Partial · 2 constraints, deadline, contradiction</a:t>
            </a:r>
            <a:endParaRPr/>
          </a:p>
        </p:txBody>
      </p:sp>
      <p:sp>
        <p:nvSpPr>
          <p:cNvPr id="1432" name="Google Shape;1432;p24"/>
          <p:cNvSpPr/>
          <p:nvPr/>
        </p:nvSpPr>
        <p:spPr>
          <a:xfrm>
            <a:off x="3924300" y="4867275"/>
            <a:ext cx="1314450" cy="1143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B85042"/>
              </a:buClr>
              <a:buSzPts val="503"/>
              <a:buFont typeface="Arial"/>
              <a:buNone/>
            </a:pPr>
            <a:r>
              <a:rPr b="1" lang="en-US" sz="503">
                <a:solidFill>
                  <a:srgbClr val="B85042"/>
                </a:solidFill>
              </a:rPr>
              <a:t>EXECUTION RECEIPT</a:t>
            </a:r>
            <a:endParaRPr/>
          </a:p>
        </p:txBody>
      </p:sp>
      <p:sp>
        <p:nvSpPr>
          <p:cNvPr id="1433" name="Google Shape;1433;p24"/>
          <p:cNvSpPr/>
          <p:nvPr/>
        </p:nvSpPr>
        <p:spPr>
          <a:xfrm>
            <a:off x="3924300" y="5000625"/>
            <a:ext cx="1314450" cy="2095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533"/>
              <a:buFont typeface="Arial"/>
              <a:buNone/>
            </a:pPr>
            <a:r>
              <a:rPr b="1" lang="en-US" sz="533">
                <a:solidFill>
                  <a:srgbClr val="1A1A2E"/>
                </a:solidFill>
              </a:rPr>
              <a:t>LF 4df943…f4d7</a:t>
            </a:r>
            <a:endParaRPr/>
          </a:p>
        </p:txBody>
      </p:sp>
      <p:sp>
        <p:nvSpPr>
          <p:cNvPr id="1434" name="Google Shape;1434;p24"/>
          <p:cNvSpPr/>
          <p:nvPr/>
        </p:nvSpPr>
        <p:spPr>
          <a:xfrm>
            <a:off x="5305425" y="4933950"/>
            <a:ext cx="523875" cy="228600"/>
          </a:xfrm>
          <a:prstGeom prst="roundRect">
            <a:avLst>
              <a:gd fmla="val 33333" name="adj"/>
            </a:avLst>
          </a:prstGeom>
          <a:solidFill>
            <a:srgbClr val="E6F0EB"/>
          </a:solidFill>
          <a:ln cap="flat" cmpd="sng" w="9525">
            <a:solidFill>
              <a:srgbClr val="2F6F5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5" name="Google Shape;1435;p24"/>
          <p:cNvSpPr/>
          <p:nvPr/>
        </p:nvSpPr>
        <p:spPr>
          <a:xfrm>
            <a:off x="5305425" y="4962525"/>
            <a:ext cx="523875" cy="171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F6F57"/>
              </a:buClr>
              <a:buSzPts val="690"/>
              <a:buFont typeface="Arial"/>
              <a:buNone/>
            </a:pPr>
            <a:r>
              <a:rPr b="1" lang="en-US" sz="690">
                <a:solidFill>
                  <a:srgbClr val="2F6F57"/>
                </a:solidFill>
              </a:rPr>
              <a:t>PASS</a:t>
            </a:r>
            <a:endParaRPr/>
          </a:p>
        </p:txBody>
      </p:sp>
      <p:sp>
        <p:nvSpPr>
          <p:cNvPr id="1436" name="Google Shape;1436;p24"/>
          <p:cNvSpPr/>
          <p:nvPr/>
        </p:nvSpPr>
        <p:spPr>
          <a:xfrm>
            <a:off x="6248400" y="2238375"/>
            <a:ext cx="5162550" cy="476250"/>
          </a:xfrm>
          <a:prstGeom prst="roundRect">
            <a:avLst>
              <a:gd fmla="val 16000" name="adj"/>
            </a:avLst>
          </a:prstGeom>
          <a:solidFill>
            <a:srgbClr val="FFFFFF"/>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7" name="Google Shape;1437;p24"/>
          <p:cNvSpPr/>
          <p:nvPr/>
        </p:nvSpPr>
        <p:spPr>
          <a:xfrm>
            <a:off x="6343650" y="2333625"/>
            <a:ext cx="361950" cy="285750"/>
          </a:xfrm>
          <a:prstGeom prst="roundRect">
            <a:avLst>
              <a:gd fmla="val 26667" name="adj"/>
            </a:avLst>
          </a:prstGeom>
          <a:solidFill>
            <a:srgbClr val="E6F0EB"/>
          </a:solidFill>
          <a:ln cap="flat" cmpd="sng" w="9525">
            <a:solidFill>
              <a:srgbClr val="2F6F5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8" name="Google Shape;1438;p24"/>
          <p:cNvSpPr/>
          <p:nvPr/>
        </p:nvSpPr>
        <p:spPr>
          <a:xfrm>
            <a:off x="6343650" y="2381250"/>
            <a:ext cx="361950" cy="190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F6F57"/>
              </a:buClr>
              <a:buSzPts val="735"/>
              <a:buFont typeface="Arial"/>
              <a:buNone/>
            </a:pPr>
            <a:r>
              <a:rPr b="1" lang="en-US" sz="735">
                <a:solidFill>
                  <a:srgbClr val="2F6F57"/>
                </a:solidFill>
              </a:rPr>
              <a:t>T7</a:t>
            </a:r>
            <a:endParaRPr/>
          </a:p>
        </p:txBody>
      </p:sp>
      <p:sp>
        <p:nvSpPr>
          <p:cNvPr id="1439" name="Google Shape;1439;p24"/>
          <p:cNvSpPr/>
          <p:nvPr/>
        </p:nvSpPr>
        <p:spPr>
          <a:xfrm>
            <a:off x="6819900" y="2286000"/>
            <a:ext cx="2238375" cy="171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765"/>
              <a:buFont typeface="Arial"/>
              <a:buNone/>
            </a:pPr>
            <a:r>
              <a:rPr b="1" lang="en-US" sz="765">
                <a:solidFill>
                  <a:srgbClr val="1A1A2E"/>
                </a:solidFill>
              </a:rPr>
              <a:t>Exact technical metrics</a:t>
            </a:r>
            <a:endParaRPr/>
          </a:p>
        </p:txBody>
      </p:sp>
      <p:sp>
        <p:nvSpPr>
          <p:cNvPr id="1440" name="Google Shape;1440;p24"/>
          <p:cNvSpPr/>
          <p:nvPr/>
        </p:nvSpPr>
        <p:spPr>
          <a:xfrm>
            <a:off x="6819900" y="2457450"/>
            <a:ext cx="2524125" cy="190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623"/>
              <a:buFont typeface="Arial"/>
              <a:buNone/>
            </a:pPr>
            <a:r>
              <a:rPr lang="en-US" sz="623">
                <a:solidFill>
                  <a:srgbClr val="666B70"/>
                </a:solidFill>
              </a:rPr>
              <a:t>Complete · 3 exact-value NFRs preserved</a:t>
            </a:r>
            <a:endParaRPr/>
          </a:p>
        </p:txBody>
      </p:sp>
      <p:sp>
        <p:nvSpPr>
          <p:cNvPr id="1441" name="Google Shape;1441;p24"/>
          <p:cNvSpPr/>
          <p:nvPr/>
        </p:nvSpPr>
        <p:spPr>
          <a:xfrm>
            <a:off x="9391650" y="2295525"/>
            <a:ext cx="1314450" cy="1143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B85042"/>
              </a:buClr>
              <a:buSzPts val="503"/>
              <a:buFont typeface="Arial"/>
              <a:buNone/>
            </a:pPr>
            <a:r>
              <a:rPr b="1" lang="en-US" sz="503">
                <a:solidFill>
                  <a:srgbClr val="B85042"/>
                </a:solidFill>
              </a:rPr>
              <a:t>EXECUTION RECEIPT</a:t>
            </a:r>
            <a:endParaRPr/>
          </a:p>
        </p:txBody>
      </p:sp>
      <p:sp>
        <p:nvSpPr>
          <p:cNvPr id="1442" name="Google Shape;1442;p24"/>
          <p:cNvSpPr/>
          <p:nvPr/>
        </p:nvSpPr>
        <p:spPr>
          <a:xfrm>
            <a:off x="9391650" y="2428875"/>
            <a:ext cx="1314450" cy="2095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533"/>
              <a:buFont typeface="Arial"/>
              <a:buNone/>
            </a:pPr>
            <a:r>
              <a:rPr b="1" lang="en-US" sz="533">
                <a:solidFill>
                  <a:srgbClr val="1A1A2E"/>
                </a:solidFill>
              </a:rPr>
              <a:t>LF f1f4b6…f56f</a:t>
            </a:r>
            <a:endParaRPr/>
          </a:p>
        </p:txBody>
      </p:sp>
      <p:sp>
        <p:nvSpPr>
          <p:cNvPr id="1443" name="Google Shape;1443;p24"/>
          <p:cNvSpPr/>
          <p:nvPr/>
        </p:nvSpPr>
        <p:spPr>
          <a:xfrm>
            <a:off x="10772775" y="2362200"/>
            <a:ext cx="523875" cy="228600"/>
          </a:xfrm>
          <a:prstGeom prst="roundRect">
            <a:avLst>
              <a:gd fmla="val 33333" name="adj"/>
            </a:avLst>
          </a:prstGeom>
          <a:solidFill>
            <a:srgbClr val="E6F0EB"/>
          </a:solidFill>
          <a:ln cap="flat" cmpd="sng" w="9525">
            <a:solidFill>
              <a:srgbClr val="2F6F5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4" name="Google Shape;1444;p24"/>
          <p:cNvSpPr/>
          <p:nvPr/>
        </p:nvSpPr>
        <p:spPr>
          <a:xfrm>
            <a:off x="10772775" y="2390775"/>
            <a:ext cx="523875" cy="171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F6F57"/>
              </a:buClr>
              <a:buSzPts val="690"/>
              <a:buFont typeface="Arial"/>
              <a:buNone/>
            </a:pPr>
            <a:r>
              <a:rPr b="1" lang="en-US" sz="690">
                <a:solidFill>
                  <a:srgbClr val="2F6F57"/>
                </a:solidFill>
              </a:rPr>
              <a:t>PASS</a:t>
            </a:r>
            <a:endParaRPr/>
          </a:p>
        </p:txBody>
      </p:sp>
      <p:sp>
        <p:nvSpPr>
          <p:cNvPr id="1445" name="Google Shape;1445;p24"/>
          <p:cNvSpPr/>
          <p:nvPr/>
        </p:nvSpPr>
        <p:spPr>
          <a:xfrm>
            <a:off x="6248400" y="2752725"/>
            <a:ext cx="5162550" cy="476250"/>
          </a:xfrm>
          <a:prstGeom prst="roundRect">
            <a:avLst>
              <a:gd fmla="val 16000" name="adj"/>
            </a:avLst>
          </a:prstGeom>
          <a:solidFill>
            <a:srgbClr val="FFFFFF"/>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6" name="Google Shape;1446;p24"/>
          <p:cNvSpPr/>
          <p:nvPr/>
        </p:nvSpPr>
        <p:spPr>
          <a:xfrm>
            <a:off x="6343650" y="2847975"/>
            <a:ext cx="361950" cy="285750"/>
          </a:xfrm>
          <a:prstGeom prst="roundRect">
            <a:avLst>
              <a:gd fmla="val 26667" name="adj"/>
            </a:avLst>
          </a:prstGeom>
          <a:solidFill>
            <a:srgbClr val="E6F0EB"/>
          </a:solidFill>
          <a:ln cap="flat" cmpd="sng" w="9525">
            <a:solidFill>
              <a:srgbClr val="2F6F5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7" name="Google Shape;1447;p24"/>
          <p:cNvSpPr/>
          <p:nvPr/>
        </p:nvSpPr>
        <p:spPr>
          <a:xfrm>
            <a:off x="6343650" y="2895600"/>
            <a:ext cx="361950" cy="190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F6F57"/>
              </a:buClr>
              <a:buSzPts val="735"/>
              <a:buFont typeface="Arial"/>
              <a:buNone/>
            </a:pPr>
            <a:r>
              <a:rPr b="1" lang="en-US" sz="735">
                <a:solidFill>
                  <a:srgbClr val="2F6F57"/>
                </a:solidFill>
              </a:rPr>
              <a:t>T8</a:t>
            </a:r>
            <a:endParaRPr/>
          </a:p>
        </p:txBody>
      </p:sp>
      <p:sp>
        <p:nvSpPr>
          <p:cNvPr id="1448" name="Google Shape;1448;p24"/>
          <p:cNvSpPr/>
          <p:nvPr/>
        </p:nvSpPr>
        <p:spPr>
          <a:xfrm>
            <a:off x="6819900" y="2800350"/>
            <a:ext cx="2238375" cy="171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765"/>
              <a:buFont typeface="Arial"/>
              <a:buNone/>
            </a:pPr>
            <a:r>
              <a:rPr b="1" lang="en-US" sz="765">
                <a:solidFill>
                  <a:srgbClr val="1A1A2E"/>
                </a:solidFill>
              </a:rPr>
              <a:t>Personas and permissions</a:t>
            </a:r>
            <a:endParaRPr/>
          </a:p>
        </p:txBody>
      </p:sp>
      <p:sp>
        <p:nvSpPr>
          <p:cNvPr id="1449" name="Google Shape;1449;p24"/>
          <p:cNvSpPr/>
          <p:nvPr/>
        </p:nvSpPr>
        <p:spPr>
          <a:xfrm>
            <a:off x="6819900" y="2971800"/>
            <a:ext cx="2524125" cy="190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623"/>
              <a:buFont typeface="Arial"/>
              <a:buNone/>
            </a:pPr>
            <a:r>
              <a:rPr lang="en-US" sz="623">
                <a:solidFill>
                  <a:srgbClr val="666B70"/>
                </a:solidFill>
              </a:rPr>
              <a:t>Complete · 3 personas + 3 matched FRs</a:t>
            </a:r>
            <a:endParaRPr/>
          </a:p>
        </p:txBody>
      </p:sp>
      <p:sp>
        <p:nvSpPr>
          <p:cNvPr id="1450" name="Google Shape;1450;p24"/>
          <p:cNvSpPr/>
          <p:nvPr/>
        </p:nvSpPr>
        <p:spPr>
          <a:xfrm>
            <a:off x="9391650" y="2809875"/>
            <a:ext cx="1314450" cy="1143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B85042"/>
              </a:buClr>
              <a:buSzPts val="503"/>
              <a:buFont typeface="Arial"/>
              <a:buNone/>
            </a:pPr>
            <a:r>
              <a:rPr b="1" lang="en-US" sz="503">
                <a:solidFill>
                  <a:srgbClr val="B85042"/>
                </a:solidFill>
              </a:rPr>
              <a:t>EXECUTION RECEIPT</a:t>
            </a:r>
            <a:endParaRPr/>
          </a:p>
        </p:txBody>
      </p:sp>
      <p:sp>
        <p:nvSpPr>
          <p:cNvPr id="1451" name="Google Shape;1451;p24"/>
          <p:cNvSpPr/>
          <p:nvPr/>
        </p:nvSpPr>
        <p:spPr>
          <a:xfrm>
            <a:off x="9391650" y="2943225"/>
            <a:ext cx="1314450" cy="2095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533"/>
              <a:buFont typeface="Arial"/>
              <a:buNone/>
            </a:pPr>
            <a:r>
              <a:rPr b="1" lang="en-US" sz="533">
                <a:solidFill>
                  <a:srgbClr val="1A1A2E"/>
                </a:solidFill>
              </a:rPr>
              <a:t>LF 29a078…ab6e</a:t>
            </a:r>
            <a:endParaRPr/>
          </a:p>
        </p:txBody>
      </p:sp>
      <p:sp>
        <p:nvSpPr>
          <p:cNvPr id="1452" name="Google Shape;1452;p24"/>
          <p:cNvSpPr/>
          <p:nvPr/>
        </p:nvSpPr>
        <p:spPr>
          <a:xfrm>
            <a:off x="10772775" y="2876550"/>
            <a:ext cx="523875" cy="228600"/>
          </a:xfrm>
          <a:prstGeom prst="roundRect">
            <a:avLst>
              <a:gd fmla="val 33333" name="adj"/>
            </a:avLst>
          </a:prstGeom>
          <a:solidFill>
            <a:srgbClr val="E6F0EB"/>
          </a:solidFill>
          <a:ln cap="flat" cmpd="sng" w="9525">
            <a:solidFill>
              <a:srgbClr val="2F6F5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3" name="Google Shape;1453;p24"/>
          <p:cNvSpPr/>
          <p:nvPr/>
        </p:nvSpPr>
        <p:spPr>
          <a:xfrm>
            <a:off x="10772775" y="2905125"/>
            <a:ext cx="523875" cy="171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F6F57"/>
              </a:buClr>
              <a:buSzPts val="690"/>
              <a:buFont typeface="Arial"/>
              <a:buNone/>
            </a:pPr>
            <a:r>
              <a:rPr b="1" lang="en-US" sz="690">
                <a:solidFill>
                  <a:srgbClr val="2F6F57"/>
                </a:solidFill>
              </a:rPr>
              <a:t>PASS</a:t>
            </a:r>
            <a:endParaRPr/>
          </a:p>
        </p:txBody>
      </p:sp>
      <p:sp>
        <p:nvSpPr>
          <p:cNvPr id="1454" name="Google Shape;1454;p24"/>
          <p:cNvSpPr/>
          <p:nvPr/>
        </p:nvSpPr>
        <p:spPr>
          <a:xfrm>
            <a:off x="6248400" y="3267075"/>
            <a:ext cx="5162550" cy="476250"/>
          </a:xfrm>
          <a:prstGeom prst="roundRect">
            <a:avLst>
              <a:gd fmla="val 16000" name="adj"/>
            </a:avLst>
          </a:prstGeom>
          <a:solidFill>
            <a:srgbClr val="FFFFFF"/>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5" name="Google Shape;1455;p24"/>
          <p:cNvSpPr/>
          <p:nvPr/>
        </p:nvSpPr>
        <p:spPr>
          <a:xfrm>
            <a:off x="6343650" y="3362325"/>
            <a:ext cx="361950" cy="285750"/>
          </a:xfrm>
          <a:prstGeom prst="roundRect">
            <a:avLst>
              <a:gd fmla="val 26667" name="adj"/>
            </a:avLst>
          </a:prstGeom>
          <a:solidFill>
            <a:srgbClr val="E6F0EB"/>
          </a:solidFill>
          <a:ln cap="flat" cmpd="sng" w="9525">
            <a:solidFill>
              <a:srgbClr val="2F6F5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6" name="Google Shape;1456;p24"/>
          <p:cNvSpPr/>
          <p:nvPr/>
        </p:nvSpPr>
        <p:spPr>
          <a:xfrm>
            <a:off x="6343650" y="3409950"/>
            <a:ext cx="361950" cy="190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F6F57"/>
              </a:buClr>
              <a:buSzPts val="735"/>
              <a:buFont typeface="Arial"/>
              <a:buNone/>
            </a:pPr>
            <a:r>
              <a:rPr b="1" lang="en-US" sz="735">
                <a:solidFill>
                  <a:srgbClr val="2F6F57"/>
                </a:solidFill>
              </a:rPr>
              <a:t>T9</a:t>
            </a:r>
            <a:endParaRPr/>
          </a:p>
        </p:txBody>
      </p:sp>
      <p:sp>
        <p:nvSpPr>
          <p:cNvPr id="1457" name="Google Shape;1457;p24"/>
          <p:cNvSpPr/>
          <p:nvPr/>
        </p:nvSpPr>
        <p:spPr>
          <a:xfrm>
            <a:off x="6819900" y="3314700"/>
            <a:ext cx="2238375" cy="171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765"/>
              <a:buFont typeface="Arial"/>
              <a:buNone/>
            </a:pPr>
            <a:r>
              <a:rPr b="1" lang="en-US" sz="765">
                <a:solidFill>
                  <a:srgbClr val="1A1A2E"/>
                </a:solidFill>
              </a:rPr>
              <a:t>Empty meeting notes</a:t>
            </a:r>
            <a:endParaRPr/>
          </a:p>
        </p:txBody>
      </p:sp>
      <p:sp>
        <p:nvSpPr>
          <p:cNvPr id="1458" name="Google Shape;1458;p24"/>
          <p:cNvSpPr/>
          <p:nvPr/>
        </p:nvSpPr>
        <p:spPr>
          <a:xfrm>
            <a:off x="6819900" y="3486150"/>
            <a:ext cx="2524125" cy="190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623"/>
              <a:buFont typeface="Arial"/>
              <a:buNone/>
            </a:pPr>
            <a:r>
              <a:rPr lang="en-US" sz="623">
                <a:solidFill>
                  <a:srgbClr val="666B70"/>
                </a:solidFill>
              </a:rPr>
              <a:t>No requirements · generation correctly refused</a:t>
            </a:r>
            <a:endParaRPr/>
          </a:p>
        </p:txBody>
      </p:sp>
      <p:sp>
        <p:nvSpPr>
          <p:cNvPr id="1459" name="Google Shape;1459;p24"/>
          <p:cNvSpPr/>
          <p:nvPr/>
        </p:nvSpPr>
        <p:spPr>
          <a:xfrm>
            <a:off x="9391650" y="3324225"/>
            <a:ext cx="1314450" cy="1143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B85042"/>
              </a:buClr>
              <a:buSzPts val="503"/>
              <a:buFont typeface="Arial"/>
              <a:buNone/>
            </a:pPr>
            <a:r>
              <a:rPr b="1" lang="en-US" sz="503">
                <a:solidFill>
                  <a:srgbClr val="B85042"/>
                </a:solidFill>
              </a:rPr>
              <a:t>EXECUTION RECEIPT</a:t>
            </a:r>
            <a:endParaRPr/>
          </a:p>
        </p:txBody>
      </p:sp>
      <p:sp>
        <p:nvSpPr>
          <p:cNvPr id="1460" name="Google Shape;1460;p24"/>
          <p:cNvSpPr/>
          <p:nvPr/>
        </p:nvSpPr>
        <p:spPr>
          <a:xfrm>
            <a:off x="9391650" y="3457575"/>
            <a:ext cx="1314450" cy="2095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533"/>
              <a:buFont typeface="Arial"/>
              <a:buNone/>
            </a:pPr>
            <a:r>
              <a:rPr b="1" lang="en-US" sz="533">
                <a:solidFill>
                  <a:srgbClr val="1A1A2E"/>
                </a:solidFill>
              </a:rPr>
              <a:t>LF 3c54e4…205c</a:t>
            </a:r>
            <a:endParaRPr/>
          </a:p>
        </p:txBody>
      </p:sp>
      <p:sp>
        <p:nvSpPr>
          <p:cNvPr id="1461" name="Google Shape;1461;p24"/>
          <p:cNvSpPr/>
          <p:nvPr/>
        </p:nvSpPr>
        <p:spPr>
          <a:xfrm>
            <a:off x="10772775" y="3390900"/>
            <a:ext cx="523875" cy="228600"/>
          </a:xfrm>
          <a:prstGeom prst="roundRect">
            <a:avLst>
              <a:gd fmla="val 33333" name="adj"/>
            </a:avLst>
          </a:prstGeom>
          <a:solidFill>
            <a:srgbClr val="E6F0EB"/>
          </a:solidFill>
          <a:ln cap="flat" cmpd="sng" w="9525">
            <a:solidFill>
              <a:srgbClr val="2F6F5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2" name="Google Shape;1462;p24"/>
          <p:cNvSpPr/>
          <p:nvPr/>
        </p:nvSpPr>
        <p:spPr>
          <a:xfrm>
            <a:off x="10772775" y="3419475"/>
            <a:ext cx="523875" cy="171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F6F57"/>
              </a:buClr>
              <a:buSzPts val="690"/>
              <a:buFont typeface="Arial"/>
              <a:buNone/>
            </a:pPr>
            <a:r>
              <a:rPr b="1" lang="en-US" sz="690">
                <a:solidFill>
                  <a:srgbClr val="2F6F57"/>
                </a:solidFill>
              </a:rPr>
              <a:t>PASS</a:t>
            </a:r>
            <a:endParaRPr/>
          </a:p>
        </p:txBody>
      </p:sp>
      <p:sp>
        <p:nvSpPr>
          <p:cNvPr id="1463" name="Google Shape;1463;p24"/>
          <p:cNvSpPr/>
          <p:nvPr/>
        </p:nvSpPr>
        <p:spPr>
          <a:xfrm>
            <a:off x="6248400" y="3781425"/>
            <a:ext cx="5162550" cy="476250"/>
          </a:xfrm>
          <a:prstGeom prst="roundRect">
            <a:avLst>
              <a:gd fmla="val 16000" name="adj"/>
            </a:avLst>
          </a:prstGeom>
          <a:solidFill>
            <a:srgbClr val="FFFFFF"/>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4" name="Google Shape;1464;p24"/>
          <p:cNvSpPr/>
          <p:nvPr/>
        </p:nvSpPr>
        <p:spPr>
          <a:xfrm>
            <a:off x="6343650" y="3876675"/>
            <a:ext cx="361950" cy="285750"/>
          </a:xfrm>
          <a:prstGeom prst="roundRect">
            <a:avLst>
              <a:gd fmla="val 26667" name="adj"/>
            </a:avLst>
          </a:prstGeom>
          <a:solidFill>
            <a:srgbClr val="E6F0EB"/>
          </a:solidFill>
          <a:ln cap="flat" cmpd="sng" w="9525">
            <a:solidFill>
              <a:srgbClr val="2F6F5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5" name="Google Shape;1465;p24"/>
          <p:cNvSpPr/>
          <p:nvPr/>
        </p:nvSpPr>
        <p:spPr>
          <a:xfrm>
            <a:off x="6343650" y="3924300"/>
            <a:ext cx="361950" cy="190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F6F57"/>
              </a:buClr>
              <a:buSzPts val="735"/>
              <a:buFont typeface="Arial"/>
              <a:buNone/>
            </a:pPr>
            <a:r>
              <a:rPr b="1" lang="en-US" sz="735">
                <a:solidFill>
                  <a:srgbClr val="2F6F57"/>
                </a:solidFill>
              </a:rPr>
              <a:t>T10</a:t>
            </a:r>
            <a:endParaRPr/>
          </a:p>
        </p:txBody>
      </p:sp>
      <p:sp>
        <p:nvSpPr>
          <p:cNvPr id="1466" name="Google Shape;1466;p24"/>
          <p:cNvSpPr/>
          <p:nvPr/>
        </p:nvSpPr>
        <p:spPr>
          <a:xfrm>
            <a:off x="6819900" y="3829050"/>
            <a:ext cx="2238375" cy="171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765"/>
              <a:buFont typeface="Arial"/>
              <a:buNone/>
            </a:pPr>
            <a:r>
              <a:rPr b="1" lang="en-US" sz="765">
                <a:solidFill>
                  <a:srgbClr val="1A1A2E"/>
                </a:solidFill>
              </a:rPr>
              <a:t>Dependency with unknown ETA</a:t>
            </a:r>
            <a:endParaRPr/>
          </a:p>
        </p:txBody>
      </p:sp>
      <p:sp>
        <p:nvSpPr>
          <p:cNvPr id="1467" name="Google Shape;1467;p24"/>
          <p:cNvSpPr/>
          <p:nvPr/>
        </p:nvSpPr>
        <p:spPr>
          <a:xfrm>
            <a:off x="6819900" y="4000500"/>
            <a:ext cx="2524125" cy="190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623"/>
              <a:buFont typeface="Arial"/>
              <a:buNone/>
            </a:pPr>
            <a:r>
              <a:rPr lang="en-US" sz="623">
                <a:solidFill>
                  <a:srgbClr val="666B70"/>
                </a:solidFill>
              </a:rPr>
              <a:t>Complete · FR, dependency, risk; ETA unknown</a:t>
            </a:r>
            <a:endParaRPr/>
          </a:p>
        </p:txBody>
      </p:sp>
      <p:sp>
        <p:nvSpPr>
          <p:cNvPr id="1468" name="Google Shape;1468;p24"/>
          <p:cNvSpPr/>
          <p:nvPr/>
        </p:nvSpPr>
        <p:spPr>
          <a:xfrm>
            <a:off x="9391650" y="3838575"/>
            <a:ext cx="1314450" cy="1143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B85042"/>
              </a:buClr>
              <a:buSzPts val="503"/>
              <a:buFont typeface="Arial"/>
              <a:buNone/>
            </a:pPr>
            <a:r>
              <a:rPr b="1" lang="en-US" sz="503">
                <a:solidFill>
                  <a:srgbClr val="B85042"/>
                </a:solidFill>
              </a:rPr>
              <a:t>EXECUTION RECEIPT</a:t>
            </a:r>
            <a:endParaRPr/>
          </a:p>
        </p:txBody>
      </p:sp>
      <p:sp>
        <p:nvSpPr>
          <p:cNvPr id="1469" name="Google Shape;1469;p24"/>
          <p:cNvSpPr/>
          <p:nvPr/>
        </p:nvSpPr>
        <p:spPr>
          <a:xfrm>
            <a:off x="9391650" y="3971925"/>
            <a:ext cx="1314450" cy="2095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533"/>
              <a:buFont typeface="Arial"/>
              <a:buNone/>
            </a:pPr>
            <a:r>
              <a:rPr b="1" lang="en-US" sz="533">
                <a:solidFill>
                  <a:srgbClr val="1A1A2E"/>
                </a:solidFill>
              </a:rPr>
              <a:t>LF 0c99f0…1bb5</a:t>
            </a:r>
            <a:endParaRPr/>
          </a:p>
        </p:txBody>
      </p:sp>
      <p:sp>
        <p:nvSpPr>
          <p:cNvPr id="1470" name="Google Shape;1470;p24"/>
          <p:cNvSpPr/>
          <p:nvPr/>
        </p:nvSpPr>
        <p:spPr>
          <a:xfrm>
            <a:off x="10772775" y="3905250"/>
            <a:ext cx="523875" cy="228600"/>
          </a:xfrm>
          <a:prstGeom prst="roundRect">
            <a:avLst>
              <a:gd fmla="val 33333" name="adj"/>
            </a:avLst>
          </a:prstGeom>
          <a:solidFill>
            <a:srgbClr val="E6F0EB"/>
          </a:solidFill>
          <a:ln cap="flat" cmpd="sng" w="9525">
            <a:solidFill>
              <a:srgbClr val="2F6F5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1" name="Google Shape;1471;p24"/>
          <p:cNvSpPr/>
          <p:nvPr/>
        </p:nvSpPr>
        <p:spPr>
          <a:xfrm>
            <a:off x="10772775" y="3933825"/>
            <a:ext cx="523875" cy="171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F6F57"/>
              </a:buClr>
              <a:buSzPts val="690"/>
              <a:buFont typeface="Arial"/>
              <a:buNone/>
            </a:pPr>
            <a:r>
              <a:rPr b="1" lang="en-US" sz="690">
                <a:solidFill>
                  <a:srgbClr val="2F6F57"/>
                </a:solidFill>
              </a:rPr>
              <a:t>PASS</a:t>
            </a:r>
            <a:endParaRPr/>
          </a:p>
        </p:txBody>
      </p:sp>
      <p:sp>
        <p:nvSpPr>
          <p:cNvPr id="1472" name="Google Shape;1472;p24"/>
          <p:cNvSpPr/>
          <p:nvPr/>
        </p:nvSpPr>
        <p:spPr>
          <a:xfrm>
            <a:off x="6248400" y="4295775"/>
            <a:ext cx="5162550" cy="476250"/>
          </a:xfrm>
          <a:prstGeom prst="roundRect">
            <a:avLst>
              <a:gd fmla="val 16000" name="adj"/>
            </a:avLst>
          </a:prstGeom>
          <a:solidFill>
            <a:srgbClr val="FFFFFF"/>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3" name="Google Shape;1473;p24"/>
          <p:cNvSpPr/>
          <p:nvPr/>
        </p:nvSpPr>
        <p:spPr>
          <a:xfrm>
            <a:off x="6343650" y="4391025"/>
            <a:ext cx="361950" cy="285750"/>
          </a:xfrm>
          <a:prstGeom prst="roundRect">
            <a:avLst>
              <a:gd fmla="val 26667" name="adj"/>
            </a:avLst>
          </a:prstGeom>
          <a:solidFill>
            <a:srgbClr val="F3E6E2"/>
          </a:solidFill>
          <a:ln cap="flat" cmpd="sng" w="9525">
            <a:solidFill>
              <a:srgbClr val="B8504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4" name="Google Shape;1474;p24"/>
          <p:cNvSpPr/>
          <p:nvPr/>
        </p:nvSpPr>
        <p:spPr>
          <a:xfrm>
            <a:off x="6343650" y="4438650"/>
            <a:ext cx="361950" cy="190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B85042"/>
              </a:buClr>
              <a:buSzPts val="735"/>
              <a:buFont typeface="Arial"/>
              <a:buNone/>
            </a:pPr>
            <a:r>
              <a:rPr b="1" lang="en-US" sz="735">
                <a:solidFill>
                  <a:srgbClr val="B85042"/>
                </a:solidFill>
              </a:rPr>
              <a:t>T11</a:t>
            </a:r>
            <a:endParaRPr/>
          </a:p>
        </p:txBody>
      </p:sp>
      <p:sp>
        <p:nvSpPr>
          <p:cNvPr id="1475" name="Google Shape;1475;p24"/>
          <p:cNvSpPr/>
          <p:nvPr/>
        </p:nvSpPr>
        <p:spPr>
          <a:xfrm>
            <a:off x="6819900" y="4343400"/>
            <a:ext cx="2238375" cy="171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765"/>
              <a:buFont typeface="Arial"/>
              <a:buNone/>
            </a:pPr>
            <a:r>
              <a:rPr b="1" lang="en-US" sz="765">
                <a:solidFill>
                  <a:srgbClr val="1A1A2E"/>
                </a:solidFill>
              </a:rPr>
              <a:t>Ten-section PRD generation</a:t>
            </a:r>
            <a:endParaRPr/>
          </a:p>
        </p:txBody>
      </p:sp>
      <p:sp>
        <p:nvSpPr>
          <p:cNvPr id="1476" name="Google Shape;1476;p24"/>
          <p:cNvSpPr/>
          <p:nvPr/>
        </p:nvSpPr>
        <p:spPr>
          <a:xfrm>
            <a:off x="6819900" y="4514850"/>
            <a:ext cx="2524125" cy="190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623"/>
              <a:buFont typeface="Arial"/>
              <a:buNone/>
            </a:pPr>
            <a:r>
              <a:rPr lang="en-US" sz="623">
                <a:solidFill>
                  <a:srgbClr val="666B70"/>
                </a:solidFill>
              </a:rPr>
              <a:t>10/10 sections · approved IDs only</a:t>
            </a:r>
            <a:endParaRPr/>
          </a:p>
        </p:txBody>
      </p:sp>
      <p:sp>
        <p:nvSpPr>
          <p:cNvPr id="1477" name="Google Shape;1477;p24"/>
          <p:cNvSpPr/>
          <p:nvPr/>
        </p:nvSpPr>
        <p:spPr>
          <a:xfrm>
            <a:off x="9391650" y="4352925"/>
            <a:ext cx="1314450" cy="1143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B85042"/>
              </a:buClr>
              <a:buSzPts val="503"/>
              <a:buFont typeface="Arial"/>
              <a:buNone/>
            </a:pPr>
            <a:r>
              <a:rPr b="1" lang="en-US" sz="503">
                <a:solidFill>
                  <a:srgbClr val="B85042"/>
                </a:solidFill>
              </a:rPr>
              <a:t>EXECUTION RECEIPT</a:t>
            </a:r>
            <a:endParaRPr/>
          </a:p>
        </p:txBody>
      </p:sp>
      <p:sp>
        <p:nvSpPr>
          <p:cNvPr id="1478" name="Google Shape;1478;p24"/>
          <p:cNvSpPr/>
          <p:nvPr/>
        </p:nvSpPr>
        <p:spPr>
          <a:xfrm>
            <a:off x="9391650" y="4486275"/>
            <a:ext cx="1314450" cy="2095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533"/>
              <a:buFont typeface="Arial"/>
              <a:buNone/>
            </a:pPr>
            <a:r>
              <a:rPr b="1" lang="en-US" sz="533">
                <a:solidFill>
                  <a:srgbClr val="1A1A2E"/>
                </a:solidFill>
              </a:rPr>
              <a:t>n8n 8621 · LF 05e9…48ff</a:t>
            </a:r>
            <a:endParaRPr/>
          </a:p>
        </p:txBody>
      </p:sp>
      <p:sp>
        <p:nvSpPr>
          <p:cNvPr id="1479" name="Google Shape;1479;p24"/>
          <p:cNvSpPr/>
          <p:nvPr/>
        </p:nvSpPr>
        <p:spPr>
          <a:xfrm>
            <a:off x="10772775" y="4419600"/>
            <a:ext cx="523875" cy="228600"/>
          </a:xfrm>
          <a:prstGeom prst="roundRect">
            <a:avLst>
              <a:gd fmla="val 33333" name="adj"/>
            </a:avLst>
          </a:prstGeom>
          <a:solidFill>
            <a:srgbClr val="E6F0EB"/>
          </a:solidFill>
          <a:ln cap="flat" cmpd="sng" w="9525">
            <a:solidFill>
              <a:srgbClr val="2F6F5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0" name="Google Shape;1480;p24"/>
          <p:cNvSpPr/>
          <p:nvPr/>
        </p:nvSpPr>
        <p:spPr>
          <a:xfrm>
            <a:off x="10772775" y="4448175"/>
            <a:ext cx="523875" cy="171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F6F57"/>
              </a:buClr>
              <a:buSzPts val="690"/>
              <a:buFont typeface="Arial"/>
              <a:buNone/>
            </a:pPr>
            <a:r>
              <a:rPr b="1" lang="en-US" sz="690">
                <a:solidFill>
                  <a:srgbClr val="2F6F57"/>
                </a:solidFill>
              </a:rPr>
              <a:t>PASS</a:t>
            </a:r>
            <a:endParaRPr/>
          </a:p>
        </p:txBody>
      </p:sp>
      <p:sp>
        <p:nvSpPr>
          <p:cNvPr id="1481" name="Google Shape;1481;p24"/>
          <p:cNvSpPr/>
          <p:nvPr/>
        </p:nvSpPr>
        <p:spPr>
          <a:xfrm>
            <a:off x="6248400" y="4810125"/>
            <a:ext cx="5162550" cy="476250"/>
          </a:xfrm>
          <a:prstGeom prst="roundRect">
            <a:avLst>
              <a:gd fmla="val 16000" name="adj"/>
            </a:avLst>
          </a:prstGeom>
          <a:solidFill>
            <a:srgbClr val="FFFFFF"/>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2" name="Google Shape;1482;p24"/>
          <p:cNvSpPr/>
          <p:nvPr/>
        </p:nvSpPr>
        <p:spPr>
          <a:xfrm>
            <a:off x="6343650" y="4905375"/>
            <a:ext cx="361950" cy="285750"/>
          </a:xfrm>
          <a:prstGeom prst="roundRect">
            <a:avLst>
              <a:gd fmla="val 26667" name="adj"/>
            </a:avLst>
          </a:prstGeom>
          <a:solidFill>
            <a:srgbClr val="F0EAFB"/>
          </a:solidFill>
          <a:ln cap="flat" cmpd="sng" w="9525">
            <a:solidFill>
              <a:srgbClr val="7546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3" name="Google Shape;1483;p24"/>
          <p:cNvSpPr/>
          <p:nvPr/>
        </p:nvSpPr>
        <p:spPr>
          <a:xfrm>
            <a:off x="6343650" y="4953000"/>
            <a:ext cx="361950" cy="190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7546C8"/>
              </a:buClr>
              <a:buSzPts val="735"/>
              <a:buFont typeface="Arial"/>
              <a:buNone/>
            </a:pPr>
            <a:r>
              <a:rPr b="1" lang="en-US" sz="735">
                <a:solidFill>
                  <a:srgbClr val="7546C8"/>
                </a:solidFill>
              </a:rPr>
              <a:t>T12</a:t>
            </a:r>
            <a:endParaRPr/>
          </a:p>
        </p:txBody>
      </p:sp>
      <p:sp>
        <p:nvSpPr>
          <p:cNvPr id="1484" name="Google Shape;1484;p24"/>
          <p:cNvSpPr/>
          <p:nvPr/>
        </p:nvSpPr>
        <p:spPr>
          <a:xfrm>
            <a:off x="6819900" y="4857750"/>
            <a:ext cx="2238375" cy="171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765"/>
              <a:buFont typeface="Arial"/>
              <a:buNone/>
            </a:pPr>
            <a:r>
              <a:rPr b="1" lang="en-US" sz="765">
                <a:solidFill>
                  <a:srgbClr val="1A1A2E"/>
                </a:solidFill>
              </a:rPr>
              <a:t>Epic-to-story decomposition</a:t>
            </a:r>
            <a:endParaRPr/>
          </a:p>
        </p:txBody>
      </p:sp>
      <p:sp>
        <p:nvSpPr>
          <p:cNvPr id="1485" name="Google Shape;1485;p24"/>
          <p:cNvSpPr/>
          <p:nvPr/>
        </p:nvSpPr>
        <p:spPr>
          <a:xfrm>
            <a:off x="6819900" y="5029200"/>
            <a:ext cx="2524125" cy="190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623"/>
              <a:buFont typeface="Arial"/>
              <a:buNone/>
            </a:pPr>
            <a:r>
              <a:rPr lang="en-US" sz="623">
                <a:solidFill>
                  <a:srgbClr val="666B70"/>
                </a:solidFill>
              </a:rPr>
              <a:t>1 epic, 1 feature, 1 story, 2 criteria</a:t>
            </a:r>
            <a:endParaRPr/>
          </a:p>
        </p:txBody>
      </p:sp>
      <p:sp>
        <p:nvSpPr>
          <p:cNvPr id="1486" name="Google Shape;1486;p24"/>
          <p:cNvSpPr/>
          <p:nvPr/>
        </p:nvSpPr>
        <p:spPr>
          <a:xfrm>
            <a:off x="9391650" y="4867275"/>
            <a:ext cx="1314450" cy="1143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B85042"/>
              </a:buClr>
              <a:buSzPts val="503"/>
              <a:buFont typeface="Arial"/>
              <a:buNone/>
            </a:pPr>
            <a:r>
              <a:rPr b="1" lang="en-US" sz="503">
                <a:solidFill>
                  <a:srgbClr val="B85042"/>
                </a:solidFill>
              </a:rPr>
              <a:t>EXECUTION RECEIPT</a:t>
            </a:r>
            <a:endParaRPr/>
          </a:p>
        </p:txBody>
      </p:sp>
      <p:sp>
        <p:nvSpPr>
          <p:cNvPr id="1487" name="Google Shape;1487;p24"/>
          <p:cNvSpPr/>
          <p:nvPr/>
        </p:nvSpPr>
        <p:spPr>
          <a:xfrm>
            <a:off x="9391650" y="5000625"/>
            <a:ext cx="1314450" cy="2095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533"/>
              <a:buFont typeface="Arial"/>
              <a:buNone/>
            </a:pPr>
            <a:r>
              <a:rPr b="1" lang="en-US" sz="533">
                <a:solidFill>
                  <a:srgbClr val="1A1A2E"/>
                </a:solidFill>
              </a:rPr>
              <a:t>n8n 8788 · LF 8e20…159b</a:t>
            </a:r>
            <a:endParaRPr/>
          </a:p>
        </p:txBody>
      </p:sp>
      <p:sp>
        <p:nvSpPr>
          <p:cNvPr id="1488" name="Google Shape;1488;p24"/>
          <p:cNvSpPr/>
          <p:nvPr/>
        </p:nvSpPr>
        <p:spPr>
          <a:xfrm>
            <a:off x="10772775" y="4933950"/>
            <a:ext cx="523875" cy="228600"/>
          </a:xfrm>
          <a:prstGeom prst="roundRect">
            <a:avLst>
              <a:gd fmla="val 33333" name="adj"/>
            </a:avLst>
          </a:prstGeom>
          <a:solidFill>
            <a:srgbClr val="E6F0EB"/>
          </a:solidFill>
          <a:ln cap="flat" cmpd="sng" w="9525">
            <a:solidFill>
              <a:srgbClr val="2F6F5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9" name="Google Shape;1489;p24"/>
          <p:cNvSpPr/>
          <p:nvPr/>
        </p:nvSpPr>
        <p:spPr>
          <a:xfrm>
            <a:off x="10772775" y="4962525"/>
            <a:ext cx="523875" cy="171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F6F57"/>
              </a:buClr>
              <a:buSzPts val="690"/>
              <a:buFont typeface="Arial"/>
              <a:buNone/>
            </a:pPr>
            <a:r>
              <a:rPr b="1" lang="en-US" sz="690">
                <a:solidFill>
                  <a:srgbClr val="2F6F57"/>
                </a:solidFill>
              </a:rPr>
              <a:t>PASS</a:t>
            </a:r>
            <a:endParaRPr/>
          </a:p>
        </p:txBody>
      </p:sp>
      <p:sp>
        <p:nvSpPr>
          <p:cNvPr id="1490" name="Google Shape;1490;p24"/>
          <p:cNvSpPr/>
          <p:nvPr/>
        </p:nvSpPr>
        <p:spPr>
          <a:xfrm>
            <a:off x="781050" y="5467350"/>
            <a:ext cx="10629900" cy="533400"/>
          </a:xfrm>
          <a:prstGeom prst="roundRect">
            <a:avLst>
              <a:gd fmla="val 14286" name="adj"/>
            </a:avLst>
          </a:prstGeom>
          <a:solidFill>
            <a:srgbClr val="E6F0EB"/>
          </a:solidFill>
          <a:ln cap="flat" cmpd="sng" w="9525">
            <a:solidFill>
              <a:srgbClr val="2F6F5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1" name="Google Shape;1491;p24"/>
          <p:cNvSpPr/>
          <p:nvPr/>
        </p:nvSpPr>
        <p:spPr>
          <a:xfrm>
            <a:off x="1000125" y="5514975"/>
            <a:ext cx="1238250" cy="2762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F6F57"/>
              </a:buClr>
              <a:buSzPts val="1800"/>
              <a:buFont typeface="Arial"/>
              <a:buNone/>
            </a:pPr>
            <a:r>
              <a:rPr b="1" lang="en-US" sz="1800">
                <a:solidFill>
                  <a:srgbClr val="2F6F57"/>
                </a:solidFill>
              </a:rPr>
              <a:t>12 / 12</a:t>
            </a:r>
            <a:endParaRPr/>
          </a:p>
        </p:txBody>
      </p:sp>
      <p:sp>
        <p:nvSpPr>
          <p:cNvPr id="1492" name="Google Shape;1492;p24"/>
          <p:cNvSpPr/>
          <p:nvPr/>
        </p:nvSpPr>
        <p:spPr>
          <a:xfrm>
            <a:off x="2238375" y="5562600"/>
            <a:ext cx="2095500" cy="190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938"/>
              <a:buFont typeface="Arial"/>
              <a:buNone/>
            </a:pPr>
            <a:r>
              <a:rPr b="1" lang="en-US" sz="938">
                <a:solidFill>
                  <a:srgbClr val="1A1A2E"/>
                </a:solidFill>
              </a:rPr>
              <a:t>required cases passed</a:t>
            </a:r>
            <a:endParaRPr/>
          </a:p>
        </p:txBody>
      </p:sp>
      <p:sp>
        <p:nvSpPr>
          <p:cNvPr id="1493" name="Google Shape;1493;p24"/>
          <p:cNvSpPr/>
          <p:nvPr/>
        </p:nvSpPr>
        <p:spPr>
          <a:xfrm>
            <a:off x="5095875" y="5562600"/>
            <a:ext cx="2095500" cy="190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1050"/>
              <a:buFont typeface="Arial"/>
              <a:buNone/>
            </a:pPr>
            <a:r>
              <a:rPr b="1" lang="en-US" sz="1050">
                <a:solidFill>
                  <a:srgbClr val="1A1A2E"/>
                </a:solidFill>
              </a:rPr>
              <a:t>100% groundedness</a:t>
            </a:r>
            <a:endParaRPr/>
          </a:p>
        </p:txBody>
      </p:sp>
      <p:sp>
        <p:nvSpPr>
          <p:cNvPr id="1494" name="Google Shape;1494;p24"/>
          <p:cNvSpPr/>
          <p:nvPr/>
        </p:nvSpPr>
        <p:spPr>
          <a:xfrm>
            <a:off x="7905750" y="5562600"/>
            <a:ext cx="2476500" cy="190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1050"/>
              <a:buFont typeface="Arial"/>
              <a:buNone/>
            </a:pPr>
            <a:r>
              <a:rPr b="1" lang="en-US" sz="1050">
                <a:solidFill>
                  <a:srgbClr val="1A1A2E"/>
                </a:solidFill>
              </a:rPr>
              <a:t>0 unsupported claims</a:t>
            </a:r>
            <a:endParaRPr/>
          </a:p>
        </p:txBody>
      </p:sp>
      <p:sp>
        <p:nvSpPr>
          <p:cNvPr id="1495" name="Google Shape;1495;p24"/>
          <p:cNvSpPr/>
          <p:nvPr/>
        </p:nvSpPr>
        <p:spPr>
          <a:xfrm>
            <a:off x="1104900" y="5781675"/>
            <a:ext cx="9982200" cy="14287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F6F57"/>
              </a:buClr>
              <a:buSzPts val="653"/>
              <a:buFont typeface="Arial"/>
              <a:buNone/>
            </a:pPr>
            <a:r>
              <a:rPr b="1" lang="en-US" sz="653">
                <a:solidFill>
                  <a:srgbClr val="2F6F57"/>
                </a:solidFill>
              </a:rPr>
              <a:t>12 Langfuse traces preserved · T1–T10 successful run metadata · T11 n8n 8621 · T12 n8n 8788</a:t>
            </a:r>
            <a:endParaRPr/>
          </a:p>
        </p:txBody>
      </p:sp>
      <p:sp>
        <p:nvSpPr>
          <p:cNvPr id="1496" name="Google Shape;1496;p24"/>
          <p:cNvSpPr/>
          <p:nvPr/>
        </p:nvSpPr>
        <p:spPr>
          <a:xfrm>
            <a:off x="0" y="6267450"/>
            <a:ext cx="12192000" cy="590550"/>
          </a:xfrm>
          <a:prstGeom prst="rect">
            <a:avLst/>
          </a:prstGeom>
          <a:solidFill>
            <a:srgbClr val="1A1A2E"/>
          </a:solidFill>
          <a:ln cap="flat" cmpd="sng" w="9525">
            <a:solidFill>
              <a:srgbClr val="1A1A2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7" name="Google Shape;1497;p24"/>
          <p:cNvSpPr/>
          <p:nvPr/>
        </p:nvSpPr>
        <p:spPr>
          <a:xfrm>
            <a:off x="781050" y="6381750"/>
            <a:ext cx="1905000" cy="190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C9C6D8"/>
              </a:buClr>
              <a:buSzPts val="825"/>
              <a:buFont typeface="Arial"/>
              <a:buNone/>
            </a:pPr>
            <a:r>
              <a:rPr b="1" lang="en-US" sz="825">
                <a:solidFill>
                  <a:srgbClr val="C9C6D8"/>
                </a:solidFill>
              </a:rPr>
              <a:t>APPENDIX A5</a:t>
            </a:r>
            <a:endParaRPr/>
          </a:p>
        </p:txBody>
      </p:sp>
      <p:sp>
        <p:nvSpPr>
          <p:cNvPr id="1498" name="Google Shape;1498;p24"/>
          <p:cNvSpPr/>
          <p:nvPr/>
        </p:nvSpPr>
        <p:spPr>
          <a:xfrm>
            <a:off x="2705100" y="6343650"/>
            <a:ext cx="8705850" cy="29527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FFFFFF"/>
              </a:buClr>
              <a:buSzPts val="1163"/>
              <a:buFont typeface="Arial"/>
              <a:buNone/>
            </a:pPr>
            <a:r>
              <a:rPr b="1" lang="en-US" sz="1163">
                <a:solidFill>
                  <a:srgbClr val="FFFFFF"/>
                </a:solidFill>
              </a:rPr>
              <a:t>The baseline tests reward faithful uncertainty and refusal—not confident completion at any cost.</a:t>
            </a:r>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4EE"/>
        </a:solidFill>
      </p:bgPr>
    </p:bg>
    <p:spTree>
      <p:nvGrpSpPr>
        <p:cNvPr id="1503" name="Shape 1503"/>
        <p:cNvGrpSpPr/>
        <p:nvPr/>
      </p:nvGrpSpPr>
      <p:grpSpPr>
        <a:xfrm>
          <a:off x="0" y="0"/>
          <a:ext cx="0" cy="0"/>
          <a:chOff x="0" y="0"/>
          <a:chExt cx="0" cy="0"/>
        </a:xfrm>
      </p:grpSpPr>
      <p:sp>
        <p:nvSpPr>
          <p:cNvPr id="1504" name="Google Shape;1504;p25"/>
          <p:cNvSpPr/>
          <p:nvPr/>
        </p:nvSpPr>
        <p:spPr>
          <a:xfrm>
            <a:off x="0" y="0"/>
            <a:ext cx="12192000" cy="76200"/>
          </a:xfrm>
          <a:prstGeom prst="rect">
            <a:avLst/>
          </a:prstGeom>
          <a:solidFill>
            <a:srgbClr val="B85042"/>
          </a:solidFill>
          <a:ln cap="flat" cmpd="sng" w="9525">
            <a:solidFill>
              <a:srgbClr val="B8504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5" name="Google Shape;1505;p25"/>
          <p:cNvSpPr/>
          <p:nvPr/>
        </p:nvSpPr>
        <p:spPr>
          <a:xfrm>
            <a:off x="514350" y="590550"/>
            <a:ext cx="66675" cy="723900"/>
          </a:xfrm>
          <a:prstGeom prst="rect">
            <a:avLst/>
          </a:prstGeom>
          <a:solidFill>
            <a:srgbClr val="B85042"/>
          </a:solidFill>
          <a:ln cap="flat" cmpd="sng" w="9525">
            <a:solidFill>
              <a:srgbClr val="B8504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6" name="Google Shape;1506;p25"/>
          <p:cNvSpPr/>
          <p:nvPr/>
        </p:nvSpPr>
        <p:spPr>
          <a:xfrm>
            <a:off x="781050" y="438150"/>
            <a:ext cx="8763000" cy="2381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B85042"/>
              </a:buClr>
              <a:buSzPts val="938"/>
              <a:buFont typeface="Arial"/>
              <a:buNone/>
            </a:pPr>
            <a:r>
              <a:rPr b="1" lang="en-US" sz="938">
                <a:solidFill>
                  <a:srgbClr val="B85042"/>
                </a:solidFill>
              </a:rPr>
              <a:t>A6  ·  BASELINE INPUT → OUTPUT EVIDENCE · T1–T6</a:t>
            </a:r>
            <a:endParaRPr/>
          </a:p>
        </p:txBody>
      </p:sp>
      <p:sp>
        <p:nvSpPr>
          <p:cNvPr id="1507" name="Google Shape;1507;p25"/>
          <p:cNvSpPr/>
          <p:nvPr/>
        </p:nvSpPr>
        <p:spPr>
          <a:xfrm>
            <a:off x="781050" y="723900"/>
            <a:ext cx="10629900" cy="4953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2325"/>
              <a:buFont typeface="Arial"/>
              <a:buNone/>
            </a:pPr>
            <a:r>
              <a:rPr b="1" lang="en-US" sz="2325">
                <a:solidFill>
                  <a:srgbClr val="1A1A2E"/>
                </a:solidFill>
              </a:rPr>
              <a:t>Every extraction test preserves the supplied facts and uncertainty</a:t>
            </a:r>
            <a:endParaRPr/>
          </a:p>
        </p:txBody>
      </p:sp>
      <p:sp>
        <p:nvSpPr>
          <p:cNvPr id="1508" name="Google Shape;1508;p25"/>
          <p:cNvSpPr/>
          <p:nvPr/>
        </p:nvSpPr>
        <p:spPr>
          <a:xfrm>
            <a:off x="781050" y="1238250"/>
            <a:ext cx="10629900" cy="2667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1035"/>
              <a:buFont typeface="Arial"/>
              <a:buNone/>
            </a:pPr>
            <a:r>
              <a:rPr lang="en-US" sz="1035">
                <a:solidFill>
                  <a:srgbClr val="666B70"/>
                </a:solidFill>
              </a:rPr>
              <a:t>Exact source strings are paired with the actual structured fields emitted by the validated Requirement Extractor release.</a:t>
            </a:r>
            <a:endParaRPr/>
          </a:p>
        </p:txBody>
      </p:sp>
      <p:sp>
        <p:nvSpPr>
          <p:cNvPr id="1509" name="Google Shape;1509;p25"/>
          <p:cNvSpPr/>
          <p:nvPr/>
        </p:nvSpPr>
        <p:spPr>
          <a:xfrm>
            <a:off x="1323975" y="1657350"/>
            <a:ext cx="3857625" cy="190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3B6EBF"/>
              </a:buClr>
              <a:buSzPts val="788"/>
              <a:buFont typeface="Arial"/>
              <a:buNone/>
            </a:pPr>
            <a:r>
              <a:rPr b="1" lang="en-US" sz="788">
                <a:solidFill>
                  <a:srgbClr val="3B6EBF"/>
                </a:solidFill>
              </a:rPr>
              <a:t>EXACT BASELINE INPUT</a:t>
            </a:r>
            <a:endParaRPr/>
          </a:p>
        </p:txBody>
      </p:sp>
      <p:sp>
        <p:nvSpPr>
          <p:cNvPr id="1510" name="Google Shape;1510;p25"/>
          <p:cNvSpPr/>
          <p:nvPr/>
        </p:nvSpPr>
        <p:spPr>
          <a:xfrm>
            <a:off x="5372100" y="1657350"/>
            <a:ext cx="4476750" cy="190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F6F57"/>
              </a:buClr>
              <a:buSzPts val="788"/>
              <a:buFont typeface="Arial"/>
              <a:buNone/>
            </a:pPr>
            <a:r>
              <a:rPr b="1" lang="en-US" sz="788">
                <a:solidFill>
                  <a:srgbClr val="2F6F57"/>
                </a:solidFill>
              </a:rPr>
              <a:t>ACTUAL PRESERVED OUTPUT</a:t>
            </a:r>
            <a:endParaRPr/>
          </a:p>
        </p:txBody>
      </p:sp>
      <p:sp>
        <p:nvSpPr>
          <p:cNvPr id="1511" name="Google Shape;1511;p25"/>
          <p:cNvSpPr/>
          <p:nvPr/>
        </p:nvSpPr>
        <p:spPr>
          <a:xfrm>
            <a:off x="10039350" y="1657350"/>
            <a:ext cx="1219200" cy="190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B85042"/>
              </a:buClr>
              <a:buSzPts val="682"/>
              <a:buFont typeface="Arial"/>
              <a:buNone/>
            </a:pPr>
            <a:r>
              <a:rPr b="1" lang="en-US" sz="682">
                <a:solidFill>
                  <a:srgbClr val="B85042"/>
                </a:solidFill>
              </a:rPr>
              <a:t>EXECUTION RECEIPT</a:t>
            </a:r>
            <a:endParaRPr/>
          </a:p>
        </p:txBody>
      </p:sp>
      <p:sp>
        <p:nvSpPr>
          <p:cNvPr id="1512" name="Google Shape;1512;p25"/>
          <p:cNvSpPr/>
          <p:nvPr/>
        </p:nvSpPr>
        <p:spPr>
          <a:xfrm>
            <a:off x="685800" y="1885950"/>
            <a:ext cx="10820400" cy="638175"/>
          </a:xfrm>
          <a:prstGeom prst="roundRect">
            <a:avLst>
              <a:gd fmla="val 11940" name="adj"/>
            </a:avLst>
          </a:prstGeom>
          <a:solidFill>
            <a:srgbClr val="FFFFFF"/>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3" name="Google Shape;1513;p25"/>
          <p:cNvSpPr/>
          <p:nvPr/>
        </p:nvSpPr>
        <p:spPr>
          <a:xfrm>
            <a:off x="781050" y="2019300"/>
            <a:ext cx="400050" cy="371475"/>
          </a:xfrm>
          <a:prstGeom prst="roundRect">
            <a:avLst>
              <a:gd fmla="val 20513" name="adj"/>
            </a:avLst>
          </a:prstGeom>
          <a:solidFill>
            <a:srgbClr val="E8EFF9"/>
          </a:solidFill>
          <a:ln cap="flat" cmpd="sng" w="9525">
            <a:solidFill>
              <a:srgbClr val="3B6EB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4" name="Google Shape;1514;p25"/>
          <p:cNvSpPr/>
          <p:nvPr/>
        </p:nvSpPr>
        <p:spPr>
          <a:xfrm>
            <a:off x="781050" y="2105025"/>
            <a:ext cx="400050" cy="190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3B6EBF"/>
              </a:buClr>
              <a:buSzPts val="750"/>
              <a:buFont typeface="Arial"/>
              <a:buNone/>
            </a:pPr>
            <a:r>
              <a:rPr b="1" lang="en-US" sz="750">
                <a:solidFill>
                  <a:srgbClr val="3B6EBF"/>
                </a:solidFill>
              </a:rPr>
              <a:t>T1</a:t>
            </a:r>
            <a:endParaRPr/>
          </a:p>
        </p:txBody>
      </p:sp>
      <p:sp>
        <p:nvSpPr>
          <p:cNvPr id="1515" name="Google Shape;1515;p25"/>
          <p:cNvSpPr/>
          <p:nvPr/>
        </p:nvSpPr>
        <p:spPr>
          <a:xfrm>
            <a:off x="1323975" y="1952625"/>
            <a:ext cx="3857625" cy="5048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690"/>
              <a:buFont typeface="Arial"/>
              <a:buNone/>
            </a:pPr>
            <a:r>
              <a:rPr lang="en-US" sz="690">
                <a:solidFill>
                  <a:srgbClr val="1A1A2E"/>
                </a:solidFill>
              </a:rPr>
              <a:t>“The user should be able to filter reports by date range, category, and status. Results must load in under 2 seconds. PM: Sarah. Deadline: Q3.”</a:t>
            </a:r>
            <a:endParaRPr/>
          </a:p>
        </p:txBody>
      </p:sp>
      <p:sp>
        <p:nvSpPr>
          <p:cNvPr id="1516" name="Google Shape;1516;p25"/>
          <p:cNvSpPr/>
          <p:nvPr/>
        </p:nvSpPr>
        <p:spPr>
          <a:xfrm>
            <a:off x="5372100" y="1952625"/>
            <a:ext cx="4476750" cy="5048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660"/>
              <a:buFont typeface="Arial"/>
              <a:buNone/>
            </a:pPr>
            <a:r>
              <a:rPr lang="en-US" sz="660">
                <a:solidFill>
                  <a:srgbClr val="1A1A2E"/>
                </a:solidFill>
              </a:rPr>
              <a:t>complete · FR-001 report filtering · NFR-001 &lt;2 sec · STK-001 Sarah · DDL-001 Q3</a:t>
            </a:r>
            <a:endParaRPr/>
          </a:p>
        </p:txBody>
      </p:sp>
      <p:sp>
        <p:nvSpPr>
          <p:cNvPr id="1517" name="Google Shape;1517;p25"/>
          <p:cNvSpPr/>
          <p:nvPr/>
        </p:nvSpPr>
        <p:spPr>
          <a:xfrm>
            <a:off x="10039350" y="1981200"/>
            <a:ext cx="1219200" cy="29527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585"/>
              <a:buFont typeface="Arial"/>
              <a:buNone/>
            </a:pPr>
            <a:r>
              <a:rPr b="1" lang="en-US" sz="585">
                <a:solidFill>
                  <a:srgbClr val="666B70"/>
                </a:solidFill>
              </a:rPr>
              <a:t>RUN-T1-1785799870489</a:t>
            </a:r>
            <a:endParaRPr/>
          </a:p>
          <a:p>
            <a:pPr indent="0" lvl="0" marL="0" marR="0" rtl="0" algn="l">
              <a:spcBef>
                <a:spcPts val="0"/>
              </a:spcBef>
              <a:spcAft>
                <a:spcPts val="0"/>
              </a:spcAft>
              <a:buClr>
                <a:srgbClr val="666B70"/>
              </a:buClr>
              <a:buSzPts val="585"/>
              <a:buFont typeface="Arial"/>
              <a:buNone/>
            </a:pPr>
            <a:r>
              <a:rPr b="1" lang="en-US" sz="585">
                <a:solidFill>
                  <a:srgbClr val="666B70"/>
                </a:solidFill>
              </a:rPr>
              <a:t>LF f14cab…0002</a:t>
            </a:r>
            <a:endParaRPr/>
          </a:p>
        </p:txBody>
      </p:sp>
      <p:sp>
        <p:nvSpPr>
          <p:cNvPr id="1518" name="Google Shape;1518;p25"/>
          <p:cNvSpPr/>
          <p:nvPr/>
        </p:nvSpPr>
        <p:spPr>
          <a:xfrm>
            <a:off x="10239375" y="2286000"/>
            <a:ext cx="819150" cy="180975"/>
          </a:xfrm>
          <a:prstGeom prst="roundRect">
            <a:avLst>
              <a:gd fmla="val 42105" name="adj"/>
            </a:avLst>
          </a:prstGeom>
          <a:solidFill>
            <a:srgbClr val="E6F0EB"/>
          </a:solidFill>
          <a:ln cap="flat" cmpd="sng" w="9525">
            <a:solidFill>
              <a:srgbClr val="2F6F5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9" name="Google Shape;1519;p25"/>
          <p:cNvSpPr/>
          <p:nvPr/>
        </p:nvSpPr>
        <p:spPr>
          <a:xfrm>
            <a:off x="10239375" y="2295525"/>
            <a:ext cx="819150" cy="1524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F6F57"/>
              </a:buClr>
              <a:buSzPts val="623"/>
              <a:buFont typeface="Arial"/>
              <a:buNone/>
            </a:pPr>
            <a:r>
              <a:rPr b="1" lang="en-US" sz="623">
                <a:solidFill>
                  <a:srgbClr val="2F6F57"/>
                </a:solidFill>
              </a:rPr>
              <a:t>PASS</a:t>
            </a:r>
            <a:endParaRPr/>
          </a:p>
        </p:txBody>
      </p:sp>
      <p:sp>
        <p:nvSpPr>
          <p:cNvPr id="1520" name="Google Shape;1520;p25"/>
          <p:cNvSpPr/>
          <p:nvPr/>
        </p:nvSpPr>
        <p:spPr>
          <a:xfrm>
            <a:off x="685800" y="2552700"/>
            <a:ext cx="10820400" cy="638175"/>
          </a:xfrm>
          <a:prstGeom prst="roundRect">
            <a:avLst>
              <a:gd fmla="val 11940" name="adj"/>
            </a:avLst>
          </a:prstGeom>
          <a:solidFill>
            <a:srgbClr val="FFFFFF"/>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21" name="Google Shape;1521;p25"/>
          <p:cNvSpPr/>
          <p:nvPr/>
        </p:nvSpPr>
        <p:spPr>
          <a:xfrm>
            <a:off x="781050" y="2686050"/>
            <a:ext cx="400050" cy="371475"/>
          </a:xfrm>
          <a:prstGeom prst="roundRect">
            <a:avLst>
              <a:gd fmla="val 20513" name="adj"/>
            </a:avLst>
          </a:prstGeom>
          <a:solidFill>
            <a:srgbClr val="E8EFF9"/>
          </a:solidFill>
          <a:ln cap="flat" cmpd="sng" w="9525">
            <a:solidFill>
              <a:srgbClr val="3B6EB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22" name="Google Shape;1522;p25"/>
          <p:cNvSpPr/>
          <p:nvPr/>
        </p:nvSpPr>
        <p:spPr>
          <a:xfrm>
            <a:off x="781050" y="2771775"/>
            <a:ext cx="400050" cy="190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3B6EBF"/>
              </a:buClr>
              <a:buSzPts val="750"/>
              <a:buFont typeface="Arial"/>
              <a:buNone/>
            </a:pPr>
            <a:r>
              <a:rPr b="1" lang="en-US" sz="750">
                <a:solidFill>
                  <a:srgbClr val="3B6EBF"/>
                </a:solidFill>
              </a:rPr>
              <a:t>T2</a:t>
            </a:r>
            <a:endParaRPr/>
          </a:p>
        </p:txBody>
      </p:sp>
      <p:sp>
        <p:nvSpPr>
          <p:cNvPr id="1523" name="Google Shape;1523;p25"/>
          <p:cNvSpPr/>
          <p:nvPr/>
        </p:nvSpPr>
        <p:spPr>
          <a:xfrm>
            <a:off x="1323975" y="2619375"/>
            <a:ext cx="3857625" cy="5048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690"/>
              <a:buFont typeface="Arial"/>
              <a:buNone/>
            </a:pPr>
            <a:r>
              <a:rPr lang="en-US" sz="690">
                <a:solidFill>
                  <a:srgbClr val="1A1A2E"/>
                </a:solidFill>
              </a:rPr>
              <a:t>“We need better reporting. Something like what Competitor X has.”</a:t>
            </a:r>
            <a:endParaRPr/>
          </a:p>
        </p:txBody>
      </p:sp>
      <p:sp>
        <p:nvSpPr>
          <p:cNvPr id="1524" name="Google Shape;1524;p25"/>
          <p:cNvSpPr/>
          <p:nvPr/>
        </p:nvSpPr>
        <p:spPr>
          <a:xfrm>
            <a:off x="5372100" y="2619375"/>
            <a:ext cx="4476750" cy="5048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660"/>
              <a:buFont typeface="Arial"/>
              <a:buNone/>
            </a:pPr>
            <a:r>
              <a:rPr lang="en-US" sz="660">
                <a:solidFill>
                  <a:srgbClr val="1A1A2E"/>
                </a:solidFill>
              </a:rPr>
              <a:t>partial · FR-001 better reporting · MISS-001 users · MISS-002 success definition · MISS-003 format/delivery · MISS-004 competitor scope</a:t>
            </a:r>
            <a:endParaRPr/>
          </a:p>
        </p:txBody>
      </p:sp>
      <p:sp>
        <p:nvSpPr>
          <p:cNvPr id="1525" name="Google Shape;1525;p25"/>
          <p:cNvSpPr/>
          <p:nvPr/>
        </p:nvSpPr>
        <p:spPr>
          <a:xfrm>
            <a:off x="10039350" y="2647950"/>
            <a:ext cx="1219200" cy="29527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585"/>
              <a:buFont typeface="Arial"/>
              <a:buNone/>
            </a:pPr>
            <a:r>
              <a:rPr b="1" lang="en-US" sz="585">
                <a:solidFill>
                  <a:srgbClr val="666B70"/>
                </a:solidFill>
              </a:rPr>
              <a:t>successful metadata</a:t>
            </a:r>
            <a:endParaRPr/>
          </a:p>
          <a:p>
            <a:pPr indent="0" lvl="0" marL="0" marR="0" rtl="0" algn="l">
              <a:spcBef>
                <a:spcPts val="0"/>
              </a:spcBef>
              <a:spcAft>
                <a:spcPts val="0"/>
              </a:spcAft>
              <a:buClr>
                <a:srgbClr val="666B70"/>
              </a:buClr>
              <a:buSzPts val="585"/>
              <a:buFont typeface="Arial"/>
              <a:buNone/>
            </a:pPr>
            <a:r>
              <a:rPr b="1" lang="en-US" sz="585">
                <a:solidFill>
                  <a:srgbClr val="666B70"/>
                </a:solidFill>
              </a:rPr>
              <a:t>LF 114917…4b95</a:t>
            </a:r>
            <a:endParaRPr/>
          </a:p>
        </p:txBody>
      </p:sp>
      <p:sp>
        <p:nvSpPr>
          <p:cNvPr id="1526" name="Google Shape;1526;p25"/>
          <p:cNvSpPr/>
          <p:nvPr/>
        </p:nvSpPr>
        <p:spPr>
          <a:xfrm>
            <a:off x="10239375" y="2952750"/>
            <a:ext cx="819150" cy="180975"/>
          </a:xfrm>
          <a:prstGeom prst="roundRect">
            <a:avLst>
              <a:gd fmla="val 42105" name="adj"/>
            </a:avLst>
          </a:prstGeom>
          <a:solidFill>
            <a:srgbClr val="E6F0EB"/>
          </a:solidFill>
          <a:ln cap="flat" cmpd="sng" w="9525">
            <a:solidFill>
              <a:srgbClr val="2F6F5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27" name="Google Shape;1527;p25"/>
          <p:cNvSpPr/>
          <p:nvPr/>
        </p:nvSpPr>
        <p:spPr>
          <a:xfrm>
            <a:off x="10239375" y="2962275"/>
            <a:ext cx="819150" cy="1524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F6F57"/>
              </a:buClr>
              <a:buSzPts val="623"/>
              <a:buFont typeface="Arial"/>
              <a:buNone/>
            </a:pPr>
            <a:r>
              <a:rPr b="1" lang="en-US" sz="623">
                <a:solidFill>
                  <a:srgbClr val="2F6F57"/>
                </a:solidFill>
              </a:rPr>
              <a:t>PASS</a:t>
            </a:r>
            <a:endParaRPr/>
          </a:p>
        </p:txBody>
      </p:sp>
      <p:sp>
        <p:nvSpPr>
          <p:cNvPr id="1528" name="Google Shape;1528;p25"/>
          <p:cNvSpPr/>
          <p:nvPr/>
        </p:nvSpPr>
        <p:spPr>
          <a:xfrm>
            <a:off x="685800" y="3219450"/>
            <a:ext cx="10820400" cy="638175"/>
          </a:xfrm>
          <a:prstGeom prst="roundRect">
            <a:avLst>
              <a:gd fmla="val 11940" name="adj"/>
            </a:avLst>
          </a:prstGeom>
          <a:solidFill>
            <a:srgbClr val="FFFFFF"/>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29" name="Google Shape;1529;p25"/>
          <p:cNvSpPr/>
          <p:nvPr/>
        </p:nvSpPr>
        <p:spPr>
          <a:xfrm>
            <a:off x="781050" y="3352800"/>
            <a:ext cx="400050" cy="371475"/>
          </a:xfrm>
          <a:prstGeom prst="roundRect">
            <a:avLst>
              <a:gd fmla="val 20513" name="adj"/>
            </a:avLst>
          </a:prstGeom>
          <a:solidFill>
            <a:srgbClr val="E8EFF9"/>
          </a:solidFill>
          <a:ln cap="flat" cmpd="sng" w="9525">
            <a:solidFill>
              <a:srgbClr val="3B6EB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0" name="Google Shape;1530;p25"/>
          <p:cNvSpPr/>
          <p:nvPr/>
        </p:nvSpPr>
        <p:spPr>
          <a:xfrm>
            <a:off x="781050" y="3438525"/>
            <a:ext cx="400050" cy="190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3B6EBF"/>
              </a:buClr>
              <a:buSzPts val="750"/>
              <a:buFont typeface="Arial"/>
              <a:buNone/>
            </a:pPr>
            <a:r>
              <a:rPr b="1" lang="en-US" sz="750">
                <a:solidFill>
                  <a:srgbClr val="3B6EBF"/>
                </a:solidFill>
              </a:rPr>
              <a:t>T3</a:t>
            </a:r>
            <a:endParaRPr/>
          </a:p>
        </p:txBody>
      </p:sp>
      <p:sp>
        <p:nvSpPr>
          <p:cNvPr id="1531" name="Google Shape;1531;p25"/>
          <p:cNvSpPr/>
          <p:nvPr/>
        </p:nvSpPr>
        <p:spPr>
          <a:xfrm>
            <a:off x="1323975" y="3286125"/>
            <a:ext cx="3857625" cy="5048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690"/>
              <a:buFont typeface="Arial"/>
              <a:buNone/>
            </a:pPr>
            <a:r>
              <a:rPr lang="en-US" sz="690">
                <a:solidFill>
                  <a:srgbClr val="1A1A2E"/>
                </a:solidFill>
              </a:rPr>
              <a:t>“The dashboard should auto-refresh every 5 seconds. [Later in same meeting] Performance is critical, minimize API calls.”</a:t>
            </a:r>
            <a:endParaRPr/>
          </a:p>
        </p:txBody>
      </p:sp>
      <p:sp>
        <p:nvSpPr>
          <p:cNvPr id="1532" name="Google Shape;1532;p25"/>
          <p:cNvSpPr/>
          <p:nvPr/>
        </p:nvSpPr>
        <p:spPr>
          <a:xfrm>
            <a:off x="5372100" y="3286125"/>
            <a:ext cx="4476750" cy="5048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660"/>
              <a:buFont typeface="Arial"/>
              <a:buNone/>
            </a:pPr>
            <a:r>
              <a:rPr lang="en-US" sz="660">
                <a:solidFill>
                  <a:srgbClr val="1A1A2E"/>
                </a:solidFill>
              </a:rPr>
              <a:t>partial · FR-001 5-sec refresh · NFR-001 minimize API calls · CTR-001 conflict preserved unresolved</a:t>
            </a:r>
            <a:endParaRPr/>
          </a:p>
        </p:txBody>
      </p:sp>
      <p:sp>
        <p:nvSpPr>
          <p:cNvPr id="1533" name="Google Shape;1533;p25"/>
          <p:cNvSpPr/>
          <p:nvPr/>
        </p:nvSpPr>
        <p:spPr>
          <a:xfrm>
            <a:off x="10039350" y="3314700"/>
            <a:ext cx="1219200" cy="29527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585"/>
              <a:buFont typeface="Arial"/>
              <a:buNone/>
            </a:pPr>
            <a:r>
              <a:rPr b="1" lang="en-US" sz="585">
                <a:solidFill>
                  <a:srgbClr val="666B70"/>
                </a:solidFill>
              </a:rPr>
              <a:t>successful metadata</a:t>
            </a:r>
            <a:endParaRPr/>
          </a:p>
          <a:p>
            <a:pPr indent="0" lvl="0" marL="0" marR="0" rtl="0" algn="l">
              <a:spcBef>
                <a:spcPts val="0"/>
              </a:spcBef>
              <a:spcAft>
                <a:spcPts val="0"/>
              </a:spcAft>
              <a:buClr>
                <a:srgbClr val="666B70"/>
              </a:buClr>
              <a:buSzPts val="585"/>
              <a:buFont typeface="Arial"/>
              <a:buNone/>
            </a:pPr>
            <a:r>
              <a:rPr b="1" lang="en-US" sz="585">
                <a:solidFill>
                  <a:srgbClr val="666B70"/>
                </a:solidFill>
              </a:rPr>
              <a:t>LF 1d107c…7d9d</a:t>
            </a:r>
            <a:endParaRPr/>
          </a:p>
        </p:txBody>
      </p:sp>
      <p:sp>
        <p:nvSpPr>
          <p:cNvPr id="1534" name="Google Shape;1534;p25"/>
          <p:cNvSpPr/>
          <p:nvPr/>
        </p:nvSpPr>
        <p:spPr>
          <a:xfrm>
            <a:off x="10239375" y="3619500"/>
            <a:ext cx="819150" cy="180975"/>
          </a:xfrm>
          <a:prstGeom prst="roundRect">
            <a:avLst>
              <a:gd fmla="val 42105" name="adj"/>
            </a:avLst>
          </a:prstGeom>
          <a:solidFill>
            <a:srgbClr val="E6F0EB"/>
          </a:solidFill>
          <a:ln cap="flat" cmpd="sng" w="9525">
            <a:solidFill>
              <a:srgbClr val="2F6F5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5" name="Google Shape;1535;p25"/>
          <p:cNvSpPr/>
          <p:nvPr/>
        </p:nvSpPr>
        <p:spPr>
          <a:xfrm>
            <a:off x="10239375" y="3629025"/>
            <a:ext cx="819150" cy="1524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F6F57"/>
              </a:buClr>
              <a:buSzPts val="623"/>
              <a:buFont typeface="Arial"/>
              <a:buNone/>
            </a:pPr>
            <a:r>
              <a:rPr b="1" lang="en-US" sz="623">
                <a:solidFill>
                  <a:srgbClr val="2F6F57"/>
                </a:solidFill>
              </a:rPr>
              <a:t>PASS</a:t>
            </a:r>
            <a:endParaRPr/>
          </a:p>
        </p:txBody>
      </p:sp>
      <p:sp>
        <p:nvSpPr>
          <p:cNvPr id="1536" name="Google Shape;1536;p25"/>
          <p:cNvSpPr/>
          <p:nvPr/>
        </p:nvSpPr>
        <p:spPr>
          <a:xfrm>
            <a:off x="685800" y="3886200"/>
            <a:ext cx="10820400" cy="638175"/>
          </a:xfrm>
          <a:prstGeom prst="roundRect">
            <a:avLst>
              <a:gd fmla="val 11940" name="adj"/>
            </a:avLst>
          </a:prstGeom>
          <a:solidFill>
            <a:srgbClr val="FFFFFF"/>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7" name="Google Shape;1537;p25"/>
          <p:cNvSpPr/>
          <p:nvPr/>
        </p:nvSpPr>
        <p:spPr>
          <a:xfrm>
            <a:off x="781050" y="4019550"/>
            <a:ext cx="400050" cy="371475"/>
          </a:xfrm>
          <a:prstGeom prst="roundRect">
            <a:avLst>
              <a:gd fmla="val 20513" name="adj"/>
            </a:avLst>
          </a:prstGeom>
          <a:solidFill>
            <a:srgbClr val="E8EFF9"/>
          </a:solidFill>
          <a:ln cap="flat" cmpd="sng" w="9525">
            <a:solidFill>
              <a:srgbClr val="3B6EB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8" name="Google Shape;1538;p25"/>
          <p:cNvSpPr/>
          <p:nvPr/>
        </p:nvSpPr>
        <p:spPr>
          <a:xfrm>
            <a:off x="781050" y="4105275"/>
            <a:ext cx="400050" cy="190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3B6EBF"/>
              </a:buClr>
              <a:buSzPts val="750"/>
              <a:buFont typeface="Arial"/>
              <a:buNone/>
            </a:pPr>
            <a:r>
              <a:rPr b="1" lang="en-US" sz="750">
                <a:solidFill>
                  <a:srgbClr val="3B6EBF"/>
                </a:solidFill>
              </a:rPr>
              <a:t>T4</a:t>
            </a:r>
            <a:endParaRPr/>
          </a:p>
        </p:txBody>
      </p:sp>
      <p:sp>
        <p:nvSpPr>
          <p:cNvPr id="1539" name="Google Shape;1539;p25"/>
          <p:cNvSpPr/>
          <p:nvPr/>
        </p:nvSpPr>
        <p:spPr>
          <a:xfrm>
            <a:off x="1323975" y="3952875"/>
            <a:ext cx="3857625" cy="5048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690"/>
              <a:buFont typeface="Arial"/>
              <a:buNone/>
            </a:pPr>
            <a:r>
              <a:rPr lang="en-US" sz="690">
                <a:solidFill>
                  <a:srgbClr val="1A1A2E"/>
                </a:solidFill>
              </a:rPr>
              <a:t>“Users need to export reports as PDF and CSV. PDF must include company logo. CSV must preserve formulas.”</a:t>
            </a:r>
            <a:endParaRPr/>
          </a:p>
        </p:txBody>
      </p:sp>
      <p:sp>
        <p:nvSpPr>
          <p:cNvPr id="1540" name="Google Shape;1540;p25"/>
          <p:cNvSpPr/>
          <p:nvPr/>
        </p:nvSpPr>
        <p:spPr>
          <a:xfrm>
            <a:off x="5372100" y="3952875"/>
            <a:ext cx="4476750" cy="5048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660"/>
              <a:buFont typeface="Arial"/>
              <a:buNone/>
            </a:pPr>
            <a:r>
              <a:rPr lang="en-US" sz="660">
                <a:solidFill>
                  <a:srgbClr val="1A1A2E"/>
                </a:solidFill>
              </a:rPr>
              <a:t>complete · FR-001 PDF/CSV export · AC-001 PDF logo · AC-002 CSV formulas preserved</a:t>
            </a:r>
            <a:endParaRPr/>
          </a:p>
        </p:txBody>
      </p:sp>
      <p:sp>
        <p:nvSpPr>
          <p:cNvPr id="1541" name="Google Shape;1541;p25"/>
          <p:cNvSpPr/>
          <p:nvPr/>
        </p:nvSpPr>
        <p:spPr>
          <a:xfrm>
            <a:off x="10039350" y="3981450"/>
            <a:ext cx="1219200" cy="29527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585"/>
              <a:buFont typeface="Arial"/>
              <a:buNone/>
            </a:pPr>
            <a:r>
              <a:rPr b="1" lang="en-US" sz="585">
                <a:solidFill>
                  <a:srgbClr val="666B70"/>
                </a:solidFill>
              </a:rPr>
              <a:t>successful metadata</a:t>
            </a:r>
            <a:endParaRPr/>
          </a:p>
          <a:p>
            <a:pPr indent="0" lvl="0" marL="0" marR="0" rtl="0" algn="l">
              <a:spcBef>
                <a:spcPts val="0"/>
              </a:spcBef>
              <a:spcAft>
                <a:spcPts val="0"/>
              </a:spcAft>
              <a:buClr>
                <a:srgbClr val="666B70"/>
              </a:buClr>
              <a:buSzPts val="585"/>
              <a:buFont typeface="Arial"/>
              <a:buNone/>
            </a:pPr>
            <a:r>
              <a:rPr b="1" lang="en-US" sz="585">
                <a:solidFill>
                  <a:srgbClr val="666B70"/>
                </a:solidFill>
              </a:rPr>
              <a:t>LF 119cf3…0901</a:t>
            </a:r>
            <a:endParaRPr/>
          </a:p>
        </p:txBody>
      </p:sp>
      <p:sp>
        <p:nvSpPr>
          <p:cNvPr id="1542" name="Google Shape;1542;p25"/>
          <p:cNvSpPr/>
          <p:nvPr/>
        </p:nvSpPr>
        <p:spPr>
          <a:xfrm>
            <a:off x="10239375" y="4286250"/>
            <a:ext cx="819150" cy="180975"/>
          </a:xfrm>
          <a:prstGeom prst="roundRect">
            <a:avLst>
              <a:gd fmla="val 42105" name="adj"/>
            </a:avLst>
          </a:prstGeom>
          <a:solidFill>
            <a:srgbClr val="E6F0EB"/>
          </a:solidFill>
          <a:ln cap="flat" cmpd="sng" w="9525">
            <a:solidFill>
              <a:srgbClr val="2F6F5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3" name="Google Shape;1543;p25"/>
          <p:cNvSpPr/>
          <p:nvPr/>
        </p:nvSpPr>
        <p:spPr>
          <a:xfrm>
            <a:off x="10239375" y="4295775"/>
            <a:ext cx="819150" cy="1524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F6F57"/>
              </a:buClr>
              <a:buSzPts val="623"/>
              <a:buFont typeface="Arial"/>
              <a:buNone/>
            </a:pPr>
            <a:r>
              <a:rPr b="1" lang="en-US" sz="623">
                <a:solidFill>
                  <a:srgbClr val="2F6F57"/>
                </a:solidFill>
              </a:rPr>
              <a:t>PASS</a:t>
            </a:r>
            <a:endParaRPr/>
          </a:p>
        </p:txBody>
      </p:sp>
      <p:sp>
        <p:nvSpPr>
          <p:cNvPr id="1544" name="Google Shape;1544;p25"/>
          <p:cNvSpPr/>
          <p:nvPr/>
        </p:nvSpPr>
        <p:spPr>
          <a:xfrm>
            <a:off x="685800" y="4552950"/>
            <a:ext cx="10820400" cy="638175"/>
          </a:xfrm>
          <a:prstGeom prst="roundRect">
            <a:avLst>
              <a:gd fmla="val 11940" name="adj"/>
            </a:avLst>
          </a:prstGeom>
          <a:solidFill>
            <a:srgbClr val="FFFFFF"/>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5" name="Google Shape;1545;p25"/>
          <p:cNvSpPr/>
          <p:nvPr/>
        </p:nvSpPr>
        <p:spPr>
          <a:xfrm>
            <a:off x="781050" y="4686300"/>
            <a:ext cx="400050" cy="371475"/>
          </a:xfrm>
          <a:prstGeom prst="roundRect">
            <a:avLst>
              <a:gd fmla="val 20513" name="adj"/>
            </a:avLst>
          </a:prstGeom>
          <a:solidFill>
            <a:srgbClr val="E8EFF9"/>
          </a:solidFill>
          <a:ln cap="flat" cmpd="sng" w="9525">
            <a:solidFill>
              <a:srgbClr val="3B6EB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6" name="Google Shape;1546;p25"/>
          <p:cNvSpPr/>
          <p:nvPr/>
        </p:nvSpPr>
        <p:spPr>
          <a:xfrm>
            <a:off x="781050" y="4772025"/>
            <a:ext cx="400050" cy="190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3B6EBF"/>
              </a:buClr>
              <a:buSzPts val="750"/>
              <a:buFont typeface="Arial"/>
              <a:buNone/>
            </a:pPr>
            <a:r>
              <a:rPr b="1" lang="en-US" sz="750">
                <a:solidFill>
                  <a:srgbClr val="3B6EBF"/>
                </a:solidFill>
              </a:rPr>
              <a:t>T5</a:t>
            </a:r>
            <a:endParaRPr/>
          </a:p>
        </p:txBody>
      </p:sp>
      <p:sp>
        <p:nvSpPr>
          <p:cNvPr id="1547" name="Google Shape;1547;p25"/>
          <p:cNvSpPr/>
          <p:nvPr/>
        </p:nvSpPr>
        <p:spPr>
          <a:xfrm>
            <a:off x="1323975" y="4619625"/>
            <a:ext cx="3857625" cy="5048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690"/>
              <a:buFont typeface="Arial"/>
              <a:buNone/>
            </a:pPr>
            <a:r>
              <a:rPr lang="en-US" sz="690">
                <a:solidFill>
                  <a:srgbClr val="1A1A2E"/>
                </a:solidFill>
              </a:rPr>
              <a:t>“Discussed dashboard... John mentioned something about real-time... budget TBD...”</a:t>
            </a:r>
            <a:endParaRPr/>
          </a:p>
        </p:txBody>
      </p:sp>
      <p:sp>
        <p:nvSpPr>
          <p:cNvPr id="1548" name="Google Shape;1548;p25"/>
          <p:cNvSpPr/>
          <p:nvPr/>
        </p:nvSpPr>
        <p:spPr>
          <a:xfrm>
            <a:off x="5372100" y="4619625"/>
            <a:ext cx="4476750" cy="5048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660"/>
              <a:buFont typeface="Arial"/>
              <a:buNone/>
            </a:pPr>
            <a:r>
              <a:rPr lang="en-US" sz="660">
                <a:solidFill>
                  <a:srgbClr val="1A1A2E"/>
                </a:solidFill>
              </a:rPr>
              <a:t>partial · no unsupported requirement · MISS-001 dashboard scope · MISS-002 real-time meaning · MISS-003 budget</a:t>
            </a:r>
            <a:endParaRPr/>
          </a:p>
        </p:txBody>
      </p:sp>
      <p:sp>
        <p:nvSpPr>
          <p:cNvPr id="1549" name="Google Shape;1549;p25"/>
          <p:cNvSpPr/>
          <p:nvPr/>
        </p:nvSpPr>
        <p:spPr>
          <a:xfrm>
            <a:off x="10039350" y="4648200"/>
            <a:ext cx="1219200" cy="29527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585"/>
              <a:buFont typeface="Arial"/>
              <a:buNone/>
            </a:pPr>
            <a:r>
              <a:rPr b="1" lang="en-US" sz="585">
                <a:solidFill>
                  <a:srgbClr val="666B70"/>
                </a:solidFill>
              </a:rPr>
              <a:t>successful metadata</a:t>
            </a:r>
            <a:endParaRPr/>
          </a:p>
          <a:p>
            <a:pPr indent="0" lvl="0" marL="0" marR="0" rtl="0" algn="l">
              <a:spcBef>
                <a:spcPts val="0"/>
              </a:spcBef>
              <a:spcAft>
                <a:spcPts val="0"/>
              </a:spcAft>
              <a:buClr>
                <a:srgbClr val="666B70"/>
              </a:buClr>
              <a:buSzPts val="585"/>
              <a:buFont typeface="Arial"/>
              <a:buNone/>
            </a:pPr>
            <a:r>
              <a:rPr b="1" lang="en-US" sz="585">
                <a:solidFill>
                  <a:srgbClr val="666B70"/>
                </a:solidFill>
              </a:rPr>
              <a:t>LF e6fd72…38e1</a:t>
            </a:r>
            <a:endParaRPr/>
          </a:p>
        </p:txBody>
      </p:sp>
      <p:sp>
        <p:nvSpPr>
          <p:cNvPr id="1550" name="Google Shape;1550;p25"/>
          <p:cNvSpPr/>
          <p:nvPr/>
        </p:nvSpPr>
        <p:spPr>
          <a:xfrm>
            <a:off x="10239375" y="4953000"/>
            <a:ext cx="819150" cy="180975"/>
          </a:xfrm>
          <a:prstGeom prst="roundRect">
            <a:avLst>
              <a:gd fmla="val 42105" name="adj"/>
            </a:avLst>
          </a:prstGeom>
          <a:solidFill>
            <a:srgbClr val="E6F0EB"/>
          </a:solidFill>
          <a:ln cap="flat" cmpd="sng" w="9525">
            <a:solidFill>
              <a:srgbClr val="2F6F5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1" name="Google Shape;1551;p25"/>
          <p:cNvSpPr/>
          <p:nvPr/>
        </p:nvSpPr>
        <p:spPr>
          <a:xfrm>
            <a:off x="10239375" y="4962525"/>
            <a:ext cx="819150" cy="1524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F6F57"/>
              </a:buClr>
              <a:buSzPts val="623"/>
              <a:buFont typeface="Arial"/>
              <a:buNone/>
            </a:pPr>
            <a:r>
              <a:rPr b="1" lang="en-US" sz="623">
                <a:solidFill>
                  <a:srgbClr val="2F6F57"/>
                </a:solidFill>
              </a:rPr>
              <a:t>PASS</a:t>
            </a:r>
            <a:endParaRPr/>
          </a:p>
        </p:txBody>
      </p:sp>
      <p:sp>
        <p:nvSpPr>
          <p:cNvPr id="1552" name="Google Shape;1552;p25"/>
          <p:cNvSpPr/>
          <p:nvPr/>
        </p:nvSpPr>
        <p:spPr>
          <a:xfrm>
            <a:off x="685800" y="5219700"/>
            <a:ext cx="10820400" cy="638175"/>
          </a:xfrm>
          <a:prstGeom prst="roundRect">
            <a:avLst>
              <a:gd fmla="val 11940" name="adj"/>
            </a:avLst>
          </a:prstGeom>
          <a:solidFill>
            <a:srgbClr val="FFFFFF"/>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3" name="Google Shape;1553;p25"/>
          <p:cNvSpPr/>
          <p:nvPr/>
        </p:nvSpPr>
        <p:spPr>
          <a:xfrm>
            <a:off x="781050" y="5353050"/>
            <a:ext cx="400050" cy="371475"/>
          </a:xfrm>
          <a:prstGeom prst="roundRect">
            <a:avLst>
              <a:gd fmla="val 20513" name="adj"/>
            </a:avLst>
          </a:prstGeom>
          <a:solidFill>
            <a:srgbClr val="E8EFF9"/>
          </a:solidFill>
          <a:ln cap="flat" cmpd="sng" w="9525">
            <a:solidFill>
              <a:srgbClr val="3B6EB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4" name="Google Shape;1554;p25"/>
          <p:cNvSpPr/>
          <p:nvPr/>
        </p:nvSpPr>
        <p:spPr>
          <a:xfrm>
            <a:off x="781050" y="5438775"/>
            <a:ext cx="400050" cy="190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3B6EBF"/>
              </a:buClr>
              <a:buSzPts val="750"/>
              <a:buFont typeface="Arial"/>
              <a:buNone/>
            </a:pPr>
            <a:r>
              <a:rPr b="1" lang="en-US" sz="750">
                <a:solidFill>
                  <a:srgbClr val="3B6EBF"/>
                </a:solidFill>
              </a:rPr>
              <a:t>T6</a:t>
            </a:r>
            <a:endParaRPr/>
          </a:p>
        </p:txBody>
      </p:sp>
      <p:sp>
        <p:nvSpPr>
          <p:cNvPr id="1555" name="Google Shape;1555;p25"/>
          <p:cNvSpPr/>
          <p:nvPr/>
        </p:nvSpPr>
        <p:spPr>
          <a:xfrm>
            <a:off x="1323975" y="5286375"/>
            <a:ext cx="3857625" cy="5048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690"/>
              <a:buFont typeface="Arial"/>
              <a:buNone/>
            </a:pPr>
            <a:r>
              <a:rPr lang="en-US" sz="690">
                <a:solidFill>
                  <a:srgbClr val="1A1A2E"/>
                </a:solidFill>
              </a:rPr>
              <a:t>“Engineering wants microservices. Design wants single-page app. PM wants it shipped by March.”</a:t>
            </a:r>
            <a:endParaRPr/>
          </a:p>
        </p:txBody>
      </p:sp>
      <p:sp>
        <p:nvSpPr>
          <p:cNvPr id="1556" name="Google Shape;1556;p25"/>
          <p:cNvSpPr/>
          <p:nvPr/>
        </p:nvSpPr>
        <p:spPr>
          <a:xfrm>
            <a:off x="5372100" y="5286375"/>
            <a:ext cx="4476750" cy="5048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660"/>
              <a:buFont typeface="Arial"/>
              <a:buNone/>
            </a:pPr>
            <a:r>
              <a:rPr lang="en-US" sz="660">
                <a:solidFill>
                  <a:srgbClr val="1A1A2E"/>
                </a:solidFill>
              </a:rPr>
              <a:t>partial · CON-001 microservices · CON-002 SPA · DDL-001 March · CTR-001 architecture conflict unresolved</a:t>
            </a:r>
            <a:endParaRPr/>
          </a:p>
        </p:txBody>
      </p:sp>
      <p:sp>
        <p:nvSpPr>
          <p:cNvPr id="1557" name="Google Shape;1557;p25"/>
          <p:cNvSpPr/>
          <p:nvPr/>
        </p:nvSpPr>
        <p:spPr>
          <a:xfrm>
            <a:off x="10039350" y="5314950"/>
            <a:ext cx="1219200" cy="29527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585"/>
              <a:buFont typeface="Arial"/>
              <a:buNone/>
            </a:pPr>
            <a:r>
              <a:rPr b="1" lang="en-US" sz="585">
                <a:solidFill>
                  <a:srgbClr val="666B70"/>
                </a:solidFill>
              </a:rPr>
              <a:t>successful metadata</a:t>
            </a:r>
            <a:endParaRPr/>
          </a:p>
          <a:p>
            <a:pPr indent="0" lvl="0" marL="0" marR="0" rtl="0" algn="l">
              <a:spcBef>
                <a:spcPts val="0"/>
              </a:spcBef>
              <a:spcAft>
                <a:spcPts val="0"/>
              </a:spcAft>
              <a:buClr>
                <a:srgbClr val="666B70"/>
              </a:buClr>
              <a:buSzPts val="585"/>
              <a:buFont typeface="Arial"/>
              <a:buNone/>
            </a:pPr>
            <a:r>
              <a:rPr b="1" lang="en-US" sz="585">
                <a:solidFill>
                  <a:srgbClr val="666B70"/>
                </a:solidFill>
              </a:rPr>
              <a:t>LF 4df943…f4d7</a:t>
            </a:r>
            <a:endParaRPr/>
          </a:p>
        </p:txBody>
      </p:sp>
      <p:sp>
        <p:nvSpPr>
          <p:cNvPr id="1558" name="Google Shape;1558;p25"/>
          <p:cNvSpPr/>
          <p:nvPr/>
        </p:nvSpPr>
        <p:spPr>
          <a:xfrm>
            <a:off x="10239375" y="5619750"/>
            <a:ext cx="819150" cy="180975"/>
          </a:xfrm>
          <a:prstGeom prst="roundRect">
            <a:avLst>
              <a:gd fmla="val 42105" name="adj"/>
            </a:avLst>
          </a:prstGeom>
          <a:solidFill>
            <a:srgbClr val="E6F0EB"/>
          </a:solidFill>
          <a:ln cap="flat" cmpd="sng" w="9525">
            <a:solidFill>
              <a:srgbClr val="2F6F5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9" name="Google Shape;1559;p25"/>
          <p:cNvSpPr/>
          <p:nvPr/>
        </p:nvSpPr>
        <p:spPr>
          <a:xfrm>
            <a:off x="10239375" y="5629275"/>
            <a:ext cx="819150" cy="1524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F6F57"/>
              </a:buClr>
              <a:buSzPts val="623"/>
              <a:buFont typeface="Arial"/>
              <a:buNone/>
            </a:pPr>
            <a:r>
              <a:rPr b="1" lang="en-US" sz="623">
                <a:solidFill>
                  <a:srgbClr val="2F6F57"/>
                </a:solidFill>
              </a:rPr>
              <a:t>PASS</a:t>
            </a:r>
            <a:endParaRPr/>
          </a:p>
        </p:txBody>
      </p:sp>
      <p:sp>
        <p:nvSpPr>
          <p:cNvPr id="1560" name="Google Shape;1560;p25"/>
          <p:cNvSpPr/>
          <p:nvPr/>
        </p:nvSpPr>
        <p:spPr>
          <a:xfrm>
            <a:off x="685800" y="5924550"/>
            <a:ext cx="10820400" cy="285750"/>
          </a:xfrm>
          <a:prstGeom prst="roundRect">
            <a:avLst>
              <a:gd fmla="val 26667" name="adj"/>
            </a:avLst>
          </a:prstGeom>
          <a:solidFill>
            <a:srgbClr val="E6F0EB"/>
          </a:solidFill>
          <a:ln cap="flat" cmpd="sng" w="9525">
            <a:solidFill>
              <a:srgbClr val="2F6F5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61" name="Google Shape;1561;p25"/>
          <p:cNvSpPr/>
          <p:nvPr/>
        </p:nvSpPr>
        <p:spPr>
          <a:xfrm>
            <a:off x="952500" y="5981700"/>
            <a:ext cx="10287000" cy="171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F6F57"/>
              </a:buClr>
              <a:buSzPts val="728"/>
              <a:buFont typeface="Arial"/>
              <a:buNone/>
            </a:pPr>
            <a:r>
              <a:rPr b="1" lang="en-US" sz="728">
                <a:solidFill>
                  <a:srgbClr val="2F6F57"/>
                </a:solidFill>
              </a:rPr>
              <a:t>Method: human-reviewed expected output ↔ preserved actual JSON/Markdown ↔ successful n8n/Langfuse receipt</a:t>
            </a:r>
            <a:endParaRPr/>
          </a:p>
        </p:txBody>
      </p:sp>
      <p:sp>
        <p:nvSpPr>
          <p:cNvPr id="1562" name="Google Shape;1562;p25"/>
          <p:cNvSpPr/>
          <p:nvPr/>
        </p:nvSpPr>
        <p:spPr>
          <a:xfrm>
            <a:off x="0" y="6305550"/>
            <a:ext cx="12192000" cy="552450"/>
          </a:xfrm>
          <a:prstGeom prst="rect">
            <a:avLst/>
          </a:prstGeom>
          <a:solidFill>
            <a:srgbClr val="1A1A2E"/>
          </a:solidFill>
          <a:ln cap="flat" cmpd="sng" w="9525">
            <a:solidFill>
              <a:srgbClr val="1A1A2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63" name="Google Shape;1563;p25"/>
          <p:cNvSpPr/>
          <p:nvPr/>
        </p:nvSpPr>
        <p:spPr>
          <a:xfrm>
            <a:off x="781050" y="6429375"/>
            <a:ext cx="1714500" cy="190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C9C6D8"/>
              </a:buClr>
              <a:buSzPts val="810"/>
              <a:buFont typeface="Arial"/>
              <a:buNone/>
            </a:pPr>
            <a:r>
              <a:rPr b="1" lang="en-US" sz="810">
                <a:solidFill>
                  <a:srgbClr val="C9C6D8"/>
                </a:solidFill>
              </a:rPr>
              <a:t>A6</a:t>
            </a:r>
            <a:endParaRPr/>
          </a:p>
        </p:txBody>
      </p:sp>
      <p:sp>
        <p:nvSpPr>
          <p:cNvPr id="1564" name="Google Shape;1564;p25"/>
          <p:cNvSpPr/>
          <p:nvPr/>
        </p:nvSpPr>
        <p:spPr>
          <a:xfrm>
            <a:off x="2476500" y="6391275"/>
            <a:ext cx="8934450" cy="2667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FFFFFF"/>
              </a:buClr>
              <a:buSzPts val="1065"/>
              <a:buFont typeface="Arial"/>
              <a:buNone/>
            </a:pPr>
            <a:r>
              <a:rPr b="1" lang="en-US" sz="1065">
                <a:solidFill>
                  <a:srgbClr val="FFFFFF"/>
                </a:solidFill>
              </a:rPr>
              <a:t>The extractor preserves facts, contradictions, and missing information without inventing requirements.</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4EE"/>
        </a:solidFill>
      </p:bgPr>
    </p:bg>
    <p:spTree>
      <p:nvGrpSpPr>
        <p:cNvPr id="1569" name="Shape 1569"/>
        <p:cNvGrpSpPr/>
        <p:nvPr/>
      </p:nvGrpSpPr>
      <p:grpSpPr>
        <a:xfrm>
          <a:off x="0" y="0"/>
          <a:ext cx="0" cy="0"/>
          <a:chOff x="0" y="0"/>
          <a:chExt cx="0" cy="0"/>
        </a:xfrm>
      </p:grpSpPr>
      <p:sp>
        <p:nvSpPr>
          <p:cNvPr id="1570" name="Google Shape;1570;p26"/>
          <p:cNvSpPr/>
          <p:nvPr/>
        </p:nvSpPr>
        <p:spPr>
          <a:xfrm>
            <a:off x="0" y="0"/>
            <a:ext cx="12192000" cy="76200"/>
          </a:xfrm>
          <a:prstGeom prst="rect">
            <a:avLst/>
          </a:prstGeom>
          <a:solidFill>
            <a:srgbClr val="B85042"/>
          </a:solidFill>
          <a:ln cap="flat" cmpd="sng" w="9525">
            <a:solidFill>
              <a:srgbClr val="B8504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1" name="Google Shape;1571;p26"/>
          <p:cNvSpPr/>
          <p:nvPr/>
        </p:nvSpPr>
        <p:spPr>
          <a:xfrm>
            <a:off x="514350" y="590550"/>
            <a:ext cx="66675" cy="723900"/>
          </a:xfrm>
          <a:prstGeom prst="rect">
            <a:avLst/>
          </a:prstGeom>
          <a:solidFill>
            <a:srgbClr val="B85042"/>
          </a:solidFill>
          <a:ln cap="flat" cmpd="sng" w="9525">
            <a:solidFill>
              <a:srgbClr val="B8504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2" name="Google Shape;1572;p26"/>
          <p:cNvSpPr/>
          <p:nvPr/>
        </p:nvSpPr>
        <p:spPr>
          <a:xfrm>
            <a:off x="781050" y="438150"/>
            <a:ext cx="8763000" cy="2381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B85042"/>
              </a:buClr>
              <a:buSzPts val="938"/>
              <a:buFont typeface="Arial"/>
              <a:buNone/>
            </a:pPr>
            <a:r>
              <a:rPr b="1" lang="en-US" sz="938">
                <a:solidFill>
                  <a:srgbClr val="B85042"/>
                </a:solidFill>
              </a:rPr>
              <a:t>A7  ·  BASELINE INPUT → OUTPUT EVIDENCE · T7–T12</a:t>
            </a:r>
            <a:endParaRPr/>
          </a:p>
        </p:txBody>
      </p:sp>
      <p:sp>
        <p:nvSpPr>
          <p:cNvPr id="1573" name="Google Shape;1573;p26"/>
          <p:cNvSpPr/>
          <p:nvPr/>
        </p:nvSpPr>
        <p:spPr>
          <a:xfrm>
            <a:off x="781050" y="723900"/>
            <a:ext cx="10629900" cy="4953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2325"/>
              <a:buFont typeface="Arial"/>
              <a:buNone/>
            </a:pPr>
            <a:r>
              <a:rPr b="1" lang="en-US" sz="2325">
                <a:solidFill>
                  <a:srgbClr val="1A1A2E"/>
                </a:solidFill>
              </a:rPr>
              <a:t>Technical constraints flow into grounded PRD and story artifacts</a:t>
            </a:r>
            <a:endParaRPr/>
          </a:p>
        </p:txBody>
      </p:sp>
      <p:sp>
        <p:nvSpPr>
          <p:cNvPr id="1574" name="Google Shape;1574;p26"/>
          <p:cNvSpPr/>
          <p:nvPr/>
        </p:nvSpPr>
        <p:spPr>
          <a:xfrm>
            <a:off x="781050" y="1238250"/>
            <a:ext cx="10629900" cy="2667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1035"/>
              <a:buFont typeface="Arial"/>
              <a:buNone/>
            </a:pPr>
            <a:r>
              <a:rPr lang="en-US" sz="1035">
                <a:solidFill>
                  <a:srgbClr val="666B70"/>
                </a:solidFill>
              </a:rPr>
              <a:t>The remaining cases verify exact metrics, personas, refusal behavior, dependencies, PRD generation, and story decomposition.</a:t>
            </a:r>
            <a:endParaRPr/>
          </a:p>
        </p:txBody>
      </p:sp>
      <p:sp>
        <p:nvSpPr>
          <p:cNvPr id="1575" name="Google Shape;1575;p26"/>
          <p:cNvSpPr/>
          <p:nvPr/>
        </p:nvSpPr>
        <p:spPr>
          <a:xfrm>
            <a:off x="1323975" y="1657350"/>
            <a:ext cx="3857625" cy="190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3B6EBF"/>
              </a:buClr>
              <a:buSzPts val="788"/>
              <a:buFont typeface="Arial"/>
              <a:buNone/>
            </a:pPr>
            <a:r>
              <a:rPr b="1" lang="en-US" sz="788">
                <a:solidFill>
                  <a:srgbClr val="3B6EBF"/>
                </a:solidFill>
              </a:rPr>
              <a:t>EXACT BASELINE INPUT</a:t>
            </a:r>
            <a:endParaRPr/>
          </a:p>
        </p:txBody>
      </p:sp>
      <p:sp>
        <p:nvSpPr>
          <p:cNvPr id="1576" name="Google Shape;1576;p26"/>
          <p:cNvSpPr/>
          <p:nvPr/>
        </p:nvSpPr>
        <p:spPr>
          <a:xfrm>
            <a:off x="5372100" y="1657350"/>
            <a:ext cx="4476750" cy="190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F6F57"/>
              </a:buClr>
              <a:buSzPts val="788"/>
              <a:buFont typeface="Arial"/>
              <a:buNone/>
            </a:pPr>
            <a:r>
              <a:rPr b="1" lang="en-US" sz="788">
                <a:solidFill>
                  <a:srgbClr val="2F6F57"/>
                </a:solidFill>
              </a:rPr>
              <a:t>ACTUAL PRESERVED OUTPUT</a:t>
            </a:r>
            <a:endParaRPr/>
          </a:p>
        </p:txBody>
      </p:sp>
      <p:sp>
        <p:nvSpPr>
          <p:cNvPr id="1577" name="Google Shape;1577;p26"/>
          <p:cNvSpPr/>
          <p:nvPr/>
        </p:nvSpPr>
        <p:spPr>
          <a:xfrm>
            <a:off x="10039350" y="1657350"/>
            <a:ext cx="1219200" cy="190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B85042"/>
              </a:buClr>
              <a:buSzPts val="682"/>
              <a:buFont typeface="Arial"/>
              <a:buNone/>
            </a:pPr>
            <a:r>
              <a:rPr b="1" lang="en-US" sz="682">
                <a:solidFill>
                  <a:srgbClr val="B85042"/>
                </a:solidFill>
              </a:rPr>
              <a:t>EXECUTION RECEIPT</a:t>
            </a:r>
            <a:endParaRPr/>
          </a:p>
        </p:txBody>
      </p:sp>
      <p:sp>
        <p:nvSpPr>
          <p:cNvPr id="1578" name="Google Shape;1578;p26"/>
          <p:cNvSpPr/>
          <p:nvPr/>
        </p:nvSpPr>
        <p:spPr>
          <a:xfrm>
            <a:off x="685800" y="1885950"/>
            <a:ext cx="10820400" cy="638175"/>
          </a:xfrm>
          <a:prstGeom prst="roundRect">
            <a:avLst>
              <a:gd fmla="val 11940" name="adj"/>
            </a:avLst>
          </a:prstGeom>
          <a:solidFill>
            <a:srgbClr val="FFFFFF"/>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9" name="Google Shape;1579;p26"/>
          <p:cNvSpPr/>
          <p:nvPr/>
        </p:nvSpPr>
        <p:spPr>
          <a:xfrm>
            <a:off x="781050" y="2019300"/>
            <a:ext cx="400050" cy="371475"/>
          </a:xfrm>
          <a:prstGeom prst="roundRect">
            <a:avLst>
              <a:gd fmla="val 20513" name="adj"/>
            </a:avLst>
          </a:prstGeom>
          <a:solidFill>
            <a:srgbClr val="E6F0EB"/>
          </a:solidFill>
          <a:ln cap="flat" cmpd="sng" w="9525">
            <a:solidFill>
              <a:srgbClr val="2F6F5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0" name="Google Shape;1580;p26"/>
          <p:cNvSpPr/>
          <p:nvPr/>
        </p:nvSpPr>
        <p:spPr>
          <a:xfrm>
            <a:off x="781050" y="2105025"/>
            <a:ext cx="400050" cy="190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F6F57"/>
              </a:buClr>
              <a:buSzPts val="750"/>
              <a:buFont typeface="Arial"/>
              <a:buNone/>
            </a:pPr>
            <a:r>
              <a:rPr b="1" lang="en-US" sz="750">
                <a:solidFill>
                  <a:srgbClr val="2F6F57"/>
                </a:solidFill>
              </a:rPr>
              <a:t>T7</a:t>
            </a:r>
            <a:endParaRPr/>
          </a:p>
        </p:txBody>
      </p:sp>
      <p:sp>
        <p:nvSpPr>
          <p:cNvPr id="1581" name="Google Shape;1581;p26"/>
          <p:cNvSpPr/>
          <p:nvPr/>
        </p:nvSpPr>
        <p:spPr>
          <a:xfrm>
            <a:off x="1323975" y="1952625"/>
            <a:ext cx="3857625" cy="5048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690"/>
              <a:buFont typeface="Arial"/>
              <a:buNone/>
            </a:pPr>
            <a:r>
              <a:rPr lang="en-US" sz="690">
                <a:solidFill>
                  <a:srgbClr val="1A1A2E"/>
                </a:solidFill>
              </a:rPr>
              <a:t>“API must support 10,000 concurrent users. Response time &lt; 200ms at p95. Must integrate with Salesforce REST API v52.”</a:t>
            </a:r>
            <a:endParaRPr/>
          </a:p>
        </p:txBody>
      </p:sp>
      <p:sp>
        <p:nvSpPr>
          <p:cNvPr id="1582" name="Google Shape;1582;p26"/>
          <p:cNvSpPr/>
          <p:nvPr/>
        </p:nvSpPr>
        <p:spPr>
          <a:xfrm>
            <a:off x="5372100" y="1952625"/>
            <a:ext cx="4476750" cy="5048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660"/>
              <a:buFont typeface="Arial"/>
              <a:buNone/>
            </a:pPr>
            <a:r>
              <a:rPr lang="en-US" sz="660">
                <a:solidFill>
                  <a:srgbClr val="1A1A2E"/>
                </a:solidFill>
              </a:rPr>
              <a:t>complete · NFR-001 10,000 users · NFR-002 &lt;200 ms p95 · NFR-003 Salesforce REST API v52</a:t>
            </a:r>
            <a:endParaRPr/>
          </a:p>
        </p:txBody>
      </p:sp>
      <p:sp>
        <p:nvSpPr>
          <p:cNvPr id="1583" name="Google Shape;1583;p26"/>
          <p:cNvSpPr/>
          <p:nvPr/>
        </p:nvSpPr>
        <p:spPr>
          <a:xfrm>
            <a:off x="10039350" y="1981200"/>
            <a:ext cx="1219200" cy="29527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585"/>
              <a:buFont typeface="Arial"/>
              <a:buNone/>
            </a:pPr>
            <a:r>
              <a:rPr b="1" lang="en-US" sz="585">
                <a:solidFill>
                  <a:srgbClr val="666B70"/>
                </a:solidFill>
              </a:rPr>
              <a:t>successful metadata</a:t>
            </a:r>
            <a:endParaRPr/>
          </a:p>
          <a:p>
            <a:pPr indent="0" lvl="0" marL="0" marR="0" rtl="0" algn="l">
              <a:spcBef>
                <a:spcPts val="0"/>
              </a:spcBef>
              <a:spcAft>
                <a:spcPts val="0"/>
              </a:spcAft>
              <a:buClr>
                <a:srgbClr val="666B70"/>
              </a:buClr>
              <a:buSzPts val="585"/>
              <a:buFont typeface="Arial"/>
              <a:buNone/>
            </a:pPr>
            <a:r>
              <a:rPr b="1" lang="en-US" sz="585">
                <a:solidFill>
                  <a:srgbClr val="666B70"/>
                </a:solidFill>
              </a:rPr>
              <a:t>LF f1f4b6…f56f</a:t>
            </a:r>
            <a:endParaRPr/>
          </a:p>
        </p:txBody>
      </p:sp>
      <p:sp>
        <p:nvSpPr>
          <p:cNvPr id="1584" name="Google Shape;1584;p26"/>
          <p:cNvSpPr/>
          <p:nvPr/>
        </p:nvSpPr>
        <p:spPr>
          <a:xfrm>
            <a:off x="10239375" y="2286000"/>
            <a:ext cx="819150" cy="180975"/>
          </a:xfrm>
          <a:prstGeom prst="roundRect">
            <a:avLst>
              <a:gd fmla="val 42105" name="adj"/>
            </a:avLst>
          </a:prstGeom>
          <a:solidFill>
            <a:srgbClr val="E6F0EB"/>
          </a:solidFill>
          <a:ln cap="flat" cmpd="sng" w="9525">
            <a:solidFill>
              <a:srgbClr val="2F6F5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5" name="Google Shape;1585;p26"/>
          <p:cNvSpPr/>
          <p:nvPr/>
        </p:nvSpPr>
        <p:spPr>
          <a:xfrm>
            <a:off x="10239375" y="2295525"/>
            <a:ext cx="819150" cy="1524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F6F57"/>
              </a:buClr>
              <a:buSzPts val="623"/>
              <a:buFont typeface="Arial"/>
              <a:buNone/>
            </a:pPr>
            <a:r>
              <a:rPr b="1" lang="en-US" sz="623">
                <a:solidFill>
                  <a:srgbClr val="2F6F57"/>
                </a:solidFill>
              </a:rPr>
              <a:t>PASS</a:t>
            </a:r>
            <a:endParaRPr/>
          </a:p>
        </p:txBody>
      </p:sp>
      <p:sp>
        <p:nvSpPr>
          <p:cNvPr id="1586" name="Google Shape;1586;p26"/>
          <p:cNvSpPr/>
          <p:nvPr/>
        </p:nvSpPr>
        <p:spPr>
          <a:xfrm>
            <a:off x="685800" y="2552700"/>
            <a:ext cx="10820400" cy="638175"/>
          </a:xfrm>
          <a:prstGeom prst="roundRect">
            <a:avLst>
              <a:gd fmla="val 11940" name="adj"/>
            </a:avLst>
          </a:prstGeom>
          <a:solidFill>
            <a:srgbClr val="FFFFFF"/>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7" name="Google Shape;1587;p26"/>
          <p:cNvSpPr/>
          <p:nvPr/>
        </p:nvSpPr>
        <p:spPr>
          <a:xfrm>
            <a:off x="781050" y="2686050"/>
            <a:ext cx="400050" cy="371475"/>
          </a:xfrm>
          <a:prstGeom prst="roundRect">
            <a:avLst>
              <a:gd fmla="val 20513" name="adj"/>
            </a:avLst>
          </a:prstGeom>
          <a:solidFill>
            <a:srgbClr val="E6F0EB"/>
          </a:solidFill>
          <a:ln cap="flat" cmpd="sng" w="9525">
            <a:solidFill>
              <a:srgbClr val="2F6F5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8" name="Google Shape;1588;p26"/>
          <p:cNvSpPr/>
          <p:nvPr/>
        </p:nvSpPr>
        <p:spPr>
          <a:xfrm>
            <a:off x="781050" y="2771775"/>
            <a:ext cx="400050" cy="190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F6F57"/>
              </a:buClr>
              <a:buSzPts val="750"/>
              <a:buFont typeface="Arial"/>
              <a:buNone/>
            </a:pPr>
            <a:r>
              <a:rPr b="1" lang="en-US" sz="750">
                <a:solidFill>
                  <a:srgbClr val="2F6F57"/>
                </a:solidFill>
              </a:rPr>
              <a:t>T8</a:t>
            </a:r>
            <a:endParaRPr/>
          </a:p>
        </p:txBody>
      </p:sp>
      <p:sp>
        <p:nvSpPr>
          <p:cNvPr id="1589" name="Google Shape;1589;p26"/>
          <p:cNvSpPr/>
          <p:nvPr/>
        </p:nvSpPr>
        <p:spPr>
          <a:xfrm>
            <a:off x="1323975" y="2619375"/>
            <a:ext cx="3857625" cy="5048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690"/>
              <a:buFont typeface="Arial"/>
              <a:buNone/>
            </a:pPr>
            <a:r>
              <a:rPr lang="en-US" sz="690">
                <a:solidFill>
                  <a:srgbClr val="1A1A2E"/>
                </a:solidFill>
              </a:rPr>
              <a:t>“Admins need bulk user management. End users need a simplified view. Auditors need read-only access with full history.”</a:t>
            </a:r>
            <a:endParaRPr/>
          </a:p>
        </p:txBody>
      </p:sp>
      <p:sp>
        <p:nvSpPr>
          <p:cNvPr id="1590" name="Google Shape;1590;p26"/>
          <p:cNvSpPr/>
          <p:nvPr/>
        </p:nvSpPr>
        <p:spPr>
          <a:xfrm>
            <a:off x="5372100" y="2619375"/>
            <a:ext cx="4476750" cy="5048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660"/>
              <a:buFont typeface="Arial"/>
              <a:buNone/>
            </a:pPr>
            <a:r>
              <a:rPr lang="en-US" sz="660">
                <a:solidFill>
                  <a:srgbClr val="1A1A2E"/>
                </a:solidFill>
              </a:rPr>
              <a:t>complete · PER-001/FR-001 Admins · PER-002/FR-002 End users · PER-003/FR-003 Auditors</a:t>
            </a:r>
            <a:endParaRPr/>
          </a:p>
        </p:txBody>
      </p:sp>
      <p:sp>
        <p:nvSpPr>
          <p:cNvPr id="1591" name="Google Shape;1591;p26"/>
          <p:cNvSpPr/>
          <p:nvPr/>
        </p:nvSpPr>
        <p:spPr>
          <a:xfrm>
            <a:off x="10039350" y="2647950"/>
            <a:ext cx="1219200" cy="29527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585"/>
              <a:buFont typeface="Arial"/>
              <a:buNone/>
            </a:pPr>
            <a:r>
              <a:rPr b="1" lang="en-US" sz="585">
                <a:solidFill>
                  <a:srgbClr val="666B70"/>
                </a:solidFill>
              </a:rPr>
              <a:t>successful metadata</a:t>
            </a:r>
            <a:endParaRPr/>
          </a:p>
          <a:p>
            <a:pPr indent="0" lvl="0" marL="0" marR="0" rtl="0" algn="l">
              <a:spcBef>
                <a:spcPts val="0"/>
              </a:spcBef>
              <a:spcAft>
                <a:spcPts val="0"/>
              </a:spcAft>
              <a:buClr>
                <a:srgbClr val="666B70"/>
              </a:buClr>
              <a:buSzPts val="585"/>
              <a:buFont typeface="Arial"/>
              <a:buNone/>
            </a:pPr>
            <a:r>
              <a:rPr b="1" lang="en-US" sz="585">
                <a:solidFill>
                  <a:srgbClr val="666B70"/>
                </a:solidFill>
              </a:rPr>
              <a:t>LF 29a078…ab6e</a:t>
            </a:r>
            <a:endParaRPr/>
          </a:p>
        </p:txBody>
      </p:sp>
      <p:sp>
        <p:nvSpPr>
          <p:cNvPr id="1592" name="Google Shape;1592;p26"/>
          <p:cNvSpPr/>
          <p:nvPr/>
        </p:nvSpPr>
        <p:spPr>
          <a:xfrm>
            <a:off x="10239375" y="2952750"/>
            <a:ext cx="819150" cy="180975"/>
          </a:xfrm>
          <a:prstGeom prst="roundRect">
            <a:avLst>
              <a:gd fmla="val 42105" name="adj"/>
            </a:avLst>
          </a:prstGeom>
          <a:solidFill>
            <a:srgbClr val="E6F0EB"/>
          </a:solidFill>
          <a:ln cap="flat" cmpd="sng" w="9525">
            <a:solidFill>
              <a:srgbClr val="2F6F5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3" name="Google Shape;1593;p26"/>
          <p:cNvSpPr/>
          <p:nvPr/>
        </p:nvSpPr>
        <p:spPr>
          <a:xfrm>
            <a:off x="10239375" y="2962275"/>
            <a:ext cx="819150" cy="1524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F6F57"/>
              </a:buClr>
              <a:buSzPts val="623"/>
              <a:buFont typeface="Arial"/>
              <a:buNone/>
            </a:pPr>
            <a:r>
              <a:rPr b="1" lang="en-US" sz="623">
                <a:solidFill>
                  <a:srgbClr val="2F6F57"/>
                </a:solidFill>
              </a:rPr>
              <a:t>PASS</a:t>
            </a:r>
            <a:endParaRPr/>
          </a:p>
        </p:txBody>
      </p:sp>
      <p:sp>
        <p:nvSpPr>
          <p:cNvPr id="1594" name="Google Shape;1594;p26"/>
          <p:cNvSpPr/>
          <p:nvPr/>
        </p:nvSpPr>
        <p:spPr>
          <a:xfrm>
            <a:off x="685800" y="3219450"/>
            <a:ext cx="10820400" cy="638175"/>
          </a:xfrm>
          <a:prstGeom prst="roundRect">
            <a:avLst>
              <a:gd fmla="val 11940" name="adj"/>
            </a:avLst>
          </a:prstGeom>
          <a:solidFill>
            <a:srgbClr val="FFFFFF"/>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5" name="Google Shape;1595;p26"/>
          <p:cNvSpPr/>
          <p:nvPr/>
        </p:nvSpPr>
        <p:spPr>
          <a:xfrm>
            <a:off x="781050" y="3352800"/>
            <a:ext cx="400050" cy="371475"/>
          </a:xfrm>
          <a:prstGeom prst="roundRect">
            <a:avLst>
              <a:gd fmla="val 20513" name="adj"/>
            </a:avLst>
          </a:prstGeom>
          <a:solidFill>
            <a:srgbClr val="E6F0EB"/>
          </a:solidFill>
          <a:ln cap="flat" cmpd="sng" w="9525">
            <a:solidFill>
              <a:srgbClr val="2F6F5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6" name="Google Shape;1596;p26"/>
          <p:cNvSpPr/>
          <p:nvPr/>
        </p:nvSpPr>
        <p:spPr>
          <a:xfrm>
            <a:off x="781050" y="3438525"/>
            <a:ext cx="400050" cy="190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F6F57"/>
              </a:buClr>
              <a:buSzPts val="750"/>
              <a:buFont typeface="Arial"/>
              <a:buNone/>
            </a:pPr>
            <a:r>
              <a:rPr b="1" lang="en-US" sz="750">
                <a:solidFill>
                  <a:srgbClr val="2F6F57"/>
                </a:solidFill>
              </a:rPr>
              <a:t>T9</a:t>
            </a:r>
            <a:endParaRPr/>
          </a:p>
        </p:txBody>
      </p:sp>
      <p:sp>
        <p:nvSpPr>
          <p:cNvPr id="1597" name="Google Shape;1597;p26"/>
          <p:cNvSpPr/>
          <p:nvPr/>
        </p:nvSpPr>
        <p:spPr>
          <a:xfrm>
            <a:off x="1323975" y="3286125"/>
            <a:ext cx="3857625" cy="5048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690"/>
              <a:buFont typeface="Arial"/>
              <a:buNone/>
            </a:pPr>
            <a:r>
              <a:rPr lang="en-US" sz="690">
                <a:solidFill>
                  <a:srgbClr val="1A1A2E"/>
                </a:solidFill>
              </a:rPr>
              <a:t>“Meeting happened. Notes: none.”</a:t>
            </a:r>
            <a:endParaRPr/>
          </a:p>
        </p:txBody>
      </p:sp>
      <p:sp>
        <p:nvSpPr>
          <p:cNvPr id="1598" name="Google Shape;1598;p26"/>
          <p:cNvSpPr/>
          <p:nvPr/>
        </p:nvSpPr>
        <p:spPr>
          <a:xfrm>
            <a:off x="5372100" y="3286125"/>
            <a:ext cx="4476750" cy="5048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660"/>
              <a:buFont typeface="Arial"/>
              <a:buNone/>
            </a:pPr>
            <a:r>
              <a:rPr lang="en-US" sz="660">
                <a:solidFill>
                  <a:srgbClr val="1A1A2E"/>
                </a:solidFill>
              </a:rPr>
              <a:t>no_requirements · generation refused · MISS-001 requests an authoritative source with product details</a:t>
            </a:r>
            <a:endParaRPr/>
          </a:p>
        </p:txBody>
      </p:sp>
      <p:sp>
        <p:nvSpPr>
          <p:cNvPr id="1599" name="Google Shape;1599;p26"/>
          <p:cNvSpPr/>
          <p:nvPr/>
        </p:nvSpPr>
        <p:spPr>
          <a:xfrm>
            <a:off x="10039350" y="3314700"/>
            <a:ext cx="1219200" cy="29527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585"/>
              <a:buFont typeface="Arial"/>
              <a:buNone/>
            </a:pPr>
            <a:r>
              <a:rPr b="1" lang="en-US" sz="585">
                <a:solidFill>
                  <a:srgbClr val="666B70"/>
                </a:solidFill>
              </a:rPr>
              <a:t>successful metadata</a:t>
            </a:r>
            <a:endParaRPr/>
          </a:p>
          <a:p>
            <a:pPr indent="0" lvl="0" marL="0" marR="0" rtl="0" algn="l">
              <a:spcBef>
                <a:spcPts val="0"/>
              </a:spcBef>
              <a:spcAft>
                <a:spcPts val="0"/>
              </a:spcAft>
              <a:buClr>
                <a:srgbClr val="666B70"/>
              </a:buClr>
              <a:buSzPts val="585"/>
              <a:buFont typeface="Arial"/>
              <a:buNone/>
            </a:pPr>
            <a:r>
              <a:rPr b="1" lang="en-US" sz="585">
                <a:solidFill>
                  <a:srgbClr val="666B70"/>
                </a:solidFill>
              </a:rPr>
              <a:t>LF 3c54e4…205c</a:t>
            </a:r>
            <a:endParaRPr/>
          </a:p>
        </p:txBody>
      </p:sp>
      <p:sp>
        <p:nvSpPr>
          <p:cNvPr id="1600" name="Google Shape;1600;p26"/>
          <p:cNvSpPr/>
          <p:nvPr/>
        </p:nvSpPr>
        <p:spPr>
          <a:xfrm>
            <a:off x="10239375" y="3619500"/>
            <a:ext cx="819150" cy="180975"/>
          </a:xfrm>
          <a:prstGeom prst="roundRect">
            <a:avLst>
              <a:gd fmla="val 42105" name="adj"/>
            </a:avLst>
          </a:prstGeom>
          <a:solidFill>
            <a:srgbClr val="E6F0EB"/>
          </a:solidFill>
          <a:ln cap="flat" cmpd="sng" w="9525">
            <a:solidFill>
              <a:srgbClr val="2F6F5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1" name="Google Shape;1601;p26"/>
          <p:cNvSpPr/>
          <p:nvPr/>
        </p:nvSpPr>
        <p:spPr>
          <a:xfrm>
            <a:off x="10239375" y="3629025"/>
            <a:ext cx="819150" cy="1524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F6F57"/>
              </a:buClr>
              <a:buSzPts val="623"/>
              <a:buFont typeface="Arial"/>
              <a:buNone/>
            </a:pPr>
            <a:r>
              <a:rPr b="1" lang="en-US" sz="623">
                <a:solidFill>
                  <a:srgbClr val="2F6F57"/>
                </a:solidFill>
              </a:rPr>
              <a:t>PASS</a:t>
            </a:r>
            <a:endParaRPr/>
          </a:p>
        </p:txBody>
      </p:sp>
      <p:sp>
        <p:nvSpPr>
          <p:cNvPr id="1602" name="Google Shape;1602;p26"/>
          <p:cNvSpPr/>
          <p:nvPr/>
        </p:nvSpPr>
        <p:spPr>
          <a:xfrm>
            <a:off x="685800" y="3886200"/>
            <a:ext cx="10820400" cy="638175"/>
          </a:xfrm>
          <a:prstGeom prst="roundRect">
            <a:avLst>
              <a:gd fmla="val 11940" name="adj"/>
            </a:avLst>
          </a:prstGeom>
          <a:solidFill>
            <a:srgbClr val="FFFFFF"/>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3" name="Google Shape;1603;p26"/>
          <p:cNvSpPr/>
          <p:nvPr/>
        </p:nvSpPr>
        <p:spPr>
          <a:xfrm>
            <a:off x="781050" y="4019550"/>
            <a:ext cx="400050" cy="371475"/>
          </a:xfrm>
          <a:prstGeom prst="roundRect">
            <a:avLst>
              <a:gd fmla="val 20513" name="adj"/>
            </a:avLst>
          </a:prstGeom>
          <a:solidFill>
            <a:srgbClr val="E6F0EB"/>
          </a:solidFill>
          <a:ln cap="flat" cmpd="sng" w="9525">
            <a:solidFill>
              <a:srgbClr val="2F6F5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4" name="Google Shape;1604;p26"/>
          <p:cNvSpPr/>
          <p:nvPr/>
        </p:nvSpPr>
        <p:spPr>
          <a:xfrm>
            <a:off x="781050" y="4105275"/>
            <a:ext cx="400050" cy="190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F6F57"/>
              </a:buClr>
              <a:buSzPts val="750"/>
              <a:buFont typeface="Arial"/>
              <a:buNone/>
            </a:pPr>
            <a:r>
              <a:rPr b="1" lang="en-US" sz="750">
                <a:solidFill>
                  <a:srgbClr val="2F6F57"/>
                </a:solidFill>
              </a:rPr>
              <a:t>T10</a:t>
            </a:r>
            <a:endParaRPr/>
          </a:p>
        </p:txBody>
      </p:sp>
      <p:sp>
        <p:nvSpPr>
          <p:cNvPr id="1605" name="Google Shape;1605;p26"/>
          <p:cNvSpPr/>
          <p:nvPr/>
        </p:nvSpPr>
        <p:spPr>
          <a:xfrm>
            <a:off x="1323975" y="3952875"/>
            <a:ext cx="3857625" cy="5048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690"/>
              <a:buFont typeface="Arial"/>
              <a:buNone/>
            </a:pPr>
            <a:r>
              <a:rPr lang="en-US" sz="690">
                <a:solidFill>
                  <a:srgbClr val="1A1A2E"/>
                </a:solidFill>
              </a:rPr>
              <a:t>“SSO login requires the new auth service which is being built by Team Alpha. ETA unknown.”</a:t>
            </a:r>
            <a:endParaRPr/>
          </a:p>
        </p:txBody>
      </p:sp>
      <p:sp>
        <p:nvSpPr>
          <p:cNvPr id="1606" name="Google Shape;1606;p26"/>
          <p:cNvSpPr/>
          <p:nvPr/>
        </p:nvSpPr>
        <p:spPr>
          <a:xfrm>
            <a:off x="5372100" y="3952875"/>
            <a:ext cx="4476750" cy="5048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660"/>
              <a:buFont typeface="Arial"/>
              <a:buNone/>
            </a:pPr>
            <a:r>
              <a:rPr lang="en-US" sz="660">
                <a:solidFill>
                  <a:srgbClr val="1A1A2E"/>
                </a:solidFill>
              </a:rPr>
              <a:t>complete · FR-001 SSO/auth service · DEP-001 Team Alpha, ETA unknown · RSK-001 unknown ETA</a:t>
            </a:r>
            <a:endParaRPr/>
          </a:p>
        </p:txBody>
      </p:sp>
      <p:sp>
        <p:nvSpPr>
          <p:cNvPr id="1607" name="Google Shape;1607;p26"/>
          <p:cNvSpPr/>
          <p:nvPr/>
        </p:nvSpPr>
        <p:spPr>
          <a:xfrm>
            <a:off x="10039350" y="3981450"/>
            <a:ext cx="1219200" cy="29527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585"/>
              <a:buFont typeface="Arial"/>
              <a:buNone/>
            </a:pPr>
            <a:r>
              <a:rPr b="1" lang="en-US" sz="585">
                <a:solidFill>
                  <a:srgbClr val="666B70"/>
                </a:solidFill>
              </a:rPr>
              <a:t>successful metadata</a:t>
            </a:r>
            <a:endParaRPr/>
          </a:p>
          <a:p>
            <a:pPr indent="0" lvl="0" marL="0" marR="0" rtl="0" algn="l">
              <a:spcBef>
                <a:spcPts val="0"/>
              </a:spcBef>
              <a:spcAft>
                <a:spcPts val="0"/>
              </a:spcAft>
              <a:buClr>
                <a:srgbClr val="666B70"/>
              </a:buClr>
              <a:buSzPts val="585"/>
              <a:buFont typeface="Arial"/>
              <a:buNone/>
            </a:pPr>
            <a:r>
              <a:rPr b="1" lang="en-US" sz="585">
                <a:solidFill>
                  <a:srgbClr val="666B70"/>
                </a:solidFill>
              </a:rPr>
              <a:t>LF 0c99f0…1bb5</a:t>
            </a:r>
            <a:endParaRPr/>
          </a:p>
        </p:txBody>
      </p:sp>
      <p:sp>
        <p:nvSpPr>
          <p:cNvPr id="1608" name="Google Shape;1608;p26"/>
          <p:cNvSpPr/>
          <p:nvPr/>
        </p:nvSpPr>
        <p:spPr>
          <a:xfrm>
            <a:off x="10239375" y="4286250"/>
            <a:ext cx="819150" cy="180975"/>
          </a:xfrm>
          <a:prstGeom prst="roundRect">
            <a:avLst>
              <a:gd fmla="val 42105" name="adj"/>
            </a:avLst>
          </a:prstGeom>
          <a:solidFill>
            <a:srgbClr val="E6F0EB"/>
          </a:solidFill>
          <a:ln cap="flat" cmpd="sng" w="9525">
            <a:solidFill>
              <a:srgbClr val="2F6F5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9" name="Google Shape;1609;p26"/>
          <p:cNvSpPr/>
          <p:nvPr/>
        </p:nvSpPr>
        <p:spPr>
          <a:xfrm>
            <a:off x="10239375" y="4295775"/>
            <a:ext cx="819150" cy="1524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F6F57"/>
              </a:buClr>
              <a:buSzPts val="623"/>
              <a:buFont typeface="Arial"/>
              <a:buNone/>
            </a:pPr>
            <a:r>
              <a:rPr b="1" lang="en-US" sz="623">
                <a:solidFill>
                  <a:srgbClr val="2F6F57"/>
                </a:solidFill>
              </a:rPr>
              <a:t>PASS</a:t>
            </a:r>
            <a:endParaRPr/>
          </a:p>
        </p:txBody>
      </p:sp>
      <p:sp>
        <p:nvSpPr>
          <p:cNvPr id="1610" name="Google Shape;1610;p26"/>
          <p:cNvSpPr/>
          <p:nvPr/>
        </p:nvSpPr>
        <p:spPr>
          <a:xfrm>
            <a:off x="685800" y="4552950"/>
            <a:ext cx="10820400" cy="638175"/>
          </a:xfrm>
          <a:prstGeom prst="roundRect">
            <a:avLst>
              <a:gd fmla="val 11940" name="adj"/>
            </a:avLst>
          </a:prstGeom>
          <a:solidFill>
            <a:srgbClr val="FFFFFF"/>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1" name="Google Shape;1611;p26"/>
          <p:cNvSpPr/>
          <p:nvPr/>
        </p:nvSpPr>
        <p:spPr>
          <a:xfrm>
            <a:off x="781050" y="4686300"/>
            <a:ext cx="400050" cy="371475"/>
          </a:xfrm>
          <a:prstGeom prst="roundRect">
            <a:avLst>
              <a:gd fmla="val 20513" name="adj"/>
            </a:avLst>
          </a:prstGeom>
          <a:solidFill>
            <a:srgbClr val="E6F0EB"/>
          </a:solidFill>
          <a:ln cap="flat" cmpd="sng" w="9525">
            <a:solidFill>
              <a:srgbClr val="2F6F5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2" name="Google Shape;1612;p26"/>
          <p:cNvSpPr/>
          <p:nvPr/>
        </p:nvSpPr>
        <p:spPr>
          <a:xfrm>
            <a:off x="781050" y="4772025"/>
            <a:ext cx="400050" cy="190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F6F57"/>
              </a:buClr>
              <a:buSzPts val="750"/>
              <a:buFont typeface="Arial"/>
              <a:buNone/>
            </a:pPr>
            <a:r>
              <a:rPr b="1" lang="en-US" sz="750">
                <a:solidFill>
                  <a:srgbClr val="2F6F57"/>
                </a:solidFill>
              </a:rPr>
              <a:t>T11</a:t>
            </a:r>
            <a:endParaRPr/>
          </a:p>
        </p:txBody>
      </p:sp>
      <p:sp>
        <p:nvSpPr>
          <p:cNvPr id="1613" name="Google Shape;1613;p26"/>
          <p:cNvSpPr/>
          <p:nvPr/>
        </p:nvSpPr>
        <p:spPr>
          <a:xfrm>
            <a:off x="1323975" y="4619625"/>
            <a:ext cx="3857625" cy="5048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690"/>
              <a:buFont typeface="Arial"/>
              <a:buNone/>
            </a:pPr>
            <a:r>
              <a:rPr lang="en-US" sz="690">
                <a:solidFill>
                  <a:srgbClr val="1A1A2E"/>
                </a:solidFill>
              </a:rPr>
              <a:t>Approved T1 package: FR-001 report filtering; NFR-001 results &lt;2 sec; STK-001 Sarah; DDL-001 Q3; signed Human Approval.</a:t>
            </a:r>
            <a:endParaRPr/>
          </a:p>
        </p:txBody>
      </p:sp>
      <p:sp>
        <p:nvSpPr>
          <p:cNvPr id="1614" name="Google Shape;1614;p26"/>
          <p:cNvSpPr/>
          <p:nvPr/>
        </p:nvSpPr>
        <p:spPr>
          <a:xfrm>
            <a:off x="5372100" y="4619625"/>
            <a:ext cx="4476750" cy="5048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660"/>
              <a:buFont typeface="Arial"/>
              <a:buNone/>
            </a:pPr>
            <a:r>
              <a:rPr lang="en-US" sz="660">
                <a:solidFill>
                  <a:srgbClr val="1A1A2E"/>
                </a:solidFill>
              </a:rPr>
              <a:t>Ten-section PRD · FR-001 + NFR-001 · AC-001 + AC-002 · Q3 timeline · TBD fields remain explicit · 100% grounded</a:t>
            </a:r>
            <a:endParaRPr/>
          </a:p>
        </p:txBody>
      </p:sp>
      <p:sp>
        <p:nvSpPr>
          <p:cNvPr id="1615" name="Google Shape;1615;p26"/>
          <p:cNvSpPr/>
          <p:nvPr/>
        </p:nvSpPr>
        <p:spPr>
          <a:xfrm>
            <a:off x="10039350" y="4648200"/>
            <a:ext cx="1219200" cy="29527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585"/>
              <a:buFont typeface="Arial"/>
              <a:buNone/>
            </a:pPr>
            <a:r>
              <a:rPr b="1" lang="en-US" sz="585">
                <a:solidFill>
                  <a:srgbClr val="666B70"/>
                </a:solidFill>
              </a:rPr>
              <a:t>n8n 8621</a:t>
            </a:r>
            <a:endParaRPr/>
          </a:p>
          <a:p>
            <a:pPr indent="0" lvl="0" marL="0" marR="0" rtl="0" algn="l">
              <a:spcBef>
                <a:spcPts val="0"/>
              </a:spcBef>
              <a:spcAft>
                <a:spcPts val="0"/>
              </a:spcAft>
              <a:buClr>
                <a:srgbClr val="666B70"/>
              </a:buClr>
              <a:buSzPts val="585"/>
              <a:buFont typeface="Arial"/>
              <a:buNone/>
            </a:pPr>
            <a:r>
              <a:rPr b="1" lang="en-US" sz="585">
                <a:solidFill>
                  <a:srgbClr val="666B70"/>
                </a:solidFill>
              </a:rPr>
              <a:t>LF 05e9aa…48ff</a:t>
            </a:r>
            <a:endParaRPr/>
          </a:p>
        </p:txBody>
      </p:sp>
      <p:sp>
        <p:nvSpPr>
          <p:cNvPr id="1616" name="Google Shape;1616;p26"/>
          <p:cNvSpPr/>
          <p:nvPr/>
        </p:nvSpPr>
        <p:spPr>
          <a:xfrm>
            <a:off x="10239375" y="4953000"/>
            <a:ext cx="819150" cy="180975"/>
          </a:xfrm>
          <a:prstGeom prst="roundRect">
            <a:avLst>
              <a:gd fmla="val 42105" name="adj"/>
            </a:avLst>
          </a:prstGeom>
          <a:solidFill>
            <a:srgbClr val="E6F0EB"/>
          </a:solidFill>
          <a:ln cap="flat" cmpd="sng" w="9525">
            <a:solidFill>
              <a:srgbClr val="2F6F5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7" name="Google Shape;1617;p26"/>
          <p:cNvSpPr/>
          <p:nvPr/>
        </p:nvSpPr>
        <p:spPr>
          <a:xfrm>
            <a:off x="10239375" y="4962525"/>
            <a:ext cx="819150" cy="1524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F6F57"/>
              </a:buClr>
              <a:buSzPts val="623"/>
              <a:buFont typeface="Arial"/>
              <a:buNone/>
            </a:pPr>
            <a:r>
              <a:rPr b="1" lang="en-US" sz="623">
                <a:solidFill>
                  <a:srgbClr val="2F6F57"/>
                </a:solidFill>
              </a:rPr>
              <a:t>PASS</a:t>
            </a:r>
            <a:endParaRPr/>
          </a:p>
        </p:txBody>
      </p:sp>
      <p:sp>
        <p:nvSpPr>
          <p:cNvPr id="1618" name="Google Shape;1618;p26"/>
          <p:cNvSpPr/>
          <p:nvPr/>
        </p:nvSpPr>
        <p:spPr>
          <a:xfrm>
            <a:off x="685800" y="5219700"/>
            <a:ext cx="10820400" cy="638175"/>
          </a:xfrm>
          <a:prstGeom prst="roundRect">
            <a:avLst>
              <a:gd fmla="val 11940" name="adj"/>
            </a:avLst>
          </a:prstGeom>
          <a:solidFill>
            <a:srgbClr val="FFFFFF"/>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9" name="Google Shape;1619;p26"/>
          <p:cNvSpPr/>
          <p:nvPr/>
        </p:nvSpPr>
        <p:spPr>
          <a:xfrm>
            <a:off x="781050" y="5353050"/>
            <a:ext cx="400050" cy="371475"/>
          </a:xfrm>
          <a:prstGeom prst="roundRect">
            <a:avLst>
              <a:gd fmla="val 20513" name="adj"/>
            </a:avLst>
          </a:prstGeom>
          <a:solidFill>
            <a:srgbClr val="F0EAFB"/>
          </a:solidFill>
          <a:ln cap="flat" cmpd="sng" w="9525">
            <a:solidFill>
              <a:srgbClr val="7546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0" name="Google Shape;1620;p26"/>
          <p:cNvSpPr/>
          <p:nvPr/>
        </p:nvSpPr>
        <p:spPr>
          <a:xfrm>
            <a:off x="781050" y="5438775"/>
            <a:ext cx="400050" cy="190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7546C8"/>
              </a:buClr>
              <a:buSzPts val="750"/>
              <a:buFont typeface="Arial"/>
              <a:buNone/>
            </a:pPr>
            <a:r>
              <a:rPr b="1" lang="en-US" sz="750">
                <a:solidFill>
                  <a:srgbClr val="7546C8"/>
                </a:solidFill>
              </a:rPr>
              <a:t>T12</a:t>
            </a:r>
            <a:endParaRPr/>
          </a:p>
        </p:txBody>
      </p:sp>
      <p:sp>
        <p:nvSpPr>
          <p:cNvPr id="1621" name="Google Shape;1621;p26"/>
          <p:cNvSpPr/>
          <p:nvPr/>
        </p:nvSpPr>
        <p:spPr>
          <a:xfrm>
            <a:off x="1323975" y="5286375"/>
            <a:ext cx="3857625" cy="5048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690"/>
              <a:buFont typeface="Arial"/>
              <a:buNone/>
            </a:pPr>
            <a:r>
              <a:rPr lang="en-US" sz="690">
                <a:solidFill>
                  <a:srgbClr val="1A1A2E"/>
                </a:solidFill>
              </a:rPr>
              <a:t>Approved T11 PRD: FR-001, NFR-001, AC-001, AC-002; source run RUN-T1-GROUND-TRUTH.</a:t>
            </a:r>
            <a:endParaRPr/>
          </a:p>
        </p:txBody>
      </p:sp>
      <p:sp>
        <p:nvSpPr>
          <p:cNvPr id="1622" name="Google Shape;1622;p26"/>
          <p:cNvSpPr/>
          <p:nvPr/>
        </p:nvSpPr>
        <p:spPr>
          <a:xfrm>
            <a:off x="5372100" y="5286375"/>
            <a:ext cx="4476750" cy="5048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660"/>
              <a:buFont typeface="Arial"/>
              <a:buNone/>
            </a:pPr>
            <a:r>
              <a:rPr lang="en-US" sz="660">
                <a:solidFill>
                  <a:srgbClr val="1A1A2E"/>
                </a:solidFill>
              </a:rPr>
              <a:t>EPIC-001 Report Filtering → FEAT-001 Filter Reports → US-001 → AC-001 + AC-002 · 2 unresolved questions · 0 unsupported claims</a:t>
            </a:r>
            <a:endParaRPr/>
          </a:p>
        </p:txBody>
      </p:sp>
      <p:sp>
        <p:nvSpPr>
          <p:cNvPr id="1623" name="Google Shape;1623;p26"/>
          <p:cNvSpPr/>
          <p:nvPr/>
        </p:nvSpPr>
        <p:spPr>
          <a:xfrm>
            <a:off x="10039350" y="5314950"/>
            <a:ext cx="1219200" cy="29527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585"/>
              <a:buFont typeface="Arial"/>
              <a:buNone/>
            </a:pPr>
            <a:r>
              <a:rPr b="1" lang="en-US" sz="585">
                <a:solidFill>
                  <a:srgbClr val="666B70"/>
                </a:solidFill>
              </a:rPr>
              <a:t>n8n 8788</a:t>
            </a:r>
            <a:endParaRPr/>
          </a:p>
          <a:p>
            <a:pPr indent="0" lvl="0" marL="0" marR="0" rtl="0" algn="l">
              <a:spcBef>
                <a:spcPts val="0"/>
              </a:spcBef>
              <a:spcAft>
                <a:spcPts val="0"/>
              </a:spcAft>
              <a:buClr>
                <a:srgbClr val="666B70"/>
              </a:buClr>
              <a:buSzPts val="585"/>
              <a:buFont typeface="Arial"/>
              <a:buNone/>
            </a:pPr>
            <a:r>
              <a:rPr b="1" lang="en-US" sz="585">
                <a:solidFill>
                  <a:srgbClr val="666B70"/>
                </a:solidFill>
              </a:rPr>
              <a:t>LF 8e2078…159b</a:t>
            </a:r>
            <a:endParaRPr/>
          </a:p>
        </p:txBody>
      </p:sp>
      <p:sp>
        <p:nvSpPr>
          <p:cNvPr id="1624" name="Google Shape;1624;p26"/>
          <p:cNvSpPr/>
          <p:nvPr/>
        </p:nvSpPr>
        <p:spPr>
          <a:xfrm>
            <a:off x="10239375" y="5619750"/>
            <a:ext cx="819150" cy="180975"/>
          </a:xfrm>
          <a:prstGeom prst="roundRect">
            <a:avLst>
              <a:gd fmla="val 42105" name="adj"/>
            </a:avLst>
          </a:prstGeom>
          <a:solidFill>
            <a:srgbClr val="E6F0EB"/>
          </a:solidFill>
          <a:ln cap="flat" cmpd="sng" w="9525">
            <a:solidFill>
              <a:srgbClr val="2F6F5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5" name="Google Shape;1625;p26"/>
          <p:cNvSpPr/>
          <p:nvPr/>
        </p:nvSpPr>
        <p:spPr>
          <a:xfrm>
            <a:off x="10239375" y="5629275"/>
            <a:ext cx="819150" cy="1524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F6F57"/>
              </a:buClr>
              <a:buSzPts val="623"/>
              <a:buFont typeface="Arial"/>
              <a:buNone/>
            </a:pPr>
            <a:r>
              <a:rPr b="1" lang="en-US" sz="623">
                <a:solidFill>
                  <a:srgbClr val="2F6F57"/>
                </a:solidFill>
              </a:rPr>
              <a:t>PASS</a:t>
            </a:r>
            <a:endParaRPr/>
          </a:p>
        </p:txBody>
      </p:sp>
      <p:sp>
        <p:nvSpPr>
          <p:cNvPr id="1626" name="Google Shape;1626;p26"/>
          <p:cNvSpPr/>
          <p:nvPr/>
        </p:nvSpPr>
        <p:spPr>
          <a:xfrm>
            <a:off x="685800" y="5924550"/>
            <a:ext cx="10820400" cy="285750"/>
          </a:xfrm>
          <a:prstGeom prst="roundRect">
            <a:avLst>
              <a:gd fmla="val 26667" name="adj"/>
            </a:avLst>
          </a:prstGeom>
          <a:solidFill>
            <a:srgbClr val="E6F0EB"/>
          </a:solidFill>
          <a:ln cap="flat" cmpd="sng" w="9525">
            <a:solidFill>
              <a:srgbClr val="2F6F5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7" name="Google Shape;1627;p26"/>
          <p:cNvSpPr/>
          <p:nvPr/>
        </p:nvSpPr>
        <p:spPr>
          <a:xfrm>
            <a:off x="952500" y="5981700"/>
            <a:ext cx="10287000" cy="171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F6F57"/>
              </a:buClr>
              <a:buSzPts val="728"/>
              <a:buFont typeface="Arial"/>
              <a:buNone/>
            </a:pPr>
            <a:r>
              <a:rPr b="1" lang="en-US" sz="728">
                <a:solidFill>
                  <a:srgbClr val="2F6F57"/>
                </a:solidFill>
              </a:rPr>
              <a:t>Method: human-reviewed expected output ↔ preserved actual JSON/Markdown ↔ successful n8n/Langfuse receipt</a:t>
            </a:r>
            <a:endParaRPr/>
          </a:p>
        </p:txBody>
      </p:sp>
      <p:sp>
        <p:nvSpPr>
          <p:cNvPr id="1628" name="Google Shape;1628;p26"/>
          <p:cNvSpPr/>
          <p:nvPr/>
        </p:nvSpPr>
        <p:spPr>
          <a:xfrm>
            <a:off x="0" y="6305550"/>
            <a:ext cx="12192000" cy="552450"/>
          </a:xfrm>
          <a:prstGeom prst="rect">
            <a:avLst/>
          </a:prstGeom>
          <a:solidFill>
            <a:srgbClr val="1A1A2E"/>
          </a:solidFill>
          <a:ln cap="flat" cmpd="sng" w="9525">
            <a:solidFill>
              <a:srgbClr val="1A1A2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9" name="Google Shape;1629;p26"/>
          <p:cNvSpPr/>
          <p:nvPr/>
        </p:nvSpPr>
        <p:spPr>
          <a:xfrm>
            <a:off x="781050" y="6429375"/>
            <a:ext cx="1714500" cy="190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C9C6D8"/>
              </a:buClr>
              <a:buSzPts val="810"/>
              <a:buFont typeface="Arial"/>
              <a:buNone/>
            </a:pPr>
            <a:r>
              <a:rPr b="1" lang="en-US" sz="810">
                <a:solidFill>
                  <a:srgbClr val="C9C6D8"/>
                </a:solidFill>
              </a:rPr>
              <a:t>A7</a:t>
            </a:r>
            <a:endParaRPr/>
          </a:p>
        </p:txBody>
      </p:sp>
      <p:sp>
        <p:nvSpPr>
          <p:cNvPr id="1630" name="Google Shape;1630;p26"/>
          <p:cNvSpPr/>
          <p:nvPr/>
        </p:nvSpPr>
        <p:spPr>
          <a:xfrm>
            <a:off x="2476500" y="6391275"/>
            <a:ext cx="8934450" cy="2667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FFFFFF"/>
              </a:buClr>
              <a:buSzPts val="1065"/>
              <a:buFont typeface="Arial"/>
              <a:buNone/>
            </a:pPr>
            <a:r>
              <a:rPr b="1" lang="en-US" sz="1065">
                <a:solidFill>
                  <a:srgbClr val="FFFFFF"/>
                </a:solidFill>
              </a:rPr>
              <a:t>All 12 required inputs and outputs are preserved, reviewable, and connected to execution receipts.</a:t>
            </a:r>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4EE"/>
        </a:solidFill>
      </p:bgPr>
    </p:bg>
    <p:spTree>
      <p:nvGrpSpPr>
        <p:cNvPr id="1635" name="Shape 1635"/>
        <p:cNvGrpSpPr/>
        <p:nvPr/>
      </p:nvGrpSpPr>
      <p:grpSpPr>
        <a:xfrm>
          <a:off x="0" y="0"/>
          <a:ext cx="0" cy="0"/>
          <a:chOff x="0" y="0"/>
          <a:chExt cx="0" cy="0"/>
        </a:xfrm>
      </p:grpSpPr>
      <p:sp>
        <p:nvSpPr>
          <p:cNvPr id="1636" name="Google Shape;1636;p27"/>
          <p:cNvSpPr/>
          <p:nvPr/>
        </p:nvSpPr>
        <p:spPr>
          <a:xfrm>
            <a:off x="0" y="0"/>
            <a:ext cx="12192000" cy="76200"/>
          </a:xfrm>
          <a:prstGeom prst="rect">
            <a:avLst/>
          </a:prstGeom>
          <a:solidFill>
            <a:srgbClr val="B85042"/>
          </a:solidFill>
          <a:ln cap="flat" cmpd="sng" w="9525">
            <a:solidFill>
              <a:srgbClr val="B8504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7" name="Google Shape;1637;p27"/>
          <p:cNvSpPr/>
          <p:nvPr/>
        </p:nvSpPr>
        <p:spPr>
          <a:xfrm>
            <a:off x="514350" y="590550"/>
            <a:ext cx="66675" cy="723900"/>
          </a:xfrm>
          <a:prstGeom prst="rect">
            <a:avLst/>
          </a:prstGeom>
          <a:solidFill>
            <a:srgbClr val="B85042"/>
          </a:solidFill>
          <a:ln cap="flat" cmpd="sng" w="9525">
            <a:solidFill>
              <a:srgbClr val="B8504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8" name="Google Shape;1638;p27"/>
          <p:cNvSpPr/>
          <p:nvPr/>
        </p:nvSpPr>
        <p:spPr>
          <a:xfrm>
            <a:off x="781050" y="438150"/>
            <a:ext cx="7810500" cy="2381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B85042"/>
              </a:buClr>
              <a:buSzPts val="938"/>
              <a:buFont typeface="Arial"/>
              <a:buNone/>
            </a:pPr>
            <a:r>
              <a:rPr b="1" lang="en-US" sz="938">
                <a:solidFill>
                  <a:srgbClr val="B85042"/>
                </a:solidFill>
              </a:rPr>
              <a:t>A8  ·  LANGFUSE EVALUATOR EVIDENCE</a:t>
            </a:r>
            <a:endParaRPr/>
          </a:p>
        </p:txBody>
      </p:sp>
      <p:sp>
        <p:nvSpPr>
          <p:cNvPr id="1639" name="Google Shape;1639;p27"/>
          <p:cNvSpPr/>
          <p:nvPr/>
        </p:nvSpPr>
        <p:spPr>
          <a:xfrm>
            <a:off x="781050" y="723900"/>
            <a:ext cx="10629900" cy="4953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2325"/>
              <a:buFont typeface="Arial"/>
              <a:buNone/>
            </a:pPr>
            <a:r>
              <a:rPr b="1" lang="en-US" sz="2325">
                <a:solidFill>
                  <a:srgbClr val="1A1A2E"/>
                </a:solidFill>
              </a:rPr>
              <a:t>Code controls and semantic judges cover different failure modes</a:t>
            </a:r>
            <a:endParaRPr/>
          </a:p>
        </p:txBody>
      </p:sp>
      <p:sp>
        <p:nvSpPr>
          <p:cNvPr id="1640" name="Google Shape;1640;p27"/>
          <p:cNvSpPr/>
          <p:nvPr/>
        </p:nvSpPr>
        <p:spPr>
          <a:xfrm>
            <a:off x="781050" y="1238250"/>
            <a:ext cx="10629900" cy="2667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1035"/>
              <a:buFont typeface="Arial"/>
              <a:buNone/>
            </a:pPr>
            <a:r>
              <a:rPr lang="en-US" sz="1035">
                <a:solidFill>
                  <a:srgbClr val="666B70"/>
                </a:solidFill>
              </a:rPr>
              <a:t>Accepted v0.3.8 run 11901 · RUN-S2-11902-16e7090e · one current-trace Story score set authorized release.</a:t>
            </a:r>
            <a:endParaRPr/>
          </a:p>
        </p:txBody>
      </p:sp>
      <p:sp>
        <p:nvSpPr>
          <p:cNvPr id="1641" name="Google Shape;1641;p27"/>
          <p:cNvSpPr/>
          <p:nvPr/>
        </p:nvSpPr>
        <p:spPr>
          <a:xfrm>
            <a:off x="685800" y="1714500"/>
            <a:ext cx="7219950" cy="400050"/>
          </a:xfrm>
          <a:prstGeom prst="roundRect">
            <a:avLst>
              <a:gd fmla="val 19048" name="adj"/>
            </a:avLst>
          </a:prstGeom>
          <a:solidFill>
            <a:srgbClr val="1A1A2E"/>
          </a:solidFill>
          <a:ln cap="flat" cmpd="sng" w="9525">
            <a:solidFill>
              <a:srgbClr val="1A1A2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2" name="Google Shape;1642;p27"/>
          <p:cNvSpPr/>
          <p:nvPr/>
        </p:nvSpPr>
        <p:spPr>
          <a:xfrm>
            <a:off x="838200" y="1809750"/>
            <a:ext cx="1809750" cy="190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FFFFFF"/>
              </a:buClr>
              <a:buSzPts val="713"/>
              <a:buFont typeface="Arial"/>
              <a:buNone/>
            </a:pPr>
            <a:r>
              <a:rPr b="1" lang="en-US" sz="713">
                <a:solidFill>
                  <a:srgbClr val="FFFFFF"/>
                </a:solidFill>
              </a:rPr>
              <a:t>STAGE</a:t>
            </a:r>
            <a:endParaRPr/>
          </a:p>
        </p:txBody>
      </p:sp>
      <p:sp>
        <p:nvSpPr>
          <p:cNvPr id="1643" name="Google Shape;1643;p27"/>
          <p:cNvSpPr/>
          <p:nvPr/>
        </p:nvSpPr>
        <p:spPr>
          <a:xfrm>
            <a:off x="2686050" y="1809750"/>
            <a:ext cx="1952625" cy="190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FFFFFF"/>
              </a:buClr>
              <a:buSzPts val="690"/>
              <a:buFont typeface="Arial"/>
              <a:buNone/>
            </a:pPr>
            <a:r>
              <a:rPr b="1" lang="en-US" sz="690">
                <a:solidFill>
                  <a:srgbClr val="FFFFFF"/>
                </a:solidFill>
              </a:rPr>
              <a:t>CODE EVALUATOR / RESULT</a:t>
            </a:r>
            <a:endParaRPr/>
          </a:p>
        </p:txBody>
      </p:sp>
      <p:sp>
        <p:nvSpPr>
          <p:cNvPr id="1644" name="Google Shape;1644;p27"/>
          <p:cNvSpPr/>
          <p:nvPr/>
        </p:nvSpPr>
        <p:spPr>
          <a:xfrm>
            <a:off x="4743450" y="1809750"/>
            <a:ext cx="1000125" cy="190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FFFFFF"/>
              </a:buClr>
              <a:buSzPts val="660"/>
              <a:buFont typeface="Arial"/>
              <a:buNone/>
            </a:pPr>
            <a:r>
              <a:rPr b="1" lang="en-US" sz="660">
                <a:solidFill>
                  <a:srgbClr val="FFFFFF"/>
                </a:solidFill>
              </a:rPr>
              <a:t>FAITHFUL</a:t>
            </a:r>
            <a:endParaRPr/>
          </a:p>
        </p:txBody>
      </p:sp>
      <p:sp>
        <p:nvSpPr>
          <p:cNvPr id="1645" name="Google Shape;1645;p27"/>
          <p:cNvSpPr/>
          <p:nvPr/>
        </p:nvSpPr>
        <p:spPr>
          <a:xfrm>
            <a:off x="5829300" y="1809750"/>
            <a:ext cx="904875" cy="190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FFFFFF"/>
              </a:buClr>
              <a:buSzPts val="660"/>
              <a:buFont typeface="Arial"/>
              <a:buNone/>
            </a:pPr>
            <a:r>
              <a:rPr b="1" lang="en-US" sz="660">
                <a:solidFill>
                  <a:srgbClr val="FFFFFF"/>
                </a:solidFill>
              </a:rPr>
              <a:t>HALLUC.</a:t>
            </a:r>
            <a:endParaRPr/>
          </a:p>
        </p:txBody>
      </p:sp>
      <p:sp>
        <p:nvSpPr>
          <p:cNvPr id="1646" name="Google Shape;1646;p27"/>
          <p:cNvSpPr/>
          <p:nvPr/>
        </p:nvSpPr>
        <p:spPr>
          <a:xfrm>
            <a:off x="6800850" y="1809750"/>
            <a:ext cx="952500" cy="190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FFFFFF"/>
              </a:buClr>
              <a:buSzPts val="660"/>
              <a:buFont typeface="Arial"/>
              <a:buNone/>
            </a:pPr>
            <a:r>
              <a:rPr b="1" lang="en-US" sz="660">
                <a:solidFill>
                  <a:srgbClr val="FFFFFF"/>
                </a:solidFill>
              </a:rPr>
              <a:t>OUTCOME</a:t>
            </a:r>
            <a:endParaRPr/>
          </a:p>
        </p:txBody>
      </p:sp>
      <p:sp>
        <p:nvSpPr>
          <p:cNvPr id="1647" name="Google Shape;1647;p27"/>
          <p:cNvSpPr/>
          <p:nvPr/>
        </p:nvSpPr>
        <p:spPr>
          <a:xfrm>
            <a:off x="685800" y="2133600"/>
            <a:ext cx="7219950" cy="457200"/>
          </a:xfrm>
          <a:prstGeom prst="rect">
            <a:avLst/>
          </a:prstGeom>
          <a:solidFill>
            <a:srgbClr val="FFFFFF"/>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8" name="Google Shape;1648;p27"/>
          <p:cNvSpPr/>
          <p:nvPr/>
        </p:nvSpPr>
        <p:spPr>
          <a:xfrm>
            <a:off x="838200" y="2200275"/>
            <a:ext cx="1809750" cy="3238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773"/>
              <a:buFont typeface="Arial"/>
              <a:buNone/>
            </a:pPr>
            <a:r>
              <a:rPr b="1" lang="en-US" sz="773">
                <a:solidFill>
                  <a:srgbClr val="1A1A2E"/>
                </a:solidFill>
              </a:rPr>
              <a:t>Requirement Extractor</a:t>
            </a:r>
            <a:endParaRPr/>
          </a:p>
        </p:txBody>
      </p:sp>
      <p:sp>
        <p:nvSpPr>
          <p:cNvPr id="1649" name="Google Shape;1649;p27"/>
          <p:cNvSpPr/>
          <p:nvPr/>
        </p:nvSpPr>
        <p:spPr>
          <a:xfrm>
            <a:off x="2686050" y="2200275"/>
            <a:ext cx="1952625" cy="3238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3B6EBF"/>
              </a:buClr>
              <a:buSzPts val="607"/>
              <a:buFont typeface="Arial"/>
              <a:buNone/>
            </a:pPr>
            <a:r>
              <a:rPr b="1" lang="en-US" sz="607">
                <a:solidFill>
                  <a:srgbClr val="3B6EBF"/>
                </a:solidFill>
              </a:rPr>
              <a:t>prd_genie_s2_code_controls_v1 · Pass</a:t>
            </a:r>
            <a:endParaRPr/>
          </a:p>
        </p:txBody>
      </p:sp>
      <p:sp>
        <p:nvSpPr>
          <p:cNvPr id="1650" name="Google Shape;1650;p27"/>
          <p:cNvSpPr/>
          <p:nvPr/>
        </p:nvSpPr>
        <p:spPr>
          <a:xfrm>
            <a:off x="4743450" y="2200275"/>
            <a:ext cx="1000125" cy="3238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788"/>
              <a:buFont typeface="Arial"/>
              <a:buNone/>
            </a:pPr>
            <a:r>
              <a:rPr b="1" lang="en-US" sz="788">
                <a:solidFill>
                  <a:srgbClr val="666B70"/>
                </a:solidFill>
              </a:rPr>
              <a:t>—</a:t>
            </a:r>
            <a:endParaRPr/>
          </a:p>
        </p:txBody>
      </p:sp>
      <p:sp>
        <p:nvSpPr>
          <p:cNvPr id="1651" name="Google Shape;1651;p27"/>
          <p:cNvSpPr/>
          <p:nvPr/>
        </p:nvSpPr>
        <p:spPr>
          <a:xfrm>
            <a:off x="5829300" y="2200275"/>
            <a:ext cx="904875" cy="3238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788"/>
              <a:buFont typeface="Arial"/>
              <a:buNone/>
            </a:pPr>
            <a:r>
              <a:rPr b="1" lang="en-US" sz="788">
                <a:solidFill>
                  <a:srgbClr val="666B70"/>
                </a:solidFill>
              </a:rPr>
              <a:t>—</a:t>
            </a:r>
            <a:endParaRPr/>
          </a:p>
        </p:txBody>
      </p:sp>
      <p:sp>
        <p:nvSpPr>
          <p:cNvPr id="1652" name="Google Shape;1652;p27"/>
          <p:cNvSpPr/>
          <p:nvPr/>
        </p:nvSpPr>
        <p:spPr>
          <a:xfrm>
            <a:off x="6800850" y="2200275"/>
            <a:ext cx="952500" cy="3238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F6F57"/>
              </a:buClr>
              <a:buSzPts val="660"/>
              <a:buFont typeface="Arial"/>
              <a:buNone/>
            </a:pPr>
            <a:r>
              <a:rPr b="1" lang="en-US" sz="660">
                <a:solidFill>
                  <a:srgbClr val="2F6F57"/>
                </a:solidFill>
              </a:rPr>
              <a:t>PASS</a:t>
            </a:r>
            <a:endParaRPr/>
          </a:p>
        </p:txBody>
      </p:sp>
      <p:sp>
        <p:nvSpPr>
          <p:cNvPr id="1653" name="Google Shape;1653;p27"/>
          <p:cNvSpPr/>
          <p:nvPr/>
        </p:nvSpPr>
        <p:spPr>
          <a:xfrm>
            <a:off x="685800" y="2600325"/>
            <a:ext cx="7219950" cy="457200"/>
          </a:xfrm>
          <a:prstGeom prst="rect">
            <a:avLst/>
          </a:prstGeom>
          <a:solidFill>
            <a:srgbClr val="FBF9F6"/>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4" name="Google Shape;1654;p27"/>
          <p:cNvSpPr/>
          <p:nvPr/>
        </p:nvSpPr>
        <p:spPr>
          <a:xfrm>
            <a:off x="838200" y="2667000"/>
            <a:ext cx="1809750" cy="3238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773"/>
              <a:buFont typeface="Arial"/>
              <a:buNone/>
            </a:pPr>
            <a:r>
              <a:rPr b="1" lang="en-US" sz="773">
                <a:solidFill>
                  <a:srgbClr val="1A1A2E"/>
                </a:solidFill>
              </a:rPr>
              <a:t>Gap Analyzer</a:t>
            </a:r>
            <a:endParaRPr/>
          </a:p>
        </p:txBody>
      </p:sp>
      <p:sp>
        <p:nvSpPr>
          <p:cNvPr id="1655" name="Google Shape;1655;p27"/>
          <p:cNvSpPr/>
          <p:nvPr/>
        </p:nvSpPr>
        <p:spPr>
          <a:xfrm>
            <a:off x="2686050" y="2667000"/>
            <a:ext cx="1952625" cy="3238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3B6EBF"/>
              </a:buClr>
              <a:buSzPts val="607"/>
              <a:buFont typeface="Arial"/>
              <a:buNone/>
            </a:pPr>
            <a:r>
              <a:rPr b="1" lang="en-US" sz="607">
                <a:solidFill>
                  <a:srgbClr val="3B6EBF"/>
                </a:solidFill>
              </a:rPr>
              <a:t>prd_genie_gap_analyzer_code_controls_v1 · Pass</a:t>
            </a:r>
            <a:endParaRPr/>
          </a:p>
        </p:txBody>
      </p:sp>
      <p:sp>
        <p:nvSpPr>
          <p:cNvPr id="1656" name="Google Shape;1656;p27"/>
          <p:cNvSpPr/>
          <p:nvPr/>
        </p:nvSpPr>
        <p:spPr>
          <a:xfrm>
            <a:off x="4743450" y="2667000"/>
            <a:ext cx="1000125" cy="3238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F6F57"/>
              </a:buClr>
              <a:buSzPts val="788"/>
              <a:buFont typeface="Arial"/>
              <a:buNone/>
            </a:pPr>
            <a:r>
              <a:rPr b="1" lang="en-US" sz="788">
                <a:solidFill>
                  <a:srgbClr val="2F6F57"/>
                </a:solidFill>
              </a:rPr>
              <a:t>0.90</a:t>
            </a:r>
            <a:endParaRPr/>
          </a:p>
        </p:txBody>
      </p:sp>
      <p:sp>
        <p:nvSpPr>
          <p:cNvPr id="1657" name="Google Shape;1657;p27"/>
          <p:cNvSpPr/>
          <p:nvPr/>
        </p:nvSpPr>
        <p:spPr>
          <a:xfrm>
            <a:off x="5829300" y="2667000"/>
            <a:ext cx="904875" cy="3238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F6F57"/>
              </a:buClr>
              <a:buSzPts val="788"/>
              <a:buFont typeface="Arial"/>
              <a:buNone/>
            </a:pPr>
            <a:r>
              <a:rPr b="1" lang="en-US" sz="788">
                <a:solidFill>
                  <a:srgbClr val="2F6F57"/>
                </a:solidFill>
              </a:rPr>
              <a:t>0.01</a:t>
            </a:r>
            <a:endParaRPr/>
          </a:p>
        </p:txBody>
      </p:sp>
      <p:sp>
        <p:nvSpPr>
          <p:cNvPr id="1658" name="Google Shape;1658;p27"/>
          <p:cNvSpPr/>
          <p:nvPr/>
        </p:nvSpPr>
        <p:spPr>
          <a:xfrm>
            <a:off x="6800850" y="2667000"/>
            <a:ext cx="952500" cy="3238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F6F57"/>
              </a:buClr>
              <a:buSzPts val="660"/>
              <a:buFont typeface="Arial"/>
              <a:buNone/>
            </a:pPr>
            <a:r>
              <a:rPr b="1" lang="en-US" sz="660">
                <a:solidFill>
                  <a:srgbClr val="2F6F57"/>
                </a:solidFill>
              </a:rPr>
              <a:t>PASS</a:t>
            </a:r>
            <a:endParaRPr/>
          </a:p>
        </p:txBody>
      </p:sp>
      <p:sp>
        <p:nvSpPr>
          <p:cNvPr id="1659" name="Google Shape;1659;p27"/>
          <p:cNvSpPr/>
          <p:nvPr/>
        </p:nvSpPr>
        <p:spPr>
          <a:xfrm>
            <a:off x="685800" y="3067050"/>
            <a:ext cx="7219950" cy="457200"/>
          </a:xfrm>
          <a:prstGeom prst="rect">
            <a:avLst/>
          </a:prstGeom>
          <a:solidFill>
            <a:srgbClr val="FFFFFF"/>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0" name="Google Shape;1660;p27"/>
          <p:cNvSpPr/>
          <p:nvPr/>
        </p:nvSpPr>
        <p:spPr>
          <a:xfrm>
            <a:off x="838200" y="3133725"/>
            <a:ext cx="1809750" cy="3238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773"/>
              <a:buFont typeface="Arial"/>
              <a:buNone/>
            </a:pPr>
            <a:r>
              <a:rPr b="1" lang="en-US" sz="773">
                <a:solidFill>
                  <a:srgbClr val="1A1A2E"/>
                </a:solidFill>
              </a:rPr>
              <a:t>Human Approval</a:t>
            </a:r>
            <a:endParaRPr/>
          </a:p>
        </p:txBody>
      </p:sp>
      <p:sp>
        <p:nvSpPr>
          <p:cNvPr id="1661" name="Google Shape;1661;p27"/>
          <p:cNvSpPr/>
          <p:nvPr/>
        </p:nvSpPr>
        <p:spPr>
          <a:xfrm>
            <a:off x="2686050" y="3133725"/>
            <a:ext cx="1952625" cy="3238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3B6EBF"/>
              </a:buClr>
              <a:buSzPts val="607"/>
              <a:buFont typeface="Arial"/>
              <a:buNone/>
            </a:pPr>
            <a:r>
              <a:rPr b="1" lang="en-US" sz="607">
                <a:solidFill>
                  <a:srgbClr val="3B6EBF"/>
                </a:solidFill>
              </a:rPr>
              <a:t>ha_code_controls_v2 · Pass</a:t>
            </a:r>
            <a:endParaRPr/>
          </a:p>
        </p:txBody>
      </p:sp>
      <p:sp>
        <p:nvSpPr>
          <p:cNvPr id="1662" name="Google Shape;1662;p27"/>
          <p:cNvSpPr/>
          <p:nvPr/>
        </p:nvSpPr>
        <p:spPr>
          <a:xfrm>
            <a:off x="4743450" y="3133725"/>
            <a:ext cx="1000125" cy="3238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F6F57"/>
              </a:buClr>
              <a:buSzPts val="788"/>
              <a:buFont typeface="Arial"/>
              <a:buNone/>
            </a:pPr>
            <a:r>
              <a:rPr b="1" lang="en-US" sz="788">
                <a:solidFill>
                  <a:srgbClr val="2F6F57"/>
                </a:solidFill>
              </a:rPr>
              <a:t>0.99</a:t>
            </a:r>
            <a:endParaRPr/>
          </a:p>
        </p:txBody>
      </p:sp>
      <p:sp>
        <p:nvSpPr>
          <p:cNvPr id="1663" name="Google Shape;1663;p27"/>
          <p:cNvSpPr/>
          <p:nvPr/>
        </p:nvSpPr>
        <p:spPr>
          <a:xfrm>
            <a:off x="5829300" y="3133725"/>
            <a:ext cx="904875" cy="3238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F6F57"/>
              </a:buClr>
              <a:buSzPts val="788"/>
              <a:buFont typeface="Arial"/>
              <a:buNone/>
            </a:pPr>
            <a:r>
              <a:rPr b="1" lang="en-US" sz="788">
                <a:solidFill>
                  <a:srgbClr val="2F6F57"/>
                </a:solidFill>
              </a:rPr>
              <a:t>0.00</a:t>
            </a:r>
            <a:endParaRPr/>
          </a:p>
        </p:txBody>
      </p:sp>
      <p:sp>
        <p:nvSpPr>
          <p:cNvPr id="1664" name="Google Shape;1664;p27"/>
          <p:cNvSpPr/>
          <p:nvPr/>
        </p:nvSpPr>
        <p:spPr>
          <a:xfrm>
            <a:off x="6800850" y="3133725"/>
            <a:ext cx="952500" cy="3238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F6F57"/>
              </a:buClr>
              <a:buSzPts val="660"/>
              <a:buFont typeface="Arial"/>
              <a:buNone/>
            </a:pPr>
            <a:r>
              <a:rPr b="1" lang="en-US" sz="660">
                <a:solidFill>
                  <a:srgbClr val="2F6F57"/>
                </a:solidFill>
              </a:rPr>
              <a:t>PASS</a:t>
            </a:r>
            <a:endParaRPr/>
          </a:p>
        </p:txBody>
      </p:sp>
      <p:sp>
        <p:nvSpPr>
          <p:cNvPr id="1665" name="Google Shape;1665;p27"/>
          <p:cNvSpPr/>
          <p:nvPr/>
        </p:nvSpPr>
        <p:spPr>
          <a:xfrm>
            <a:off x="685800" y="3533775"/>
            <a:ext cx="7219950" cy="457200"/>
          </a:xfrm>
          <a:prstGeom prst="rect">
            <a:avLst/>
          </a:prstGeom>
          <a:solidFill>
            <a:srgbClr val="FBF9F6"/>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6" name="Google Shape;1666;p27"/>
          <p:cNvSpPr/>
          <p:nvPr/>
        </p:nvSpPr>
        <p:spPr>
          <a:xfrm>
            <a:off x="838200" y="3600450"/>
            <a:ext cx="1809750" cy="3238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773"/>
              <a:buFont typeface="Arial"/>
              <a:buNone/>
            </a:pPr>
            <a:r>
              <a:rPr b="1" lang="en-US" sz="773">
                <a:solidFill>
                  <a:srgbClr val="1A1A2E"/>
                </a:solidFill>
              </a:rPr>
              <a:t>Production PRD</a:t>
            </a:r>
            <a:endParaRPr/>
          </a:p>
        </p:txBody>
      </p:sp>
      <p:sp>
        <p:nvSpPr>
          <p:cNvPr id="1667" name="Google Shape;1667;p27"/>
          <p:cNvSpPr/>
          <p:nvPr/>
        </p:nvSpPr>
        <p:spPr>
          <a:xfrm>
            <a:off x="2686050" y="3600450"/>
            <a:ext cx="1952625" cy="3238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3B6EBF"/>
              </a:buClr>
              <a:buSzPts val="607"/>
              <a:buFont typeface="Arial"/>
              <a:buNone/>
            </a:pPr>
            <a:r>
              <a:rPr b="1" lang="en-US" sz="607">
                <a:solidFill>
                  <a:srgbClr val="3B6EBF"/>
                </a:solidFill>
              </a:rPr>
              <a:t>prd_genie_production_prd_code_controls_v1 · Pass</a:t>
            </a:r>
            <a:endParaRPr/>
          </a:p>
        </p:txBody>
      </p:sp>
      <p:sp>
        <p:nvSpPr>
          <p:cNvPr id="1668" name="Google Shape;1668;p27"/>
          <p:cNvSpPr/>
          <p:nvPr/>
        </p:nvSpPr>
        <p:spPr>
          <a:xfrm>
            <a:off x="4743450" y="3600450"/>
            <a:ext cx="1000125" cy="3238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F6F57"/>
              </a:buClr>
              <a:buSzPts val="788"/>
              <a:buFont typeface="Arial"/>
              <a:buNone/>
            </a:pPr>
            <a:r>
              <a:rPr b="1" lang="en-US" sz="788">
                <a:solidFill>
                  <a:srgbClr val="2F6F57"/>
                </a:solidFill>
              </a:rPr>
              <a:t>0.99</a:t>
            </a:r>
            <a:endParaRPr/>
          </a:p>
        </p:txBody>
      </p:sp>
      <p:sp>
        <p:nvSpPr>
          <p:cNvPr id="1669" name="Google Shape;1669;p27"/>
          <p:cNvSpPr/>
          <p:nvPr/>
        </p:nvSpPr>
        <p:spPr>
          <a:xfrm>
            <a:off x="5829300" y="3600450"/>
            <a:ext cx="904875" cy="3238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F6F57"/>
              </a:buClr>
              <a:buSzPts val="788"/>
              <a:buFont typeface="Arial"/>
              <a:buNone/>
            </a:pPr>
            <a:r>
              <a:rPr b="1" lang="en-US" sz="788">
                <a:solidFill>
                  <a:srgbClr val="2F6F57"/>
                </a:solidFill>
              </a:rPr>
              <a:t>0.05</a:t>
            </a:r>
            <a:endParaRPr/>
          </a:p>
        </p:txBody>
      </p:sp>
      <p:sp>
        <p:nvSpPr>
          <p:cNvPr id="1670" name="Google Shape;1670;p27"/>
          <p:cNvSpPr/>
          <p:nvPr/>
        </p:nvSpPr>
        <p:spPr>
          <a:xfrm>
            <a:off x="6800850" y="3600450"/>
            <a:ext cx="952500" cy="3238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F6F57"/>
              </a:buClr>
              <a:buSzPts val="660"/>
              <a:buFont typeface="Arial"/>
              <a:buNone/>
            </a:pPr>
            <a:r>
              <a:rPr b="1" lang="en-US" sz="660">
                <a:solidFill>
                  <a:srgbClr val="2F6F57"/>
                </a:solidFill>
              </a:rPr>
              <a:t>PASS</a:t>
            </a:r>
            <a:endParaRPr/>
          </a:p>
        </p:txBody>
      </p:sp>
      <p:sp>
        <p:nvSpPr>
          <p:cNvPr id="1671" name="Google Shape;1671;p27"/>
          <p:cNvSpPr/>
          <p:nvPr/>
        </p:nvSpPr>
        <p:spPr>
          <a:xfrm>
            <a:off x="685800" y="4000500"/>
            <a:ext cx="7219950" cy="457200"/>
          </a:xfrm>
          <a:prstGeom prst="rect">
            <a:avLst/>
          </a:prstGeom>
          <a:solidFill>
            <a:srgbClr val="FFFFFF"/>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72" name="Google Shape;1672;p27"/>
          <p:cNvSpPr/>
          <p:nvPr/>
        </p:nvSpPr>
        <p:spPr>
          <a:xfrm>
            <a:off x="838200" y="4067175"/>
            <a:ext cx="1809750" cy="3238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773"/>
              <a:buFont typeface="Arial"/>
              <a:buNone/>
            </a:pPr>
            <a:r>
              <a:rPr b="1" lang="en-US" sz="773">
                <a:solidFill>
                  <a:srgbClr val="1A1A2E"/>
                </a:solidFill>
              </a:rPr>
              <a:t>Story Breakdown</a:t>
            </a:r>
            <a:endParaRPr/>
          </a:p>
        </p:txBody>
      </p:sp>
      <p:sp>
        <p:nvSpPr>
          <p:cNvPr id="1673" name="Google Shape;1673;p27"/>
          <p:cNvSpPr/>
          <p:nvPr/>
        </p:nvSpPr>
        <p:spPr>
          <a:xfrm>
            <a:off x="2686050" y="4067175"/>
            <a:ext cx="1952625" cy="3238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3B6EBF"/>
              </a:buClr>
              <a:buSzPts val="607"/>
              <a:buFont typeface="Arial"/>
              <a:buNone/>
            </a:pPr>
            <a:r>
              <a:rPr b="1" lang="en-US" sz="607">
                <a:solidFill>
                  <a:srgbClr val="3B6EBF"/>
                </a:solidFill>
              </a:rPr>
              <a:t>prd_genie_story_breakdown_code_controls_v1 · Pass</a:t>
            </a:r>
            <a:endParaRPr/>
          </a:p>
        </p:txBody>
      </p:sp>
      <p:sp>
        <p:nvSpPr>
          <p:cNvPr id="1674" name="Google Shape;1674;p27"/>
          <p:cNvSpPr/>
          <p:nvPr/>
        </p:nvSpPr>
        <p:spPr>
          <a:xfrm>
            <a:off x="4743450" y="4067175"/>
            <a:ext cx="1000125" cy="3238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F6F57"/>
              </a:buClr>
              <a:buSzPts val="788"/>
              <a:buFont typeface="Arial"/>
              <a:buNone/>
            </a:pPr>
            <a:r>
              <a:rPr b="1" lang="en-US" sz="788">
                <a:solidFill>
                  <a:srgbClr val="2F6F57"/>
                </a:solidFill>
              </a:rPr>
              <a:t>0.98</a:t>
            </a:r>
            <a:endParaRPr/>
          </a:p>
        </p:txBody>
      </p:sp>
      <p:sp>
        <p:nvSpPr>
          <p:cNvPr id="1675" name="Google Shape;1675;p27"/>
          <p:cNvSpPr/>
          <p:nvPr/>
        </p:nvSpPr>
        <p:spPr>
          <a:xfrm>
            <a:off x="5829300" y="4067175"/>
            <a:ext cx="904875" cy="3238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F6F57"/>
              </a:buClr>
              <a:buSzPts val="788"/>
              <a:buFont typeface="Arial"/>
              <a:buNone/>
            </a:pPr>
            <a:r>
              <a:rPr b="1" lang="en-US" sz="788">
                <a:solidFill>
                  <a:srgbClr val="2F6F57"/>
                </a:solidFill>
              </a:rPr>
              <a:t>0.02</a:t>
            </a:r>
            <a:endParaRPr/>
          </a:p>
        </p:txBody>
      </p:sp>
      <p:sp>
        <p:nvSpPr>
          <p:cNvPr id="1676" name="Google Shape;1676;p27"/>
          <p:cNvSpPr/>
          <p:nvPr/>
        </p:nvSpPr>
        <p:spPr>
          <a:xfrm>
            <a:off x="6800850" y="4067175"/>
            <a:ext cx="952500" cy="3238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F6F57"/>
              </a:buClr>
              <a:buSzPts val="660"/>
              <a:buFont typeface="Arial"/>
              <a:buNone/>
            </a:pPr>
            <a:r>
              <a:rPr b="1" lang="en-US" sz="660">
                <a:solidFill>
                  <a:srgbClr val="2F6F57"/>
                </a:solidFill>
              </a:rPr>
              <a:t>GATE PASS</a:t>
            </a:r>
            <a:endParaRPr/>
          </a:p>
        </p:txBody>
      </p:sp>
      <p:sp>
        <p:nvSpPr>
          <p:cNvPr id="1677" name="Google Shape;1677;p27"/>
          <p:cNvSpPr/>
          <p:nvPr/>
        </p:nvSpPr>
        <p:spPr>
          <a:xfrm>
            <a:off x="685800" y="4467225"/>
            <a:ext cx="7219950" cy="457200"/>
          </a:xfrm>
          <a:prstGeom prst="rect">
            <a:avLst/>
          </a:prstGeom>
          <a:solidFill>
            <a:srgbClr val="FBF9F6"/>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78" name="Google Shape;1678;p27"/>
          <p:cNvSpPr/>
          <p:nvPr/>
        </p:nvSpPr>
        <p:spPr>
          <a:xfrm>
            <a:off x="838200" y="4533900"/>
            <a:ext cx="1809750" cy="3238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773"/>
              <a:buFont typeface="Arial"/>
              <a:buNone/>
            </a:pPr>
            <a:r>
              <a:rPr b="1" lang="en-US" sz="773">
                <a:solidFill>
                  <a:srgbClr val="1A1A2E"/>
                </a:solidFill>
              </a:rPr>
              <a:t>Sizing · 11 stories</a:t>
            </a:r>
            <a:endParaRPr/>
          </a:p>
        </p:txBody>
      </p:sp>
      <p:sp>
        <p:nvSpPr>
          <p:cNvPr id="1679" name="Google Shape;1679;p27"/>
          <p:cNvSpPr/>
          <p:nvPr/>
        </p:nvSpPr>
        <p:spPr>
          <a:xfrm>
            <a:off x="2686050" y="4533900"/>
            <a:ext cx="1952625" cy="3238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3B6EBF"/>
              </a:buClr>
              <a:buSzPts val="607"/>
              <a:buFont typeface="Arial"/>
              <a:buNone/>
            </a:pPr>
            <a:r>
              <a:rPr b="1" lang="en-US" sz="607">
                <a:solidFill>
                  <a:srgbClr val="3B6EBF"/>
                </a:solidFill>
              </a:rPr>
              <a:t>sizing_lf_code_evaluation_pass · 11/11</a:t>
            </a:r>
            <a:endParaRPr/>
          </a:p>
        </p:txBody>
      </p:sp>
      <p:sp>
        <p:nvSpPr>
          <p:cNvPr id="1680" name="Google Shape;1680;p27"/>
          <p:cNvSpPr/>
          <p:nvPr/>
        </p:nvSpPr>
        <p:spPr>
          <a:xfrm>
            <a:off x="4743450" y="4533900"/>
            <a:ext cx="1000125" cy="3238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F6F57"/>
              </a:buClr>
              <a:buSzPts val="788"/>
              <a:buFont typeface="Arial"/>
              <a:buNone/>
            </a:pPr>
            <a:r>
              <a:rPr b="1" lang="en-US" sz="788">
                <a:solidFill>
                  <a:srgbClr val="2F6F57"/>
                </a:solidFill>
              </a:rPr>
              <a:t>1.00 avg</a:t>
            </a:r>
            <a:endParaRPr/>
          </a:p>
        </p:txBody>
      </p:sp>
      <p:sp>
        <p:nvSpPr>
          <p:cNvPr id="1681" name="Google Shape;1681;p27"/>
          <p:cNvSpPr/>
          <p:nvPr/>
        </p:nvSpPr>
        <p:spPr>
          <a:xfrm>
            <a:off x="5829300" y="4533900"/>
            <a:ext cx="904875" cy="3238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F6F57"/>
              </a:buClr>
              <a:buSzPts val="788"/>
              <a:buFont typeface="Arial"/>
              <a:buNone/>
            </a:pPr>
            <a:r>
              <a:rPr b="1" lang="en-US" sz="788">
                <a:solidFill>
                  <a:srgbClr val="2F6F57"/>
                </a:solidFill>
              </a:rPr>
              <a:t>0.00 avg</a:t>
            </a:r>
            <a:endParaRPr/>
          </a:p>
        </p:txBody>
      </p:sp>
      <p:sp>
        <p:nvSpPr>
          <p:cNvPr id="1682" name="Google Shape;1682;p27"/>
          <p:cNvSpPr/>
          <p:nvPr/>
        </p:nvSpPr>
        <p:spPr>
          <a:xfrm>
            <a:off x="6800850" y="4533900"/>
            <a:ext cx="952500" cy="3238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F6F57"/>
              </a:buClr>
              <a:buSzPts val="660"/>
              <a:buFont typeface="Arial"/>
              <a:buNone/>
            </a:pPr>
            <a:r>
              <a:rPr b="1" lang="en-US" sz="660">
                <a:solidFill>
                  <a:srgbClr val="2F6F57"/>
                </a:solidFill>
              </a:rPr>
              <a:t>REASON 1.00</a:t>
            </a:r>
            <a:endParaRPr/>
          </a:p>
        </p:txBody>
      </p:sp>
      <p:sp>
        <p:nvSpPr>
          <p:cNvPr id="1683" name="Google Shape;1683;p27"/>
          <p:cNvSpPr/>
          <p:nvPr/>
        </p:nvSpPr>
        <p:spPr>
          <a:xfrm>
            <a:off x="8134350" y="1714500"/>
            <a:ext cx="3371850" cy="3200400"/>
          </a:xfrm>
          <a:prstGeom prst="roundRect">
            <a:avLst>
              <a:gd fmla="val 2381" name="adj"/>
            </a:avLst>
          </a:prstGeom>
          <a:solidFill>
            <a:srgbClr val="FFFFFF"/>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4" name="Google Shape;1684;p27"/>
          <p:cNvSpPr/>
          <p:nvPr/>
        </p:nvSpPr>
        <p:spPr>
          <a:xfrm>
            <a:off x="8401050" y="1885950"/>
            <a:ext cx="2838450" cy="190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F6F57"/>
              </a:buClr>
              <a:buSzPts val="788"/>
              <a:buFont typeface="Arial"/>
              <a:buNone/>
            </a:pPr>
            <a:r>
              <a:rPr b="1" lang="en-US" sz="788">
                <a:solidFill>
                  <a:srgbClr val="2F6F57"/>
                </a:solidFill>
              </a:rPr>
              <a:t>EVALUATION DESIGN</a:t>
            </a:r>
            <a:endParaRPr/>
          </a:p>
        </p:txBody>
      </p:sp>
      <p:sp>
        <p:nvSpPr>
          <p:cNvPr id="1685" name="Google Shape;1685;p27"/>
          <p:cNvSpPr/>
          <p:nvPr/>
        </p:nvSpPr>
        <p:spPr>
          <a:xfrm>
            <a:off x="8401050" y="2114550"/>
            <a:ext cx="2838450" cy="4953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1500"/>
              <a:buFont typeface="Arial"/>
              <a:buNone/>
            </a:pPr>
            <a:r>
              <a:rPr b="1" lang="en-US" sz="1500">
                <a:solidFill>
                  <a:srgbClr val="1A1A2E"/>
                </a:solidFill>
              </a:rPr>
              <a:t>One control stack, two kinds of proof</a:t>
            </a:r>
            <a:endParaRPr/>
          </a:p>
        </p:txBody>
      </p:sp>
      <p:sp>
        <p:nvSpPr>
          <p:cNvPr id="1686" name="Google Shape;1686;p27"/>
          <p:cNvSpPr/>
          <p:nvPr/>
        </p:nvSpPr>
        <p:spPr>
          <a:xfrm>
            <a:off x="8401050" y="2743200"/>
            <a:ext cx="2838450" cy="723900"/>
          </a:xfrm>
          <a:prstGeom prst="roundRect">
            <a:avLst>
              <a:gd fmla="val 10526" name="adj"/>
            </a:avLst>
          </a:prstGeom>
          <a:solidFill>
            <a:srgbClr val="E8EFF9"/>
          </a:solidFill>
          <a:ln cap="flat" cmpd="sng" w="9525">
            <a:solidFill>
              <a:srgbClr val="3B6EB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7" name="Google Shape;1687;p27"/>
          <p:cNvSpPr/>
          <p:nvPr/>
        </p:nvSpPr>
        <p:spPr>
          <a:xfrm>
            <a:off x="8572500" y="2838450"/>
            <a:ext cx="2495550" cy="190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3B6EBF"/>
              </a:buClr>
              <a:buSzPts val="788"/>
              <a:buFont typeface="Arial"/>
              <a:buNone/>
            </a:pPr>
            <a:r>
              <a:rPr b="1" lang="en-US" sz="788">
                <a:solidFill>
                  <a:srgbClr val="3B6EBF"/>
                </a:solidFill>
              </a:rPr>
              <a:t>CODE · deterministic</a:t>
            </a:r>
            <a:endParaRPr/>
          </a:p>
        </p:txBody>
      </p:sp>
      <p:sp>
        <p:nvSpPr>
          <p:cNvPr id="1688" name="Google Shape;1688;p27"/>
          <p:cNvSpPr/>
          <p:nvPr/>
        </p:nvSpPr>
        <p:spPr>
          <a:xfrm>
            <a:off x="8572500" y="3048000"/>
            <a:ext cx="2495550" cy="3238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690"/>
              <a:buFont typeface="Arial"/>
              <a:buNone/>
            </a:pPr>
            <a:r>
              <a:rPr lang="en-US" sz="690">
                <a:solidFill>
                  <a:srgbClr val="1A1A2E"/>
                </a:solidFill>
              </a:rPr>
              <a:t>Schema · counts · exact values · mappings · required sections · release contracts</a:t>
            </a:r>
            <a:endParaRPr/>
          </a:p>
        </p:txBody>
      </p:sp>
      <p:sp>
        <p:nvSpPr>
          <p:cNvPr id="1689" name="Google Shape;1689;p27"/>
          <p:cNvSpPr/>
          <p:nvPr/>
        </p:nvSpPr>
        <p:spPr>
          <a:xfrm>
            <a:off x="8401050" y="3581400"/>
            <a:ext cx="2838450" cy="819150"/>
          </a:xfrm>
          <a:prstGeom prst="roundRect">
            <a:avLst>
              <a:gd fmla="val 9302" name="adj"/>
            </a:avLst>
          </a:prstGeom>
          <a:solidFill>
            <a:srgbClr val="F0EAFB"/>
          </a:solidFill>
          <a:ln cap="flat" cmpd="sng" w="9525">
            <a:solidFill>
              <a:srgbClr val="7546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0" name="Google Shape;1690;p27"/>
          <p:cNvSpPr/>
          <p:nvPr/>
        </p:nvSpPr>
        <p:spPr>
          <a:xfrm>
            <a:off x="8572500" y="3676650"/>
            <a:ext cx="2495550" cy="190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7546C8"/>
              </a:buClr>
              <a:buSzPts val="788"/>
              <a:buFont typeface="Arial"/>
              <a:buNone/>
            </a:pPr>
            <a:r>
              <a:rPr b="1" lang="en-US" sz="788">
                <a:solidFill>
                  <a:srgbClr val="7546C8"/>
                </a:solidFill>
              </a:rPr>
              <a:t>LLM · semantic</a:t>
            </a:r>
            <a:endParaRPr/>
          </a:p>
        </p:txBody>
      </p:sp>
      <p:sp>
        <p:nvSpPr>
          <p:cNvPr id="1691" name="Google Shape;1691;p27"/>
          <p:cNvSpPr/>
          <p:nvPr/>
        </p:nvSpPr>
        <p:spPr>
          <a:xfrm>
            <a:off x="8572500" y="3867150"/>
            <a:ext cx="2495550" cy="44767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653"/>
              <a:buFont typeface="Arial"/>
              <a:buNone/>
            </a:pPr>
            <a:r>
              <a:rPr lang="en-US" sz="653">
                <a:solidFill>
                  <a:srgbClr val="1A1A2E"/>
                </a:solidFill>
              </a:rPr>
              <a:t>Generic: llm_faithfulness + llm_hallucination</a:t>
            </a:r>
            <a:endParaRPr/>
          </a:p>
          <a:p>
            <a:pPr indent="0" lvl="0" marL="0" marR="0" rtl="0" algn="l">
              <a:spcBef>
                <a:spcPts val="0"/>
              </a:spcBef>
              <a:spcAft>
                <a:spcPts val="0"/>
              </a:spcAft>
              <a:buClr>
                <a:srgbClr val="1A1A2E"/>
              </a:buClr>
              <a:buSzPts val="653"/>
              <a:buFont typeface="Arial"/>
              <a:buNone/>
            </a:pPr>
            <a:r>
              <a:rPr lang="en-US" sz="653">
                <a:solidFill>
                  <a:srgbClr val="1A1A2E"/>
                </a:solidFill>
              </a:rPr>
              <a:t>Stage-specific: story_* + sizing faithfulness, hallucination, reasonableness</a:t>
            </a:r>
            <a:endParaRPr/>
          </a:p>
        </p:txBody>
      </p:sp>
      <p:sp>
        <p:nvSpPr>
          <p:cNvPr id="1692" name="Google Shape;1692;p27"/>
          <p:cNvSpPr/>
          <p:nvPr/>
        </p:nvSpPr>
        <p:spPr>
          <a:xfrm>
            <a:off x="8401050" y="4514850"/>
            <a:ext cx="2838450" cy="2667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F6F57"/>
              </a:buClr>
              <a:buSzPts val="690"/>
              <a:buFont typeface="Arial"/>
              <a:buNone/>
            </a:pPr>
            <a:r>
              <a:rPr b="1" lang="en-US" sz="690">
                <a:solidFill>
                  <a:srgbClr val="2F6F57"/>
                </a:solidFill>
              </a:rPr>
              <a:t>Policy: faithfulness ≥ 0.90 · hallucination ≤ 0.15 · code = 1</a:t>
            </a:r>
            <a:endParaRPr/>
          </a:p>
        </p:txBody>
      </p:sp>
      <p:sp>
        <p:nvSpPr>
          <p:cNvPr id="1693" name="Google Shape;1693;p27"/>
          <p:cNvSpPr/>
          <p:nvPr/>
        </p:nvSpPr>
        <p:spPr>
          <a:xfrm>
            <a:off x="685800" y="5105400"/>
            <a:ext cx="10820400" cy="933450"/>
          </a:xfrm>
          <a:prstGeom prst="roundRect">
            <a:avLst>
              <a:gd fmla="val 8163" name="adj"/>
            </a:avLst>
          </a:prstGeom>
          <a:solidFill>
            <a:srgbClr val="E6F0EB"/>
          </a:solidFill>
          <a:ln cap="flat" cmpd="sng" w="9525">
            <a:solidFill>
              <a:srgbClr val="2F6F5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4" name="Google Shape;1694;p27"/>
          <p:cNvSpPr/>
          <p:nvPr/>
        </p:nvSpPr>
        <p:spPr>
          <a:xfrm>
            <a:off x="914400" y="5219700"/>
            <a:ext cx="2857500" cy="190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F6F57"/>
              </a:buClr>
              <a:buSzPts val="788"/>
              <a:buFont typeface="Arial"/>
              <a:buNone/>
            </a:pPr>
            <a:r>
              <a:rPr b="1" lang="en-US" sz="788">
                <a:solidFill>
                  <a:srgbClr val="2F6F57"/>
                </a:solidFill>
              </a:rPr>
              <a:t>ACCEPTED-RUN EVIDENCE RECEIPTS</a:t>
            </a:r>
            <a:endParaRPr/>
          </a:p>
        </p:txBody>
      </p:sp>
      <p:sp>
        <p:nvSpPr>
          <p:cNvPr id="1695" name="Google Shape;1695;p27"/>
          <p:cNvSpPr/>
          <p:nvPr/>
        </p:nvSpPr>
        <p:spPr>
          <a:xfrm>
            <a:off x="914400" y="5486400"/>
            <a:ext cx="1143000" cy="171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675"/>
              <a:buFont typeface="Arial"/>
              <a:buNone/>
            </a:pPr>
            <a:r>
              <a:rPr lang="en-US" sz="675">
                <a:solidFill>
                  <a:srgbClr val="666B70"/>
                </a:solidFill>
              </a:rPr>
              <a:t>Story trace</a:t>
            </a:r>
            <a:endParaRPr/>
          </a:p>
        </p:txBody>
      </p:sp>
      <p:sp>
        <p:nvSpPr>
          <p:cNvPr id="1696" name="Google Shape;1696;p27"/>
          <p:cNvSpPr/>
          <p:nvPr/>
        </p:nvSpPr>
        <p:spPr>
          <a:xfrm>
            <a:off x="1809750" y="5486400"/>
            <a:ext cx="2381250" cy="171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615"/>
              <a:buFont typeface="Arial"/>
              <a:buNone/>
            </a:pPr>
            <a:r>
              <a:rPr b="1" lang="en-US" sz="615">
                <a:solidFill>
                  <a:srgbClr val="1A1A2E"/>
                </a:solidFill>
              </a:rPr>
              <a:t>35579c15ebbeb1bf83406a8274600333</a:t>
            </a:r>
            <a:endParaRPr/>
          </a:p>
        </p:txBody>
      </p:sp>
      <p:sp>
        <p:nvSpPr>
          <p:cNvPr id="1697" name="Google Shape;1697;p27"/>
          <p:cNvSpPr/>
          <p:nvPr/>
        </p:nvSpPr>
        <p:spPr>
          <a:xfrm>
            <a:off x="4400550" y="5486400"/>
            <a:ext cx="1143000" cy="171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675"/>
              <a:buFont typeface="Arial"/>
              <a:buNone/>
            </a:pPr>
            <a:r>
              <a:rPr lang="en-US" sz="675">
                <a:solidFill>
                  <a:srgbClr val="666B70"/>
                </a:solidFill>
              </a:rPr>
              <a:t>Sizing trace</a:t>
            </a:r>
            <a:endParaRPr/>
          </a:p>
        </p:txBody>
      </p:sp>
      <p:sp>
        <p:nvSpPr>
          <p:cNvPr id="1698" name="Google Shape;1698;p27"/>
          <p:cNvSpPr/>
          <p:nvPr/>
        </p:nvSpPr>
        <p:spPr>
          <a:xfrm>
            <a:off x="5314950" y="5486400"/>
            <a:ext cx="2381250" cy="171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615"/>
              <a:buFont typeface="Arial"/>
              <a:buNone/>
            </a:pPr>
            <a:r>
              <a:rPr b="1" lang="en-US" sz="615">
                <a:solidFill>
                  <a:srgbClr val="1A1A2E"/>
                </a:solidFill>
              </a:rPr>
              <a:t>0a29e318a6784852cc64b997229b00c2</a:t>
            </a:r>
            <a:endParaRPr/>
          </a:p>
        </p:txBody>
      </p:sp>
      <p:sp>
        <p:nvSpPr>
          <p:cNvPr id="1699" name="Google Shape;1699;p27"/>
          <p:cNvSpPr/>
          <p:nvPr/>
        </p:nvSpPr>
        <p:spPr>
          <a:xfrm>
            <a:off x="7924800" y="5410200"/>
            <a:ext cx="3333750" cy="3238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F6F57"/>
              </a:buClr>
              <a:buSzPts val="690"/>
              <a:buFont typeface="Arial"/>
              <a:buNone/>
            </a:pPr>
            <a:r>
              <a:rPr b="1" lang="en-US" sz="690">
                <a:solidFill>
                  <a:srgbClr val="2F6F57"/>
                </a:solidFill>
              </a:rPr>
              <a:t>Agreement Gate: complete score set · no duplicates · current-run correlation · release authorized</a:t>
            </a:r>
            <a:endParaRPr/>
          </a:p>
        </p:txBody>
      </p:sp>
      <p:sp>
        <p:nvSpPr>
          <p:cNvPr id="1700" name="Google Shape;1700;p27"/>
          <p:cNvSpPr/>
          <p:nvPr/>
        </p:nvSpPr>
        <p:spPr>
          <a:xfrm>
            <a:off x="914400" y="5772150"/>
            <a:ext cx="10344150" cy="1619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F6F57"/>
              </a:buClr>
              <a:buSzPts val="660"/>
              <a:buFont typeface="Arial"/>
              <a:buNone/>
            </a:pPr>
            <a:r>
              <a:rPr b="1" lang="en-US" sz="660">
                <a:solidFill>
                  <a:srgbClr val="2F6F57"/>
                </a:solidFill>
              </a:rPr>
              <a:t>Langfuse project cms9sudes0u9rad0h4fvs3r6n · Evaluations</a:t>
            </a:r>
            <a:endParaRPr/>
          </a:p>
        </p:txBody>
      </p:sp>
      <p:sp>
        <p:nvSpPr>
          <p:cNvPr id="1701" name="Google Shape;1701;p27"/>
          <p:cNvSpPr/>
          <p:nvPr/>
        </p:nvSpPr>
        <p:spPr>
          <a:xfrm>
            <a:off x="0" y="6267450"/>
            <a:ext cx="12192000" cy="590550"/>
          </a:xfrm>
          <a:prstGeom prst="rect">
            <a:avLst/>
          </a:prstGeom>
          <a:solidFill>
            <a:srgbClr val="1A1A2E"/>
          </a:solidFill>
          <a:ln cap="flat" cmpd="sng" w="9525">
            <a:solidFill>
              <a:srgbClr val="1A1A2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2" name="Google Shape;1702;p27"/>
          <p:cNvSpPr/>
          <p:nvPr/>
        </p:nvSpPr>
        <p:spPr>
          <a:xfrm>
            <a:off x="781050" y="6391275"/>
            <a:ext cx="1905000" cy="190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C9C6D8"/>
              </a:buClr>
              <a:buSzPts val="825"/>
              <a:buFont typeface="Arial"/>
              <a:buNone/>
            </a:pPr>
            <a:r>
              <a:rPr b="1" lang="en-US" sz="825">
                <a:solidFill>
                  <a:srgbClr val="C9C6D8"/>
                </a:solidFill>
              </a:rPr>
              <a:t>APPENDIX A8</a:t>
            </a:r>
            <a:endParaRPr/>
          </a:p>
        </p:txBody>
      </p:sp>
      <p:sp>
        <p:nvSpPr>
          <p:cNvPr id="1703" name="Google Shape;1703;p27"/>
          <p:cNvSpPr/>
          <p:nvPr/>
        </p:nvSpPr>
        <p:spPr>
          <a:xfrm>
            <a:off x="2705100" y="6353175"/>
            <a:ext cx="8705850" cy="29527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FFFFFF"/>
              </a:buClr>
              <a:buSzPts val="1102"/>
              <a:buFont typeface="Arial"/>
              <a:buNone/>
            </a:pPr>
            <a:r>
              <a:rPr b="1" lang="en-US" sz="1102">
                <a:solidFill>
                  <a:srgbClr val="FFFFFF"/>
                </a:solidFill>
              </a:rPr>
              <a:t>Deterministic checks prove structural correctness; LLM judges test semantic support and reasoning quality.</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4EE"/>
        </a:solidFill>
      </p:bgPr>
    </p:bg>
    <p:spTree>
      <p:nvGrpSpPr>
        <p:cNvPr id="1708" name="Shape 1708"/>
        <p:cNvGrpSpPr/>
        <p:nvPr/>
      </p:nvGrpSpPr>
      <p:grpSpPr>
        <a:xfrm>
          <a:off x="0" y="0"/>
          <a:ext cx="0" cy="0"/>
          <a:chOff x="0" y="0"/>
          <a:chExt cx="0" cy="0"/>
        </a:xfrm>
      </p:grpSpPr>
      <p:sp>
        <p:nvSpPr>
          <p:cNvPr id="1709" name="Google Shape;1709;p28"/>
          <p:cNvSpPr/>
          <p:nvPr/>
        </p:nvSpPr>
        <p:spPr>
          <a:xfrm>
            <a:off x="0" y="0"/>
            <a:ext cx="12192000" cy="76200"/>
          </a:xfrm>
          <a:prstGeom prst="rect">
            <a:avLst/>
          </a:prstGeom>
          <a:solidFill>
            <a:srgbClr val="B85042"/>
          </a:solidFill>
          <a:ln cap="flat" cmpd="sng" w="9525">
            <a:solidFill>
              <a:srgbClr val="B8504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0" name="Google Shape;1710;p28"/>
          <p:cNvSpPr/>
          <p:nvPr/>
        </p:nvSpPr>
        <p:spPr>
          <a:xfrm>
            <a:off x="514350" y="590550"/>
            <a:ext cx="66675" cy="723900"/>
          </a:xfrm>
          <a:prstGeom prst="rect">
            <a:avLst/>
          </a:prstGeom>
          <a:solidFill>
            <a:srgbClr val="B85042"/>
          </a:solidFill>
          <a:ln cap="flat" cmpd="sng" w="9525">
            <a:solidFill>
              <a:srgbClr val="B8504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1" name="Google Shape;1711;p28"/>
          <p:cNvSpPr/>
          <p:nvPr/>
        </p:nvSpPr>
        <p:spPr>
          <a:xfrm>
            <a:off x="781050" y="438150"/>
            <a:ext cx="8572500" cy="2381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B85042"/>
              </a:buClr>
              <a:buSzPts val="938"/>
              <a:buFont typeface="Arial"/>
              <a:buNone/>
            </a:pPr>
            <a:r>
              <a:rPr b="1" lang="en-US" sz="938">
                <a:solidFill>
                  <a:srgbClr val="B85042"/>
                </a:solidFill>
              </a:rPr>
              <a:t>A9  ·  FULLY LOADED TOKEN AND COST BREAKDOWN</a:t>
            </a:r>
            <a:endParaRPr/>
          </a:p>
        </p:txBody>
      </p:sp>
      <p:sp>
        <p:nvSpPr>
          <p:cNvPr id="1712" name="Google Shape;1712;p28"/>
          <p:cNvSpPr/>
          <p:nvPr/>
        </p:nvSpPr>
        <p:spPr>
          <a:xfrm>
            <a:off x="781050" y="723900"/>
            <a:ext cx="10629900" cy="4953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2325"/>
              <a:buFont typeface="Arial"/>
              <a:buNone/>
            </a:pPr>
            <a:r>
              <a:rPr b="1" lang="en-US" sz="2325">
                <a:solidFill>
                  <a:srgbClr val="1A1A2E"/>
                </a:solidFill>
              </a:rPr>
              <a:t>Semantic evaluation accounts for 84.5% of the accepted-run cost</a:t>
            </a:r>
            <a:endParaRPr/>
          </a:p>
        </p:txBody>
      </p:sp>
      <p:sp>
        <p:nvSpPr>
          <p:cNvPr id="1713" name="Google Shape;1713;p28"/>
          <p:cNvSpPr/>
          <p:nvPr/>
        </p:nvSpPr>
        <p:spPr>
          <a:xfrm>
            <a:off x="781050" y="1238250"/>
            <a:ext cx="10629900" cy="2667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1035"/>
              <a:buFont typeface="Arial"/>
              <a:buNone/>
            </a:pPr>
            <a:r>
              <a:rPr lang="en-US" sz="1035">
                <a:solidFill>
                  <a:srgbClr val="666B70"/>
                </a:solidFill>
              </a:rPr>
              <a:t>Actual Langfuse usage for v0.3.8 execution 11901 · generation plus every completed current-run LLM evaluator.</a:t>
            </a:r>
            <a:endParaRPr/>
          </a:p>
        </p:txBody>
      </p:sp>
      <p:sp>
        <p:nvSpPr>
          <p:cNvPr id="1714" name="Google Shape;1714;p28"/>
          <p:cNvSpPr/>
          <p:nvPr/>
        </p:nvSpPr>
        <p:spPr>
          <a:xfrm>
            <a:off x="685800" y="1676400"/>
            <a:ext cx="10820400" cy="990600"/>
          </a:xfrm>
          <a:prstGeom prst="roundRect">
            <a:avLst>
              <a:gd fmla="val 7692" name="adj"/>
            </a:avLst>
          </a:prstGeom>
          <a:solidFill>
            <a:srgbClr val="E6F0EB"/>
          </a:solidFill>
          <a:ln cap="flat" cmpd="sng" w="9525">
            <a:solidFill>
              <a:srgbClr val="2F6F5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5" name="Google Shape;1715;p28"/>
          <p:cNvSpPr/>
          <p:nvPr/>
        </p:nvSpPr>
        <p:spPr>
          <a:xfrm>
            <a:off x="914400" y="1809750"/>
            <a:ext cx="2476500" cy="419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2250"/>
              <a:buFont typeface="Arial"/>
              <a:buNone/>
            </a:pPr>
            <a:r>
              <a:rPr b="1" lang="en-US" sz="2250">
                <a:solidFill>
                  <a:srgbClr val="1A1A2E"/>
                </a:solidFill>
              </a:rPr>
              <a:t>$1.474409</a:t>
            </a:r>
            <a:endParaRPr/>
          </a:p>
        </p:txBody>
      </p:sp>
      <p:sp>
        <p:nvSpPr>
          <p:cNvPr id="1716" name="Google Shape;1716;p28"/>
          <p:cNvSpPr/>
          <p:nvPr/>
        </p:nvSpPr>
        <p:spPr>
          <a:xfrm>
            <a:off x="914400" y="2209800"/>
            <a:ext cx="2476500" cy="21907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F6F57"/>
              </a:buClr>
              <a:buSzPts val="788"/>
              <a:buFont typeface="Arial"/>
              <a:buNone/>
            </a:pPr>
            <a:r>
              <a:rPr b="1" lang="en-US" sz="788">
                <a:solidFill>
                  <a:srgbClr val="2F6F57"/>
                </a:solidFill>
              </a:rPr>
              <a:t>fully loaded cost</a:t>
            </a:r>
            <a:endParaRPr/>
          </a:p>
        </p:txBody>
      </p:sp>
      <p:sp>
        <p:nvSpPr>
          <p:cNvPr id="1717" name="Google Shape;1717;p28"/>
          <p:cNvSpPr/>
          <p:nvPr/>
        </p:nvSpPr>
        <p:spPr>
          <a:xfrm>
            <a:off x="3600450" y="1809750"/>
            <a:ext cx="2000250" cy="419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2250"/>
              <a:buFont typeface="Arial"/>
              <a:buNone/>
            </a:pPr>
            <a:r>
              <a:rPr b="1" lang="en-US" sz="2250">
                <a:solidFill>
                  <a:srgbClr val="1A1A2E"/>
                </a:solidFill>
              </a:rPr>
              <a:t>545,467</a:t>
            </a:r>
            <a:endParaRPr/>
          </a:p>
        </p:txBody>
      </p:sp>
      <p:sp>
        <p:nvSpPr>
          <p:cNvPr id="1718" name="Google Shape;1718;p28"/>
          <p:cNvSpPr/>
          <p:nvPr/>
        </p:nvSpPr>
        <p:spPr>
          <a:xfrm>
            <a:off x="3600450" y="2209800"/>
            <a:ext cx="2000250" cy="21907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F6F57"/>
              </a:buClr>
              <a:buSzPts val="788"/>
              <a:buFont typeface="Arial"/>
              <a:buNone/>
            </a:pPr>
            <a:r>
              <a:rPr b="1" lang="en-US" sz="788">
                <a:solidFill>
                  <a:srgbClr val="2F6F57"/>
                </a:solidFill>
              </a:rPr>
              <a:t>total tokens</a:t>
            </a:r>
            <a:endParaRPr/>
          </a:p>
        </p:txBody>
      </p:sp>
      <p:sp>
        <p:nvSpPr>
          <p:cNvPr id="1719" name="Google Shape;1719;p28"/>
          <p:cNvSpPr/>
          <p:nvPr/>
        </p:nvSpPr>
        <p:spPr>
          <a:xfrm>
            <a:off x="5810250" y="1809750"/>
            <a:ext cx="2000250" cy="419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1875"/>
              <a:buFont typeface="Arial"/>
              <a:buNone/>
            </a:pPr>
            <a:r>
              <a:rPr b="1" lang="en-US" sz="1875">
                <a:solidFill>
                  <a:srgbClr val="1A1A2E"/>
                </a:solidFill>
              </a:rPr>
              <a:t>1 run / week</a:t>
            </a:r>
            <a:endParaRPr/>
          </a:p>
        </p:txBody>
      </p:sp>
      <p:sp>
        <p:nvSpPr>
          <p:cNvPr id="1720" name="Google Shape;1720;p28"/>
          <p:cNvSpPr/>
          <p:nvPr/>
        </p:nvSpPr>
        <p:spPr>
          <a:xfrm>
            <a:off x="5810250" y="2209800"/>
            <a:ext cx="2000250" cy="21907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F6F57"/>
              </a:buClr>
              <a:buSzPts val="788"/>
              <a:buFont typeface="Arial"/>
              <a:buNone/>
            </a:pPr>
            <a:r>
              <a:rPr b="1" lang="en-US" sz="788">
                <a:solidFill>
                  <a:srgbClr val="2F6F57"/>
                </a:solidFill>
              </a:rPr>
              <a:t>governed operating assumption</a:t>
            </a:r>
            <a:endParaRPr/>
          </a:p>
        </p:txBody>
      </p:sp>
      <p:sp>
        <p:nvSpPr>
          <p:cNvPr id="1721" name="Google Shape;1721;p28"/>
          <p:cNvSpPr/>
          <p:nvPr/>
        </p:nvSpPr>
        <p:spPr>
          <a:xfrm>
            <a:off x="8020050" y="1809750"/>
            <a:ext cx="3143250" cy="419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1875"/>
              <a:buFont typeface="Arial"/>
              <a:buNone/>
            </a:pPr>
            <a:r>
              <a:rPr b="1" lang="en-US" sz="1875">
                <a:solidFill>
                  <a:srgbClr val="1A1A2E"/>
                </a:solidFill>
              </a:rPr>
              <a:t>~$6.38 / month</a:t>
            </a:r>
            <a:endParaRPr/>
          </a:p>
        </p:txBody>
      </p:sp>
      <p:sp>
        <p:nvSpPr>
          <p:cNvPr id="1722" name="Google Shape;1722;p28"/>
          <p:cNvSpPr/>
          <p:nvPr/>
        </p:nvSpPr>
        <p:spPr>
          <a:xfrm>
            <a:off x="8020050" y="2209800"/>
            <a:ext cx="3143250" cy="21907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F6F57"/>
              </a:buClr>
              <a:buSzPts val="788"/>
              <a:buFont typeface="Arial"/>
              <a:buNone/>
            </a:pPr>
            <a:r>
              <a:rPr b="1" lang="en-US" sz="788">
                <a:solidFill>
                  <a:srgbClr val="2F6F57"/>
                </a:solidFill>
              </a:rPr>
              <a:t>4.33 fully evaluated runs</a:t>
            </a:r>
            <a:endParaRPr/>
          </a:p>
        </p:txBody>
      </p:sp>
      <p:sp>
        <p:nvSpPr>
          <p:cNvPr id="1723" name="Google Shape;1723;p28"/>
          <p:cNvSpPr/>
          <p:nvPr/>
        </p:nvSpPr>
        <p:spPr>
          <a:xfrm>
            <a:off x="685800" y="2781300"/>
            <a:ext cx="1524000" cy="190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B85042"/>
              </a:buClr>
              <a:buSzPts val="750"/>
              <a:buFont typeface="Arial"/>
              <a:buNone/>
            </a:pPr>
            <a:r>
              <a:rPr b="1" lang="en-US" sz="750">
                <a:solidFill>
                  <a:srgbClr val="B85042"/>
                </a:solidFill>
              </a:rPr>
              <a:t>COST SHARE</a:t>
            </a:r>
            <a:endParaRPr/>
          </a:p>
        </p:txBody>
      </p:sp>
      <p:sp>
        <p:nvSpPr>
          <p:cNvPr id="1724" name="Google Shape;1724;p28"/>
          <p:cNvSpPr/>
          <p:nvPr/>
        </p:nvSpPr>
        <p:spPr>
          <a:xfrm>
            <a:off x="685800" y="3009900"/>
            <a:ext cx="1676400" cy="285750"/>
          </a:xfrm>
          <a:prstGeom prst="roundRect">
            <a:avLst>
              <a:gd fmla="val 26667" name="adj"/>
            </a:avLst>
          </a:prstGeom>
          <a:solidFill>
            <a:srgbClr val="3B6EBF"/>
          </a:solidFill>
          <a:ln cap="flat" cmpd="sng" w="9525">
            <a:solidFill>
              <a:srgbClr val="3B6EB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5" name="Google Shape;1725;p28"/>
          <p:cNvSpPr/>
          <p:nvPr/>
        </p:nvSpPr>
        <p:spPr>
          <a:xfrm>
            <a:off x="2362200" y="3009900"/>
            <a:ext cx="9144000" cy="285750"/>
          </a:xfrm>
          <a:prstGeom prst="roundRect">
            <a:avLst>
              <a:gd fmla="val 26667" name="adj"/>
            </a:avLst>
          </a:prstGeom>
          <a:solidFill>
            <a:srgbClr val="7546C8"/>
          </a:solidFill>
          <a:ln cap="flat" cmpd="sng" w="9525">
            <a:solidFill>
              <a:srgbClr val="7546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6" name="Google Shape;1726;p28"/>
          <p:cNvSpPr/>
          <p:nvPr/>
        </p:nvSpPr>
        <p:spPr>
          <a:xfrm>
            <a:off x="762000" y="3048000"/>
            <a:ext cx="1524000" cy="2095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FFFFFF"/>
              </a:buClr>
              <a:buSzPts val="780"/>
              <a:buFont typeface="Arial"/>
              <a:buNone/>
            </a:pPr>
            <a:r>
              <a:rPr b="1" lang="en-US" sz="780">
                <a:solidFill>
                  <a:srgbClr val="FFFFFF"/>
                </a:solidFill>
              </a:rPr>
              <a:t>15.5% · generation</a:t>
            </a:r>
            <a:endParaRPr/>
          </a:p>
        </p:txBody>
      </p:sp>
      <p:sp>
        <p:nvSpPr>
          <p:cNvPr id="1727" name="Google Shape;1727;p28"/>
          <p:cNvSpPr/>
          <p:nvPr/>
        </p:nvSpPr>
        <p:spPr>
          <a:xfrm>
            <a:off x="2476500" y="3048000"/>
            <a:ext cx="8915400" cy="2095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FFFFFF"/>
              </a:buClr>
              <a:buSzPts val="780"/>
              <a:buFont typeface="Arial"/>
              <a:buNone/>
            </a:pPr>
            <a:r>
              <a:rPr b="1" lang="en-US" sz="780">
                <a:solidFill>
                  <a:srgbClr val="FFFFFF"/>
                </a:solidFill>
              </a:rPr>
              <a:t>84.5% · semantic evaluation</a:t>
            </a:r>
            <a:endParaRPr/>
          </a:p>
        </p:txBody>
      </p:sp>
      <p:sp>
        <p:nvSpPr>
          <p:cNvPr id="1728" name="Google Shape;1728;p28"/>
          <p:cNvSpPr/>
          <p:nvPr/>
        </p:nvSpPr>
        <p:spPr>
          <a:xfrm>
            <a:off x="685800" y="3429000"/>
            <a:ext cx="10820400" cy="323850"/>
          </a:xfrm>
          <a:prstGeom prst="roundRect">
            <a:avLst>
              <a:gd fmla="val 23529" name="adj"/>
            </a:avLst>
          </a:prstGeom>
          <a:solidFill>
            <a:srgbClr val="1A1A2E"/>
          </a:solidFill>
          <a:ln cap="flat" cmpd="sng" w="9525">
            <a:solidFill>
              <a:srgbClr val="1A1A2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9" name="Google Shape;1729;p28"/>
          <p:cNvSpPr/>
          <p:nvPr/>
        </p:nvSpPr>
        <p:spPr>
          <a:xfrm>
            <a:off x="838200" y="3495675"/>
            <a:ext cx="3276600" cy="190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FFFFFF"/>
              </a:buClr>
              <a:buSzPts val="675"/>
              <a:buFont typeface="Arial"/>
              <a:buNone/>
            </a:pPr>
            <a:r>
              <a:rPr b="1" lang="en-US" sz="675">
                <a:solidFill>
                  <a:srgbClr val="FFFFFF"/>
                </a:solidFill>
              </a:rPr>
              <a:t>COST COMPONENT</a:t>
            </a:r>
            <a:endParaRPr/>
          </a:p>
        </p:txBody>
      </p:sp>
      <p:sp>
        <p:nvSpPr>
          <p:cNvPr id="1730" name="Google Shape;1730;p28"/>
          <p:cNvSpPr/>
          <p:nvPr/>
        </p:nvSpPr>
        <p:spPr>
          <a:xfrm>
            <a:off x="4229100" y="3495675"/>
            <a:ext cx="742950" cy="190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FFFFFF"/>
              </a:buClr>
              <a:buSzPts val="675"/>
              <a:buFont typeface="Arial"/>
              <a:buNone/>
            </a:pPr>
            <a:r>
              <a:rPr b="1" lang="en-US" sz="675">
                <a:solidFill>
                  <a:srgbClr val="FFFFFF"/>
                </a:solidFill>
              </a:rPr>
              <a:t>CALLS</a:t>
            </a:r>
            <a:endParaRPr/>
          </a:p>
        </p:txBody>
      </p:sp>
      <p:sp>
        <p:nvSpPr>
          <p:cNvPr id="1731" name="Google Shape;1731;p28"/>
          <p:cNvSpPr/>
          <p:nvPr/>
        </p:nvSpPr>
        <p:spPr>
          <a:xfrm>
            <a:off x="5029200" y="3495675"/>
            <a:ext cx="1352550" cy="190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FFFFFF"/>
              </a:buClr>
              <a:buSzPts val="675"/>
              <a:buFont typeface="Arial"/>
              <a:buNone/>
            </a:pPr>
            <a:r>
              <a:rPr b="1" lang="en-US" sz="675">
                <a:solidFill>
                  <a:srgbClr val="FFFFFF"/>
                </a:solidFill>
              </a:rPr>
              <a:t>INPUT</a:t>
            </a:r>
            <a:endParaRPr/>
          </a:p>
        </p:txBody>
      </p:sp>
      <p:sp>
        <p:nvSpPr>
          <p:cNvPr id="1732" name="Google Shape;1732;p28"/>
          <p:cNvSpPr/>
          <p:nvPr/>
        </p:nvSpPr>
        <p:spPr>
          <a:xfrm>
            <a:off x="6496050" y="3495675"/>
            <a:ext cx="1143000" cy="190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FFFFFF"/>
              </a:buClr>
              <a:buSzPts val="675"/>
              <a:buFont typeface="Arial"/>
              <a:buNone/>
            </a:pPr>
            <a:r>
              <a:rPr b="1" lang="en-US" sz="675">
                <a:solidFill>
                  <a:srgbClr val="FFFFFF"/>
                </a:solidFill>
              </a:rPr>
              <a:t>OUTPUT</a:t>
            </a:r>
            <a:endParaRPr/>
          </a:p>
        </p:txBody>
      </p:sp>
      <p:sp>
        <p:nvSpPr>
          <p:cNvPr id="1733" name="Google Shape;1733;p28"/>
          <p:cNvSpPr/>
          <p:nvPr/>
        </p:nvSpPr>
        <p:spPr>
          <a:xfrm>
            <a:off x="7753350" y="3495675"/>
            <a:ext cx="1428750" cy="190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FFFFFF"/>
              </a:buClr>
              <a:buSzPts val="675"/>
              <a:buFont typeface="Arial"/>
              <a:buNone/>
            </a:pPr>
            <a:r>
              <a:rPr b="1" lang="en-US" sz="675">
                <a:solidFill>
                  <a:srgbClr val="FFFFFF"/>
                </a:solidFill>
              </a:rPr>
              <a:t>TOTAL TOKENS</a:t>
            </a:r>
            <a:endParaRPr/>
          </a:p>
        </p:txBody>
      </p:sp>
      <p:sp>
        <p:nvSpPr>
          <p:cNvPr id="1734" name="Google Shape;1734;p28"/>
          <p:cNvSpPr/>
          <p:nvPr/>
        </p:nvSpPr>
        <p:spPr>
          <a:xfrm>
            <a:off x="9334500" y="3495675"/>
            <a:ext cx="1943100" cy="190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FFFFFF"/>
              </a:buClr>
              <a:buSzPts val="675"/>
              <a:buFont typeface="Arial"/>
              <a:buNone/>
            </a:pPr>
            <a:r>
              <a:rPr b="1" lang="en-US" sz="675">
                <a:solidFill>
                  <a:srgbClr val="FFFFFF"/>
                </a:solidFill>
              </a:rPr>
              <a:t>ACTUAL COST</a:t>
            </a:r>
            <a:endParaRPr/>
          </a:p>
        </p:txBody>
      </p:sp>
      <p:sp>
        <p:nvSpPr>
          <p:cNvPr id="1735" name="Google Shape;1735;p28"/>
          <p:cNvSpPr/>
          <p:nvPr/>
        </p:nvSpPr>
        <p:spPr>
          <a:xfrm>
            <a:off x="685800" y="3771900"/>
            <a:ext cx="10820400" cy="295275"/>
          </a:xfrm>
          <a:prstGeom prst="rect">
            <a:avLst/>
          </a:prstGeom>
          <a:solidFill>
            <a:srgbClr val="FFFFFF"/>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6" name="Google Shape;1736;p28"/>
          <p:cNvSpPr/>
          <p:nvPr/>
        </p:nvSpPr>
        <p:spPr>
          <a:xfrm>
            <a:off x="838200" y="3810000"/>
            <a:ext cx="3276600" cy="21907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705"/>
              <a:buFont typeface="Arial"/>
              <a:buNone/>
            </a:pPr>
            <a:r>
              <a:rPr b="0" lang="en-US" sz="705">
                <a:solidFill>
                  <a:srgbClr val="1A1A2E"/>
                </a:solidFill>
              </a:rPr>
              <a:t>Pipeline generation subtotal</a:t>
            </a:r>
            <a:endParaRPr/>
          </a:p>
        </p:txBody>
      </p:sp>
      <p:sp>
        <p:nvSpPr>
          <p:cNvPr id="1737" name="Google Shape;1737;p28"/>
          <p:cNvSpPr/>
          <p:nvPr/>
        </p:nvSpPr>
        <p:spPr>
          <a:xfrm>
            <a:off x="4229100" y="3810000"/>
            <a:ext cx="742950" cy="21907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705"/>
              <a:buFont typeface="Arial"/>
              <a:buNone/>
            </a:pPr>
            <a:r>
              <a:rPr b="0" lang="en-US" sz="705">
                <a:solidFill>
                  <a:srgbClr val="1A1A2E"/>
                </a:solidFill>
              </a:rPr>
              <a:t>2</a:t>
            </a:r>
            <a:endParaRPr/>
          </a:p>
        </p:txBody>
      </p:sp>
      <p:sp>
        <p:nvSpPr>
          <p:cNvPr id="1738" name="Google Shape;1738;p28"/>
          <p:cNvSpPr/>
          <p:nvPr/>
        </p:nvSpPr>
        <p:spPr>
          <a:xfrm>
            <a:off x="5029200" y="3810000"/>
            <a:ext cx="1352550" cy="21907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705"/>
              <a:buFont typeface="Arial"/>
              <a:buNone/>
            </a:pPr>
            <a:r>
              <a:rPr b="0" lang="en-US" sz="705">
                <a:solidFill>
                  <a:srgbClr val="1A1A2E"/>
                </a:solidFill>
              </a:rPr>
              <a:t>49,104</a:t>
            </a:r>
            <a:endParaRPr/>
          </a:p>
        </p:txBody>
      </p:sp>
      <p:sp>
        <p:nvSpPr>
          <p:cNvPr id="1739" name="Google Shape;1739;p28"/>
          <p:cNvSpPr/>
          <p:nvPr/>
        </p:nvSpPr>
        <p:spPr>
          <a:xfrm>
            <a:off x="6496050" y="3810000"/>
            <a:ext cx="1143000" cy="21907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705"/>
              <a:buFont typeface="Arial"/>
              <a:buNone/>
            </a:pPr>
            <a:r>
              <a:rPr b="0" lang="en-US" sz="705">
                <a:solidFill>
                  <a:srgbClr val="1A1A2E"/>
                </a:solidFill>
              </a:rPr>
              <a:t>10,818</a:t>
            </a:r>
            <a:endParaRPr/>
          </a:p>
        </p:txBody>
      </p:sp>
      <p:sp>
        <p:nvSpPr>
          <p:cNvPr id="1740" name="Google Shape;1740;p28"/>
          <p:cNvSpPr/>
          <p:nvPr/>
        </p:nvSpPr>
        <p:spPr>
          <a:xfrm>
            <a:off x="7753350" y="3810000"/>
            <a:ext cx="1428750" cy="21907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705"/>
              <a:buFont typeface="Arial"/>
              <a:buNone/>
            </a:pPr>
            <a:r>
              <a:rPr b="0" lang="en-US" sz="705">
                <a:solidFill>
                  <a:srgbClr val="1A1A2E"/>
                </a:solidFill>
              </a:rPr>
              <a:t>59,922</a:t>
            </a:r>
            <a:endParaRPr/>
          </a:p>
        </p:txBody>
      </p:sp>
      <p:sp>
        <p:nvSpPr>
          <p:cNvPr id="1741" name="Google Shape;1741;p28"/>
          <p:cNvSpPr/>
          <p:nvPr/>
        </p:nvSpPr>
        <p:spPr>
          <a:xfrm>
            <a:off x="9334500" y="3810000"/>
            <a:ext cx="1943100" cy="21907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735"/>
              <a:buFont typeface="Arial"/>
              <a:buNone/>
            </a:pPr>
            <a:r>
              <a:rPr b="1" lang="en-US" sz="735">
                <a:solidFill>
                  <a:srgbClr val="1A1A2E"/>
                </a:solidFill>
              </a:rPr>
              <a:t>$0.228024</a:t>
            </a:r>
            <a:endParaRPr/>
          </a:p>
        </p:txBody>
      </p:sp>
      <p:sp>
        <p:nvSpPr>
          <p:cNvPr id="1742" name="Google Shape;1742;p28"/>
          <p:cNvSpPr/>
          <p:nvPr/>
        </p:nvSpPr>
        <p:spPr>
          <a:xfrm>
            <a:off x="685800" y="4076700"/>
            <a:ext cx="10820400" cy="295275"/>
          </a:xfrm>
          <a:prstGeom prst="rect">
            <a:avLst/>
          </a:prstGeom>
          <a:solidFill>
            <a:srgbClr val="FBF9F6"/>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3" name="Google Shape;1743;p28"/>
          <p:cNvSpPr/>
          <p:nvPr/>
        </p:nvSpPr>
        <p:spPr>
          <a:xfrm>
            <a:off x="838200" y="4114800"/>
            <a:ext cx="3276600" cy="21907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705"/>
              <a:buFont typeface="Arial"/>
              <a:buNone/>
            </a:pPr>
            <a:r>
              <a:rPr b="0" lang="en-US" sz="705">
                <a:solidFill>
                  <a:srgbClr val="1A1A2E"/>
                </a:solidFill>
              </a:rPr>
              <a:t>Generic faithfulness + hallucination</a:t>
            </a:r>
            <a:endParaRPr/>
          </a:p>
        </p:txBody>
      </p:sp>
      <p:sp>
        <p:nvSpPr>
          <p:cNvPr id="1744" name="Google Shape;1744;p28"/>
          <p:cNvSpPr/>
          <p:nvPr/>
        </p:nvSpPr>
        <p:spPr>
          <a:xfrm>
            <a:off x="4229100" y="4114800"/>
            <a:ext cx="742950" cy="21907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705"/>
              <a:buFont typeface="Arial"/>
              <a:buNone/>
            </a:pPr>
            <a:r>
              <a:rPr b="0" lang="en-US" sz="705">
                <a:solidFill>
                  <a:srgbClr val="1A1A2E"/>
                </a:solidFill>
              </a:rPr>
              <a:t>6</a:t>
            </a:r>
            <a:endParaRPr/>
          </a:p>
        </p:txBody>
      </p:sp>
      <p:sp>
        <p:nvSpPr>
          <p:cNvPr id="1745" name="Google Shape;1745;p28"/>
          <p:cNvSpPr/>
          <p:nvPr/>
        </p:nvSpPr>
        <p:spPr>
          <a:xfrm>
            <a:off x="5029200" y="4114800"/>
            <a:ext cx="1352550" cy="21907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705"/>
              <a:buFont typeface="Arial"/>
              <a:buNone/>
            </a:pPr>
            <a:r>
              <a:rPr b="0" lang="en-US" sz="705">
                <a:solidFill>
                  <a:srgbClr val="1A1A2E"/>
                </a:solidFill>
              </a:rPr>
              <a:t>310,227</a:t>
            </a:r>
            <a:endParaRPr/>
          </a:p>
        </p:txBody>
      </p:sp>
      <p:sp>
        <p:nvSpPr>
          <p:cNvPr id="1746" name="Google Shape;1746;p28"/>
          <p:cNvSpPr/>
          <p:nvPr/>
        </p:nvSpPr>
        <p:spPr>
          <a:xfrm>
            <a:off x="6496050" y="4114800"/>
            <a:ext cx="1143000" cy="21907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705"/>
              <a:buFont typeface="Arial"/>
              <a:buNone/>
            </a:pPr>
            <a:r>
              <a:rPr b="0" lang="en-US" sz="705">
                <a:solidFill>
                  <a:srgbClr val="1A1A2E"/>
                </a:solidFill>
              </a:rPr>
              <a:t>1,690</a:t>
            </a:r>
            <a:endParaRPr/>
          </a:p>
        </p:txBody>
      </p:sp>
      <p:sp>
        <p:nvSpPr>
          <p:cNvPr id="1747" name="Google Shape;1747;p28"/>
          <p:cNvSpPr/>
          <p:nvPr/>
        </p:nvSpPr>
        <p:spPr>
          <a:xfrm>
            <a:off x="7753350" y="4114800"/>
            <a:ext cx="1428750" cy="21907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705"/>
              <a:buFont typeface="Arial"/>
              <a:buNone/>
            </a:pPr>
            <a:r>
              <a:rPr b="0" lang="en-US" sz="705">
                <a:solidFill>
                  <a:srgbClr val="1A1A2E"/>
                </a:solidFill>
              </a:rPr>
              <a:t>311,917</a:t>
            </a:r>
            <a:endParaRPr/>
          </a:p>
        </p:txBody>
      </p:sp>
      <p:sp>
        <p:nvSpPr>
          <p:cNvPr id="1748" name="Google Shape;1748;p28"/>
          <p:cNvSpPr/>
          <p:nvPr/>
        </p:nvSpPr>
        <p:spPr>
          <a:xfrm>
            <a:off x="9334500" y="4114800"/>
            <a:ext cx="1943100" cy="21907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735"/>
              <a:buFont typeface="Arial"/>
              <a:buNone/>
            </a:pPr>
            <a:r>
              <a:rPr b="1" lang="en-US" sz="735">
                <a:solidFill>
                  <a:srgbClr val="1A1A2E"/>
                </a:solidFill>
              </a:rPr>
              <a:t>$0.795840</a:t>
            </a:r>
            <a:endParaRPr/>
          </a:p>
        </p:txBody>
      </p:sp>
      <p:sp>
        <p:nvSpPr>
          <p:cNvPr id="1749" name="Google Shape;1749;p28"/>
          <p:cNvSpPr/>
          <p:nvPr/>
        </p:nvSpPr>
        <p:spPr>
          <a:xfrm>
            <a:off x="685800" y="4381500"/>
            <a:ext cx="10820400" cy="295275"/>
          </a:xfrm>
          <a:prstGeom prst="rect">
            <a:avLst/>
          </a:prstGeom>
          <a:solidFill>
            <a:srgbClr val="FFFFFF"/>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0" name="Google Shape;1750;p28"/>
          <p:cNvSpPr/>
          <p:nvPr/>
        </p:nvSpPr>
        <p:spPr>
          <a:xfrm>
            <a:off x="838200" y="4419600"/>
            <a:ext cx="3276600" cy="21907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705"/>
              <a:buFont typeface="Arial"/>
              <a:buNone/>
            </a:pPr>
            <a:r>
              <a:rPr b="0" lang="en-US" sz="705">
                <a:solidFill>
                  <a:srgbClr val="1A1A2E"/>
                </a:solidFill>
              </a:rPr>
              <a:t>Story Breakdown faithfulness + hallucination</a:t>
            </a:r>
            <a:endParaRPr/>
          </a:p>
        </p:txBody>
      </p:sp>
      <p:sp>
        <p:nvSpPr>
          <p:cNvPr id="1751" name="Google Shape;1751;p28"/>
          <p:cNvSpPr/>
          <p:nvPr/>
        </p:nvSpPr>
        <p:spPr>
          <a:xfrm>
            <a:off x="4229100" y="4419600"/>
            <a:ext cx="742950" cy="21907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705"/>
              <a:buFont typeface="Arial"/>
              <a:buNone/>
            </a:pPr>
            <a:r>
              <a:rPr b="0" lang="en-US" sz="705">
                <a:solidFill>
                  <a:srgbClr val="1A1A2E"/>
                </a:solidFill>
              </a:rPr>
              <a:t>2</a:t>
            </a:r>
            <a:endParaRPr/>
          </a:p>
        </p:txBody>
      </p:sp>
      <p:sp>
        <p:nvSpPr>
          <p:cNvPr id="1752" name="Google Shape;1752;p28"/>
          <p:cNvSpPr/>
          <p:nvPr/>
        </p:nvSpPr>
        <p:spPr>
          <a:xfrm>
            <a:off x="5029200" y="4419600"/>
            <a:ext cx="1352550" cy="21907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705"/>
              <a:buFont typeface="Arial"/>
              <a:buNone/>
            </a:pPr>
            <a:r>
              <a:rPr b="0" lang="en-US" sz="705">
                <a:solidFill>
                  <a:srgbClr val="1A1A2E"/>
                </a:solidFill>
              </a:rPr>
              <a:t>144,903</a:t>
            </a:r>
            <a:endParaRPr/>
          </a:p>
        </p:txBody>
      </p:sp>
      <p:sp>
        <p:nvSpPr>
          <p:cNvPr id="1753" name="Google Shape;1753;p28"/>
          <p:cNvSpPr/>
          <p:nvPr/>
        </p:nvSpPr>
        <p:spPr>
          <a:xfrm>
            <a:off x="6496050" y="4419600"/>
            <a:ext cx="1143000" cy="21907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705"/>
              <a:buFont typeface="Arial"/>
              <a:buNone/>
            </a:pPr>
            <a:r>
              <a:rPr b="0" lang="en-US" sz="705">
                <a:solidFill>
                  <a:srgbClr val="1A1A2E"/>
                </a:solidFill>
              </a:rPr>
              <a:t>531</a:t>
            </a:r>
            <a:endParaRPr/>
          </a:p>
        </p:txBody>
      </p:sp>
      <p:sp>
        <p:nvSpPr>
          <p:cNvPr id="1754" name="Google Shape;1754;p28"/>
          <p:cNvSpPr/>
          <p:nvPr/>
        </p:nvSpPr>
        <p:spPr>
          <a:xfrm>
            <a:off x="7753350" y="4419600"/>
            <a:ext cx="1428750" cy="21907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705"/>
              <a:buFont typeface="Arial"/>
              <a:buNone/>
            </a:pPr>
            <a:r>
              <a:rPr b="0" lang="en-US" sz="705">
                <a:solidFill>
                  <a:srgbClr val="1A1A2E"/>
                </a:solidFill>
              </a:rPr>
              <a:t>145,434</a:t>
            </a:r>
            <a:endParaRPr/>
          </a:p>
        </p:txBody>
      </p:sp>
      <p:sp>
        <p:nvSpPr>
          <p:cNvPr id="1755" name="Google Shape;1755;p28"/>
          <p:cNvSpPr/>
          <p:nvPr/>
        </p:nvSpPr>
        <p:spPr>
          <a:xfrm>
            <a:off x="9334500" y="4419600"/>
            <a:ext cx="1943100" cy="21907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735"/>
              <a:buFont typeface="Arial"/>
              <a:buNone/>
            </a:pPr>
            <a:r>
              <a:rPr b="1" lang="en-US" sz="735">
                <a:solidFill>
                  <a:srgbClr val="1A1A2E"/>
                </a:solidFill>
              </a:rPr>
              <a:t>$0.368627</a:t>
            </a:r>
            <a:endParaRPr/>
          </a:p>
        </p:txBody>
      </p:sp>
      <p:sp>
        <p:nvSpPr>
          <p:cNvPr id="1756" name="Google Shape;1756;p28"/>
          <p:cNvSpPr/>
          <p:nvPr/>
        </p:nvSpPr>
        <p:spPr>
          <a:xfrm>
            <a:off x="685800" y="4686300"/>
            <a:ext cx="10820400" cy="295275"/>
          </a:xfrm>
          <a:prstGeom prst="rect">
            <a:avLst/>
          </a:prstGeom>
          <a:solidFill>
            <a:srgbClr val="FBF9F6"/>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7" name="Google Shape;1757;p28"/>
          <p:cNvSpPr/>
          <p:nvPr/>
        </p:nvSpPr>
        <p:spPr>
          <a:xfrm>
            <a:off x="838200" y="4724400"/>
            <a:ext cx="3276600" cy="21907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705"/>
              <a:buFont typeface="Arial"/>
              <a:buNone/>
            </a:pPr>
            <a:r>
              <a:rPr b="0" lang="en-US" sz="705">
                <a:solidFill>
                  <a:srgbClr val="1A1A2E"/>
                </a:solidFill>
              </a:rPr>
              <a:t>Sizing: faithfulness + hallucination + reasonableness</a:t>
            </a:r>
            <a:endParaRPr/>
          </a:p>
        </p:txBody>
      </p:sp>
      <p:sp>
        <p:nvSpPr>
          <p:cNvPr id="1758" name="Google Shape;1758;p28"/>
          <p:cNvSpPr/>
          <p:nvPr/>
        </p:nvSpPr>
        <p:spPr>
          <a:xfrm>
            <a:off x="4229100" y="4724400"/>
            <a:ext cx="742950" cy="21907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705"/>
              <a:buFont typeface="Arial"/>
              <a:buNone/>
            </a:pPr>
            <a:r>
              <a:rPr b="0" lang="en-US" sz="705">
                <a:solidFill>
                  <a:srgbClr val="1A1A2E"/>
                </a:solidFill>
              </a:rPr>
              <a:t>33</a:t>
            </a:r>
            <a:endParaRPr/>
          </a:p>
        </p:txBody>
      </p:sp>
      <p:sp>
        <p:nvSpPr>
          <p:cNvPr id="1759" name="Google Shape;1759;p28"/>
          <p:cNvSpPr/>
          <p:nvPr/>
        </p:nvSpPr>
        <p:spPr>
          <a:xfrm>
            <a:off x="5029200" y="4724400"/>
            <a:ext cx="1352550" cy="21907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705"/>
              <a:buFont typeface="Arial"/>
              <a:buNone/>
            </a:pPr>
            <a:r>
              <a:rPr b="0" lang="en-US" sz="705">
                <a:solidFill>
                  <a:srgbClr val="1A1A2E"/>
                </a:solidFill>
              </a:rPr>
              <a:t>25,641</a:t>
            </a:r>
            <a:endParaRPr/>
          </a:p>
        </p:txBody>
      </p:sp>
      <p:sp>
        <p:nvSpPr>
          <p:cNvPr id="1760" name="Google Shape;1760;p28"/>
          <p:cNvSpPr/>
          <p:nvPr/>
        </p:nvSpPr>
        <p:spPr>
          <a:xfrm>
            <a:off x="6496050" y="4724400"/>
            <a:ext cx="1143000" cy="21907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705"/>
              <a:buFont typeface="Arial"/>
              <a:buNone/>
            </a:pPr>
            <a:r>
              <a:rPr b="0" lang="en-US" sz="705">
                <a:solidFill>
                  <a:srgbClr val="1A1A2E"/>
                </a:solidFill>
              </a:rPr>
              <a:t>2,553</a:t>
            </a:r>
            <a:endParaRPr/>
          </a:p>
        </p:txBody>
      </p:sp>
      <p:sp>
        <p:nvSpPr>
          <p:cNvPr id="1761" name="Google Shape;1761;p28"/>
          <p:cNvSpPr/>
          <p:nvPr/>
        </p:nvSpPr>
        <p:spPr>
          <a:xfrm>
            <a:off x="7753350" y="4724400"/>
            <a:ext cx="1428750" cy="21907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705"/>
              <a:buFont typeface="Arial"/>
              <a:buNone/>
            </a:pPr>
            <a:r>
              <a:rPr b="0" lang="en-US" sz="705">
                <a:solidFill>
                  <a:srgbClr val="1A1A2E"/>
                </a:solidFill>
              </a:rPr>
              <a:t>28,194</a:t>
            </a:r>
            <a:endParaRPr/>
          </a:p>
        </p:txBody>
      </p:sp>
      <p:sp>
        <p:nvSpPr>
          <p:cNvPr id="1762" name="Google Shape;1762;p28"/>
          <p:cNvSpPr/>
          <p:nvPr/>
        </p:nvSpPr>
        <p:spPr>
          <a:xfrm>
            <a:off x="9334500" y="4724400"/>
            <a:ext cx="1943100" cy="21907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735"/>
              <a:buFont typeface="Arial"/>
              <a:buNone/>
            </a:pPr>
            <a:r>
              <a:rPr b="1" lang="en-US" sz="735">
                <a:solidFill>
                  <a:srgbClr val="1A1A2E"/>
                </a:solidFill>
              </a:rPr>
              <a:t>$0.081918</a:t>
            </a:r>
            <a:endParaRPr/>
          </a:p>
        </p:txBody>
      </p:sp>
      <p:sp>
        <p:nvSpPr>
          <p:cNvPr id="1763" name="Google Shape;1763;p28"/>
          <p:cNvSpPr/>
          <p:nvPr/>
        </p:nvSpPr>
        <p:spPr>
          <a:xfrm>
            <a:off x="685800" y="4991100"/>
            <a:ext cx="10820400" cy="295275"/>
          </a:xfrm>
          <a:prstGeom prst="rect">
            <a:avLst/>
          </a:prstGeom>
          <a:solidFill>
            <a:srgbClr val="FFFFFF"/>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4" name="Google Shape;1764;p28"/>
          <p:cNvSpPr/>
          <p:nvPr/>
        </p:nvSpPr>
        <p:spPr>
          <a:xfrm>
            <a:off x="838200" y="5029200"/>
            <a:ext cx="3276600" cy="21907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705"/>
              <a:buFont typeface="Arial"/>
              <a:buNone/>
            </a:pPr>
            <a:r>
              <a:rPr b="0" lang="en-US" sz="705">
                <a:solidFill>
                  <a:srgbClr val="1A1A2E"/>
                </a:solidFill>
              </a:rPr>
              <a:t>LLM evaluator subtotal</a:t>
            </a:r>
            <a:endParaRPr/>
          </a:p>
        </p:txBody>
      </p:sp>
      <p:sp>
        <p:nvSpPr>
          <p:cNvPr id="1765" name="Google Shape;1765;p28"/>
          <p:cNvSpPr/>
          <p:nvPr/>
        </p:nvSpPr>
        <p:spPr>
          <a:xfrm>
            <a:off x="4229100" y="5029200"/>
            <a:ext cx="742950" cy="21907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705"/>
              <a:buFont typeface="Arial"/>
              <a:buNone/>
            </a:pPr>
            <a:r>
              <a:rPr b="0" lang="en-US" sz="705">
                <a:solidFill>
                  <a:srgbClr val="1A1A2E"/>
                </a:solidFill>
              </a:rPr>
              <a:t>41</a:t>
            </a:r>
            <a:endParaRPr/>
          </a:p>
        </p:txBody>
      </p:sp>
      <p:sp>
        <p:nvSpPr>
          <p:cNvPr id="1766" name="Google Shape;1766;p28"/>
          <p:cNvSpPr/>
          <p:nvPr/>
        </p:nvSpPr>
        <p:spPr>
          <a:xfrm>
            <a:off x="5029200" y="5029200"/>
            <a:ext cx="1352550" cy="21907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705"/>
              <a:buFont typeface="Arial"/>
              <a:buNone/>
            </a:pPr>
            <a:r>
              <a:rPr b="0" lang="en-US" sz="705">
                <a:solidFill>
                  <a:srgbClr val="1A1A2E"/>
                </a:solidFill>
              </a:rPr>
              <a:t>480,771</a:t>
            </a:r>
            <a:endParaRPr/>
          </a:p>
        </p:txBody>
      </p:sp>
      <p:sp>
        <p:nvSpPr>
          <p:cNvPr id="1767" name="Google Shape;1767;p28"/>
          <p:cNvSpPr/>
          <p:nvPr/>
        </p:nvSpPr>
        <p:spPr>
          <a:xfrm>
            <a:off x="6496050" y="5029200"/>
            <a:ext cx="1143000" cy="21907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705"/>
              <a:buFont typeface="Arial"/>
              <a:buNone/>
            </a:pPr>
            <a:r>
              <a:rPr b="0" lang="en-US" sz="705">
                <a:solidFill>
                  <a:srgbClr val="1A1A2E"/>
                </a:solidFill>
              </a:rPr>
              <a:t>4,774</a:t>
            </a:r>
            <a:endParaRPr/>
          </a:p>
        </p:txBody>
      </p:sp>
      <p:sp>
        <p:nvSpPr>
          <p:cNvPr id="1768" name="Google Shape;1768;p28"/>
          <p:cNvSpPr/>
          <p:nvPr/>
        </p:nvSpPr>
        <p:spPr>
          <a:xfrm>
            <a:off x="7753350" y="5029200"/>
            <a:ext cx="1428750" cy="21907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705"/>
              <a:buFont typeface="Arial"/>
              <a:buNone/>
            </a:pPr>
            <a:r>
              <a:rPr b="0" lang="en-US" sz="705">
                <a:solidFill>
                  <a:srgbClr val="1A1A2E"/>
                </a:solidFill>
              </a:rPr>
              <a:t>485,545</a:t>
            </a:r>
            <a:endParaRPr/>
          </a:p>
        </p:txBody>
      </p:sp>
      <p:sp>
        <p:nvSpPr>
          <p:cNvPr id="1769" name="Google Shape;1769;p28"/>
          <p:cNvSpPr/>
          <p:nvPr/>
        </p:nvSpPr>
        <p:spPr>
          <a:xfrm>
            <a:off x="9334500" y="5029200"/>
            <a:ext cx="1943100" cy="21907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735"/>
              <a:buFont typeface="Arial"/>
              <a:buNone/>
            </a:pPr>
            <a:r>
              <a:rPr b="1" lang="en-US" sz="735">
                <a:solidFill>
                  <a:srgbClr val="1A1A2E"/>
                </a:solidFill>
              </a:rPr>
              <a:t>$1.246385</a:t>
            </a:r>
            <a:endParaRPr/>
          </a:p>
        </p:txBody>
      </p:sp>
      <p:sp>
        <p:nvSpPr>
          <p:cNvPr id="1770" name="Google Shape;1770;p28"/>
          <p:cNvSpPr/>
          <p:nvPr/>
        </p:nvSpPr>
        <p:spPr>
          <a:xfrm>
            <a:off x="685800" y="5295900"/>
            <a:ext cx="10820400" cy="295275"/>
          </a:xfrm>
          <a:prstGeom prst="rect">
            <a:avLst/>
          </a:prstGeom>
          <a:solidFill>
            <a:srgbClr val="E6F0EB"/>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1" name="Google Shape;1771;p28"/>
          <p:cNvSpPr/>
          <p:nvPr/>
        </p:nvSpPr>
        <p:spPr>
          <a:xfrm>
            <a:off x="838200" y="5334000"/>
            <a:ext cx="3276600" cy="21907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F6F57"/>
              </a:buClr>
              <a:buSzPts val="705"/>
              <a:buFont typeface="Arial"/>
              <a:buNone/>
            </a:pPr>
            <a:r>
              <a:rPr b="1" lang="en-US" sz="705">
                <a:solidFill>
                  <a:srgbClr val="2F6F57"/>
                </a:solidFill>
              </a:rPr>
              <a:t>FULLY LOADED TOTAL</a:t>
            </a:r>
            <a:endParaRPr/>
          </a:p>
        </p:txBody>
      </p:sp>
      <p:sp>
        <p:nvSpPr>
          <p:cNvPr id="1772" name="Google Shape;1772;p28"/>
          <p:cNvSpPr/>
          <p:nvPr/>
        </p:nvSpPr>
        <p:spPr>
          <a:xfrm>
            <a:off x="4229100" y="5334000"/>
            <a:ext cx="742950" cy="21907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F6F57"/>
              </a:buClr>
              <a:buSzPts val="705"/>
              <a:buFont typeface="Arial"/>
              <a:buNone/>
            </a:pPr>
            <a:r>
              <a:rPr b="1" lang="en-US" sz="705">
                <a:solidFill>
                  <a:srgbClr val="2F6F57"/>
                </a:solidFill>
              </a:rPr>
              <a:t>43</a:t>
            </a:r>
            <a:endParaRPr/>
          </a:p>
        </p:txBody>
      </p:sp>
      <p:sp>
        <p:nvSpPr>
          <p:cNvPr id="1773" name="Google Shape;1773;p28"/>
          <p:cNvSpPr/>
          <p:nvPr/>
        </p:nvSpPr>
        <p:spPr>
          <a:xfrm>
            <a:off x="5029200" y="5334000"/>
            <a:ext cx="1352550" cy="21907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F6F57"/>
              </a:buClr>
              <a:buSzPts val="705"/>
              <a:buFont typeface="Arial"/>
              <a:buNone/>
            </a:pPr>
            <a:r>
              <a:rPr b="1" lang="en-US" sz="705">
                <a:solidFill>
                  <a:srgbClr val="2F6F57"/>
                </a:solidFill>
              </a:rPr>
              <a:t>529,875</a:t>
            </a:r>
            <a:endParaRPr/>
          </a:p>
        </p:txBody>
      </p:sp>
      <p:sp>
        <p:nvSpPr>
          <p:cNvPr id="1774" name="Google Shape;1774;p28"/>
          <p:cNvSpPr/>
          <p:nvPr/>
        </p:nvSpPr>
        <p:spPr>
          <a:xfrm>
            <a:off x="6496050" y="5334000"/>
            <a:ext cx="1143000" cy="21907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F6F57"/>
              </a:buClr>
              <a:buSzPts val="705"/>
              <a:buFont typeface="Arial"/>
              <a:buNone/>
            </a:pPr>
            <a:r>
              <a:rPr b="1" lang="en-US" sz="705">
                <a:solidFill>
                  <a:srgbClr val="2F6F57"/>
                </a:solidFill>
              </a:rPr>
              <a:t>15,592</a:t>
            </a:r>
            <a:endParaRPr/>
          </a:p>
        </p:txBody>
      </p:sp>
      <p:sp>
        <p:nvSpPr>
          <p:cNvPr id="1775" name="Google Shape;1775;p28"/>
          <p:cNvSpPr/>
          <p:nvPr/>
        </p:nvSpPr>
        <p:spPr>
          <a:xfrm>
            <a:off x="7753350" y="5334000"/>
            <a:ext cx="1428750" cy="21907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F6F57"/>
              </a:buClr>
              <a:buSzPts val="705"/>
              <a:buFont typeface="Arial"/>
              <a:buNone/>
            </a:pPr>
            <a:r>
              <a:rPr b="1" lang="en-US" sz="705">
                <a:solidFill>
                  <a:srgbClr val="2F6F57"/>
                </a:solidFill>
              </a:rPr>
              <a:t>545,467</a:t>
            </a:r>
            <a:endParaRPr/>
          </a:p>
        </p:txBody>
      </p:sp>
      <p:sp>
        <p:nvSpPr>
          <p:cNvPr id="1776" name="Google Shape;1776;p28"/>
          <p:cNvSpPr/>
          <p:nvPr/>
        </p:nvSpPr>
        <p:spPr>
          <a:xfrm>
            <a:off x="9334500" y="5334000"/>
            <a:ext cx="1943100" cy="21907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F6F57"/>
              </a:buClr>
              <a:buSzPts val="735"/>
              <a:buFont typeface="Arial"/>
              <a:buNone/>
            </a:pPr>
            <a:r>
              <a:rPr b="1" lang="en-US" sz="735">
                <a:solidFill>
                  <a:srgbClr val="2F6F57"/>
                </a:solidFill>
              </a:rPr>
              <a:t>$1.474409</a:t>
            </a:r>
            <a:endParaRPr/>
          </a:p>
        </p:txBody>
      </p:sp>
      <p:sp>
        <p:nvSpPr>
          <p:cNvPr id="1777" name="Google Shape;1777;p28"/>
          <p:cNvSpPr/>
          <p:nvPr/>
        </p:nvSpPr>
        <p:spPr>
          <a:xfrm>
            <a:off x="685800" y="5657850"/>
            <a:ext cx="10820400" cy="381000"/>
          </a:xfrm>
          <a:prstGeom prst="roundRect">
            <a:avLst>
              <a:gd fmla="val 20000" name="adj"/>
            </a:avLst>
          </a:prstGeom>
          <a:solidFill>
            <a:srgbClr val="E6F0EB"/>
          </a:solidFill>
          <a:ln cap="flat" cmpd="sng" w="9525">
            <a:solidFill>
              <a:srgbClr val="2F6F5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8" name="Google Shape;1778;p28"/>
          <p:cNvSpPr/>
          <p:nvPr/>
        </p:nvSpPr>
        <p:spPr>
          <a:xfrm>
            <a:off x="914400" y="5743575"/>
            <a:ext cx="1524000" cy="2095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F6F57"/>
              </a:buClr>
              <a:buSzPts val="720"/>
              <a:buFont typeface="Arial"/>
              <a:buNone/>
            </a:pPr>
            <a:r>
              <a:rPr b="1" lang="en-US" sz="720">
                <a:solidFill>
                  <a:srgbClr val="2F6F57"/>
                </a:solidFill>
              </a:rPr>
              <a:t>CONTROL STRATEGY</a:t>
            </a:r>
            <a:endParaRPr/>
          </a:p>
        </p:txBody>
      </p:sp>
      <p:sp>
        <p:nvSpPr>
          <p:cNvPr id="1779" name="Google Shape;1779;p28"/>
          <p:cNvSpPr/>
          <p:nvPr/>
        </p:nvSpPr>
        <p:spPr>
          <a:xfrm>
            <a:off x="2400300" y="5743575"/>
            <a:ext cx="8858250" cy="2095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F6F57"/>
              </a:buClr>
              <a:buSzPts val="765"/>
              <a:buFont typeface="Arial"/>
              <a:buNone/>
            </a:pPr>
            <a:r>
              <a:rPr b="1" lang="en-US" sz="765">
                <a:solidFill>
                  <a:srgbClr val="2F6F57"/>
                </a:solidFill>
              </a:rPr>
              <a:t>Code checks first · no duplicate semantic scoring · stage-specific judges only where needed · full evaluation retained for candidate acceptance</a:t>
            </a:r>
            <a:endParaRPr/>
          </a:p>
        </p:txBody>
      </p:sp>
      <p:sp>
        <p:nvSpPr>
          <p:cNvPr id="1780" name="Google Shape;1780;p28"/>
          <p:cNvSpPr/>
          <p:nvPr/>
        </p:nvSpPr>
        <p:spPr>
          <a:xfrm>
            <a:off x="0" y="6267450"/>
            <a:ext cx="12192000" cy="590550"/>
          </a:xfrm>
          <a:prstGeom prst="rect">
            <a:avLst/>
          </a:prstGeom>
          <a:solidFill>
            <a:srgbClr val="1A1A2E"/>
          </a:solidFill>
          <a:ln cap="flat" cmpd="sng" w="9525">
            <a:solidFill>
              <a:srgbClr val="1A1A2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1" name="Google Shape;1781;p28"/>
          <p:cNvSpPr/>
          <p:nvPr/>
        </p:nvSpPr>
        <p:spPr>
          <a:xfrm>
            <a:off x="781050" y="6391275"/>
            <a:ext cx="1905000" cy="190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C9C6D8"/>
              </a:buClr>
              <a:buSzPts val="825"/>
              <a:buFont typeface="Arial"/>
              <a:buNone/>
            </a:pPr>
            <a:r>
              <a:rPr b="1" lang="en-US" sz="825">
                <a:solidFill>
                  <a:srgbClr val="C9C6D8"/>
                </a:solidFill>
              </a:rPr>
              <a:t>APPENDIX A9</a:t>
            </a:r>
            <a:endParaRPr/>
          </a:p>
        </p:txBody>
      </p:sp>
      <p:sp>
        <p:nvSpPr>
          <p:cNvPr id="1782" name="Google Shape;1782;p28"/>
          <p:cNvSpPr/>
          <p:nvPr/>
        </p:nvSpPr>
        <p:spPr>
          <a:xfrm>
            <a:off x="2705100" y="6353175"/>
            <a:ext cx="8705850" cy="29527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FFFFFF"/>
              </a:buClr>
              <a:buSzPts val="1102"/>
              <a:buFont typeface="Arial"/>
              <a:buNone/>
            </a:pPr>
            <a:r>
              <a:rPr b="1" lang="en-US" sz="1102">
                <a:solidFill>
                  <a:srgbClr val="FFFFFF"/>
                </a:solidFill>
              </a:rPr>
              <a:t>The quality-first baseline is affordable at low volume; semantic judging is the principal optimization target.</a:t>
            </a:r>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4EE"/>
        </a:solidFill>
      </p:bgPr>
    </p:bg>
    <p:spTree>
      <p:nvGrpSpPr>
        <p:cNvPr id="1787" name="Shape 1787"/>
        <p:cNvGrpSpPr/>
        <p:nvPr/>
      </p:nvGrpSpPr>
      <p:grpSpPr>
        <a:xfrm>
          <a:off x="0" y="0"/>
          <a:ext cx="0" cy="0"/>
          <a:chOff x="0" y="0"/>
          <a:chExt cx="0" cy="0"/>
        </a:xfrm>
      </p:grpSpPr>
      <p:sp>
        <p:nvSpPr>
          <p:cNvPr id="1788" name="Google Shape;1788;p29"/>
          <p:cNvSpPr/>
          <p:nvPr/>
        </p:nvSpPr>
        <p:spPr>
          <a:xfrm>
            <a:off x="0" y="0"/>
            <a:ext cx="12192000" cy="76200"/>
          </a:xfrm>
          <a:prstGeom prst="rect">
            <a:avLst/>
          </a:prstGeom>
          <a:solidFill>
            <a:srgbClr val="B85042"/>
          </a:solidFill>
          <a:ln cap="flat" cmpd="sng" w="9525">
            <a:solidFill>
              <a:srgbClr val="B8504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9" name="Google Shape;1789;p29"/>
          <p:cNvSpPr/>
          <p:nvPr/>
        </p:nvSpPr>
        <p:spPr>
          <a:xfrm>
            <a:off x="514350" y="590550"/>
            <a:ext cx="66675" cy="723900"/>
          </a:xfrm>
          <a:prstGeom prst="rect">
            <a:avLst/>
          </a:prstGeom>
          <a:solidFill>
            <a:srgbClr val="B85042"/>
          </a:solidFill>
          <a:ln cap="flat" cmpd="sng" w="9525">
            <a:solidFill>
              <a:srgbClr val="B8504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0" name="Google Shape;1790;p29"/>
          <p:cNvSpPr/>
          <p:nvPr/>
        </p:nvSpPr>
        <p:spPr>
          <a:xfrm>
            <a:off x="781050" y="438150"/>
            <a:ext cx="8572500" cy="2381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B85042"/>
              </a:buClr>
              <a:buSzPts val="938"/>
              <a:buFont typeface="Arial"/>
              <a:buNone/>
            </a:pPr>
            <a:r>
              <a:rPr b="1" lang="en-US" sz="938">
                <a:solidFill>
                  <a:srgbClr val="B85042"/>
                </a:solidFill>
              </a:rPr>
              <a:t>A10  ·  SOURCE-TO-DELIVERY TRACEABILITY MATRIX</a:t>
            </a:r>
            <a:endParaRPr/>
          </a:p>
        </p:txBody>
      </p:sp>
      <p:sp>
        <p:nvSpPr>
          <p:cNvPr id="1791" name="Google Shape;1791;p29"/>
          <p:cNvSpPr/>
          <p:nvPr/>
        </p:nvSpPr>
        <p:spPr>
          <a:xfrm>
            <a:off x="781050" y="723900"/>
            <a:ext cx="10629900" cy="4953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2325"/>
              <a:buFont typeface="Arial"/>
              <a:buNone/>
            </a:pPr>
            <a:r>
              <a:rPr b="1" lang="en-US" sz="2325">
                <a:solidFill>
                  <a:srgbClr val="1A1A2E"/>
                </a:solidFill>
              </a:rPr>
              <a:t>Every active delivery row resolves to evidence in both directions</a:t>
            </a:r>
            <a:endParaRPr/>
          </a:p>
        </p:txBody>
      </p:sp>
      <p:sp>
        <p:nvSpPr>
          <p:cNvPr id="1792" name="Google Shape;1792;p29"/>
          <p:cNvSpPr/>
          <p:nvPr/>
        </p:nvSpPr>
        <p:spPr>
          <a:xfrm>
            <a:off x="781050" y="1238250"/>
            <a:ext cx="10629900" cy="2667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1013"/>
              <a:buFont typeface="Arial"/>
              <a:buNone/>
            </a:pPr>
            <a:r>
              <a:rPr lang="en-US" sz="1013">
                <a:solidFill>
                  <a:srgbClr val="666B70"/>
                </a:solidFill>
              </a:rPr>
              <a:t>Accepted v0.3.8 run 11901 · source → citation → PRD → Feature AC → Epic → Feature → Story → Story AC · and back.</a:t>
            </a:r>
            <a:endParaRPr/>
          </a:p>
        </p:txBody>
      </p:sp>
      <p:sp>
        <p:nvSpPr>
          <p:cNvPr id="1793" name="Google Shape;1793;p29"/>
          <p:cNvSpPr/>
          <p:nvPr/>
        </p:nvSpPr>
        <p:spPr>
          <a:xfrm>
            <a:off x="685800" y="1619250"/>
            <a:ext cx="10820400" cy="342900"/>
          </a:xfrm>
          <a:prstGeom prst="roundRect">
            <a:avLst>
              <a:gd fmla="val 22222" name="adj"/>
            </a:avLst>
          </a:prstGeom>
          <a:solidFill>
            <a:srgbClr val="E8EFF9"/>
          </a:solidFill>
          <a:ln cap="flat" cmpd="sng" w="9525">
            <a:solidFill>
              <a:srgbClr val="3B6EB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4" name="Google Shape;1794;p29"/>
          <p:cNvSpPr/>
          <p:nvPr/>
        </p:nvSpPr>
        <p:spPr>
          <a:xfrm>
            <a:off x="876300" y="1695450"/>
            <a:ext cx="1619250" cy="190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3B6EBF"/>
              </a:buClr>
              <a:buSzPts val="713"/>
              <a:buFont typeface="Arial"/>
              <a:buNone/>
            </a:pPr>
            <a:r>
              <a:rPr b="1" lang="en-US" sz="713">
                <a:solidFill>
                  <a:srgbClr val="3B6EBF"/>
                </a:solidFill>
              </a:rPr>
              <a:t>GITHUB EVIDENCE</a:t>
            </a:r>
            <a:endParaRPr/>
          </a:p>
        </p:txBody>
      </p:sp>
      <p:sp>
        <p:nvSpPr>
          <p:cNvPr id="1795" name="Google Shape;1795;p29"/>
          <p:cNvSpPr/>
          <p:nvPr/>
        </p:nvSpPr>
        <p:spPr>
          <a:xfrm>
            <a:off x="2419350" y="1695450"/>
            <a:ext cx="8896350" cy="190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690"/>
              <a:buFont typeface="Arial"/>
              <a:buNone/>
            </a:pPr>
            <a:r>
              <a:rPr b="1" lang="en-US" sz="690">
                <a:solidFill>
                  <a:srgbClr val="1A1A2E"/>
                </a:solidFill>
              </a:rPr>
              <a:t>Complete 145-citation ledger  →  github.com/vppuri-vjra/prd-genie/tree/main/releases/v0.3.8/evidence</a:t>
            </a:r>
            <a:endParaRPr/>
          </a:p>
        </p:txBody>
      </p:sp>
      <p:sp>
        <p:nvSpPr>
          <p:cNvPr id="1796" name="Google Shape;1796;p29"/>
          <p:cNvSpPr/>
          <p:nvPr/>
        </p:nvSpPr>
        <p:spPr>
          <a:xfrm>
            <a:off x="685800" y="2095500"/>
            <a:ext cx="10820400" cy="323850"/>
          </a:xfrm>
          <a:prstGeom prst="roundRect">
            <a:avLst>
              <a:gd fmla="val 23529" name="adj"/>
            </a:avLst>
          </a:prstGeom>
          <a:solidFill>
            <a:srgbClr val="1A1A2E"/>
          </a:solidFill>
          <a:ln cap="flat" cmpd="sng" w="9525">
            <a:solidFill>
              <a:srgbClr val="1A1A2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7" name="Google Shape;1797;p29"/>
          <p:cNvSpPr/>
          <p:nvPr/>
        </p:nvSpPr>
        <p:spPr>
          <a:xfrm>
            <a:off x="781050" y="2162175"/>
            <a:ext cx="2686050" cy="190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FFFFFF"/>
              </a:buClr>
              <a:buSzPts val="645"/>
              <a:buFont typeface="Arial"/>
              <a:buNone/>
            </a:pPr>
            <a:r>
              <a:rPr b="1" lang="en-US" sz="645">
                <a:solidFill>
                  <a:srgbClr val="FFFFFF"/>
                </a:solidFill>
              </a:rPr>
              <a:t>CITATION ID(S)</a:t>
            </a:r>
            <a:endParaRPr/>
          </a:p>
        </p:txBody>
      </p:sp>
      <p:sp>
        <p:nvSpPr>
          <p:cNvPr id="1798" name="Google Shape;1798;p29"/>
          <p:cNvSpPr/>
          <p:nvPr/>
        </p:nvSpPr>
        <p:spPr>
          <a:xfrm>
            <a:off x="3562350" y="2162175"/>
            <a:ext cx="1028700" cy="190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FFFFFF"/>
              </a:buClr>
              <a:buSzPts val="645"/>
              <a:buFont typeface="Arial"/>
              <a:buNone/>
            </a:pPr>
            <a:r>
              <a:rPr b="1" lang="en-US" sz="645">
                <a:solidFill>
                  <a:srgbClr val="FFFFFF"/>
                </a:solidFill>
              </a:rPr>
              <a:t>PRD ID</a:t>
            </a:r>
            <a:endParaRPr/>
          </a:p>
        </p:txBody>
      </p:sp>
      <p:sp>
        <p:nvSpPr>
          <p:cNvPr id="1799" name="Google Shape;1799;p29"/>
          <p:cNvSpPr/>
          <p:nvPr/>
        </p:nvSpPr>
        <p:spPr>
          <a:xfrm>
            <a:off x="4686300" y="2162175"/>
            <a:ext cx="952500" cy="190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FFFFFF"/>
              </a:buClr>
              <a:buSzPts val="645"/>
              <a:buFont typeface="Arial"/>
              <a:buNone/>
            </a:pPr>
            <a:r>
              <a:rPr b="1" lang="en-US" sz="645">
                <a:solidFill>
                  <a:srgbClr val="FFFFFF"/>
                </a:solidFill>
              </a:rPr>
              <a:t>FEATURE AC</a:t>
            </a:r>
            <a:endParaRPr/>
          </a:p>
        </p:txBody>
      </p:sp>
      <p:sp>
        <p:nvSpPr>
          <p:cNvPr id="1800" name="Google Shape;1800;p29"/>
          <p:cNvSpPr/>
          <p:nvPr/>
        </p:nvSpPr>
        <p:spPr>
          <a:xfrm>
            <a:off x="5734050" y="2162175"/>
            <a:ext cx="1066800" cy="190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FFFFFF"/>
              </a:buClr>
              <a:buSzPts val="645"/>
              <a:buFont typeface="Arial"/>
              <a:buNone/>
            </a:pPr>
            <a:r>
              <a:rPr b="1" lang="en-US" sz="645">
                <a:solidFill>
                  <a:srgbClr val="FFFFFF"/>
                </a:solidFill>
              </a:rPr>
              <a:t>EPIC</a:t>
            </a:r>
            <a:endParaRPr/>
          </a:p>
        </p:txBody>
      </p:sp>
      <p:sp>
        <p:nvSpPr>
          <p:cNvPr id="1801" name="Google Shape;1801;p29"/>
          <p:cNvSpPr/>
          <p:nvPr/>
        </p:nvSpPr>
        <p:spPr>
          <a:xfrm>
            <a:off x="6896100" y="2162175"/>
            <a:ext cx="1123950" cy="190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FFFFFF"/>
              </a:buClr>
              <a:buSzPts val="645"/>
              <a:buFont typeface="Arial"/>
              <a:buNone/>
            </a:pPr>
            <a:r>
              <a:rPr b="1" lang="en-US" sz="645">
                <a:solidFill>
                  <a:srgbClr val="FFFFFF"/>
                </a:solidFill>
              </a:rPr>
              <a:t>FEATURE</a:t>
            </a:r>
            <a:endParaRPr/>
          </a:p>
        </p:txBody>
      </p:sp>
      <p:sp>
        <p:nvSpPr>
          <p:cNvPr id="1802" name="Google Shape;1802;p29"/>
          <p:cNvSpPr/>
          <p:nvPr/>
        </p:nvSpPr>
        <p:spPr>
          <a:xfrm>
            <a:off x="8115300" y="2162175"/>
            <a:ext cx="1123950" cy="190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FFFFFF"/>
              </a:buClr>
              <a:buSzPts val="645"/>
              <a:buFont typeface="Arial"/>
              <a:buNone/>
            </a:pPr>
            <a:r>
              <a:rPr b="1" lang="en-US" sz="645">
                <a:solidFill>
                  <a:srgbClr val="FFFFFF"/>
                </a:solidFill>
              </a:rPr>
              <a:t>STORY</a:t>
            </a:r>
            <a:endParaRPr/>
          </a:p>
        </p:txBody>
      </p:sp>
      <p:sp>
        <p:nvSpPr>
          <p:cNvPr id="1803" name="Google Shape;1803;p29"/>
          <p:cNvSpPr/>
          <p:nvPr/>
        </p:nvSpPr>
        <p:spPr>
          <a:xfrm>
            <a:off x="9334500" y="2162175"/>
            <a:ext cx="1066800" cy="190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FFFFFF"/>
              </a:buClr>
              <a:buSzPts val="645"/>
              <a:buFont typeface="Arial"/>
              <a:buNone/>
            </a:pPr>
            <a:r>
              <a:rPr b="1" lang="en-US" sz="645">
                <a:solidFill>
                  <a:srgbClr val="FFFFFF"/>
                </a:solidFill>
              </a:rPr>
              <a:t>STORY AC</a:t>
            </a:r>
            <a:endParaRPr/>
          </a:p>
        </p:txBody>
      </p:sp>
      <p:sp>
        <p:nvSpPr>
          <p:cNvPr id="1804" name="Google Shape;1804;p29"/>
          <p:cNvSpPr/>
          <p:nvPr/>
        </p:nvSpPr>
        <p:spPr>
          <a:xfrm>
            <a:off x="10496550" y="2162175"/>
            <a:ext cx="914400" cy="190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FFFFFF"/>
              </a:buClr>
              <a:buSzPts val="645"/>
              <a:buFont typeface="Arial"/>
              <a:buNone/>
            </a:pPr>
            <a:r>
              <a:rPr b="1" lang="en-US" sz="645">
                <a:solidFill>
                  <a:srgbClr val="FFFFFF"/>
                </a:solidFill>
              </a:rPr>
              <a:t>STATUS</a:t>
            </a:r>
            <a:endParaRPr/>
          </a:p>
        </p:txBody>
      </p:sp>
      <p:sp>
        <p:nvSpPr>
          <p:cNvPr id="1805" name="Google Shape;1805;p29"/>
          <p:cNvSpPr/>
          <p:nvPr/>
        </p:nvSpPr>
        <p:spPr>
          <a:xfrm>
            <a:off x="685800" y="2438400"/>
            <a:ext cx="10820400" cy="257175"/>
          </a:xfrm>
          <a:prstGeom prst="rect">
            <a:avLst/>
          </a:prstGeom>
          <a:solidFill>
            <a:srgbClr val="FFFFFF"/>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6" name="Google Shape;1806;p29"/>
          <p:cNvSpPr/>
          <p:nvPr/>
        </p:nvSpPr>
        <p:spPr>
          <a:xfrm>
            <a:off x="781050" y="2466975"/>
            <a:ext cx="2686050" cy="2000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3B6EBF"/>
              </a:buClr>
              <a:buSzPts val="578"/>
              <a:buFont typeface="Arial"/>
              <a:buNone/>
            </a:pPr>
            <a:r>
              <a:rPr b="0" lang="en-US" sz="578">
                <a:solidFill>
                  <a:srgbClr val="3B6EBF"/>
                </a:solidFill>
              </a:rPr>
              <a:t>CIT-05-0016-13c3d894</a:t>
            </a:r>
            <a:endParaRPr/>
          </a:p>
        </p:txBody>
      </p:sp>
      <p:sp>
        <p:nvSpPr>
          <p:cNvPr id="1807" name="Google Shape;1807;p29"/>
          <p:cNvSpPr/>
          <p:nvPr/>
        </p:nvSpPr>
        <p:spPr>
          <a:xfrm>
            <a:off x="3562350" y="2466975"/>
            <a:ext cx="1028700" cy="2000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638"/>
              <a:buFont typeface="Arial"/>
              <a:buNone/>
            </a:pPr>
            <a:r>
              <a:rPr b="1" lang="en-US" sz="638">
                <a:solidFill>
                  <a:srgbClr val="1A1A2E"/>
                </a:solidFill>
              </a:rPr>
              <a:t>FR-001</a:t>
            </a:r>
            <a:endParaRPr/>
          </a:p>
        </p:txBody>
      </p:sp>
      <p:sp>
        <p:nvSpPr>
          <p:cNvPr id="1808" name="Google Shape;1808;p29"/>
          <p:cNvSpPr/>
          <p:nvPr/>
        </p:nvSpPr>
        <p:spPr>
          <a:xfrm>
            <a:off x="4686300" y="2466975"/>
            <a:ext cx="952500" cy="2000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638"/>
              <a:buFont typeface="Arial"/>
              <a:buNone/>
            </a:pPr>
            <a:r>
              <a:rPr b="1" lang="en-US" sz="638">
                <a:solidFill>
                  <a:srgbClr val="1A1A2E"/>
                </a:solidFill>
              </a:rPr>
              <a:t>FAC-001</a:t>
            </a:r>
            <a:endParaRPr/>
          </a:p>
        </p:txBody>
      </p:sp>
      <p:sp>
        <p:nvSpPr>
          <p:cNvPr id="1809" name="Google Shape;1809;p29"/>
          <p:cNvSpPr/>
          <p:nvPr/>
        </p:nvSpPr>
        <p:spPr>
          <a:xfrm>
            <a:off x="5734050" y="2466975"/>
            <a:ext cx="1066800" cy="2000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638"/>
              <a:buFont typeface="Arial"/>
              <a:buNone/>
            </a:pPr>
            <a:r>
              <a:rPr b="1" lang="en-US" sz="638">
                <a:solidFill>
                  <a:srgbClr val="1A1A2E"/>
                </a:solidFill>
              </a:rPr>
              <a:t>EPIC-001</a:t>
            </a:r>
            <a:endParaRPr/>
          </a:p>
        </p:txBody>
      </p:sp>
      <p:sp>
        <p:nvSpPr>
          <p:cNvPr id="1810" name="Google Shape;1810;p29"/>
          <p:cNvSpPr/>
          <p:nvPr/>
        </p:nvSpPr>
        <p:spPr>
          <a:xfrm>
            <a:off x="6896100" y="2466975"/>
            <a:ext cx="1123950" cy="2000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638"/>
              <a:buFont typeface="Arial"/>
              <a:buNone/>
            </a:pPr>
            <a:r>
              <a:rPr b="1" lang="en-US" sz="638">
                <a:solidFill>
                  <a:srgbClr val="1A1A2E"/>
                </a:solidFill>
              </a:rPr>
              <a:t>FEAT-001</a:t>
            </a:r>
            <a:endParaRPr/>
          </a:p>
        </p:txBody>
      </p:sp>
      <p:sp>
        <p:nvSpPr>
          <p:cNvPr id="1811" name="Google Shape;1811;p29"/>
          <p:cNvSpPr/>
          <p:nvPr/>
        </p:nvSpPr>
        <p:spPr>
          <a:xfrm>
            <a:off x="8115300" y="2466975"/>
            <a:ext cx="1123950" cy="2000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638"/>
              <a:buFont typeface="Arial"/>
              <a:buNone/>
            </a:pPr>
            <a:r>
              <a:rPr b="1" lang="en-US" sz="638">
                <a:solidFill>
                  <a:srgbClr val="1A1A2E"/>
                </a:solidFill>
              </a:rPr>
              <a:t>US-001</a:t>
            </a:r>
            <a:endParaRPr/>
          </a:p>
        </p:txBody>
      </p:sp>
      <p:sp>
        <p:nvSpPr>
          <p:cNvPr id="1812" name="Google Shape;1812;p29"/>
          <p:cNvSpPr/>
          <p:nvPr/>
        </p:nvSpPr>
        <p:spPr>
          <a:xfrm>
            <a:off x="9334500" y="2466975"/>
            <a:ext cx="1066800" cy="2000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638"/>
              <a:buFont typeface="Arial"/>
              <a:buNone/>
            </a:pPr>
            <a:r>
              <a:rPr b="1" lang="en-US" sz="638">
                <a:solidFill>
                  <a:srgbClr val="1A1A2E"/>
                </a:solidFill>
              </a:rPr>
              <a:t>SBAC-001</a:t>
            </a:r>
            <a:endParaRPr/>
          </a:p>
        </p:txBody>
      </p:sp>
      <p:sp>
        <p:nvSpPr>
          <p:cNvPr id="1813" name="Google Shape;1813;p29"/>
          <p:cNvSpPr/>
          <p:nvPr/>
        </p:nvSpPr>
        <p:spPr>
          <a:xfrm>
            <a:off x="10496550" y="2466975"/>
            <a:ext cx="914400" cy="2000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F6F57"/>
              </a:buClr>
              <a:buSzPts val="638"/>
              <a:buFont typeface="Arial"/>
              <a:buNone/>
            </a:pPr>
            <a:r>
              <a:rPr b="1" lang="en-US" sz="638">
                <a:solidFill>
                  <a:srgbClr val="2F6F57"/>
                </a:solidFill>
              </a:rPr>
              <a:t>ACTIVE</a:t>
            </a:r>
            <a:endParaRPr/>
          </a:p>
        </p:txBody>
      </p:sp>
      <p:sp>
        <p:nvSpPr>
          <p:cNvPr id="1814" name="Google Shape;1814;p29"/>
          <p:cNvSpPr/>
          <p:nvPr/>
        </p:nvSpPr>
        <p:spPr>
          <a:xfrm>
            <a:off x="685800" y="2705100"/>
            <a:ext cx="10820400" cy="257175"/>
          </a:xfrm>
          <a:prstGeom prst="rect">
            <a:avLst/>
          </a:prstGeom>
          <a:solidFill>
            <a:srgbClr val="FBF9F6"/>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5" name="Google Shape;1815;p29"/>
          <p:cNvSpPr/>
          <p:nvPr/>
        </p:nvSpPr>
        <p:spPr>
          <a:xfrm>
            <a:off x="781050" y="2733675"/>
            <a:ext cx="2686050" cy="2000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3B6EBF"/>
              </a:buClr>
              <a:buSzPts val="578"/>
              <a:buFont typeface="Arial"/>
              <a:buNone/>
            </a:pPr>
            <a:r>
              <a:rPr b="0" lang="en-US" sz="578">
                <a:solidFill>
                  <a:srgbClr val="3B6EBF"/>
                </a:solidFill>
              </a:rPr>
              <a:t>CIT-05-0017-f0ae7fbb · CIT-01-0012-f394e26d</a:t>
            </a:r>
            <a:endParaRPr/>
          </a:p>
        </p:txBody>
      </p:sp>
      <p:sp>
        <p:nvSpPr>
          <p:cNvPr id="1816" name="Google Shape;1816;p29"/>
          <p:cNvSpPr/>
          <p:nvPr/>
        </p:nvSpPr>
        <p:spPr>
          <a:xfrm>
            <a:off x="3562350" y="2733675"/>
            <a:ext cx="1028700" cy="2000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638"/>
              <a:buFont typeface="Arial"/>
              <a:buNone/>
            </a:pPr>
            <a:r>
              <a:rPr b="1" lang="en-US" sz="638">
                <a:solidFill>
                  <a:srgbClr val="1A1A2E"/>
                </a:solidFill>
              </a:rPr>
              <a:t>FR-002</a:t>
            </a:r>
            <a:endParaRPr/>
          </a:p>
        </p:txBody>
      </p:sp>
      <p:sp>
        <p:nvSpPr>
          <p:cNvPr id="1817" name="Google Shape;1817;p29"/>
          <p:cNvSpPr/>
          <p:nvPr/>
        </p:nvSpPr>
        <p:spPr>
          <a:xfrm>
            <a:off x="4686300" y="2733675"/>
            <a:ext cx="952500" cy="2000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638"/>
              <a:buFont typeface="Arial"/>
              <a:buNone/>
            </a:pPr>
            <a:r>
              <a:rPr b="1" lang="en-US" sz="638">
                <a:solidFill>
                  <a:srgbClr val="1A1A2E"/>
                </a:solidFill>
              </a:rPr>
              <a:t>FAC-002</a:t>
            </a:r>
            <a:endParaRPr/>
          </a:p>
        </p:txBody>
      </p:sp>
      <p:sp>
        <p:nvSpPr>
          <p:cNvPr id="1818" name="Google Shape;1818;p29"/>
          <p:cNvSpPr/>
          <p:nvPr/>
        </p:nvSpPr>
        <p:spPr>
          <a:xfrm>
            <a:off x="5734050" y="2733675"/>
            <a:ext cx="1066800" cy="2000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638"/>
              <a:buFont typeface="Arial"/>
              <a:buNone/>
            </a:pPr>
            <a:r>
              <a:rPr b="1" lang="en-US" sz="638">
                <a:solidFill>
                  <a:srgbClr val="1A1A2E"/>
                </a:solidFill>
              </a:rPr>
              <a:t>EPIC-001</a:t>
            </a:r>
            <a:endParaRPr/>
          </a:p>
        </p:txBody>
      </p:sp>
      <p:sp>
        <p:nvSpPr>
          <p:cNvPr id="1819" name="Google Shape;1819;p29"/>
          <p:cNvSpPr/>
          <p:nvPr/>
        </p:nvSpPr>
        <p:spPr>
          <a:xfrm>
            <a:off x="6896100" y="2733675"/>
            <a:ext cx="1123950" cy="2000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638"/>
              <a:buFont typeface="Arial"/>
              <a:buNone/>
            </a:pPr>
            <a:r>
              <a:rPr b="1" lang="en-US" sz="638">
                <a:solidFill>
                  <a:srgbClr val="1A1A2E"/>
                </a:solidFill>
              </a:rPr>
              <a:t>FEAT-002</a:t>
            </a:r>
            <a:endParaRPr/>
          </a:p>
        </p:txBody>
      </p:sp>
      <p:sp>
        <p:nvSpPr>
          <p:cNvPr id="1820" name="Google Shape;1820;p29"/>
          <p:cNvSpPr/>
          <p:nvPr/>
        </p:nvSpPr>
        <p:spPr>
          <a:xfrm>
            <a:off x="8115300" y="2733675"/>
            <a:ext cx="1123950" cy="2000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638"/>
              <a:buFont typeface="Arial"/>
              <a:buNone/>
            </a:pPr>
            <a:r>
              <a:rPr b="1" lang="en-US" sz="638">
                <a:solidFill>
                  <a:srgbClr val="1A1A2E"/>
                </a:solidFill>
              </a:rPr>
              <a:t>US-002</a:t>
            </a:r>
            <a:endParaRPr/>
          </a:p>
        </p:txBody>
      </p:sp>
      <p:sp>
        <p:nvSpPr>
          <p:cNvPr id="1821" name="Google Shape;1821;p29"/>
          <p:cNvSpPr/>
          <p:nvPr/>
        </p:nvSpPr>
        <p:spPr>
          <a:xfrm>
            <a:off x="9334500" y="2733675"/>
            <a:ext cx="1066800" cy="2000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638"/>
              <a:buFont typeface="Arial"/>
              <a:buNone/>
            </a:pPr>
            <a:r>
              <a:rPr b="1" lang="en-US" sz="638">
                <a:solidFill>
                  <a:srgbClr val="1A1A2E"/>
                </a:solidFill>
              </a:rPr>
              <a:t>SBAC-002</a:t>
            </a:r>
            <a:endParaRPr/>
          </a:p>
        </p:txBody>
      </p:sp>
      <p:sp>
        <p:nvSpPr>
          <p:cNvPr id="1822" name="Google Shape;1822;p29"/>
          <p:cNvSpPr/>
          <p:nvPr/>
        </p:nvSpPr>
        <p:spPr>
          <a:xfrm>
            <a:off x="10496550" y="2733675"/>
            <a:ext cx="914400" cy="2000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F6F57"/>
              </a:buClr>
              <a:buSzPts val="638"/>
              <a:buFont typeface="Arial"/>
              <a:buNone/>
            </a:pPr>
            <a:r>
              <a:rPr b="1" lang="en-US" sz="638">
                <a:solidFill>
                  <a:srgbClr val="2F6F57"/>
                </a:solidFill>
              </a:rPr>
              <a:t>ACTIVE</a:t>
            </a:r>
            <a:endParaRPr/>
          </a:p>
        </p:txBody>
      </p:sp>
      <p:sp>
        <p:nvSpPr>
          <p:cNvPr id="1823" name="Google Shape;1823;p29"/>
          <p:cNvSpPr/>
          <p:nvPr/>
        </p:nvSpPr>
        <p:spPr>
          <a:xfrm>
            <a:off x="685800" y="2971800"/>
            <a:ext cx="10820400" cy="257175"/>
          </a:xfrm>
          <a:prstGeom prst="rect">
            <a:avLst/>
          </a:prstGeom>
          <a:solidFill>
            <a:srgbClr val="FFFFFF"/>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4" name="Google Shape;1824;p29"/>
          <p:cNvSpPr/>
          <p:nvPr/>
        </p:nvSpPr>
        <p:spPr>
          <a:xfrm>
            <a:off x="781050" y="3000375"/>
            <a:ext cx="2686050" cy="2000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3B6EBF"/>
              </a:buClr>
              <a:buSzPts val="578"/>
              <a:buFont typeface="Arial"/>
              <a:buNone/>
            </a:pPr>
            <a:r>
              <a:rPr b="0" lang="en-US" sz="578">
                <a:solidFill>
                  <a:srgbClr val="3B6EBF"/>
                </a:solidFill>
              </a:rPr>
              <a:t>CIT-04-0016-40b68902 · CIT-04-0013-23ba34cb</a:t>
            </a:r>
            <a:endParaRPr/>
          </a:p>
        </p:txBody>
      </p:sp>
      <p:sp>
        <p:nvSpPr>
          <p:cNvPr id="1825" name="Google Shape;1825;p29"/>
          <p:cNvSpPr/>
          <p:nvPr/>
        </p:nvSpPr>
        <p:spPr>
          <a:xfrm>
            <a:off x="3562350" y="3000375"/>
            <a:ext cx="1028700" cy="2000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638"/>
              <a:buFont typeface="Arial"/>
              <a:buNone/>
            </a:pPr>
            <a:r>
              <a:rPr b="1" lang="en-US" sz="638">
                <a:solidFill>
                  <a:srgbClr val="1A1A2E"/>
                </a:solidFill>
              </a:rPr>
              <a:t>FR-006 · CON-002</a:t>
            </a:r>
            <a:endParaRPr/>
          </a:p>
        </p:txBody>
      </p:sp>
      <p:sp>
        <p:nvSpPr>
          <p:cNvPr id="1826" name="Google Shape;1826;p29"/>
          <p:cNvSpPr/>
          <p:nvPr/>
        </p:nvSpPr>
        <p:spPr>
          <a:xfrm>
            <a:off x="4686300" y="3000375"/>
            <a:ext cx="952500" cy="2000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638"/>
              <a:buFont typeface="Arial"/>
              <a:buNone/>
            </a:pPr>
            <a:r>
              <a:rPr b="1" lang="en-US" sz="638">
                <a:solidFill>
                  <a:srgbClr val="1A1A2E"/>
                </a:solidFill>
              </a:rPr>
              <a:t>FAC-003</a:t>
            </a:r>
            <a:endParaRPr/>
          </a:p>
        </p:txBody>
      </p:sp>
      <p:sp>
        <p:nvSpPr>
          <p:cNvPr id="1827" name="Google Shape;1827;p29"/>
          <p:cNvSpPr/>
          <p:nvPr/>
        </p:nvSpPr>
        <p:spPr>
          <a:xfrm>
            <a:off x="5734050" y="3000375"/>
            <a:ext cx="1066800" cy="2000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638"/>
              <a:buFont typeface="Arial"/>
              <a:buNone/>
            </a:pPr>
            <a:r>
              <a:rPr b="1" lang="en-US" sz="638">
                <a:solidFill>
                  <a:srgbClr val="1A1A2E"/>
                </a:solidFill>
              </a:rPr>
              <a:t>EPIC-001</a:t>
            </a:r>
            <a:endParaRPr/>
          </a:p>
        </p:txBody>
      </p:sp>
      <p:sp>
        <p:nvSpPr>
          <p:cNvPr id="1828" name="Google Shape;1828;p29"/>
          <p:cNvSpPr/>
          <p:nvPr/>
        </p:nvSpPr>
        <p:spPr>
          <a:xfrm>
            <a:off x="6896100" y="3000375"/>
            <a:ext cx="1123950" cy="2000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638"/>
              <a:buFont typeface="Arial"/>
              <a:buNone/>
            </a:pPr>
            <a:r>
              <a:rPr b="1" lang="en-US" sz="638">
                <a:solidFill>
                  <a:srgbClr val="1A1A2E"/>
                </a:solidFill>
              </a:rPr>
              <a:t>FEAT-003</a:t>
            </a:r>
            <a:endParaRPr/>
          </a:p>
        </p:txBody>
      </p:sp>
      <p:sp>
        <p:nvSpPr>
          <p:cNvPr id="1829" name="Google Shape;1829;p29"/>
          <p:cNvSpPr/>
          <p:nvPr/>
        </p:nvSpPr>
        <p:spPr>
          <a:xfrm>
            <a:off x="8115300" y="3000375"/>
            <a:ext cx="1123950" cy="2000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638"/>
              <a:buFont typeface="Arial"/>
              <a:buNone/>
            </a:pPr>
            <a:r>
              <a:rPr b="1" lang="en-US" sz="638">
                <a:solidFill>
                  <a:srgbClr val="1A1A2E"/>
                </a:solidFill>
              </a:rPr>
              <a:t>US-003</a:t>
            </a:r>
            <a:endParaRPr/>
          </a:p>
        </p:txBody>
      </p:sp>
      <p:sp>
        <p:nvSpPr>
          <p:cNvPr id="1830" name="Google Shape;1830;p29"/>
          <p:cNvSpPr/>
          <p:nvPr/>
        </p:nvSpPr>
        <p:spPr>
          <a:xfrm>
            <a:off x="9334500" y="3000375"/>
            <a:ext cx="1066800" cy="2000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638"/>
              <a:buFont typeface="Arial"/>
              <a:buNone/>
            </a:pPr>
            <a:r>
              <a:rPr b="1" lang="en-US" sz="638">
                <a:solidFill>
                  <a:srgbClr val="1A1A2E"/>
                </a:solidFill>
              </a:rPr>
              <a:t>SBAC-003</a:t>
            </a:r>
            <a:endParaRPr/>
          </a:p>
        </p:txBody>
      </p:sp>
      <p:sp>
        <p:nvSpPr>
          <p:cNvPr id="1831" name="Google Shape;1831;p29"/>
          <p:cNvSpPr/>
          <p:nvPr/>
        </p:nvSpPr>
        <p:spPr>
          <a:xfrm>
            <a:off x="10496550" y="3000375"/>
            <a:ext cx="914400" cy="2000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F6F57"/>
              </a:buClr>
              <a:buSzPts val="638"/>
              <a:buFont typeface="Arial"/>
              <a:buNone/>
            </a:pPr>
            <a:r>
              <a:rPr b="1" lang="en-US" sz="638">
                <a:solidFill>
                  <a:srgbClr val="2F6F57"/>
                </a:solidFill>
              </a:rPr>
              <a:t>ACTIVE</a:t>
            </a:r>
            <a:endParaRPr/>
          </a:p>
        </p:txBody>
      </p:sp>
      <p:sp>
        <p:nvSpPr>
          <p:cNvPr id="1832" name="Google Shape;1832;p29"/>
          <p:cNvSpPr/>
          <p:nvPr/>
        </p:nvSpPr>
        <p:spPr>
          <a:xfrm>
            <a:off x="685800" y="3238500"/>
            <a:ext cx="10820400" cy="257175"/>
          </a:xfrm>
          <a:prstGeom prst="rect">
            <a:avLst/>
          </a:prstGeom>
          <a:solidFill>
            <a:srgbClr val="FBF9F6"/>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3" name="Google Shape;1833;p29"/>
          <p:cNvSpPr/>
          <p:nvPr/>
        </p:nvSpPr>
        <p:spPr>
          <a:xfrm>
            <a:off x="781050" y="3267075"/>
            <a:ext cx="2686050" cy="2000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3B6EBF"/>
              </a:buClr>
              <a:buSzPts val="578"/>
              <a:buFont typeface="Arial"/>
              <a:buNone/>
            </a:pPr>
            <a:r>
              <a:rPr b="0" lang="en-US" sz="578">
                <a:solidFill>
                  <a:srgbClr val="3B6EBF"/>
                </a:solidFill>
              </a:rPr>
              <a:t>CIT-04-0016-40b68902 · CIT-04-0013-23ba34cb</a:t>
            </a:r>
            <a:endParaRPr/>
          </a:p>
        </p:txBody>
      </p:sp>
      <p:sp>
        <p:nvSpPr>
          <p:cNvPr id="1834" name="Google Shape;1834;p29"/>
          <p:cNvSpPr/>
          <p:nvPr/>
        </p:nvSpPr>
        <p:spPr>
          <a:xfrm>
            <a:off x="3562350" y="3267075"/>
            <a:ext cx="1028700" cy="2000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638"/>
              <a:buFont typeface="Arial"/>
              <a:buNone/>
            </a:pPr>
            <a:r>
              <a:rPr b="1" lang="en-US" sz="638">
                <a:solidFill>
                  <a:srgbClr val="1A1A2E"/>
                </a:solidFill>
              </a:rPr>
              <a:t>FR-006 · CON-002</a:t>
            </a:r>
            <a:endParaRPr/>
          </a:p>
        </p:txBody>
      </p:sp>
      <p:sp>
        <p:nvSpPr>
          <p:cNvPr id="1835" name="Google Shape;1835;p29"/>
          <p:cNvSpPr/>
          <p:nvPr/>
        </p:nvSpPr>
        <p:spPr>
          <a:xfrm>
            <a:off x="4686300" y="3267075"/>
            <a:ext cx="952500" cy="2000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638"/>
              <a:buFont typeface="Arial"/>
              <a:buNone/>
            </a:pPr>
            <a:r>
              <a:rPr b="1" lang="en-US" sz="638">
                <a:solidFill>
                  <a:srgbClr val="1A1A2E"/>
                </a:solidFill>
              </a:rPr>
              <a:t>FAC-004</a:t>
            </a:r>
            <a:endParaRPr/>
          </a:p>
        </p:txBody>
      </p:sp>
      <p:sp>
        <p:nvSpPr>
          <p:cNvPr id="1836" name="Google Shape;1836;p29"/>
          <p:cNvSpPr/>
          <p:nvPr/>
        </p:nvSpPr>
        <p:spPr>
          <a:xfrm>
            <a:off x="5734050" y="3267075"/>
            <a:ext cx="1066800" cy="2000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638"/>
              <a:buFont typeface="Arial"/>
              <a:buNone/>
            </a:pPr>
            <a:r>
              <a:rPr b="1" lang="en-US" sz="638">
                <a:solidFill>
                  <a:srgbClr val="1A1A2E"/>
                </a:solidFill>
              </a:rPr>
              <a:t>EPIC-001</a:t>
            </a:r>
            <a:endParaRPr/>
          </a:p>
        </p:txBody>
      </p:sp>
      <p:sp>
        <p:nvSpPr>
          <p:cNvPr id="1837" name="Google Shape;1837;p29"/>
          <p:cNvSpPr/>
          <p:nvPr/>
        </p:nvSpPr>
        <p:spPr>
          <a:xfrm>
            <a:off x="6896100" y="3267075"/>
            <a:ext cx="1123950" cy="2000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638"/>
              <a:buFont typeface="Arial"/>
              <a:buNone/>
            </a:pPr>
            <a:r>
              <a:rPr b="1" lang="en-US" sz="638">
                <a:solidFill>
                  <a:srgbClr val="1A1A2E"/>
                </a:solidFill>
              </a:rPr>
              <a:t>FEAT-003</a:t>
            </a:r>
            <a:endParaRPr/>
          </a:p>
        </p:txBody>
      </p:sp>
      <p:sp>
        <p:nvSpPr>
          <p:cNvPr id="1838" name="Google Shape;1838;p29"/>
          <p:cNvSpPr/>
          <p:nvPr/>
        </p:nvSpPr>
        <p:spPr>
          <a:xfrm>
            <a:off x="8115300" y="3267075"/>
            <a:ext cx="1123950" cy="2000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638"/>
              <a:buFont typeface="Arial"/>
              <a:buNone/>
            </a:pPr>
            <a:r>
              <a:rPr b="1" lang="en-US" sz="638">
                <a:solidFill>
                  <a:srgbClr val="1A1A2E"/>
                </a:solidFill>
              </a:rPr>
              <a:t>US-004</a:t>
            </a:r>
            <a:endParaRPr/>
          </a:p>
        </p:txBody>
      </p:sp>
      <p:sp>
        <p:nvSpPr>
          <p:cNvPr id="1839" name="Google Shape;1839;p29"/>
          <p:cNvSpPr/>
          <p:nvPr/>
        </p:nvSpPr>
        <p:spPr>
          <a:xfrm>
            <a:off x="9334500" y="3267075"/>
            <a:ext cx="1066800" cy="2000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638"/>
              <a:buFont typeface="Arial"/>
              <a:buNone/>
            </a:pPr>
            <a:r>
              <a:rPr b="1" lang="en-US" sz="638">
                <a:solidFill>
                  <a:srgbClr val="1A1A2E"/>
                </a:solidFill>
              </a:rPr>
              <a:t>SBAC-004</a:t>
            </a:r>
            <a:endParaRPr/>
          </a:p>
        </p:txBody>
      </p:sp>
      <p:sp>
        <p:nvSpPr>
          <p:cNvPr id="1840" name="Google Shape;1840;p29"/>
          <p:cNvSpPr/>
          <p:nvPr/>
        </p:nvSpPr>
        <p:spPr>
          <a:xfrm>
            <a:off x="10496550" y="3267075"/>
            <a:ext cx="914400" cy="2000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F6F57"/>
              </a:buClr>
              <a:buSzPts val="638"/>
              <a:buFont typeface="Arial"/>
              <a:buNone/>
            </a:pPr>
            <a:r>
              <a:rPr b="1" lang="en-US" sz="638">
                <a:solidFill>
                  <a:srgbClr val="2F6F57"/>
                </a:solidFill>
              </a:rPr>
              <a:t>ACTIVE</a:t>
            </a:r>
            <a:endParaRPr/>
          </a:p>
        </p:txBody>
      </p:sp>
      <p:sp>
        <p:nvSpPr>
          <p:cNvPr id="1841" name="Google Shape;1841;p29"/>
          <p:cNvSpPr/>
          <p:nvPr/>
        </p:nvSpPr>
        <p:spPr>
          <a:xfrm>
            <a:off x="685800" y="3505200"/>
            <a:ext cx="10820400" cy="257175"/>
          </a:xfrm>
          <a:prstGeom prst="rect">
            <a:avLst/>
          </a:prstGeom>
          <a:solidFill>
            <a:srgbClr val="FFFFFF"/>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42" name="Google Shape;1842;p29"/>
          <p:cNvSpPr/>
          <p:nvPr/>
        </p:nvSpPr>
        <p:spPr>
          <a:xfrm>
            <a:off x="781050" y="3533775"/>
            <a:ext cx="2686050" cy="2000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3B6EBF"/>
              </a:buClr>
              <a:buSzPts val="578"/>
              <a:buFont typeface="Arial"/>
              <a:buNone/>
            </a:pPr>
            <a:r>
              <a:rPr b="0" lang="en-US" sz="578">
                <a:solidFill>
                  <a:srgbClr val="3B6EBF"/>
                </a:solidFill>
              </a:rPr>
              <a:t>CIT-04-0016-40b68902</a:t>
            </a:r>
            <a:endParaRPr/>
          </a:p>
        </p:txBody>
      </p:sp>
      <p:sp>
        <p:nvSpPr>
          <p:cNvPr id="1843" name="Google Shape;1843;p29"/>
          <p:cNvSpPr/>
          <p:nvPr/>
        </p:nvSpPr>
        <p:spPr>
          <a:xfrm>
            <a:off x="3562350" y="3533775"/>
            <a:ext cx="1028700" cy="2000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638"/>
              <a:buFont typeface="Arial"/>
              <a:buNone/>
            </a:pPr>
            <a:r>
              <a:rPr b="1" lang="en-US" sz="638">
                <a:solidFill>
                  <a:srgbClr val="1A1A2E"/>
                </a:solidFill>
              </a:rPr>
              <a:t>FR-006</a:t>
            </a:r>
            <a:endParaRPr/>
          </a:p>
        </p:txBody>
      </p:sp>
      <p:sp>
        <p:nvSpPr>
          <p:cNvPr id="1844" name="Google Shape;1844;p29"/>
          <p:cNvSpPr/>
          <p:nvPr/>
        </p:nvSpPr>
        <p:spPr>
          <a:xfrm>
            <a:off x="4686300" y="3533775"/>
            <a:ext cx="952500" cy="2000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638"/>
              <a:buFont typeface="Arial"/>
              <a:buNone/>
            </a:pPr>
            <a:r>
              <a:rPr b="1" lang="en-US" sz="638">
                <a:solidFill>
                  <a:srgbClr val="1A1A2E"/>
                </a:solidFill>
              </a:rPr>
              <a:t>FAC-005</a:t>
            </a:r>
            <a:endParaRPr/>
          </a:p>
        </p:txBody>
      </p:sp>
      <p:sp>
        <p:nvSpPr>
          <p:cNvPr id="1845" name="Google Shape;1845;p29"/>
          <p:cNvSpPr/>
          <p:nvPr/>
        </p:nvSpPr>
        <p:spPr>
          <a:xfrm>
            <a:off x="5734050" y="3533775"/>
            <a:ext cx="1066800" cy="2000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638"/>
              <a:buFont typeface="Arial"/>
              <a:buNone/>
            </a:pPr>
            <a:r>
              <a:rPr b="1" lang="en-US" sz="638">
                <a:solidFill>
                  <a:srgbClr val="1A1A2E"/>
                </a:solidFill>
              </a:rPr>
              <a:t>EPIC-001</a:t>
            </a:r>
            <a:endParaRPr/>
          </a:p>
        </p:txBody>
      </p:sp>
      <p:sp>
        <p:nvSpPr>
          <p:cNvPr id="1846" name="Google Shape;1846;p29"/>
          <p:cNvSpPr/>
          <p:nvPr/>
        </p:nvSpPr>
        <p:spPr>
          <a:xfrm>
            <a:off x="6896100" y="3533775"/>
            <a:ext cx="1123950" cy="2000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638"/>
              <a:buFont typeface="Arial"/>
              <a:buNone/>
            </a:pPr>
            <a:r>
              <a:rPr b="1" lang="en-US" sz="638">
                <a:solidFill>
                  <a:srgbClr val="1A1A2E"/>
                </a:solidFill>
              </a:rPr>
              <a:t>FEAT-003</a:t>
            </a:r>
            <a:endParaRPr/>
          </a:p>
        </p:txBody>
      </p:sp>
      <p:sp>
        <p:nvSpPr>
          <p:cNvPr id="1847" name="Google Shape;1847;p29"/>
          <p:cNvSpPr/>
          <p:nvPr/>
        </p:nvSpPr>
        <p:spPr>
          <a:xfrm>
            <a:off x="8115300" y="3533775"/>
            <a:ext cx="1123950" cy="2000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638"/>
              <a:buFont typeface="Arial"/>
              <a:buNone/>
            </a:pPr>
            <a:r>
              <a:rPr b="1" lang="en-US" sz="638">
                <a:solidFill>
                  <a:srgbClr val="1A1A2E"/>
                </a:solidFill>
              </a:rPr>
              <a:t>US-005</a:t>
            </a:r>
            <a:endParaRPr/>
          </a:p>
        </p:txBody>
      </p:sp>
      <p:sp>
        <p:nvSpPr>
          <p:cNvPr id="1848" name="Google Shape;1848;p29"/>
          <p:cNvSpPr/>
          <p:nvPr/>
        </p:nvSpPr>
        <p:spPr>
          <a:xfrm>
            <a:off x="9334500" y="3533775"/>
            <a:ext cx="1066800" cy="2000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638"/>
              <a:buFont typeface="Arial"/>
              <a:buNone/>
            </a:pPr>
            <a:r>
              <a:rPr b="1" lang="en-US" sz="638">
                <a:solidFill>
                  <a:srgbClr val="1A1A2E"/>
                </a:solidFill>
              </a:rPr>
              <a:t>SBAC-005</a:t>
            </a:r>
            <a:endParaRPr/>
          </a:p>
        </p:txBody>
      </p:sp>
      <p:sp>
        <p:nvSpPr>
          <p:cNvPr id="1849" name="Google Shape;1849;p29"/>
          <p:cNvSpPr/>
          <p:nvPr/>
        </p:nvSpPr>
        <p:spPr>
          <a:xfrm>
            <a:off x="10496550" y="3533775"/>
            <a:ext cx="914400" cy="2000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F6F57"/>
              </a:buClr>
              <a:buSzPts val="638"/>
              <a:buFont typeface="Arial"/>
              <a:buNone/>
            </a:pPr>
            <a:r>
              <a:rPr b="1" lang="en-US" sz="638">
                <a:solidFill>
                  <a:srgbClr val="2F6F57"/>
                </a:solidFill>
              </a:rPr>
              <a:t>ACTIVE</a:t>
            </a:r>
            <a:endParaRPr/>
          </a:p>
        </p:txBody>
      </p:sp>
      <p:sp>
        <p:nvSpPr>
          <p:cNvPr id="1850" name="Google Shape;1850;p29"/>
          <p:cNvSpPr/>
          <p:nvPr/>
        </p:nvSpPr>
        <p:spPr>
          <a:xfrm>
            <a:off x="685800" y="3771900"/>
            <a:ext cx="10820400" cy="257175"/>
          </a:xfrm>
          <a:prstGeom prst="rect">
            <a:avLst/>
          </a:prstGeom>
          <a:solidFill>
            <a:srgbClr val="FBF9F6"/>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51" name="Google Shape;1851;p29"/>
          <p:cNvSpPr/>
          <p:nvPr/>
        </p:nvSpPr>
        <p:spPr>
          <a:xfrm>
            <a:off x="781050" y="3800475"/>
            <a:ext cx="2686050" cy="2000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3B6EBF"/>
              </a:buClr>
              <a:buSzPts val="578"/>
              <a:buFont typeface="Arial"/>
              <a:buNone/>
            </a:pPr>
            <a:r>
              <a:rPr b="0" lang="en-US" sz="578">
                <a:solidFill>
                  <a:srgbClr val="3B6EBF"/>
                </a:solidFill>
              </a:rPr>
              <a:t>CIT-04-0016-40b68902</a:t>
            </a:r>
            <a:endParaRPr/>
          </a:p>
        </p:txBody>
      </p:sp>
      <p:sp>
        <p:nvSpPr>
          <p:cNvPr id="1852" name="Google Shape;1852;p29"/>
          <p:cNvSpPr/>
          <p:nvPr/>
        </p:nvSpPr>
        <p:spPr>
          <a:xfrm>
            <a:off x="3562350" y="3800475"/>
            <a:ext cx="1028700" cy="2000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638"/>
              <a:buFont typeface="Arial"/>
              <a:buNone/>
            </a:pPr>
            <a:r>
              <a:rPr b="1" lang="en-US" sz="638">
                <a:solidFill>
                  <a:srgbClr val="1A1A2E"/>
                </a:solidFill>
              </a:rPr>
              <a:t>FR-006</a:t>
            </a:r>
            <a:endParaRPr/>
          </a:p>
        </p:txBody>
      </p:sp>
      <p:sp>
        <p:nvSpPr>
          <p:cNvPr id="1853" name="Google Shape;1853;p29"/>
          <p:cNvSpPr/>
          <p:nvPr/>
        </p:nvSpPr>
        <p:spPr>
          <a:xfrm>
            <a:off x="4686300" y="3800475"/>
            <a:ext cx="952500" cy="2000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638"/>
              <a:buFont typeface="Arial"/>
              <a:buNone/>
            </a:pPr>
            <a:r>
              <a:rPr b="1" lang="en-US" sz="638">
                <a:solidFill>
                  <a:srgbClr val="1A1A2E"/>
                </a:solidFill>
              </a:rPr>
              <a:t>FAC-006</a:t>
            </a:r>
            <a:endParaRPr/>
          </a:p>
        </p:txBody>
      </p:sp>
      <p:sp>
        <p:nvSpPr>
          <p:cNvPr id="1854" name="Google Shape;1854;p29"/>
          <p:cNvSpPr/>
          <p:nvPr/>
        </p:nvSpPr>
        <p:spPr>
          <a:xfrm>
            <a:off x="5734050" y="3800475"/>
            <a:ext cx="1066800" cy="2000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638"/>
              <a:buFont typeface="Arial"/>
              <a:buNone/>
            </a:pPr>
            <a:r>
              <a:rPr b="1" lang="en-US" sz="638">
                <a:solidFill>
                  <a:srgbClr val="1A1A2E"/>
                </a:solidFill>
              </a:rPr>
              <a:t>EPIC-001</a:t>
            </a:r>
            <a:endParaRPr/>
          </a:p>
        </p:txBody>
      </p:sp>
      <p:sp>
        <p:nvSpPr>
          <p:cNvPr id="1855" name="Google Shape;1855;p29"/>
          <p:cNvSpPr/>
          <p:nvPr/>
        </p:nvSpPr>
        <p:spPr>
          <a:xfrm>
            <a:off x="6896100" y="3800475"/>
            <a:ext cx="1123950" cy="2000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638"/>
              <a:buFont typeface="Arial"/>
              <a:buNone/>
            </a:pPr>
            <a:r>
              <a:rPr b="1" lang="en-US" sz="638">
                <a:solidFill>
                  <a:srgbClr val="1A1A2E"/>
                </a:solidFill>
              </a:rPr>
              <a:t>FEAT-003</a:t>
            </a:r>
            <a:endParaRPr/>
          </a:p>
        </p:txBody>
      </p:sp>
      <p:sp>
        <p:nvSpPr>
          <p:cNvPr id="1856" name="Google Shape;1856;p29"/>
          <p:cNvSpPr/>
          <p:nvPr/>
        </p:nvSpPr>
        <p:spPr>
          <a:xfrm>
            <a:off x="8115300" y="3800475"/>
            <a:ext cx="1123950" cy="2000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638"/>
              <a:buFont typeface="Arial"/>
              <a:buNone/>
            </a:pPr>
            <a:r>
              <a:rPr b="1" lang="en-US" sz="638">
                <a:solidFill>
                  <a:srgbClr val="1A1A2E"/>
                </a:solidFill>
              </a:rPr>
              <a:t>US-006</a:t>
            </a:r>
            <a:endParaRPr/>
          </a:p>
        </p:txBody>
      </p:sp>
      <p:sp>
        <p:nvSpPr>
          <p:cNvPr id="1857" name="Google Shape;1857;p29"/>
          <p:cNvSpPr/>
          <p:nvPr/>
        </p:nvSpPr>
        <p:spPr>
          <a:xfrm>
            <a:off x="9334500" y="3800475"/>
            <a:ext cx="1066800" cy="2000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638"/>
              <a:buFont typeface="Arial"/>
              <a:buNone/>
            </a:pPr>
            <a:r>
              <a:rPr b="1" lang="en-US" sz="638">
                <a:solidFill>
                  <a:srgbClr val="1A1A2E"/>
                </a:solidFill>
              </a:rPr>
              <a:t>SBAC-006</a:t>
            </a:r>
            <a:endParaRPr/>
          </a:p>
        </p:txBody>
      </p:sp>
      <p:sp>
        <p:nvSpPr>
          <p:cNvPr id="1858" name="Google Shape;1858;p29"/>
          <p:cNvSpPr/>
          <p:nvPr/>
        </p:nvSpPr>
        <p:spPr>
          <a:xfrm>
            <a:off x="10496550" y="3800475"/>
            <a:ext cx="914400" cy="2000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F6F57"/>
              </a:buClr>
              <a:buSzPts val="638"/>
              <a:buFont typeface="Arial"/>
              <a:buNone/>
            </a:pPr>
            <a:r>
              <a:rPr b="1" lang="en-US" sz="638">
                <a:solidFill>
                  <a:srgbClr val="2F6F57"/>
                </a:solidFill>
              </a:rPr>
              <a:t>ACTIVE</a:t>
            </a:r>
            <a:endParaRPr/>
          </a:p>
        </p:txBody>
      </p:sp>
      <p:sp>
        <p:nvSpPr>
          <p:cNvPr id="1859" name="Google Shape;1859;p29"/>
          <p:cNvSpPr/>
          <p:nvPr/>
        </p:nvSpPr>
        <p:spPr>
          <a:xfrm>
            <a:off x="685800" y="4038600"/>
            <a:ext cx="10820400" cy="257175"/>
          </a:xfrm>
          <a:prstGeom prst="rect">
            <a:avLst/>
          </a:prstGeom>
          <a:solidFill>
            <a:srgbClr val="FFFFFF"/>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0" name="Google Shape;1860;p29"/>
          <p:cNvSpPr/>
          <p:nvPr/>
        </p:nvSpPr>
        <p:spPr>
          <a:xfrm>
            <a:off x="781050" y="4067175"/>
            <a:ext cx="2686050" cy="2000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3B6EBF"/>
              </a:buClr>
              <a:buSzPts val="578"/>
              <a:buFont typeface="Arial"/>
              <a:buNone/>
            </a:pPr>
            <a:r>
              <a:rPr b="0" lang="en-US" sz="578">
                <a:solidFill>
                  <a:srgbClr val="3B6EBF"/>
                </a:solidFill>
              </a:rPr>
              <a:t>CIT-05-0019-192d5768</a:t>
            </a:r>
            <a:endParaRPr/>
          </a:p>
        </p:txBody>
      </p:sp>
      <p:sp>
        <p:nvSpPr>
          <p:cNvPr id="1861" name="Google Shape;1861;p29"/>
          <p:cNvSpPr/>
          <p:nvPr/>
        </p:nvSpPr>
        <p:spPr>
          <a:xfrm>
            <a:off x="3562350" y="4067175"/>
            <a:ext cx="1028700" cy="2000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638"/>
              <a:buFont typeface="Arial"/>
              <a:buNone/>
            </a:pPr>
            <a:r>
              <a:rPr b="1" lang="en-US" sz="638">
                <a:solidFill>
                  <a:srgbClr val="1A1A2E"/>
                </a:solidFill>
              </a:rPr>
              <a:t>FR-003</a:t>
            </a:r>
            <a:endParaRPr/>
          </a:p>
        </p:txBody>
      </p:sp>
      <p:sp>
        <p:nvSpPr>
          <p:cNvPr id="1862" name="Google Shape;1862;p29"/>
          <p:cNvSpPr/>
          <p:nvPr/>
        </p:nvSpPr>
        <p:spPr>
          <a:xfrm>
            <a:off x="4686300" y="4067175"/>
            <a:ext cx="952500" cy="2000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638"/>
              <a:buFont typeface="Arial"/>
              <a:buNone/>
            </a:pPr>
            <a:r>
              <a:rPr b="1" lang="en-US" sz="638">
                <a:solidFill>
                  <a:srgbClr val="1A1A2E"/>
                </a:solidFill>
              </a:rPr>
              <a:t>FAC-007</a:t>
            </a:r>
            <a:endParaRPr/>
          </a:p>
        </p:txBody>
      </p:sp>
      <p:sp>
        <p:nvSpPr>
          <p:cNvPr id="1863" name="Google Shape;1863;p29"/>
          <p:cNvSpPr/>
          <p:nvPr/>
        </p:nvSpPr>
        <p:spPr>
          <a:xfrm>
            <a:off x="5734050" y="4067175"/>
            <a:ext cx="1066800" cy="2000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638"/>
              <a:buFont typeface="Arial"/>
              <a:buNone/>
            </a:pPr>
            <a:r>
              <a:rPr b="1" lang="en-US" sz="638">
                <a:solidFill>
                  <a:srgbClr val="1A1A2E"/>
                </a:solidFill>
              </a:rPr>
              <a:t>EPIC-002</a:t>
            </a:r>
            <a:endParaRPr/>
          </a:p>
        </p:txBody>
      </p:sp>
      <p:sp>
        <p:nvSpPr>
          <p:cNvPr id="1864" name="Google Shape;1864;p29"/>
          <p:cNvSpPr/>
          <p:nvPr/>
        </p:nvSpPr>
        <p:spPr>
          <a:xfrm>
            <a:off x="6896100" y="4067175"/>
            <a:ext cx="1123950" cy="2000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638"/>
              <a:buFont typeface="Arial"/>
              <a:buNone/>
            </a:pPr>
            <a:r>
              <a:rPr b="1" lang="en-US" sz="638">
                <a:solidFill>
                  <a:srgbClr val="1A1A2E"/>
                </a:solidFill>
              </a:rPr>
              <a:t>FEAT-004</a:t>
            </a:r>
            <a:endParaRPr/>
          </a:p>
        </p:txBody>
      </p:sp>
      <p:sp>
        <p:nvSpPr>
          <p:cNvPr id="1865" name="Google Shape;1865;p29"/>
          <p:cNvSpPr/>
          <p:nvPr/>
        </p:nvSpPr>
        <p:spPr>
          <a:xfrm>
            <a:off x="8115300" y="4067175"/>
            <a:ext cx="1123950" cy="2000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638"/>
              <a:buFont typeface="Arial"/>
              <a:buNone/>
            </a:pPr>
            <a:r>
              <a:rPr b="1" lang="en-US" sz="638">
                <a:solidFill>
                  <a:srgbClr val="1A1A2E"/>
                </a:solidFill>
              </a:rPr>
              <a:t>US-007</a:t>
            </a:r>
            <a:endParaRPr/>
          </a:p>
        </p:txBody>
      </p:sp>
      <p:sp>
        <p:nvSpPr>
          <p:cNvPr id="1866" name="Google Shape;1866;p29"/>
          <p:cNvSpPr/>
          <p:nvPr/>
        </p:nvSpPr>
        <p:spPr>
          <a:xfrm>
            <a:off x="9334500" y="4067175"/>
            <a:ext cx="1066800" cy="2000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638"/>
              <a:buFont typeface="Arial"/>
              <a:buNone/>
            </a:pPr>
            <a:r>
              <a:rPr b="1" lang="en-US" sz="638">
                <a:solidFill>
                  <a:srgbClr val="1A1A2E"/>
                </a:solidFill>
              </a:rPr>
              <a:t>SBAC-007</a:t>
            </a:r>
            <a:endParaRPr/>
          </a:p>
        </p:txBody>
      </p:sp>
      <p:sp>
        <p:nvSpPr>
          <p:cNvPr id="1867" name="Google Shape;1867;p29"/>
          <p:cNvSpPr/>
          <p:nvPr/>
        </p:nvSpPr>
        <p:spPr>
          <a:xfrm>
            <a:off x="10496550" y="4067175"/>
            <a:ext cx="914400" cy="2000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F6F57"/>
              </a:buClr>
              <a:buSzPts val="638"/>
              <a:buFont typeface="Arial"/>
              <a:buNone/>
            </a:pPr>
            <a:r>
              <a:rPr b="1" lang="en-US" sz="638">
                <a:solidFill>
                  <a:srgbClr val="2F6F57"/>
                </a:solidFill>
              </a:rPr>
              <a:t>ACTIVE</a:t>
            </a:r>
            <a:endParaRPr/>
          </a:p>
        </p:txBody>
      </p:sp>
      <p:sp>
        <p:nvSpPr>
          <p:cNvPr id="1868" name="Google Shape;1868;p29"/>
          <p:cNvSpPr/>
          <p:nvPr/>
        </p:nvSpPr>
        <p:spPr>
          <a:xfrm>
            <a:off x="685800" y="4305300"/>
            <a:ext cx="10820400" cy="257175"/>
          </a:xfrm>
          <a:prstGeom prst="rect">
            <a:avLst/>
          </a:prstGeom>
          <a:solidFill>
            <a:srgbClr val="FBF9F6"/>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9" name="Google Shape;1869;p29"/>
          <p:cNvSpPr/>
          <p:nvPr/>
        </p:nvSpPr>
        <p:spPr>
          <a:xfrm>
            <a:off x="781050" y="4333875"/>
            <a:ext cx="2686050" cy="2000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3B6EBF"/>
              </a:buClr>
              <a:buSzPts val="578"/>
              <a:buFont typeface="Arial"/>
              <a:buNone/>
            </a:pPr>
            <a:r>
              <a:rPr b="0" lang="en-US" sz="578">
                <a:solidFill>
                  <a:srgbClr val="3B6EBF"/>
                </a:solidFill>
              </a:rPr>
              <a:t>CIT-05-0019-192d5768</a:t>
            </a:r>
            <a:endParaRPr/>
          </a:p>
        </p:txBody>
      </p:sp>
      <p:sp>
        <p:nvSpPr>
          <p:cNvPr id="1870" name="Google Shape;1870;p29"/>
          <p:cNvSpPr/>
          <p:nvPr/>
        </p:nvSpPr>
        <p:spPr>
          <a:xfrm>
            <a:off x="3562350" y="4333875"/>
            <a:ext cx="1028700" cy="2000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638"/>
              <a:buFont typeface="Arial"/>
              <a:buNone/>
            </a:pPr>
            <a:r>
              <a:rPr b="1" lang="en-US" sz="638">
                <a:solidFill>
                  <a:srgbClr val="1A1A2E"/>
                </a:solidFill>
              </a:rPr>
              <a:t>FR-003</a:t>
            </a:r>
            <a:endParaRPr/>
          </a:p>
        </p:txBody>
      </p:sp>
      <p:sp>
        <p:nvSpPr>
          <p:cNvPr id="1871" name="Google Shape;1871;p29"/>
          <p:cNvSpPr/>
          <p:nvPr/>
        </p:nvSpPr>
        <p:spPr>
          <a:xfrm>
            <a:off x="4686300" y="4333875"/>
            <a:ext cx="952500" cy="2000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638"/>
              <a:buFont typeface="Arial"/>
              <a:buNone/>
            </a:pPr>
            <a:r>
              <a:rPr b="1" lang="en-US" sz="638">
                <a:solidFill>
                  <a:srgbClr val="1A1A2E"/>
                </a:solidFill>
              </a:rPr>
              <a:t>FAC-008</a:t>
            </a:r>
            <a:endParaRPr/>
          </a:p>
        </p:txBody>
      </p:sp>
      <p:sp>
        <p:nvSpPr>
          <p:cNvPr id="1872" name="Google Shape;1872;p29"/>
          <p:cNvSpPr/>
          <p:nvPr/>
        </p:nvSpPr>
        <p:spPr>
          <a:xfrm>
            <a:off x="5734050" y="4333875"/>
            <a:ext cx="1066800" cy="2000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638"/>
              <a:buFont typeface="Arial"/>
              <a:buNone/>
            </a:pPr>
            <a:r>
              <a:rPr b="1" lang="en-US" sz="638">
                <a:solidFill>
                  <a:srgbClr val="1A1A2E"/>
                </a:solidFill>
              </a:rPr>
              <a:t>EPIC-002</a:t>
            </a:r>
            <a:endParaRPr/>
          </a:p>
        </p:txBody>
      </p:sp>
      <p:sp>
        <p:nvSpPr>
          <p:cNvPr id="1873" name="Google Shape;1873;p29"/>
          <p:cNvSpPr/>
          <p:nvPr/>
        </p:nvSpPr>
        <p:spPr>
          <a:xfrm>
            <a:off x="6896100" y="4333875"/>
            <a:ext cx="1123950" cy="2000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638"/>
              <a:buFont typeface="Arial"/>
              <a:buNone/>
            </a:pPr>
            <a:r>
              <a:rPr b="1" lang="en-US" sz="638">
                <a:solidFill>
                  <a:srgbClr val="1A1A2E"/>
                </a:solidFill>
              </a:rPr>
              <a:t>FEAT-004</a:t>
            </a:r>
            <a:endParaRPr/>
          </a:p>
        </p:txBody>
      </p:sp>
      <p:sp>
        <p:nvSpPr>
          <p:cNvPr id="1874" name="Google Shape;1874;p29"/>
          <p:cNvSpPr/>
          <p:nvPr/>
        </p:nvSpPr>
        <p:spPr>
          <a:xfrm>
            <a:off x="8115300" y="4333875"/>
            <a:ext cx="1123950" cy="2000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638"/>
              <a:buFont typeface="Arial"/>
              <a:buNone/>
            </a:pPr>
            <a:r>
              <a:rPr b="1" lang="en-US" sz="638">
                <a:solidFill>
                  <a:srgbClr val="1A1A2E"/>
                </a:solidFill>
              </a:rPr>
              <a:t>US-008</a:t>
            </a:r>
            <a:endParaRPr/>
          </a:p>
        </p:txBody>
      </p:sp>
      <p:sp>
        <p:nvSpPr>
          <p:cNvPr id="1875" name="Google Shape;1875;p29"/>
          <p:cNvSpPr/>
          <p:nvPr/>
        </p:nvSpPr>
        <p:spPr>
          <a:xfrm>
            <a:off x="9334500" y="4333875"/>
            <a:ext cx="1066800" cy="2000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638"/>
              <a:buFont typeface="Arial"/>
              <a:buNone/>
            </a:pPr>
            <a:r>
              <a:rPr b="1" lang="en-US" sz="638">
                <a:solidFill>
                  <a:srgbClr val="1A1A2E"/>
                </a:solidFill>
              </a:rPr>
              <a:t>SBAC-008</a:t>
            </a:r>
            <a:endParaRPr/>
          </a:p>
        </p:txBody>
      </p:sp>
      <p:sp>
        <p:nvSpPr>
          <p:cNvPr id="1876" name="Google Shape;1876;p29"/>
          <p:cNvSpPr/>
          <p:nvPr/>
        </p:nvSpPr>
        <p:spPr>
          <a:xfrm>
            <a:off x="10496550" y="4333875"/>
            <a:ext cx="914400" cy="2000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F6F57"/>
              </a:buClr>
              <a:buSzPts val="638"/>
              <a:buFont typeface="Arial"/>
              <a:buNone/>
            </a:pPr>
            <a:r>
              <a:rPr b="1" lang="en-US" sz="638">
                <a:solidFill>
                  <a:srgbClr val="2F6F57"/>
                </a:solidFill>
              </a:rPr>
              <a:t>ACTIVE</a:t>
            </a:r>
            <a:endParaRPr/>
          </a:p>
        </p:txBody>
      </p:sp>
      <p:sp>
        <p:nvSpPr>
          <p:cNvPr id="1877" name="Google Shape;1877;p29"/>
          <p:cNvSpPr/>
          <p:nvPr/>
        </p:nvSpPr>
        <p:spPr>
          <a:xfrm>
            <a:off x="685800" y="4572000"/>
            <a:ext cx="10820400" cy="257175"/>
          </a:xfrm>
          <a:prstGeom prst="rect">
            <a:avLst/>
          </a:prstGeom>
          <a:solidFill>
            <a:srgbClr val="FFFFFF"/>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78" name="Google Shape;1878;p29"/>
          <p:cNvSpPr/>
          <p:nvPr/>
        </p:nvSpPr>
        <p:spPr>
          <a:xfrm>
            <a:off x="781050" y="4600575"/>
            <a:ext cx="2686050" cy="2000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3B6EBF"/>
              </a:buClr>
              <a:buSzPts val="578"/>
              <a:buFont typeface="Arial"/>
              <a:buNone/>
            </a:pPr>
            <a:r>
              <a:rPr b="0" lang="en-US" sz="578">
                <a:solidFill>
                  <a:srgbClr val="3B6EBF"/>
                </a:solidFill>
              </a:rPr>
              <a:t>CIT-02-0009-2d08dd05</a:t>
            </a:r>
            <a:endParaRPr/>
          </a:p>
        </p:txBody>
      </p:sp>
      <p:sp>
        <p:nvSpPr>
          <p:cNvPr id="1879" name="Google Shape;1879;p29"/>
          <p:cNvSpPr/>
          <p:nvPr/>
        </p:nvSpPr>
        <p:spPr>
          <a:xfrm>
            <a:off x="3562350" y="4600575"/>
            <a:ext cx="1028700" cy="2000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638"/>
              <a:buFont typeface="Arial"/>
              <a:buNone/>
            </a:pPr>
            <a:r>
              <a:rPr b="1" lang="en-US" sz="638">
                <a:solidFill>
                  <a:srgbClr val="1A1A2E"/>
                </a:solidFill>
              </a:rPr>
              <a:t>FR-007</a:t>
            </a:r>
            <a:endParaRPr/>
          </a:p>
        </p:txBody>
      </p:sp>
      <p:sp>
        <p:nvSpPr>
          <p:cNvPr id="1880" name="Google Shape;1880;p29"/>
          <p:cNvSpPr/>
          <p:nvPr/>
        </p:nvSpPr>
        <p:spPr>
          <a:xfrm>
            <a:off x="4686300" y="4600575"/>
            <a:ext cx="952500" cy="2000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638"/>
              <a:buFont typeface="Arial"/>
              <a:buNone/>
            </a:pPr>
            <a:r>
              <a:rPr b="1" lang="en-US" sz="638">
                <a:solidFill>
                  <a:srgbClr val="1A1A2E"/>
                </a:solidFill>
              </a:rPr>
              <a:t>FAC-009</a:t>
            </a:r>
            <a:endParaRPr/>
          </a:p>
        </p:txBody>
      </p:sp>
      <p:sp>
        <p:nvSpPr>
          <p:cNvPr id="1881" name="Google Shape;1881;p29"/>
          <p:cNvSpPr/>
          <p:nvPr/>
        </p:nvSpPr>
        <p:spPr>
          <a:xfrm>
            <a:off x="5734050" y="4600575"/>
            <a:ext cx="1066800" cy="2000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638"/>
              <a:buFont typeface="Arial"/>
              <a:buNone/>
            </a:pPr>
            <a:r>
              <a:rPr b="1" lang="en-US" sz="638">
                <a:solidFill>
                  <a:srgbClr val="1A1A2E"/>
                </a:solidFill>
              </a:rPr>
              <a:t>EPIC-002</a:t>
            </a:r>
            <a:endParaRPr/>
          </a:p>
        </p:txBody>
      </p:sp>
      <p:sp>
        <p:nvSpPr>
          <p:cNvPr id="1882" name="Google Shape;1882;p29"/>
          <p:cNvSpPr/>
          <p:nvPr/>
        </p:nvSpPr>
        <p:spPr>
          <a:xfrm>
            <a:off x="6896100" y="4600575"/>
            <a:ext cx="1123950" cy="2000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638"/>
              <a:buFont typeface="Arial"/>
              <a:buNone/>
            </a:pPr>
            <a:r>
              <a:rPr b="1" lang="en-US" sz="638">
                <a:solidFill>
                  <a:srgbClr val="1A1A2E"/>
                </a:solidFill>
              </a:rPr>
              <a:t>FEAT-005</a:t>
            </a:r>
            <a:endParaRPr/>
          </a:p>
        </p:txBody>
      </p:sp>
      <p:sp>
        <p:nvSpPr>
          <p:cNvPr id="1883" name="Google Shape;1883;p29"/>
          <p:cNvSpPr/>
          <p:nvPr/>
        </p:nvSpPr>
        <p:spPr>
          <a:xfrm>
            <a:off x="8115300" y="4600575"/>
            <a:ext cx="1123950" cy="2000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638"/>
              <a:buFont typeface="Arial"/>
              <a:buNone/>
            </a:pPr>
            <a:r>
              <a:rPr b="1" lang="en-US" sz="638">
                <a:solidFill>
                  <a:srgbClr val="1A1A2E"/>
                </a:solidFill>
              </a:rPr>
              <a:t>US-009</a:t>
            </a:r>
            <a:endParaRPr/>
          </a:p>
        </p:txBody>
      </p:sp>
      <p:sp>
        <p:nvSpPr>
          <p:cNvPr id="1884" name="Google Shape;1884;p29"/>
          <p:cNvSpPr/>
          <p:nvPr/>
        </p:nvSpPr>
        <p:spPr>
          <a:xfrm>
            <a:off x="9334500" y="4600575"/>
            <a:ext cx="1066800" cy="2000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638"/>
              <a:buFont typeface="Arial"/>
              <a:buNone/>
            </a:pPr>
            <a:r>
              <a:rPr b="1" lang="en-US" sz="638">
                <a:solidFill>
                  <a:srgbClr val="1A1A2E"/>
                </a:solidFill>
              </a:rPr>
              <a:t>SBAC-009</a:t>
            </a:r>
            <a:endParaRPr/>
          </a:p>
        </p:txBody>
      </p:sp>
      <p:sp>
        <p:nvSpPr>
          <p:cNvPr id="1885" name="Google Shape;1885;p29"/>
          <p:cNvSpPr/>
          <p:nvPr/>
        </p:nvSpPr>
        <p:spPr>
          <a:xfrm>
            <a:off x="10496550" y="4600575"/>
            <a:ext cx="914400" cy="2000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F6F57"/>
              </a:buClr>
              <a:buSzPts val="638"/>
              <a:buFont typeface="Arial"/>
              <a:buNone/>
            </a:pPr>
            <a:r>
              <a:rPr b="1" lang="en-US" sz="638">
                <a:solidFill>
                  <a:srgbClr val="2F6F57"/>
                </a:solidFill>
              </a:rPr>
              <a:t>ACTIVE</a:t>
            </a:r>
            <a:endParaRPr/>
          </a:p>
        </p:txBody>
      </p:sp>
      <p:sp>
        <p:nvSpPr>
          <p:cNvPr id="1886" name="Google Shape;1886;p29"/>
          <p:cNvSpPr/>
          <p:nvPr/>
        </p:nvSpPr>
        <p:spPr>
          <a:xfrm>
            <a:off x="685800" y="4838700"/>
            <a:ext cx="10820400" cy="257175"/>
          </a:xfrm>
          <a:prstGeom prst="rect">
            <a:avLst/>
          </a:prstGeom>
          <a:solidFill>
            <a:srgbClr val="FBF9F6"/>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7" name="Google Shape;1887;p29"/>
          <p:cNvSpPr/>
          <p:nvPr/>
        </p:nvSpPr>
        <p:spPr>
          <a:xfrm>
            <a:off x="781050" y="4867275"/>
            <a:ext cx="2686050" cy="2000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3B6EBF"/>
              </a:buClr>
              <a:buSzPts val="578"/>
              <a:buFont typeface="Arial"/>
              <a:buNone/>
            </a:pPr>
            <a:r>
              <a:rPr b="0" lang="en-US" sz="578">
                <a:solidFill>
                  <a:srgbClr val="3B6EBF"/>
                </a:solidFill>
              </a:rPr>
              <a:t>CIT-05-0020-1d09d883 · CIT-01-0074-640ddf26</a:t>
            </a:r>
            <a:endParaRPr/>
          </a:p>
        </p:txBody>
      </p:sp>
      <p:sp>
        <p:nvSpPr>
          <p:cNvPr id="1888" name="Google Shape;1888;p29"/>
          <p:cNvSpPr/>
          <p:nvPr/>
        </p:nvSpPr>
        <p:spPr>
          <a:xfrm>
            <a:off x="3562350" y="4867275"/>
            <a:ext cx="1028700" cy="2000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638"/>
              <a:buFont typeface="Arial"/>
              <a:buNone/>
            </a:pPr>
            <a:r>
              <a:rPr b="1" lang="en-US" sz="638">
                <a:solidFill>
                  <a:srgbClr val="1A1A2E"/>
                </a:solidFill>
              </a:rPr>
              <a:t>FR-004 · AC-001</a:t>
            </a:r>
            <a:endParaRPr/>
          </a:p>
        </p:txBody>
      </p:sp>
      <p:sp>
        <p:nvSpPr>
          <p:cNvPr id="1889" name="Google Shape;1889;p29"/>
          <p:cNvSpPr/>
          <p:nvPr/>
        </p:nvSpPr>
        <p:spPr>
          <a:xfrm>
            <a:off x="4686300" y="4867275"/>
            <a:ext cx="952500" cy="2000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638"/>
              <a:buFont typeface="Arial"/>
              <a:buNone/>
            </a:pPr>
            <a:r>
              <a:rPr b="1" lang="en-US" sz="638">
                <a:solidFill>
                  <a:srgbClr val="1A1A2E"/>
                </a:solidFill>
              </a:rPr>
              <a:t>FAC-010</a:t>
            </a:r>
            <a:endParaRPr/>
          </a:p>
        </p:txBody>
      </p:sp>
      <p:sp>
        <p:nvSpPr>
          <p:cNvPr id="1890" name="Google Shape;1890;p29"/>
          <p:cNvSpPr/>
          <p:nvPr/>
        </p:nvSpPr>
        <p:spPr>
          <a:xfrm>
            <a:off x="5734050" y="4867275"/>
            <a:ext cx="1066800" cy="2000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638"/>
              <a:buFont typeface="Arial"/>
              <a:buNone/>
            </a:pPr>
            <a:r>
              <a:rPr b="1" lang="en-US" sz="638">
                <a:solidFill>
                  <a:srgbClr val="1A1A2E"/>
                </a:solidFill>
              </a:rPr>
              <a:t>EPIC-003</a:t>
            </a:r>
            <a:endParaRPr/>
          </a:p>
        </p:txBody>
      </p:sp>
      <p:sp>
        <p:nvSpPr>
          <p:cNvPr id="1891" name="Google Shape;1891;p29"/>
          <p:cNvSpPr/>
          <p:nvPr/>
        </p:nvSpPr>
        <p:spPr>
          <a:xfrm>
            <a:off x="6896100" y="4867275"/>
            <a:ext cx="1123950" cy="2000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638"/>
              <a:buFont typeface="Arial"/>
              <a:buNone/>
            </a:pPr>
            <a:r>
              <a:rPr b="1" lang="en-US" sz="638">
                <a:solidFill>
                  <a:srgbClr val="1A1A2E"/>
                </a:solidFill>
              </a:rPr>
              <a:t>FEAT-006</a:t>
            </a:r>
            <a:endParaRPr/>
          </a:p>
        </p:txBody>
      </p:sp>
      <p:sp>
        <p:nvSpPr>
          <p:cNvPr id="1892" name="Google Shape;1892;p29"/>
          <p:cNvSpPr/>
          <p:nvPr/>
        </p:nvSpPr>
        <p:spPr>
          <a:xfrm>
            <a:off x="8115300" y="4867275"/>
            <a:ext cx="1123950" cy="2000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638"/>
              <a:buFont typeface="Arial"/>
              <a:buNone/>
            </a:pPr>
            <a:r>
              <a:rPr b="1" lang="en-US" sz="638">
                <a:solidFill>
                  <a:srgbClr val="1A1A2E"/>
                </a:solidFill>
              </a:rPr>
              <a:t>US-010</a:t>
            </a:r>
            <a:endParaRPr/>
          </a:p>
        </p:txBody>
      </p:sp>
      <p:sp>
        <p:nvSpPr>
          <p:cNvPr id="1893" name="Google Shape;1893;p29"/>
          <p:cNvSpPr/>
          <p:nvPr/>
        </p:nvSpPr>
        <p:spPr>
          <a:xfrm>
            <a:off x="9334500" y="4867275"/>
            <a:ext cx="1066800" cy="2000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638"/>
              <a:buFont typeface="Arial"/>
              <a:buNone/>
            </a:pPr>
            <a:r>
              <a:rPr b="1" lang="en-US" sz="638">
                <a:solidFill>
                  <a:srgbClr val="1A1A2E"/>
                </a:solidFill>
              </a:rPr>
              <a:t>SBAC-010</a:t>
            </a:r>
            <a:endParaRPr/>
          </a:p>
        </p:txBody>
      </p:sp>
      <p:sp>
        <p:nvSpPr>
          <p:cNvPr id="1894" name="Google Shape;1894;p29"/>
          <p:cNvSpPr/>
          <p:nvPr/>
        </p:nvSpPr>
        <p:spPr>
          <a:xfrm>
            <a:off x="10496550" y="4867275"/>
            <a:ext cx="914400" cy="2000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F6F57"/>
              </a:buClr>
              <a:buSzPts val="638"/>
              <a:buFont typeface="Arial"/>
              <a:buNone/>
            </a:pPr>
            <a:r>
              <a:rPr b="1" lang="en-US" sz="638">
                <a:solidFill>
                  <a:srgbClr val="2F6F57"/>
                </a:solidFill>
              </a:rPr>
              <a:t>ACTIVE</a:t>
            </a:r>
            <a:endParaRPr/>
          </a:p>
        </p:txBody>
      </p:sp>
      <p:sp>
        <p:nvSpPr>
          <p:cNvPr id="1895" name="Google Shape;1895;p29"/>
          <p:cNvSpPr/>
          <p:nvPr/>
        </p:nvSpPr>
        <p:spPr>
          <a:xfrm>
            <a:off x="685800" y="5105400"/>
            <a:ext cx="10820400" cy="257175"/>
          </a:xfrm>
          <a:prstGeom prst="rect">
            <a:avLst/>
          </a:prstGeom>
          <a:solidFill>
            <a:srgbClr val="FFFFFF"/>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6" name="Google Shape;1896;p29"/>
          <p:cNvSpPr/>
          <p:nvPr/>
        </p:nvSpPr>
        <p:spPr>
          <a:xfrm>
            <a:off x="781050" y="5133975"/>
            <a:ext cx="2686050" cy="2000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3B6EBF"/>
              </a:buClr>
              <a:buSzPts val="578"/>
              <a:buFont typeface="Arial"/>
              <a:buNone/>
            </a:pPr>
            <a:r>
              <a:rPr b="0" lang="en-US" sz="578">
                <a:solidFill>
                  <a:srgbClr val="3B6EBF"/>
                </a:solidFill>
              </a:rPr>
              <a:t>CIT-04-0015-1afd65a7</a:t>
            </a:r>
            <a:endParaRPr/>
          </a:p>
        </p:txBody>
      </p:sp>
      <p:sp>
        <p:nvSpPr>
          <p:cNvPr id="1897" name="Google Shape;1897;p29"/>
          <p:cNvSpPr/>
          <p:nvPr/>
        </p:nvSpPr>
        <p:spPr>
          <a:xfrm>
            <a:off x="3562350" y="5133975"/>
            <a:ext cx="1028700" cy="2000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638"/>
              <a:buFont typeface="Arial"/>
              <a:buNone/>
            </a:pPr>
            <a:r>
              <a:rPr b="1" lang="en-US" sz="638">
                <a:solidFill>
                  <a:srgbClr val="1A1A2E"/>
                </a:solidFill>
              </a:rPr>
              <a:t>FR-005</a:t>
            </a:r>
            <a:endParaRPr/>
          </a:p>
        </p:txBody>
      </p:sp>
      <p:sp>
        <p:nvSpPr>
          <p:cNvPr id="1898" name="Google Shape;1898;p29"/>
          <p:cNvSpPr/>
          <p:nvPr/>
        </p:nvSpPr>
        <p:spPr>
          <a:xfrm>
            <a:off x="4686300" y="5133975"/>
            <a:ext cx="952500" cy="2000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638"/>
              <a:buFont typeface="Arial"/>
              <a:buNone/>
            </a:pPr>
            <a:r>
              <a:rPr b="1" lang="en-US" sz="638">
                <a:solidFill>
                  <a:srgbClr val="1A1A2E"/>
                </a:solidFill>
              </a:rPr>
              <a:t>FAC-011</a:t>
            </a:r>
            <a:endParaRPr/>
          </a:p>
        </p:txBody>
      </p:sp>
      <p:sp>
        <p:nvSpPr>
          <p:cNvPr id="1899" name="Google Shape;1899;p29"/>
          <p:cNvSpPr/>
          <p:nvPr/>
        </p:nvSpPr>
        <p:spPr>
          <a:xfrm>
            <a:off x="5734050" y="5133975"/>
            <a:ext cx="1066800" cy="2000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638"/>
              <a:buFont typeface="Arial"/>
              <a:buNone/>
            </a:pPr>
            <a:r>
              <a:rPr b="1" lang="en-US" sz="638">
                <a:solidFill>
                  <a:srgbClr val="1A1A2E"/>
                </a:solidFill>
              </a:rPr>
              <a:t>EPIC-003</a:t>
            </a:r>
            <a:endParaRPr/>
          </a:p>
        </p:txBody>
      </p:sp>
      <p:sp>
        <p:nvSpPr>
          <p:cNvPr id="1900" name="Google Shape;1900;p29"/>
          <p:cNvSpPr/>
          <p:nvPr/>
        </p:nvSpPr>
        <p:spPr>
          <a:xfrm>
            <a:off x="6896100" y="5133975"/>
            <a:ext cx="1123950" cy="2000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638"/>
              <a:buFont typeface="Arial"/>
              <a:buNone/>
            </a:pPr>
            <a:r>
              <a:rPr b="1" lang="en-US" sz="638">
                <a:solidFill>
                  <a:srgbClr val="1A1A2E"/>
                </a:solidFill>
              </a:rPr>
              <a:t>FEAT-007</a:t>
            </a:r>
            <a:endParaRPr/>
          </a:p>
        </p:txBody>
      </p:sp>
      <p:sp>
        <p:nvSpPr>
          <p:cNvPr id="1901" name="Google Shape;1901;p29"/>
          <p:cNvSpPr/>
          <p:nvPr/>
        </p:nvSpPr>
        <p:spPr>
          <a:xfrm>
            <a:off x="8115300" y="5133975"/>
            <a:ext cx="1123950" cy="2000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638"/>
              <a:buFont typeface="Arial"/>
              <a:buNone/>
            </a:pPr>
            <a:r>
              <a:rPr b="1" lang="en-US" sz="638">
                <a:solidFill>
                  <a:srgbClr val="1A1A2E"/>
                </a:solidFill>
              </a:rPr>
              <a:t>US-011</a:t>
            </a:r>
            <a:endParaRPr/>
          </a:p>
        </p:txBody>
      </p:sp>
      <p:sp>
        <p:nvSpPr>
          <p:cNvPr id="1902" name="Google Shape;1902;p29"/>
          <p:cNvSpPr/>
          <p:nvPr/>
        </p:nvSpPr>
        <p:spPr>
          <a:xfrm>
            <a:off x="9334500" y="5133975"/>
            <a:ext cx="1066800" cy="2000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638"/>
              <a:buFont typeface="Arial"/>
              <a:buNone/>
            </a:pPr>
            <a:r>
              <a:rPr b="1" lang="en-US" sz="638">
                <a:solidFill>
                  <a:srgbClr val="1A1A2E"/>
                </a:solidFill>
              </a:rPr>
              <a:t>SBAC-011</a:t>
            </a:r>
            <a:endParaRPr/>
          </a:p>
        </p:txBody>
      </p:sp>
      <p:sp>
        <p:nvSpPr>
          <p:cNvPr id="1903" name="Google Shape;1903;p29"/>
          <p:cNvSpPr/>
          <p:nvPr/>
        </p:nvSpPr>
        <p:spPr>
          <a:xfrm>
            <a:off x="10496550" y="5133975"/>
            <a:ext cx="914400" cy="2000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F6F57"/>
              </a:buClr>
              <a:buSzPts val="638"/>
              <a:buFont typeface="Arial"/>
              <a:buNone/>
            </a:pPr>
            <a:r>
              <a:rPr b="1" lang="en-US" sz="638">
                <a:solidFill>
                  <a:srgbClr val="2F6F57"/>
                </a:solidFill>
              </a:rPr>
              <a:t>ACTIVE</a:t>
            </a:r>
            <a:endParaRPr/>
          </a:p>
        </p:txBody>
      </p:sp>
      <p:sp>
        <p:nvSpPr>
          <p:cNvPr id="1904" name="Google Shape;1904;p29"/>
          <p:cNvSpPr/>
          <p:nvPr/>
        </p:nvSpPr>
        <p:spPr>
          <a:xfrm>
            <a:off x="685800" y="5467350"/>
            <a:ext cx="10820400" cy="571500"/>
          </a:xfrm>
          <a:prstGeom prst="roundRect">
            <a:avLst>
              <a:gd fmla="val 13333" name="adj"/>
            </a:avLst>
          </a:prstGeom>
          <a:solidFill>
            <a:srgbClr val="E6F0EB"/>
          </a:solidFill>
          <a:ln cap="flat" cmpd="sng" w="9525">
            <a:solidFill>
              <a:srgbClr val="2F6F5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5" name="Google Shape;1905;p29"/>
          <p:cNvSpPr/>
          <p:nvPr/>
        </p:nvSpPr>
        <p:spPr>
          <a:xfrm>
            <a:off x="838200" y="5534025"/>
            <a:ext cx="1571625" cy="2381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F6F57"/>
              </a:buClr>
              <a:buSzPts val="1163"/>
              <a:buFont typeface="Arial"/>
              <a:buNone/>
            </a:pPr>
            <a:r>
              <a:rPr b="1" lang="en-US" sz="1163">
                <a:solidFill>
                  <a:srgbClr val="2F6F57"/>
                </a:solidFill>
              </a:rPr>
              <a:t>145 / 145</a:t>
            </a:r>
            <a:endParaRPr/>
          </a:p>
        </p:txBody>
      </p:sp>
      <p:sp>
        <p:nvSpPr>
          <p:cNvPr id="1906" name="Google Shape;1906;p29"/>
          <p:cNvSpPr/>
          <p:nvPr/>
        </p:nvSpPr>
        <p:spPr>
          <a:xfrm>
            <a:off x="838200" y="5772150"/>
            <a:ext cx="1571625" cy="171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638"/>
              <a:buFont typeface="Arial"/>
              <a:buNone/>
            </a:pPr>
            <a:r>
              <a:rPr b="1" lang="en-US" sz="638">
                <a:solidFill>
                  <a:srgbClr val="666B70"/>
                </a:solidFill>
              </a:rPr>
              <a:t>citation dispositions</a:t>
            </a:r>
            <a:endParaRPr/>
          </a:p>
        </p:txBody>
      </p:sp>
      <p:sp>
        <p:nvSpPr>
          <p:cNvPr id="1907" name="Google Shape;1907;p29"/>
          <p:cNvSpPr/>
          <p:nvPr/>
        </p:nvSpPr>
        <p:spPr>
          <a:xfrm>
            <a:off x="2600325" y="5534025"/>
            <a:ext cx="1571625" cy="2381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F6F57"/>
              </a:buClr>
              <a:buSzPts val="1163"/>
              <a:buFont typeface="Arial"/>
              <a:buNone/>
            </a:pPr>
            <a:r>
              <a:rPr b="1" lang="en-US" sz="1163">
                <a:solidFill>
                  <a:srgbClr val="2F6F57"/>
                </a:solidFill>
              </a:rPr>
              <a:t>26</a:t>
            </a:r>
            <a:endParaRPr/>
          </a:p>
        </p:txBody>
      </p:sp>
      <p:sp>
        <p:nvSpPr>
          <p:cNvPr id="1908" name="Google Shape;1908;p29"/>
          <p:cNvSpPr/>
          <p:nvPr/>
        </p:nvSpPr>
        <p:spPr>
          <a:xfrm>
            <a:off x="2600325" y="5772150"/>
            <a:ext cx="1571625" cy="171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638"/>
              <a:buFont typeface="Arial"/>
              <a:buNone/>
            </a:pPr>
            <a:r>
              <a:rPr b="1" lang="en-US" sz="638">
                <a:solidFill>
                  <a:srgbClr val="666B70"/>
                </a:solidFill>
              </a:rPr>
              <a:t>citations used in PRD</a:t>
            </a:r>
            <a:endParaRPr/>
          </a:p>
        </p:txBody>
      </p:sp>
      <p:sp>
        <p:nvSpPr>
          <p:cNvPr id="1909" name="Google Shape;1909;p29"/>
          <p:cNvSpPr/>
          <p:nvPr/>
        </p:nvSpPr>
        <p:spPr>
          <a:xfrm>
            <a:off x="4362450" y="5534025"/>
            <a:ext cx="1571625" cy="2381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F6F57"/>
              </a:buClr>
              <a:buSzPts val="1163"/>
              <a:buFont typeface="Arial"/>
              <a:buNone/>
            </a:pPr>
            <a:r>
              <a:rPr b="1" lang="en-US" sz="1163">
                <a:solidFill>
                  <a:srgbClr val="2F6F57"/>
                </a:solidFill>
              </a:rPr>
              <a:t>20</a:t>
            </a:r>
            <a:endParaRPr/>
          </a:p>
        </p:txBody>
      </p:sp>
      <p:sp>
        <p:nvSpPr>
          <p:cNvPr id="1910" name="Google Shape;1910;p29"/>
          <p:cNvSpPr/>
          <p:nvPr/>
        </p:nvSpPr>
        <p:spPr>
          <a:xfrm>
            <a:off x="4362450" y="5772150"/>
            <a:ext cx="1571625" cy="171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638"/>
              <a:buFont typeface="Arial"/>
              <a:buNone/>
            </a:pPr>
            <a:r>
              <a:rPr b="1" lang="en-US" sz="638">
                <a:solidFill>
                  <a:srgbClr val="666B70"/>
                </a:solidFill>
              </a:rPr>
              <a:t>PRD requirement IDs</a:t>
            </a:r>
            <a:endParaRPr/>
          </a:p>
        </p:txBody>
      </p:sp>
      <p:sp>
        <p:nvSpPr>
          <p:cNvPr id="1911" name="Google Shape;1911;p29"/>
          <p:cNvSpPr/>
          <p:nvPr/>
        </p:nvSpPr>
        <p:spPr>
          <a:xfrm>
            <a:off x="6124575" y="5534025"/>
            <a:ext cx="1571625" cy="2381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F6F57"/>
              </a:buClr>
              <a:buSzPts val="1163"/>
              <a:buFont typeface="Arial"/>
              <a:buNone/>
            </a:pPr>
            <a:r>
              <a:rPr b="1" lang="en-US" sz="1163">
                <a:solidFill>
                  <a:srgbClr val="2F6F57"/>
                </a:solidFill>
              </a:rPr>
              <a:t>11 / 11</a:t>
            </a:r>
            <a:endParaRPr/>
          </a:p>
        </p:txBody>
      </p:sp>
      <p:sp>
        <p:nvSpPr>
          <p:cNvPr id="1912" name="Google Shape;1912;p29"/>
          <p:cNvSpPr/>
          <p:nvPr/>
        </p:nvSpPr>
        <p:spPr>
          <a:xfrm>
            <a:off x="6124575" y="5772150"/>
            <a:ext cx="1571625" cy="171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638"/>
              <a:buFont typeface="Arial"/>
              <a:buNone/>
            </a:pPr>
            <a:r>
              <a:rPr b="1" lang="en-US" sz="638">
                <a:solidFill>
                  <a:srgbClr val="666B70"/>
                </a:solidFill>
              </a:rPr>
              <a:t>Feature AC → Story AC</a:t>
            </a:r>
            <a:endParaRPr/>
          </a:p>
        </p:txBody>
      </p:sp>
      <p:sp>
        <p:nvSpPr>
          <p:cNvPr id="1913" name="Google Shape;1913;p29"/>
          <p:cNvSpPr/>
          <p:nvPr/>
        </p:nvSpPr>
        <p:spPr>
          <a:xfrm>
            <a:off x="7886700" y="5534025"/>
            <a:ext cx="1571625" cy="2381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F6F57"/>
              </a:buClr>
              <a:buSzPts val="1163"/>
              <a:buFont typeface="Arial"/>
              <a:buNone/>
            </a:pPr>
            <a:r>
              <a:rPr b="1" lang="en-US" sz="1163">
                <a:solidFill>
                  <a:srgbClr val="2F6F57"/>
                </a:solidFill>
              </a:rPr>
              <a:t>31 / 31</a:t>
            </a:r>
            <a:endParaRPr/>
          </a:p>
        </p:txBody>
      </p:sp>
      <p:sp>
        <p:nvSpPr>
          <p:cNvPr id="1914" name="Google Shape;1914;p29"/>
          <p:cNvSpPr/>
          <p:nvPr/>
        </p:nvSpPr>
        <p:spPr>
          <a:xfrm>
            <a:off x="7886700" y="5772150"/>
            <a:ext cx="1571625" cy="171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638"/>
              <a:buFont typeface="Arial"/>
              <a:buNone/>
            </a:pPr>
            <a:r>
              <a:rPr b="1" lang="en-US" sz="638">
                <a:solidFill>
                  <a:srgbClr val="666B70"/>
                </a:solidFill>
              </a:rPr>
              <a:t>approved-item coverage</a:t>
            </a:r>
            <a:endParaRPr/>
          </a:p>
        </p:txBody>
      </p:sp>
      <p:sp>
        <p:nvSpPr>
          <p:cNvPr id="1915" name="Google Shape;1915;p29"/>
          <p:cNvSpPr/>
          <p:nvPr/>
        </p:nvSpPr>
        <p:spPr>
          <a:xfrm>
            <a:off x="9648825" y="5534025"/>
            <a:ext cx="1571625" cy="2381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F6F57"/>
              </a:buClr>
              <a:buSzPts val="1163"/>
              <a:buFont typeface="Arial"/>
              <a:buNone/>
            </a:pPr>
            <a:r>
              <a:rPr b="1" lang="en-US" sz="1163">
                <a:solidFill>
                  <a:srgbClr val="2F6F57"/>
                </a:solidFill>
              </a:rPr>
              <a:t>0</a:t>
            </a:r>
            <a:endParaRPr/>
          </a:p>
        </p:txBody>
      </p:sp>
      <p:sp>
        <p:nvSpPr>
          <p:cNvPr id="1916" name="Google Shape;1916;p29"/>
          <p:cNvSpPr/>
          <p:nvPr/>
        </p:nvSpPr>
        <p:spPr>
          <a:xfrm>
            <a:off x="9648825" y="5772150"/>
            <a:ext cx="1571625" cy="171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638"/>
              <a:buFont typeface="Arial"/>
              <a:buNone/>
            </a:pPr>
            <a:r>
              <a:rPr b="1" lang="en-US" sz="638">
                <a:solidFill>
                  <a:srgbClr val="666B70"/>
                </a:solidFill>
              </a:rPr>
              <a:t>orphans or unsupported claims</a:t>
            </a:r>
            <a:endParaRPr/>
          </a:p>
        </p:txBody>
      </p:sp>
      <p:sp>
        <p:nvSpPr>
          <p:cNvPr id="1917" name="Google Shape;1917;p29"/>
          <p:cNvSpPr/>
          <p:nvPr/>
        </p:nvSpPr>
        <p:spPr>
          <a:xfrm>
            <a:off x="0" y="6267450"/>
            <a:ext cx="12192000" cy="590550"/>
          </a:xfrm>
          <a:prstGeom prst="rect">
            <a:avLst/>
          </a:prstGeom>
          <a:solidFill>
            <a:srgbClr val="1A1A2E"/>
          </a:solidFill>
          <a:ln cap="flat" cmpd="sng" w="9525">
            <a:solidFill>
              <a:srgbClr val="1A1A2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8" name="Google Shape;1918;p29"/>
          <p:cNvSpPr/>
          <p:nvPr/>
        </p:nvSpPr>
        <p:spPr>
          <a:xfrm>
            <a:off x="781050" y="6391275"/>
            <a:ext cx="1905000" cy="190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C9C6D8"/>
              </a:buClr>
              <a:buSzPts val="825"/>
              <a:buFont typeface="Arial"/>
              <a:buNone/>
            </a:pPr>
            <a:r>
              <a:rPr b="1" lang="en-US" sz="825">
                <a:solidFill>
                  <a:srgbClr val="C9C6D8"/>
                </a:solidFill>
              </a:rPr>
              <a:t>APPENDIX A10</a:t>
            </a:r>
            <a:endParaRPr/>
          </a:p>
        </p:txBody>
      </p:sp>
      <p:sp>
        <p:nvSpPr>
          <p:cNvPr id="1919" name="Google Shape;1919;p29"/>
          <p:cNvSpPr/>
          <p:nvPr/>
        </p:nvSpPr>
        <p:spPr>
          <a:xfrm>
            <a:off x="2705100" y="6353175"/>
            <a:ext cx="8705850" cy="29527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FFFFFF"/>
              </a:buClr>
              <a:buSzPts val="1065"/>
              <a:buFont typeface="Arial"/>
              <a:buNone/>
            </a:pPr>
            <a:r>
              <a:rPr b="1" lang="en-US" sz="1065">
                <a:solidFill>
                  <a:srgbClr val="FFFFFF"/>
                </a:solidFill>
              </a:rPr>
              <a:t>PRD-only, cross-cutting, Nice-to-Have, and deferred requirements remain explicitly dispositioned—not silently dropped.</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4EE"/>
        </a:solidFill>
      </p:bgPr>
    </p:bg>
    <p:spTree>
      <p:nvGrpSpPr>
        <p:cNvPr id="1924" name="Shape 1924"/>
        <p:cNvGrpSpPr/>
        <p:nvPr/>
      </p:nvGrpSpPr>
      <p:grpSpPr>
        <a:xfrm>
          <a:off x="0" y="0"/>
          <a:ext cx="0" cy="0"/>
          <a:chOff x="0" y="0"/>
          <a:chExt cx="0" cy="0"/>
        </a:xfrm>
      </p:grpSpPr>
      <p:sp>
        <p:nvSpPr>
          <p:cNvPr id="1925" name="Google Shape;1925;p30"/>
          <p:cNvSpPr/>
          <p:nvPr/>
        </p:nvSpPr>
        <p:spPr>
          <a:xfrm>
            <a:off x="0" y="0"/>
            <a:ext cx="12192000" cy="76200"/>
          </a:xfrm>
          <a:prstGeom prst="rect">
            <a:avLst/>
          </a:prstGeom>
          <a:solidFill>
            <a:srgbClr val="B85042"/>
          </a:solidFill>
          <a:ln cap="flat" cmpd="sng" w="9525">
            <a:solidFill>
              <a:srgbClr val="B8504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6" name="Google Shape;1926;p30"/>
          <p:cNvSpPr/>
          <p:nvPr/>
        </p:nvSpPr>
        <p:spPr>
          <a:xfrm>
            <a:off x="514350" y="590550"/>
            <a:ext cx="66675" cy="723900"/>
          </a:xfrm>
          <a:prstGeom prst="rect">
            <a:avLst/>
          </a:prstGeom>
          <a:solidFill>
            <a:srgbClr val="B85042"/>
          </a:solidFill>
          <a:ln cap="flat" cmpd="sng" w="9525">
            <a:solidFill>
              <a:srgbClr val="B8504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7" name="Google Shape;1927;p30"/>
          <p:cNvSpPr/>
          <p:nvPr/>
        </p:nvSpPr>
        <p:spPr>
          <a:xfrm>
            <a:off x="781050" y="438150"/>
            <a:ext cx="8572500" cy="2381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B85042"/>
              </a:buClr>
              <a:buSzPts val="938"/>
              <a:buFont typeface="Arial"/>
              <a:buNone/>
            </a:pPr>
            <a:r>
              <a:rPr b="1" lang="en-US" sz="938">
                <a:solidFill>
                  <a:srgbClr val="B85042"/>
                </a:solidFill>
              </a:rPr>
              <a:t>A11  ·  ACCEPTED OUTPUT ARTIFACT INDEX</a:t>
            </a:r>
            <a:endParaRPr/>
          </a:p>
        </p:txBody>
      </p:sp>
      <p:sp>
        <p:nvSpPr>
          <p:cNvPr id="1928" name="Google Shape;1928;p30"/>
          <p:cNvSpPr/>
          <p:nvPr/>
        </p:nvSpPr>
        <p:spPr>
          <a:xfrm>
            <a:off x="781050" y="723900"/>
            <a:ext cx="10629900" cy="4953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2325"/>
              <a:buFont typeface="Arial"/>
              <a:buNone/>
            </a:pPr>
            <a:r>
              <a:rPr b="1" lang="en-US" sz="2325">
                <a:solidFill>
                  <a:srgbClr val="1A1A2E"/>
                </a:solidFill>
              </a:rPr>
              <a:t>Seven accepted files make the v0.3.8 delivery package inspectable</a:t>
            </a:r>
            <a:endParaRPr/>
          </a:p>
        </p:txBody>
      </p:sp>
      <p:sp>
        <p:nvSpPr>
          <p:cNvPr id="1929" name="Google Shape;1929;p30"/>
          <p:cNvSpPr/>
          <p:nvPr/>
        </p:nvSpPr>
        <p:spPr>
          <a:xfrm>
            <a:off x="781050" y="1238250"/>
            <a:ext cx="10629900" cy="2667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1013"/>
              <a:buFont typeface="Arial"/>
              <a:buNone/>
            </a:pPr>
            <a:r>
              <a:rPr lang="en-US" sz="1013">
                <a:solidFill>
                  <a:srgbClr val="666B70"/>
                </a:solidFill>
              </a:rPr>
              <a:t>First accepted candidate · execution 11901 · RUN-S2-11902-16e7090e · Agreement Gate: Release Authorized</a:t>
            </a:r>
            <a:endParaRPr/>
          </a:p>
        </p:txBody>
      </p:sp>
      <p:sp>
        <p:nvSpPr>
          <p:cNvPr id="1930" name="Google Shape;1930;p30"/>
          <p:cNvSpPr/>
          <p:nvPr/>
        </p:nvSpPr>
        <p:spPr>
          <a:xfrm>
            <a:off x="685800" y="1609725"/>
            <a:ext cx="10820400" cy="266700"/>
          </a:xfrm>
          <a:prstGeom prst="roundRect">
            <a:avLst>
              <a:gd fmla="val 28571" name="adj"/>
            </a:avLst>
          </a:prstGeom>
          <a:solidFill>
            <a:srgbClr val="E6F0EB"/>
          </a:solidFill>
          <a:ln cap="flat" cmpd="sng" w="9525">
            <a:solidFill>
              <a:srgbClr val="2F6F5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1" name="Google Shape;1931;p30"/>
          <p:cNvSpPr/>
          <p:nvPr/>
        </p:nvSpPr>
        <p:spPr>
          <a:xfrm>
            <a:off x="838200" y="1647825"/>
            <a:ext cx="10515600" cy="190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F6F57"/>
              </a:buClr>
              <a:buSzPts val="750"/>
              <a:buFont typeface="Arial"/>
              <a:buNone/>
            </a:pPr>
            <a:r>
              <a:rPr b="1" lang="en-US" sz="750">
                <a:solidFill>
                  <a:srgbClr val="2F6F57"/>
                </a:solidFill>
              </a:rPr>
              <a:t>GITHUB EVIDENCE PACKAGE  →  github.com/vppuri-vjra/prd-genie/tree/main/releases/v0.3.8/evidence</a:t>
            </a:r>
            <a:endParaRPr/>
          </a:p>
        </p:txBody>
      </p:sp>
      <p:sp>
        <p:nvSpPr>
          <p:cNvPr id="1932" name="Google Shape;1932;p30"/>
          <p:cNvSpPr/>
          <p:nvPr/>
        </p:nvSpPr>
        <p:spPr>
          <a:xfrm>
            <a:off x="685800" y="1971675"/>
            <a:ext cx="3333750" cy="2171700"/>
          </a:xfrm>
          <a:prstGeom prst="roundRect">
            <a:avLst>
              <a:gd fmla="val 3509" name="adj"/>
            </a:avLst>
          </a:prstGeom>
          <a:solidFill>
            <a:srgbClr val="FFFFFF"/>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3" name="Google Shape;1933;p30"/>
          <p:cNvSpPr/>
          <p:nvPr/>
        </p:nvSpPr>
        <p:spPr>
          <a:xfrm>
            <a:off x="685800" y="1971675"/>
            <a:ext cx="3333750" cy="66675"/>
          </a:xfrm>
          <a:prstGeom prst="rect">
            <a:avLst/>
          </a:prstGeom>
          <a:solidFill>
            <a:srgbClr val="3B6EBF"/>
          </a:solidFill>
          <a:ln cap="flat" cmpd="sng" w="9525">
            <a:solidFill>
              <a:srgbClr val="3B6EB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4" name="Google Shape;1934;p30"/>
          <p:cNvSpPr/>
          <p:nvPr/>
        </p:nvSpPr>
        <p:spPr>
          <a:xfrm>
            <a:off x="895350" y="2171700"/>
            <a:ext cx="419100" cy="2857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3B6EBF"/>
              </a:buClr>
              <a:buSzPts val="975"/>
              <a:buFont typeface="Arial"/>
              <a:buNone/>
            </a:pPr>
            <a:r>
              <a:rPr b="1" lang="en-US" sz="975">
                <a:solidFill>
                  <a:srgbClr val="3B6EBF"/>
                </a:solidFill>
              </a:rPr>
              <a:t>01</a:t>
            </a:r>
            <a:endParaRPr/>
          </a:p>
        </p:txBody>
      </p:sp>
      <p:sp>
        <p:nvSpPr>
          <p:cNvPr id="1935" name="Google Shape;1935;p30"/>
          <p:cNvSpPr/>
          <p:nvPr/>
        </p:nvSpPr>
        <p:spPr>
          <a:xfrm>
            <a:off x="876300" y="2133600"/>
            <a:ext cx="457200" cy="342900"/>
          </a:xfrm>
          <a:prstGeom prst="roundRect">
            <a:avLst>
              <a:gd fmla="val 22222" name="adj"/>
            </a:avLst>
          </a:prstGeom>
          <a:solidFill>
            <a:srgbClr val="E8EFF9"/>
          </a:solidFill>
          <a:ln cap="flat" cmpd="sng" w="9525">
            <a:solidFill>
              <a:srgbClr val="3B6EB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6" name="Google Shape;1936;p30"/>
          <p:cNvSpPr/>
          <p:nvPr/>
        </p:nvSpPr>
        <p:spPr>
          <a:xfrm>
            <a:off x="895350" y="2171700"/>
            <a:ext cx="419100" cy="2857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3B6EBF"/>
              </a:buClr>
              <a:buSzPts val="975"/>
              <a:buFont typeface="Arial"/>
              <a:buNone/>
            </a:pPr>
            <a:r>
              <a:rPr b="1" lang="en-US" sz="975">
                <a:solidFill>
                  <a:srgbClr val="3B6EBF"/>
                </a:solidFill>
              </a:rPr>
              <a:t>01</a:t>
            </a:r>
            <a:endParaRPr/>
          </a:p>
        </p:txBody>
      </p:sp>
      <p:sp>
        <p:nvSpPr>
          <p:cNvPr id="1937" name="Google Shape;1937;p30"/>
          <p:cNvSpPr/>
          <p:nvPr/>
        </p:nvSpPr>
        <p:spPr>
          <a:xfrm>
            <a:off x="1466850" y="2105025"/>
            <a:ext cx="2324100" cy="4572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1313"/>
              <a:buFont typeface="Arial"/>
              <a:buNone/>
            </a:pPr>
            <a:r>
              <a:rPr b="1" lang="en-US" sz="1313">
                <a:solidFill>
                  <a:srgbClr val="1A1A2E"/>
                </a:solidFill>
              </a:rPr>
              <a:t>Validated Full PRD Review</a:t>
            </a:r>
            <a:endParaRPr/>
          </a:p>
        </p:txBody>
      </p:sp>
      <p:sp>
        <p:nvSpPr>
          <p:cNvPr id="1938" name="Google Shape;1938;p30"/>
          <p:cNvSpPr/>
          <p:nvPr/>
        </p:nvSpPr>
        <p:spPr>
          <a:xfrm>
            <a:off x="914400" y="2667000"/>
            <a:ext cx="2876550" cy="44767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914"/>
              <a:buFont typeface="Arial"/>
              <a:buNone/>
            </a:pPr>
            <a:r>
              <a:rPr lang="en-US" sz="915">
                <a:solidFill>
                  <a:srgbClr val="666B70"/>
                </a:solidFill>
              </a:rPr>
              <a:t>Corrected ten-section PRD with feature-level acceptance criteria and evidence-backed requirements.</a:t>
            </a:r>
            <a:endParaRPr/>
          </a:p>
        </p:txBody>
      </p:sp>
      <p:sp>
        <p:nvSpPr>
          <p:cNvPr id="1939" name="Google Shape;1939;p30"/>
          <p:cNvSpPr/>
          <p:nvPr/>
        </p:nvSpPr>
        <p:spPr>
          <a:xfrm>
            <a:off x="914400" y="3228975"/>
            <a:ext cx="2876550" cy="428625"/>
          </a:xfrm>
          <a:prstGeom prst="roundRect">
            <a:avLst>
              <a:gd fmla="val 17778" name="adj"/>
            </a:avLst>
          </a:prstGeom>
          <a:solidFill>
            <a:srgbClr val="E8EFF9"/>
          </a:solidFill>
          <a:ln cap="flat" cmpd="sng" w="9525">
            <a:solidFill>
              <a:srgbClr val="3B6EB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0" name="Google Shape;1940;p30"/>
          <p:cNvSpPr/>
          <p:nvPr/>
        </p:nvSpPr>
        <p:spPr>
          <a:xfrm>
            <a:off x="1009650" y="3305175"/>
            <a:ext cx="2686050" cy="2667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3B6EBF"/>
              </a:buClr>
              <a:buSzPts val="922"/>
              <a:buFont typeface="Arial"/>
              <a:buNone/>
            </a:pPr>
            <a:r>
              <a:rPr b="1" lang="en-US" sz="923">
                <a:solidFill>
                  <a:srgbClr val="3B6EBF"/>
                </a:solidFill>
              </a:rPr>
              <a:t>10 sections · 20 requirement IDs · 35 PRD elements</a:t>
            </a:r>
            <a:endParaRPr/>
          </a:p>
        </p:txBody>
      </p:sp>
      <p:sp>
        <p:nvSpPr>
          <p:cNvPr id="1941" name="Google Shape;1941;p30"/>
          <p:cNvSpPr/>
          <p:nvPr/>
        </p:nvSpPr>
        <p:spPr>
          <a:xfrm>
            <a:off x="914400" y="3781425"/>
            <a:ext cx="2876550" cy="2000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713"/>
              <a:buFont typeface="Arial"/>
              <a:buNone/>
            </a:pPr>
            <a:r>
              <a:rPr lang="en-US" sz="713">
                <a:solidFill>
                  <a:srgbClr val="666B70"/>
                </a:solidFill>
              </a:rPr>
              <a:t>Drive ID  1NZZJgu1UBvyB91jr8wQ72FO8RCP0wING</a:t>
            </a:r>
            <a:endParaRPr/>
          </a:p>
        </p:txBody>
      </p:sp>
      <p:sp>
        <p:nvSpPr>
          <p:cNvPr id="1942" name="Google Shape;1942;p30"/>
          <p:cNvSpPr/>
          <p:nvPr/>
        </p:nvSpPr>
        <p:spPr>
          <a:xfrm>
            <a:off x="4429125" y="1971675"/>
            <a:ext cx="3333750" cy="2171700"/>
          </a:xfrm>
          <a:prstGeom prst="roundRect">
            <a:avLst>
              <a:gd fmla="val 3509" name="adj"/>
            </a:avLst>
          </a:prstGeom>
          <a:solidFill>
            <a:srgbClr val="FFFFFF"/>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3" name="Google Shape;1943;p30"/>
          <p:cNvSpPr/>
          <p:nvPr/>
        </p:nvSpPr>
        <p:spPr>
          <a:xfrm>
            <a:off x="4429125" y="1971675"/>
            <a:ext cx="3333750" cy="66675"/>
          </a:xfrm>
          <a:prstGeom prst="rect">
            <a:avLst/>
          </a:prstGeom>
          <a:solidFill>
            <a:srgbClr val="2F6F57"/>
          </a:solidFill>
          <a:ln cap="flat" cmpd="sng" w="9525">
            <a:solidFill>
              <a:srgbClr val="2F6F5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4" name="Google Shape;1944;p30"/>
          <p:cNvSpPr/>
          <p:nvPr/>
        </p:nvSpPr>
        <p:spPr>
          <a:xfrm>
            <a:off x="4638675" y="2171700"/>
            <a:ext cx="419100" cy="2857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F6F57"/>
              </a:buClr>
              <a:buSzPts val="975"/>
              <a:buFont typeface="Arial"/>
              <a:buNone/>
            </a:pPr>
            <a:r>
              <a:rPr b="1" lang="en-US" sz="975">
                <a:solidFill>
                  <a:srgbClr val="2F6F57"/>
                </a:solidFill>
              </a:rPr>
              <a:t>02</a:t>
            </a:r>
            <a:endParaRPr/>
          </a:p>
        </p:txBody>
      </p:sp>
      <p:sp>
        <p:nvSpPr>
          <p:cNvPr id="1945" name="Google Shape;1945;p30"/>
          <p:cNvSpPr/>
          <p:nvPr/>
        </p:nvSpPr>
        <p:spPr>
          <a:xfrm>
            <a:off x="4619625" y="2133600"/>
            <a:ext cx="457200" cy="342900"/>
          </a:xfrm>
          <a:prstGeom prst="roundRect">
            <a:avLst>
              <a:gd fmla="val 22222" name="adj"/>
            </a:avLst>
          </a:prstGeom>
          <a:solidFill>
            <a:srgbClr val="E6F0EB"/>
          </a:solidFill>
          <a:ln cap="flat" cmpd="sng" w="9525">
            <a:solidFill>
              <a:srgbClr val="2F6F5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6" name="Google Shape;1946;p30"/>
          <p:cNvSpPr/>
          <p:nvPr/>
        </p:nvSpPr>
        <p:spPr>
          <a:xfrm>
            <a:off x="4638675" y="2171700"/>
            <a:ext cx="419100" cy="2857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F6F57"/>
              </a:buClr>
              <a:buSzPts val="975"/>
              <a:buFont typeface="Arial"/>
              <a:buNone/>
            </a:pPr>
            <a:r>
              <a:rPr b="1" lang="en-US" sz="975">
                <a:solidFill>
                  <a:srgbClr val="2F6F57"/>
                </a:solidFill>
              </a:rPr>
              <a:t>02</a:t>
            </a:r>
            <a:endParaRPr/>
          </a:p>
        </p:txBody>
      </p:sp>
      <p:sp>
        <p:nvSpPr>
          <p:cNvPr id="1947" name="Google Shape;1947;p30"/>
          <p:cNvSpPr/>
          <p:nvPr/>
        </p:nvSpPr>
        <p:spPr>
          <a:xfrm>
            <a:off x="5210175" y="2105025"/>
            <a:ext cx="2324100" cy="4572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1313"/>
              <a:buFont typeface="Arial"/>
              <a:buNone/>
            </a:pPr>
            <a:r>
              <a:rPr b="1" lang="en-US" sz="1313">
                <a:solidFill>
                  <a:srgbClr val="1A1A2E"/>
                </a:solidFill>
              </a:rPr>
              <a:t>Validated Epic / Story Review</a:t>
            </a:r>
            <a:endParaRPr/>
          </a:p>
        </p:txBody>
      </p:sp>
      <p:sp>
        <p:nvSpPr>
          <p:cNvPr id="1948" name="Google Shape;1948;p30"/>
          <p:cNvSpPr/>
          <p:nvPr/>
        </p:nvSpPr>
        <p:spPr>
          <a:xfrm>
            <a:off x="4657725" y="2667000"/>
            <a:ext cx="2876550" cy="44767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914"/>
              <a:buFont typeface="Arial"/>
              <a:buNone/>
            </a:pPr>
            <a:r>
              <a:rPr lang="en-US" sz="915">
                <a:solidFill>
                  <a:srgbClr val="666B70"/>
                </a:solidFill>
              </a:rPr>
              <a:t>Dynamic Epic–Feature–Story decomposition with mapped story acceptance criteria.</a:t>
            </a:r>
            <a:endParaRPr/>
          </a:p>
        </p:txBody>
      </p:sp>
      <p:sp>
        <p:nvSpPr>
          <p:cNvPr id="1949" name="Google Shape;1949;p30"/>
          <p:cNvSpPr/>
          <p:nvPr/>
        </p:nvSpPr>
        <p:spPr>
          <a:xfrm>
            <a:off x="4657725" y="3228975"/>
            <a:ext cx="2876550" cy="428625"/>
          </a:xfrm>
          <a:prstGeom prst="roundRect">
            <a:avLst>
              <a:gd fmla="val 17778" name="adj"/>
            </a:avLst>
          </a:prstGeom>
          <a:solidFill>
            <a:srgbClr val="E6F0EB"/>
          </a:solidFill>
          <a:ln cap="flat" cmpd="sng" w="9525">
            <a:solidFill>
              <a:srgbClr val="2F6F5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0" name="Google Shape;1950;p30"/>
          <p:cNvSpPr/>
          <p:nvPr/>
        </p:nvSpPr>
        <p:spPr>
          <a:xfrm>
            <a:off x="4752975" y="3305175"/>
            <a:ext cx="2686050" cy="2667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F6F57"/>
              </a:buClr>
              <a:buSzPts val="922"/>
              <a:buFont typeface="Arial"/>
              <a:buNone/>
            </a:pPr>
            <a:r>
              <a:rPr b="1" lang="en-US" sz="923">
                <a:solidFill>
                  <a:srgbClr val="2F6F57"/>
                </a:solidFill>
              </a:rPr>
              <a:t>3 Epics · 7 Features · 11 Stories · 11 Story AC</a:t>
            </a:r>
            <a:endParaRPr/>
          </a:p>
        </p:txBody>
      </p:sp>
      <p:sp>
        <p:nvSpPr>
          <p:cNvPr id="1951" name="Google Shape;1951;p30"/>
          <p:cNvSpPr/>
          <p:nvPr/>
        </p:nvSpPr>
        <p:spPr>
          <a:xfrm>
            <a:off x="4657725" y="3781425"/>
            <a:ext cx="2876550" cy="2000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713"/>
              <a:buFont typeface="Arial"/>
              <a:buNone/>
            </a:pPr>
            <a:r>
              <a:rPr lang="en-US" sz="713">
                <a:solidFill>
                  <a:srgbClr val="666B70"/>
                </a:solidFill>
              </a:rPr>
              <a:t>Drive ID  1avNdNgVi1cDIBvBC-6YNupgsYgPvEaJT</a:t>
            </a:r>
            <a:endParaRPr/>
          </a:p>
        </p:txBody>
      </p:sp>
      <p:sp>
        <p:nvSpPr>
          <p:cNvPr id="1952" name="Google Shape;1952;p30"/>
          <p:cNvSpPr/>
          <p:nvPr/>
        </p:nvSpPr>
        <p:spPr>
          <a:xfrm>
            <a:off x="8172450" y="1971675"/>
            <a:ext cx="3333750" cy="2171700"/>
          </a:xfrm>
          <a:prstGeom prst="roundRect">
            <a:avLst>
              <a:gd fmla="val 3509" name="adj"/>
            </a:avLst>
          </a:prstGeom>
          <a:solidFill>
            <a:srgbClr val="FFFFFF"/>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3" name="Google Shape;1953;p30"/>
          <p:cNvSpPr/>
          <p:nvPr/>
        </p:nvSpPr>
        <p:spPr>
          <a:xfrm>
            <a:off x="8172450" y="1971675"/>
            <a:ext cx="3333750" cy="66675"/>
          </a:xfrm>
          <a:prstGeom prst="rect">
            <a:avLst/>
          </a:prstGeom>
          <a:solidFill>
            <a:srgbClr val="7546C8"/>
          </a:solidFill>
          <a:ln cap="flat" cmpd="sng" w="9525">
            <a:solidFill>
              <a:srgbClr val="7546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4" name="Google Shape;1954;p30"/>
          <p:cNvSpPr/>
          <p:nvPr/>
        </p:nvSpPr>
        <p:spPr>
          <a:xfrm>
            <a:off x="8382000" y="2171700"/>
            <a:ext cx="419100" cy="2857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7546C8"/>
              </a:buClr>
              <a:buSzPts val="975"/>
              <a:buFont typeface="Arial"/>
              <a:buNone/>
            </a:pPr>
            <a:r>
              <a:rPr b="1" lang="en-US" sz="975">
                <a:solidFill>
                  <a:srgbClr val="7546C8"/>
                </a:solidFill>
              </a:rPr>
              <a:t>03</a:t>
            </a:r>
            <a:endParaRPr/>
          </a:p>
        </p:txBody>
      </p:sp>
      <p:sp>
        <p:nvSpPr>
          <p:cNvPr id="1955" name="Google Shape;1955;p30"/>
          <p:cNvSpPr/>
          <p:nvPr/>
        </p:nvSpPr>
        <p:spPr>
          <a:xfrm>
            <a:off x="8362950" y="2133600"/>
            <a:ext cx="457200" cy="342900"/>
          </a:xfrm>
          <a:prstGeom prst="roundRect">
            <a:avLst>
              <a:gd fmla="val 22222" name="adj"/>
            </a:avLst>
          </a:prstGeom>
          <a:solidFill>
            <a:srgbClr val="F0EAFB"/>
          </a:solidFill>
          <a:ln cap="flat" cmpd="sng" w="9525">
            <a:solidFill>
              <a:srgbClr val="7546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6" name="Google Shape;1956;p30"/>
          <p:cNvSpPr/>
          <p:nvPr/>
        </p:nvSpPr>
        <p:spPr>
          <a:xfrm>
            <a:off x="8382000" y="2171700"/>
            <a:ext cx="419100" cy="2857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7546C8"/>
              </a:buClr>
              <a:buSzPts val="975"/>
              <a:buFont typeface="Arial"/>
              <a:buNone/>
            </a:pPr>
            <a:r>
              <a:rPr b="1" lang="en-US" sz="975">
                <a:solidFill>
                  <a:srgbClr val="7546C8"/>
                </a:solidFill>
              </a:rPr>
              <a:t>03</a:t>
            </a:r>
            <a:endParaRPr/>
          </a:p>
        </p:txBody>
      </p:sp>
      <p:sp>
        <p:nvSpPr>
          <p:cNvPr id="1957" name="Google Shape;1957;p30"/>
          <p:cNvSpPr/>
          <p:nvPr/>
        </p:nvSpPr>
        <p:spPr>
          <a:xfrm>
            <a:off x="8953500" y="2105025"/>
            <a:ext cx="2324100" cy="4572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1313"/>
              <a:buFont typeface="Arial"/>
              <a:buNone/>
            </a:pPr>
            <a:r>
              <a:rPr b="1" lang="en-US" sz="1313">
                <a:solidFill>
                  <a:srgbClr val="1A1A2E"/>
                </a:solidFill>
              </a:rPr>
              <a:t>Proposed T-Shirt Sizing Review</a:t>
            </a:r>
            <a:endParaRPr/>
          </a:p>
        </p:txBody>
      </p:sp>
      <p:sp>
        <p:nvSpPr>
          <p:cNvPr id="1958" name="Google Shape;1958;p30"/>
          <p:cNvSpPr/>
          <p:nvPr/>
        </p:nvSpPr>
        <p:spPr>
          <a:xfrm>
            <a:off x="8401050" y="2667000"/>
            <a:ext cx="2876550" cy="44767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914"/>
              <a:buFont typeface="Arial"/>
              <a:buNone/>
            </a:pPr>
            <a:r>
              <a:rPr lang="en-US" sz="915">
                <a:solidFill>
                  <a:srgbClr val="666B70"/>
                </a:solidFill>
              </a:rPr>
              <a:t>Non-blocking planning guidance with proposed size, confidence, and refinement needs.</a:t>
            </a:r>
            <a:endParaRPr/>
          </a:p>
        </p:txBody>
      </p:sp>
      <p:sp>
        <p:nvSpPr>
          <p:cNvPr id="1959" name="Google Shape;1959;p30"/>
          <p:cNvSpPr/>
          <p:nvPr/>
        </p:nvSpPr>
        <p:spPr>
          <a:xfrm>
            <a:off x="8401050" y="3228975"/>
            <a:ext cx="2876550" cy="428625"/>
          </a:xfrm>
          <a:prstGeom prst="roundRect">
            <a:avLst>
              <a:gd fmla="val 17778" name="adj"/>
            </a:avLst>
          </a:prstGeom>
          <a:solidFill>
            <a:srgbClr val="F0EAFB"/>
          </a:solidFill>
          <a:ln cap="flat" cmpd="sng" w="9525">
            <a:solidFill>
              <a:srgbClr val="7546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0" name="Google Shape;1960;p30"/>
          <p:cNvSpPr/>
          <p:nvPr/>
        </p:nvSpPr>
        <p:spPr>
          <a:xfrm>
            <a:off x="8496300" y="3305175"/>
            <a:ext cx="2686050" cy="2667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7546C8"/>
              </a:buClr>
              <a:buSzPts val="922"/>
              <a:buFont typeface="Arial"/>
              <a:buNone/>
            </a:pPr>
            <a:r>
              <a:rPr b="1" lang="en-US" sz="923">
                <a:solidFill>
                  <a:srgbClr val="7546C8"/>
                </a:solidFill>
              </a:rPr>
              <a:t>11 / 11 stories sized · advisory after export</a:t>
            </a:r>
            <a:endParaRPr/>
          </a:p>
        </p:txBody>
      </p:sp>
      <p:sp>
        <p:nvSpPr>
          <p:cNvPr id="1961" name="Google Shape;1961;p30"/>
          <p:cNvSpPr/>
          <p:nvPr/>
        </p:nvSpPr>
        <p:spPr>
          <a:xfrm>
            <a:off x="8401050" y="3781425"/>
            <a:ext cx="2876550" cy="2000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713"/>
              <a:buFont typeface="Arial"/>
              <a:buNone/>
            </a:pPr>
            <a:r>
              <a:rPr lang="en-US" sz="713">
                <a:solidFill>
                  <a:srgbClr val="666B70"/>
                </a:solidFill>
              </a:rPr>
              <a:t>Drive ID  1a3jiUoNy2bQ0mvr6aZpFDIUPTz9ONupb</a:t>
            </a:r>
            <a:endParaRPr/>
          </a:p>
        </p:txBody>
      </p:sp>
      <p:sp>
        <p:nvSpPr>
          <p:cNvPr id="1962" name="Google Shape;1962;p30"/>
          <p:cNvSpPr/>
          <p:nvPr/>
        </p:nvSpPr>
        <p:spPr>
          <a:xfrm>
            <a:off x="685800" y="4324350"/>
            <a:ext cx="10820400" cy="2286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B85042"/>
              </a:buClr>
              <a:buSzPts val="788"/>
              <a:buFont typeface="Arial"/>
              <a:buNone/>
            </a:pPr>
            <a:r>
              <a:rPr b="1" lang="en-US" sz="788">
                <a:solidFill>
                  <a:srgbClr val="B85042"/>
                </a:solidFill>
              </a:rPr>
              <a:t>MACHINE AND AUDIT ARTIFACTS</a:t>
            </a:r>
            <a:endParaRPr/>
          </a:p>
        </p:txBody>
      </p:sp>
      <p:sp>
        <p:nvSpPr>
          <p:cNvPr id="1963" name="Google Shape;1963;p30"/>
          <p:cNvSpPr/>
          <p:nvPr/>
        </p:nvSpPr>
        <p:spPr>
          <a:xfrm>
            <a:off x="685800" y="4629150"/>
            <a:ext cx="10820400" cy="276225"/>
          </a:xfrm>
          <a:prstGeom prst="rect">
            <a:avLst/>
          </a:prstGeom>
          <a:solidFill>
            <a:srgbClr val="FFFFFF"/>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4" name="Google Shape;1964;p30"/>
          <p:cNvSpPr/>
          <p:nvPr/>
        </p:nvSpPr>
        <p:spPr>
          <a:xfrm>
            <a:off x="685800" y="4629150"/>
            <a:ext cx="47625" cy="276225"/>
          </a:xfrm>
          <a:prstGeom prst="rect">
            <a:avLst/>
          </a:prstGeom>
          <a:solidFill>
            <a:srgbClr val="B85042"/>
          </a:solidFill>
          <a:ln cap="flat" cmpd="sng" w="9525">
            <a:solidFill>
              <a:srgbClr val="B8504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5" name="Google Shape;1965;p30"/>
          <p:cNvSpPr/>
          <p:nvPr/>
        </p:nvSpPr>
        <p:spPr>
          <a:xfrm>
            <a:off x="866775" y="4657725"/>
            <a:ext cx="4762500" cy="21907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847"/>
              <a:buFont typeface="Arial"/>
              <a:buNone/>
            </a:pPr>
            <a:r>
              <a:rPr b="1" lang="en-US" sz="848">
                <a:solidFill>
                  <a:srgbClr val="1A1A2E"/>
                </a:solidFill>
              </a:rPr>
              <a:t>Run summary</a:t>
            </a:r>
            <a:endParaRPr/>
          </a:p>
        </p:txBody>
      </p:sp>
      <p:sp>
        <p:nvSpPr>
          <p:cNvPr id="1966" name="Google Shape;1966;p30"/>
          <p:cNvSpPr/>
          <p:nvPr/>
        </p:nvSpPr>
        <p:spPr>
          <a:xfrm>
            <a:off x="5857875" y="4657725"/>
            <a:ext cx="1476375" cy="21907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B85042"/>
              </a:buClr>
              <a:buSzPts val="788"/>
              <a:buFont typeface="Arial"/>
              <a:buNone/>
            </a:pPr>
            <a:r>
              <a:rPr b="1" lang="en-US" sz="788">
                <a:solidFill>
                  <a:srgbClr val="B85042"/>
                </a:solidFill>
              </a:rPr>
              <a:t>JSON</a:t>
            </a:r>
            <a:endParaRPr/>
          </a:p>
        </p:txBody>
      </p:sp>
      <p:sp>
        <p:nvSpPr>
          <p:cNvPr id="1967" name="Google Shape;1967;p30"/>
          <p:cNvSpPr/>
          <p:nvPr/>
        </p:nvSpPr>
        <p:spPr>
          <a:xfrm>
            <a:off x="7562850" y="4657725"/>
            <a:ext cx="3714750" cy="21907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765"/>
              <a:buFont typeface="Arial"/>
              <a:buNone/>
            </a:pPr>
            <a:r>
              <a:rPr lang="en-US" sz="765">
                <a:solidFill>
                  <a:srgbClr val="666B70"/>
                </a:solidFill>
              </a:rPr>
              <a:t>1KUzoIxV9l0Ddz86tgLJeryXU5VyWVIJS</a:t>
            </a:r>
            <a:endParaRPr/>
          </a:p>
        </p:txBody>
      </p:sp>
      <p:sp>
        <p:nvSpPr>
          <p:cNvPr id="1968" name="Google Shape;1968;p30"/>
          <p:cNvSpPr/>
          <p:nvPr/>
        </p:nvSpPr>
        <p:spPr>
          <a:xfrm>
            <a:off x="685800" y="4933950"/>
            <a:ext cx="10820400" cy="276225"/>
          </a:xfrm>
          <a:prstGeom prst="rect">
            <a:avLst/>
          </a:prstGeom>
          <a:solidFill>
            <a:srgbClr val="FBF9F6"/>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9" name="Google Shape;1969;p30"/>
          <p:cNvSpPr/>
          <p:nvPr/>
        </p:nvSpPr>
        <p:spPr>
          <a:xfrm>
            <a:off x="685800" y="4933950"/>
            <a:ext cx="47625" cy="276225"/>
          </a:xfrm>
          <a:prstGeom prst="rect">
            <a:avLst/>
          </a:prstGeom>
          <a:solidFill>
            <a:srgbClr val="3B6EBF"/>
          </a:solidFill>
          <a:ln cap="flat" cmpd="sng" w="9525">
            <a:solidFill>
              <a:srgbClr val="3B6EB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70" name="Google Shape;1970;p30"/>
          <p:cNvSpPr/>
          <p:nvPr/>
        </p:nvSpPr>
        <p:spPr>
          <a:xfrm>
            <a:off x="866775" y="4962525"/>
            <a:ext cx="4762500" cy="21907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847"/>
              <a:buFont typeface="Arial"/>
              <a:buNone/>
            </a:pPr>
            <a:r>
              <a:rPr b="1" lang="en-US" sz="848">
                <a:solidFill>
                  <a:srgbClr val="1A1A2E"/>
                </a:solidFill>
              </a:rPr>
              <a:t>Final PRD</a:t>
            </a:r>
            <a:endParaRPr/>
          </a:p>
        </p:txBody>
      </p:sp>
      <p:sp>
        <p:nvSpPr>
          <p:cNvPr id="1971" name="Google Shape;1971;p30"/>
          <p:cNvSpPr/>
          <p:nvPr/>
        </p:nvSpPr>
        <p:spPr>
          <a:xfrm>
            <a:off x="5857875" y="4962525"/>
            <a:ext cx="1476375" cy="21907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3B6EBF"/>
              </a:buClr>
              <a:buSzPts val="788"/>
              <a:buFont typeface="Arial"/>
              <a:buNone/>
            </a:pPr>
            <a:r>
              <a:rPr b="1" lang="en-US" sz="788">
                <a:solidFill>
                  <a:srgbClr val="3B6EBF"/>
                </a:solidFill>
              </a:rPr>
              <a:t>MARKDOWN</a:t>
            </a:r>
            <a:endParaRPr/>
          </a:p>
        </p:txBody>
      </p:sp>
      <p:sp>
        <p:nvSpPr>
          <p:cNvPr id="1972" name="Google Shape;1972;p30"/>
          <p:cNvSpPr/>
          <p:nvPr/>
        </p:nvSpPr>
        <p:spPr>
          <a:xfrm>
            <a:off x="7562850" y="4962525"/>
            <a:ext cx="3714750" cy="21907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765"/>
              <a:buFont typeface="Arial"/>
              <a:buNone/>
            </a:pPr>
            <a:r>
              <a:rPr lang="en-US" sz="765">
                <a:solidFill>
                  <a:srgbClr val="666B70"/>
                </a:solidFill>
              </a:rPr>
              <a:t>10Rc9rtw-zYemiswLM0aPnoLIHmDtSRVI</a:t>
            </a:r>
            <a:endParaRPr/>
          </a:p>
        </p:txBody>
      </p:sp>
      <p:sp>
        <p:nvSpPr>
          <p:cNvPr id="1973" name="Google Shape;1973;p30"/>
          <p:cNvSpPr/>
          <p:nvPr/>
        </p:nvSpPr>
        <p:spPr>
          <a:xfrm>
            <a:off x="685800" y="5238750"/>
            <a:ext cx="10820400" cy="276225"/>
          </a:xfrm>
          <a:prstGeom prst="rect">
            <a:avLst/>
          </a:prstGeom>
          <a:solidFill>
            <a:srgbClr val="FFFFFF"/>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74" name="Google Shape;1974;p30"/>
          <p:cNvSpPr/>
          <p:nvPr/>
        </p:nvSpPr>
        <p:spPr>
          <a:xfrm>
            <a:off x="685800" y="5238750"/>
            <a:ext cx="47625" cy="276225"/>
          </a:xfrm>
          <a:prstGeom prst="rect">
            <a:avLst/>
          </a:prstGeom>
          <a:solidFill>
            <a:srgbClr val="2F6F57"/>
          </a:solidFill>
          <a:ln cap="flat" cmpd="sng" w="9525">
            <a:solidFill>
              <a:srgbClr val="2F6F5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75" name="Google Shape;1975;p30"/>
          <p:cNvSpPr/>
          <p:nvPr/>
        </p:nvSpPr>
        <p:spPr>
          <a:xfrm>
            <a:off x="866775" y="5267325"/>
            <a:ext cx="4762500" cy="21907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847"/>
              <a:buFont typeface="Arial"/>
              <a:buNone/>
            </a:pPr>
            <a:r>
              <a:rPr b="1" lang="en-US" sz="848">
                <a:solidFill>
                  <a:srgbClr val="1A1A2E"/>
                </a:solidFill>
              </a:rPr>
              <a:t>Story breakdown</a:t>
            </a:r>
            <a:endParaRPr/>
          </a:p>
        </p:txBody>
      </p:sp>
      <p:sp>
        <p:nvSpPr>
          <p:cNvPr id="1976" name="Google Shape;1976;p30"/>
          <p:cNvSpPr/>
          <p:nvPr/>
        </p:nvSpPr>
        <p:spPr>
          <a:xfrm>
            <a:off x="5857875" y="5267325"/>
            <a:ext cx="1476375" cy="21907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F6F57"/>
              </a:buClr>
              <a:buSzPts val="788"/>
              <a:buFont typeface="Arial"/>
              <a:buNone/>
            </a:pPr>
            <a:r>
              <a:rPr b="1" lang="en-US" sz="788">
                <a:solidFill>
                  <a:srgbClr val="2F6F57"/>
                </a:solidFill>
              </a:rPr>
              <a:t>JSON</a:t>
            </a:r>
            <a:endParaRPr/>
          </a:p>
        </p:txBody>
      </p:sp>
      <p:sp>
        <p:nvSpPr>
          <p:cNvPr id="1977" name="Google Shape;1977;p30"/>
          <p:cNvSpPr/>
          <p:nvPr/>
        </p:nvSpPr>
        <p:spPr>
          <a:xfrm>
            <a:off x="7562850" y="5267325"/>
            <a:ext cx="3714750" cy="21907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765"/>
              <a:buFont typeface="Arial"/>
              <a:buNone/>
            </a:pPr>
            <a:r>
              <a:rPr lang="en-US" sz="765">
                <a:solidFill>
                  <a:srgbClr val="666B70"/>
                </a:solidFill>
              </a:rPr>
              <a:t>1p0C48qQmkN88DaLQ-urdEsOZi2nUaKqr</a:t>
            </a:r>
            <a:endParaRPr/>
          </a:p>
        </p:txBody>
      </p:sp>
      <p:sp>
        <p:nvSpPr>
          <p:cNvPr id="1978" name="Google Shape;1978;p30"/>
          <p:cNvSpPr/>
          <p:nvPr/>
        </p:nvSpPr>
        <p:spPr>
          <a:xfrm>
            <a:off x="685800" y="5543550"/>
            <a:ext cx="10820400" cy="276225"/>
          </a:xfrm>
          <a:prstGeom prst="rect">
            <a:avLst/>
          </a:prstGeom>
          <a:solidFill>
            <a:srgbClr val="FBF9F6"/>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79" name="Google Shape;1979;p30"/>
          <p:cNvSpPr/>
          <p:nvPr/>
        </p:nvSpPr>
        <p:spPr>
          <a:xfrm>
            <a:off x="685800" y="5543550"/>
            <a:ext cx="47625" cy="276225"/>
          </a:xfrm>
          <a:prstGeom prst="rect">
            <a:avLst/>
          </a:prstGeom>
          <a:solidFill>
            <a:srgbClr val="7546C8"/>
          </a:solidFill>
          <a:ln cap="flat" cmpd="sng" w="9525">
            <a:solidFill>
              <a:srgbClr val="7546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0" name="Google Shape;1980;p30"/>
          <p:cNvSpPr/>
          <p:nvPr/>
        </p:nvSpPr>
        <p:spPr>
          <a:xfrm>
            <a:off x="866775" y="5572125"/>
            <a:ext cx="4762500" cy="21907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1A2E"/>
              </a:buClr>
              <a:buSzPts val="847"/>
              <a:buFont typeface="Arial"/>
              <a:buNone/>
            </a:pPr>
            <a:r>
              <a:rPr b="1" lang="en-US" sz="848">
                <a:solidFill>
                  <a:srgbClr val="1A1A2E"/>
                </a:solidFill>
              </a:rPr>
              <a:t>Traceability and lineage</a:t>
            </a:r>
            <a:endParaRPr/>
          </a:p>
        </p:txBody>
      </p:sp>
      <p:sp>
        <p:nvSpPr>
          <p:cNvPr id="1981" name="Google Shape;1981;p30"/>
          <p:cNvSpPr/>
          <p:nvPr/>
        </p:nvSpPr>
        <p:spPr>
          <a:xfrm>
            <a:off x="5857875" y="5572125"/>
            <a:ext cx="1476375" cy="21907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7546C8"/>
              </a:buClr>
              <a:buSzPts val="788"/>
              <a:buFont typeface="Arial"/>
              <a:buNone/>
            </a:pPr>
            <a:r>
              <a:rPr b="1" lang="en-US" sz="788">
                <a:solidFill>
                  <a:srgbClr val="7546C8"/>
                </a:solidFill>
              </a:rPr>
              <a:t>JSON</a:t>
            </a:r>
            <a:endParaRPr/>
          </a:p>
        </p:txBody>
      </p:sp>
      <p:sp>
        <p:nvSpPr>
          <p:cNvPr id="1982" name="Google Shape;1982;p30"/>
          <p:cNvSpPr/>
          <p:nvPr/>
        </p:nvSpPr>
        <p:spPr>
          <a:xfrm>
            <a:off x="7562850" y="5572125"/>
            <a:ext cx="3714750" cy="21907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66B70"/>
              </a:buClr>
              <a:buSzPts val="765"/>
              <a:buFont typeface="Arial"/>
              <a:buNone/>
            </a:pPr>
            <a:r>
              <a:rPr lang="en-US" sz="765">
                <a:solidFill>
                  <a:srgbClr val="666B70"/>
                </a:solidFill>
              </a:rPr>
              <a:t>1F92GAjQcMCKG-T-7EwBDslDRTDWwnG3N</a:t>
            </a:r>
            <a:endParaRPr/>
          </a:p>
        </p:txBody>
      </p:sp>
      <p:sp>
        <p:nvSpPr>
          <p:cNvPr id="1983" name="Google Shape;1983;p30"/>
          <p:cNvSpPr/>
          <p:nvPr/>
        </p:nvSpPr>
        <p:spPr>
          <a:xfrm>
            <a:off x="685800" y="5924550"/>
            <a:ext cx="10820400" cy="247650"/>
          </a:xfrm>
          <a:prstGeom prst="roundRect">
            <a:avLst>
              <a:gd fmla="val 30769" name="adj"/>
            </a:avLst>
          </a:prstGeom>
          <a:solidFill>
            <a:srgbClr val="E6F0EB"/>
          </a:solidFill>
          <a:ln cap="flat" cmpd="sng" w="9525">
            <a:solidFill>
              <a:srgbClr val="2F6F5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4" name="Google Shape;1984;p30"/>
          <p:cNvSpPr/>
          <p:nvPr/>
        </p:nvSpPr>
        <p:spPr>
          <a:xfrm>
            <a:off x="857250" y="5962650"/>
            <a:ext cx="10477500" cy="171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F6F57"/>
              </a:buClr>
              <a:buSzPts val="810"/>
              <a:buFont typeface="Arial"/>
              <a:buNone/>
            </a:pPr>
            <a:r>
              <a:rPr b="1" lang="en-US" sz="810">
                <a:solidFill>
                  <a:srgbClr val="2F6F57"/>
                </a:solidFill>
              </a:rPr>
              <a:t>One run identity connects every source package, approval decision, generated document, evaluator result, and exported file.</a:t>
            </a:r>
            <a:endParaRPr/>
          </a:p>
        </p:txBody>
      </p:sp>
      <p:sp>
        <p:nvSpPr>
          <p:cNvPr id="1985" name="Google Shape;1985;p30"/>
          <p:cNvSpPr/>
          <p:nvPr/>
        </p:nvSpPr>
        <p:spPr>
          <a:xfrm>
            <a:off x="0" y="6267450"/>
            <a:ext cx="12192000" cy="590550"/>
          </a:xfrm>
          <a:prstGeom prst="rect">
            <a:avLst/>
          </a:prstGeom>
          <a:solidFill>
            <a:srgbClr val="1A1A2E"/>
          </a:solidFill>
          <a:ln cap="flat" cmpd="sng" w="9525">
            <a:solidFill>
              <a:srgbClr val="1A1A2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6" name="Google Shape;1986;p30"/>
          <p:cNvSpPr/>
          <p:nvPr/>
        </p:nvSpPr>
        <p:spPr>
          <a:xfrm>
            <a:off x="781050" y="6391275"/>
            <a:ext cx="1905000" cy="190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C9C6D8"/>
              </a:buClr>
              <a:buSzPts val="825"/>
              <a:buFont typeface="Arial"/>
              <a:buNone/>
            </a:pPr>
            <a:r>
              <a:rPr b="1" lang="en-US" sz="825">
                <a:solidFill>
                  <a:srgbClr val="C9C6D8"/>
                </a:solidFill>
              </a:rPr>
              <a:t>APPENDIX A11</a:t>
            </a:r>
            <a:endParaRPr/>
          </a:p>
        </p:txBody>
      </p:sp>
      <p:sp>
        <p:nvSpPr>
          <p:cNvPr id="1987" name="Google Shape;1987;p30"/>
          <p:cNvSpPr/>
          <p:nvPr/>
        </p:nvSpPr>
        <p:spPr>
          <a:xfrm>
            <a:off x="2705100" y="6353175"/>
            <a:ext cx="8705850" cy="29527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FFFFFF"/>
              </a:buClr>
              <a:buSzPts val="1065"/>
              <a:buFont typeface="Arial"/>
              <a:buNone/>
            </a:pPr>
            <a:r>
              <a:rPr b="1" lang="en-US" sz="1065">
                <a:solidFill>
                  <a:srgbClr val="FFFFFF"/>
                </a:solidFill>
              </a:rPr>
              <a:t>Human-readable deliverables and machine-readable receipts share the same accepted-run lineage.</a:t>
            </a:r>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4EE"/>
        </a:solidFill>
      </p:bgPr>
    </p:bg>
    <p:spTree>
      <p:nvGrpSpPr>
        <p:cNvPr id="1992" name="Shape 1992"/>
        <p:cNvGrpSpPr/>
        <p:nvPr/>
      </p:nvGrpSpPr>
      <p:grpSpPr>
        <a:xfrm>
          <a:off x="0" y="0"/>
          <a:ext cx="0" cy="0"/>
          <a:chOff x="0" y="0"/>
          <a:chExt cx="0" cy="0"/>
        </a:xfrm>
      </p:grpSpPr>
      <p:sp>
        <p:nvSpPr>
          <p:cNvPr id="1993" name="Google Shape;1993;p31"/>
          <p:cNvSpPr/>
          <p:nvPr/>
        </p:nvSpPr>
        <p:spPr>
          <a:xfrm>
            <a:off x="0" y="0"/>
            <a:ext cx="12192000" cy="76200"/>
          </a:xfrm>
          <a:prstGeom prst="rect">
            <a:avLst/>
          </a:prstGeom>
          <a:solidFill>
            <a:srgbClr val="B85042"/>
          </a:solidFill>
          <a:ln cap="flat" cmpd="sng" w="9525">
            <a:solidFill>
              <a:srgbClr val="B8504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4" name="Google Shape;1994;p31"/>
          <p:cNvSpPr/>
          <p:nvPr/>
        </p:nvSpPr>
        <p:spPr>
          <a:xfrm>
            <a:off x="514350" y="590550"/>
            <a:ext cx="66675" cy="723900"/>
          </a:xfrm>
          <a:prstGeom prst="rect">
            <a:avLst/>
          </a:prstGeom>
          <a:solidFill>
            <a:srgbClr val="B85042"/>
          </a:solidFill>
          <a:ln cap="flat" cmpd="sng" w="9525">
            <a:solidFill>
              <a:srgbClr val="B8504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5" name="Google Shape;1995;p31"/>
          <p:cNvSpPr/>
          <p:nvPr/>
        </p:nvSpPr>
        <p:spPr>
          <a:xfrm>
            <a:off x="781050" y="438150"/>
            <a:ext cx="8572500" cy="2381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en-US" sz="938">
                <a:solidFill>
                  <a:srgbClr val="B85042"/>
                </a:solidFill>
              </a:rPr>
              <a:t>A12  ·  VERSION HISTORY &amp; ROLLBACK CONTROL</a:t>
            </a:r>
            <a:endParaRPr/>
          </a:p>
        </p:txBody>
      </p:sp>
      <p:sp>
        <p:nvSpPr>
          <p:cNvPr id="1996" name="Google Shape;1996;p31"/>
          <p:cNvSpPr/>
          <p:nvPr/>
        </p:nvSpPr>
        <p:spPr>
          <a:xfrm>
            <a:off x="781050" y="723900"/>
            <a:ext cx="10572750" cy="4953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en-US" sz="2250">
                <a:solidFill>
                  <a:srgbClr val="1A1A2E"/>
                </a:solidFill>
              </a:rPr>
              <a:t>v0.3.8 advances the system without sacrificing a proven rollback path</a:t>
            </a:r>
            <a:endParaRPr/>
          </a:p>
        </p:txBody>
      </p:sp>
      <p:sp>
        <p:nvSpPr>
          <p:cNvPr id="1997" name="Google Shape;1997;p31"/>
          <p:cNvSpPr/>
          <p:nvPr/>
        </p:nvSpPr>
        <p:spPr>
          <a:xfrm>
            <a:off x="781050" y="1238250"/>
            <a:ext cx="10572750" cy="29527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998">
                <a:solidFill>
                  <a:srgbClr val="666B70"/>
                </a:solidFill>
              </a:rPr>
              <a:t>Each promotion preserves a versioned workflow set, accepted-run evidence, and an unchanged fallback before the next correction is introduced.</a:t>
            </a:r>
            <a:endParaRPr/>
          </a:p>
        </p:txBody>
      </p:sp>
      <p:sp>
        <p:nvSpPr>
          <p:cNvPr id="1998" name="Google Shape;1998;p31"/>
          <p:cNvSpPr/>
          <p:nvPr/>
        </p:nvSpPr>
        <p:spPr>
          <a:xfrm>
            <a:off x="685800" y="1724025"/>
            <a:ext cx="7239000" cy="21907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en-US" sz="788">
                <a:solidFill>
                  <a:srgbClr val="B85042"/>
                </a:solidFill>
              </a:rPr>
              <a:t>CONTROLLED RELEASE EVOLUTION</a:t>
            </a:r>
            <a:endParaRPr/>
          </a:p>
        </p:txBody>
      </p:sp>
      <p:sp>
        <p:nvSpPr>
          <p:cNvPr id="1999" name="Google Shape;1999;p31"/>
          <p:cNvSpPr/>
          <p:nvPr/>
        </p:nvSpPr>
        <p:spPr>
          <a:xfrm>
            <a:off x="685800" y="2038350"/>
            <a:ext cx="1638300" cy="1200150"/>
          </a:xfrm>
          <a:prstGeom prst="roundRect">
            <a:avLst>
              <a:gd fmla="val 6349" name="adj"/>
            </a:avLst>
          </a:prstGeom>
          <a:solidFill>
            <a:srgbClr val="FFFFFF"/>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0" name="Google Shape;2000;p31"/>
          <p:cNvSpPr/>
          <p:nvPr/>
        </p:nvSpPr>
        <p:spPr>
          <a:xfrm>
            <a:off x="685800" y="2038350"/>
            <a:ext cx="1638300" cy="66675"/>
          </a:xfrm>
          <a:prstGeom prst="rect">
            <a:avLst/>
          </a:prstGeom>
          <a:solidFill>
            <a:srgbClr val="3B6EBF"/>
          </a:solidFill>
          <a:ln cap="flat" cmpd="sng" w="9525">
            <a:solidFill>
              <a:srgbClr val="3B6EB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1" name="Google Shape;2001;p31"/>
          <p:cNvSpPr/>
          <p:nvPr/>
        </p:nvSpPr>
        <p:spPr>
          <a:xfrm>
            <a:off x="838200" y="2209800"/>
            <a:ext cx="600075" cy="266700"/>
          </a:xfrm>
          <a:prstGeom prst="roundRect">
            <a:avLst>
              <a:gd fmla="val 28571" name="adj"/>
            </a:avLst>
          </a:prstGeom>
          <a:solidFill>
            <a:srgbClr val="E8EFF9"/>
          </a:solidFill>
          <a:ln cap="flat" cmpd="sng" w="9525">
            <a:solidFill>
              <a:srgbClr val="3B6EB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2" name="Google Shape;2002;p31"/>
          <p:cNvSpPr/>
          <p:nvPr/>
        </p:nvSpPr>
        <p:spPr>
          <a:xfrm>
            <a:off x="847725" y="2238375"/>
            <a:ext cx="581025" cy="2095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en-US" sz="863">
                <a:solidFill>
                  <a:srgbClr val="3B6EBF"/>
                </a:solidFill>
              </a:rPr>
              <a:t>v0.3.4</a:t>
            </a:r>
            <a:endParaRPr/>
          </a:p>
        </p:txBody>
      </p:sp>
      <p:sp>
        <p:nvSpPr>
          <p:cNvPr id="2003" name="Google Shape;2003;p31"/>
          <p:cNvSpPr/>
          <p:nvPr/>
        </p:nvSpPr>
        <p:spPr>
          <a:xfrm>
            <a:off x="838200" y="2533650"/>
            <a:ext cx="1333500" cy="3048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en-US" sz="990">
                <a:solidFill>
                  <a:srgbClr val="1A1A2E"/>
                </a:solidFill>
              </a:rPr>
              <a:t>Validated checkpoint</a:t>
            </a:r>
            <a:endParaRPr/>
          </a:p>
        </p:txBody>
      </p:sp>
      <p:sp>
        <p:nvSpPr>
          <p:cNvPr id="2004" name="Google Shape;2004;p31"/>
          <p:cNvSpPr/>
          <p:nvPr/>
        </p:nvSpPr>
        <p:spPr>
          <a:xfrm>
            <a:off x="838200" y="2867025"/>
            <a:ext cx="1333500" cy="2476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713">
                <a:solidFill>
                  <a:srgbClr val="666B70"/>
                </a:solidFill>
              </a:rPr>
              <a:t>Frozen evidence baseline</a:t>
            </a:r>
            <a:endParaRPr/>
          </a:p>
        </p:txBody>
      </p:sp>
      <p:sp>
        <p:nvSpPr>
          <p:cNvPr id="2005" name="Google Shape;2005;p31"/>
          <p:cNvSpPr/>
          <p:nvPr/>
        </p:nvSpPr>
        <p:spPr>
          <a:xfrm>
            <a:off x="2505075" y="2038350"/>
            <a:ext cx="1638300" cy="1200150"/>
          </a:xfrm>
          <a:prstGeom prst="roundRect">
            <a:avLst>
              <a:gd fmla="val 6349" name="adj"/>
            </a:avLst>
          </a:prstGeom>
          <a:solidFill>
            <a:srgbClr val="FFFFFF"/>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6" name="Google Shape;2006;p31"/>
          <p:cNvSpPr/>
          <p:nvPr/>
        </p:nvSpPr>
        <p:spPr>
          <a:xfrm>
            <a:off x="2505075" y="2038350"/>
            <a:ext cx="1638300" cy="66675"/>
          </a:xfrm>
          <a:prstGeom prst="rect">
            <a:avLst/>
          </a:prstGeom>
          <a:solidFill>
            <a:srgbClr val="3B6EBF"/>
          </a:solidFill>
          <a:ln cap="flat" cmpd="sng" w="9525">
            <a:solidFill>
              <a:srgbClr val="3B6EB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7" name="Google Shape;2007;p31"/>
          <p:cNvSpPr/>
          <p:nvPr/>
        </p:nvSpPr>
        <p:spPr>
          <a:xfrm>
            <a:off x="2657475" y="2209800"/>
            <a:ext cx="600075" cy="266700"/>
          </a:xfrm>
          <a:prstGeom prst="roundRect">
            <a:avLst>
              <a:gd fmla="val 28571" name="adj"/>
            </a:avLst>
          </a:prstGeom>
          <a:solidFill>
            <a:srgbClr val="E8EFF9"/>
          </a:solidFill>
          <a:ln cap="flat" cmpd="sng" w="9525">
            <a:solidFill>
              <a:srgbClr val="3B6EB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8" name="Google Shape;2008;p31"/>
          <p:cNvSpPr/>
          <p:nvPr/>
        </p:nvSpPr>
        <p:spPr>
          <a:xfrm>
            <a:off x="2667000" y="2238375"/>
            <a:ext cx="581025" cy="2095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en-US" sz="863">
                <a:solidFill>
                  <a:srgbClr val="3B6EBF"/>
                </a:solidFill>
              </a:rPr>
              <a:t>v0.3.5</a:t>
            </a:r>
            <a:endParaRPr/>
          </a:p>
        </p:txBody>
      </p:sp>
      <p:sp>
        <p:nvSpPr>
          <p:cNvPr id="2009" name="Google Shape;2009;p31"/>
          <p:cNvSpPr/>
          <p:nvPr/>
        </p:nvSpPr>
        <p:spPr>
          <a:xfrm>
            <a:off x="2657475" y="2533650"/>
            <a:ext cx="1333500" cy="3048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en-US" sz="990">
                <a:solidFill>
                  <a:srgbClr val="1A1A2E"/>
                </a:solidFill>
              </a:rPr>
              <a:t>Corrected contracts</a:t>
            </a:r>
            <a:endParaRPr/>
          </a:p>
        </p:txBody>
      </p:sp>
      <p:sp>
        <p:nvSpPr>
          <p:cNvPr id="2010" name="Google Shape;2010;p31"/>
          <p:cNvSpPr/>
          <p:nvPr/>
        </p:nvSpPr>
        <p:spPr>
          <a:xfrm>
            <a:off x="2657475" y="2867025"/>
            <a:ext cx="1333500" cy="2476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713">
                <a:solidFill>
                  <a:srgbClr val="666B70"/>
                </a:solidFill>
              </a:rPr>
              <a:t>Ten-section PRD + dynamic stories</a:t>
            </a:r>
            <a:endParaRPr/>
          </a:p>
        </p:txBody>
      </p:sp>
      <p:sp>
        <p:nvSpPr>
          <p:cNvPr id="2011" name="Google Shape;2011;p31"/>
          <p:cNvSpPr/>
          <p:nvPr/>
        </p:nvSpPr>
        <p:spPr>
          <a:xfrm>
            <a:off x="4324350" y="2038350"/>
            <a:ext cx="1638300" cy="1200150"/>
          </a:xfrm>
          <a:prstGeom prst="roundRect">
            <a:avLst>
              <a:gd fmla="val 6349" name="adj"/>
            </a:avLst>
          </a:prstGeom>
          <a:solidFill>
            <a:srgbClr val="FFFFFF"/>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2" name="Google Shape;2012;p31"/>
          <p:cNvSpPr/>
          <p:nvPr/>
        </p:nvSpPr>
        <p:spPr>
          <a:xfrm>
            <a:off x="4324350" y="2038350"/>
            <a:ext cx="1638300" cy="66675"/>
          </a:xfrm>
          <a:prstGeom prst="rect">
            <a:avLst/>
          </a:prstGeom>
          <a:solidFill>
            <a:srgbClr val="7546C8"/>
          </a:solidFill>
          <a:ln cap="flat" cmpd="sng" w="9525">
            <a:solidFill>
              <a:srgbClr val="7546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3" name="Google Shape;2013;p31"/>
          <p:cNvSpPr/>
          <p:nvPr/>
        </p:nvSpPr>
        <p:spPr>
          <a:xfrm>
            <a:off x="4476750" y="2209800"/>
            <a:ext cx="600075" cy="266700"/>
          </a:xfrm>
          <a:prstGeom prst="roundRect">
            <a:avLst>
              <a:gd fmla="val 28571" name="adj"/>
            </a:avLst>
          </a:prstGeom>
          <a:solidFill>
            <a:srgbClr val="F0EAFB"/>
          </a:solidFill>
          <a:ln cap="flat" cmpd="sng" w="9525">
            <a:solidFill>
              <a:srgbClr val="7546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4" name="Google Shape;2014;p31"/>
          <p:cNvSpPr/>
          <p:nvPr/>
        </p:nvSpPr>
        <p:spPr>
          <a:xfrm>
            <a:off x="4486275" y="2238375"/>
            <a:ext cx="581025" cy="2095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en-US" sz="863">
                <a:solidFill>
                  <a:srgbClr val="7546C8"/>
                </a:solidFill>
              </a:rPr>
              <a:t>v0.3.6</a:t>
            </a:r>
            <a:endParaRPr/>
          </a:p>
        </p:txBody>
      </p:sp>
      <p:sp>
        <p:nvSpPr>
          <p:cNvPr id="2015" name="Google Shape;2015;p31"/>
          <p:cNvSpPr/>
          <p:nvPr/>
        </p:nvSpPr>
        <p:spPr>
          <a:xfrm>
            <a:off x="4476750" y="2533650"/>
            <a:ext cx="1333500" cy="3048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en-US" sz="990">
                <a:solidFill>
                  <a:srgbClr val="1A1A2E"/>
                </a:solidFill>
              </a:rPr>
              <a:t>Sizing added safely</a:t>
            </a:r>
            <a:endParaRPr/>
          </a:p>
        </p:txBody>
      </p:sp>
      <p:sp>
        <p:nvSpPr>
          <p:cNvPr id="2016" name="Google Shape;2016;p31"/>
          <p:cNvSpPr/>
          <p:nvPr/>
        </p:nvSpPr>
        <p:spPr>
          <a:xfrm>
            <a:off x="4476750" y="2867025"/>
            <a:ext cx="1333500" cy="2476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713">
                <a:solidFill>
                  <a:srgbClr val="666B70"/>
                </a:solidFill>
              </a:rPr>
              <a:t>Advisory, non-blocking</a:t>
            </a:r>
            <a:endParaRPr/>
          </a:p>
        </p:txBody>
      </p:sp>
      <p:sp>
        <p:nvSpPr>
          <p:cNvPr id="2017" name="Google Shape;2017;p31"/>
          <p:cNvSpPr/>
          <p:nvPr/>
        </p:nvSpPr>
        <p:spPr>
          <a:xfrm>
            <a:off x="6143625" y="2038350"/>
            <a:ext cx="1638300" cy="1200150"/>
          </a:xfrm>
          <a:prstGeom prst="roundRect">
            <a:avLst>
              <a:gd fmla="val 6349" name="adj"/>
            </a:avLst>
          </a:prstGeom>
          <a:solidFill>
            <a:srgbClr val="FFFFFF"/>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8" name="Google Shape;2018;p31"/>
          <p:cNvSpPr/>
          <p:nvPr/>
        </p:nvSpPr>
        <p:spPr>
          <a:xfrm>
            <a:off x="6143625" y="2038350"/>
            <a:ext cx="1638300" cy="66675"/>
          </a:xfrm>
          <a:prstGeom prst="rect">
            <a:avLst/>
          </a:prstGeom>
          <a:solidFill>
            <a:srgbClr val="3B6EBF"/>
          </a:solidFill>
          <a:ln cap="flat" cmpd="sng" w="9525">
            <a:solidFill>
              <a:srgbClr val="3B6EB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9" name="Google Shape;2019;p31"/>
          <p:cNvSpPr/>
          <p:nvPr/>
        </p:nvSpPr>
        <p:spPr>
          <a:xfrm>
            <a:off x="6296025" y="2209800"/>
            <a:ext cx="600075" cy="266700"/>
          </a:xfrm>
          <a:prstGeom prst="roundRect">
            <a:avLst>
              <a:gd fmla="val 28571" name="adj"/>
            </a:avLst>
          </a:prstGeom>
          <a:solidFill>
            <a:srgbClr val="E8EFF9"/>
          </a:solidFill>
          <a:ln cap="flat" cmpd="sng" w="9525">
            <a:solidFill>
              <a:srgbClr val="3B6EB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0" name="Google Shape;2020;p31"/>
          <p:cNvSpPr/>
          <p:nvPr/>
        </p:nvSpPr>
        <p:spPr>
          <a:xfrm>
            <a:off x="6305550" y="2238375"/>
            <a:ext cx="581025" cy="2095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en-US" sz="863">
                <a:solidFill>
                  <a:srgbClr val="3B6EBF"/>
                </a:solidFill>
              </a:rPr>
              <a:t>v0.3.7</a:t>
            </a:r>
            <a:endParaRPr/>
          </a:p>
        </p:txBody>
      </p:sp>
      <p:sp>
        <p:nvSpPr>
          <p:cNvPr id="2021" name="Google Shape;2021;p31"/>
          <p:cNvSpPr/>
          <p:nvPr/>
        </p:nvSpPr>
        <p:spPr>
          <a:xfrm>
            <a:off x="6296025" y="2533650"/>
            <a:ext cx="1333500" cy="3048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en-US" sz="990">
                <a:solidFill>
                  <a:srgbClr val="1A1A2E"/>
                </a:solidFill>
              </a:rPr>
              <a:t>Protected production</a:t>
            </a:r>
            <a:endParaRPr/>
          </a:p>
        </p:txBody>
      </p:sp>
      <p:sp>
        <p:nvSpPr>
          <p:cNvPr id="2022" name="Google Shape;2022;p31"/>
          <p:cNvSpPr/>
          <p:nvPr/>
        </p:nvSpPr>
        <p:spPr>
          <a:xfrm>
            <a:off x="6296025" y="2867025"/>
            <a:ext cx="1333500" cy="2476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713">
                <a:solidFill>
                  <a:srgbClr val="666B70"/>
                </a:solidFill>
              </a:rPr>
              <a:t>Traceability + feature AC</a:t>
            </a:r>
            <a:endParaRPr/>
          </a:p>
        </p:txBody>
      </p:sp>
      <p:sp>
        <p:nvSpPr>
          <p:cNvPr id="2023" name="Google Shape;2023;p31"/>
          <p:cNvSpPr/>
          <p:nvPr/>
        </p:nvSpPr>
        <p:spPr>
          <a:xfrm>
            <a:off x="7962900" y="2038350"/>
            <a:ext cx="1638300" cy="1200150"/>
          </a:xfrm>
          <a:prstGeom prst="roundRect">
            <a:avLst>
              <a:gd fmla="val 6349" name="adj"/>
            </a:avLst>
          </a:prstGeom>
          <a:solidFill>
            <a:srgbClr val="FFFFFF"/>
          </a:solidFill>
          <a:ln cap="flat" cmpd="sng" w="9525">
            <a:solidFill>
              <a:srgbClr val="2F6F5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4" name="Google Shape;2024;p31"/>
          <p:cNvSpPr/>
          <p:nvPr/>
        </p:nvSpPr>
        <p:spPr>
          <a:xfrm>
            <a:off x="7962900" y="2038350"/>
            <a:ext cx="1638300" cy="66675"/>
          </a:xfrm>
          <a:prstGeom prst="rect">
            <a:avLst/>
          </a:prstGeom>
          <a:solidFill>
            <a:srgbClr val="2F6F57"/>
          </a:solidFill>
          <a:ln cap="flat" cmpd="sng" w="9525">
            <a:solidFill>
              <a:srgbClr val="2F6F5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5" name="Google Shape;2025;p31"/>
          <p:cNvSpPr/>
          <p:nvPr/>
        </p:nvSpPr>
        <p:spPr>
          <a:xfrm>
            <a:off x="8115300" y="2209800"/>
            <a:ext cx="600075" cy="266700"/>
          </a:xfrm>
          <a:prstGeom prst="roundRect">
            <a:avLst>
              <a:gd fmla="val 28571" name="adj"/>
            </a:avLst>
          </a:prstGeom>
          <a:solidFill>
            <a:srgbClr val="E6F0EB"/>
          </a:solidFill>
          <a:ln cap="flat" cmpd="sng" w="9525">
            <a:solidFill>
              <a:srgbClr val="2F6F5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6" name="Google Shape;2026;p31"/>
          <p:cNvSpPr/>
          <p:nvPr/>
        </p:nvSpPr>
        <p:spPr>
          <a:xfrm>
            <a:off x="8124825" y="2238375"/>
            <a:ext cx="581025" cy="2095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en-US" sz="863">
                <a:solidFill>
                  <a:srgbClr val="2F6F57"/>
                </a:solidFill>
              </a:rPr>
              <a:t>v0.3.8</a:t>
            </a:r>
            <a:endParaRPr/>
          </a:p>
        </p:txBody>
      </p:sp>
      <p:sp>
        <p:nvSpPr>
          <p:cNvPr id="2027" name="Google Shape;2027;p31"/>
          <p:cNvSpPr/>
          <p:nvPr/>
        </p:nvSpPr>
        <p:spPr>
          <a:xfrm>
            <a:off x="8782050" y="2209800"/>
            <a:ext cx="685800" cy="266700"/>
          </a:xfrm>
          <a:prstGeom prst="roundRect">
            <a:avLst>
              <a:gd fmla="val 28571" name="adj"/>
            </a:avLst>
          </a:prstGeom>
          <a:solidFill>
            <a:srgbClr val="E6F0EB"/>
          </a:solidFill>
          <a:ln cap="flat" cmpd="sng" w="9525">
            <a:solidFill>
              <a:srgbClr val="2F6F5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8" name="Google Shape;2028;p31"/>
          <p:cNvSpPr/>
          <p:nvPr/>
        </p:nvSpPr>
        <p:spPr>
          <a:xfrm>
            <a:off x="8791575" y="2238375"/>
            <a:ext cx="666750" cy="2095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en-US" sz="585">
                <a:solidFill>
                  <a:srgbClr val="2F6F57"/>
                </a:solidFill>
              </a:rPr>
              <a:t>ACCEPTED</a:t>
            </a:r>
            <a:endParaRPr/>
          </a:p>
        </p:txBody>
      </p:sp>
      <p:sp>
        <p:nvSpPr>
          <p:cNvPr id="2029" name="Google Shape;2029;p31"/>
          <p:cNvSpPr/>
          <p:nvPr/>
        </p:nvSpPr>
        <p:spPr>
          <a:xfrm>
            <a:off x="8115300" y="2533650"/>
            <a:ext cx="1333500" cy="3048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en-US" sz="990">
                <a:solidFill>
                  <a:srgbClr val="1A1A2E"/>
                </a:solidFill>
              </a:rPr>
              <a:t>Submission baseline</a:t>
            </a:r>
            <a:endParaRPr/>
          </a:p>
        </p:txBody>
      </p:sp>
      <p:sp>
        <p:nvSpPr>
          <p:cNvPr id="2030" name="Google Shape;2030;p31"/>
          <p:cNvSpPr/>
          <p:nvPr/>
        </p:nvSpPr>
        <p:spPr>
          <a:xfrm>
            <a:off x="8115300" y="2867025"/>
            <a:ext cx="1333500" cy="2476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713">
                <a:solidFill>
                  <a:srgbClr val="666B70"/>
                </a:solidFill>
              </a:rPr>
              <a:t>Loaded cost + restored sizing eval</a:t>
            </a:r>
            <a:endParaRPr/>
          </a:p>
        </p:txBody>
      </p:sp>
      <p:sp>
        <p:nvSpPr>
          <p:cNvPr id="2031" name="Google Shape;2031;p31"/>
          <p:cNvSpPr/>
          <p:nvPr/>
        </p:nvSpPr>
        <p:spPr>
          <a:xfrm>
            <a:off x="2286000" y="2409825"/>
            <a:ext cx="219075" cy="2667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en-US" sz="1650">
                <a:solidFill>
                  <a:srgbClr val="B85042"/>
                </a:solidFill>
              </a:rPr>
              <a:t>→</a:t>
            </a:r>
            <a:endParaRPr/>
          </a:p>
        </p:txBody>
      </p:sp>
      <p:sp>
        <p:nvSpPr>
          <p:cNvPr id="2032" name="Google Shape;2032;p31"/>
          <p:cNvSpPr/>
          <p:nvPr/>
        </p:nvSpPr>
        <p:spPr>
          <a:xfrm>
            <a:off x="4105275" y="2409825"/>
            <a:ext cx="219075" cy="2667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en-US" sz="1650">
                <a:solidFill>
                  <a:srgbClr val="B85042"/>
                </a:solidFill>
              </a:rPr>
              <a:t>→</a:t>
            </a:r>
            <a:endParaRPr/>
          </a:p>
        </p:txBody>
      </p:sp>
      <p:sp>
        <p:nvSpPr>
          <p:cNvPr id="2033" name="Google Shape;2033;p31"/>
          <p:cNvSpPr/>
          <p:nvPr/>
        </p:nvSpPr>
        <p:spPr>
          <a:xfrm>
            <a:off x="5924550" y="2409825"/>
            <a:ext cx="219075" cy="2667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en-US" sz="1650">
                <a:solidFill>
                  <a:srgbClr val="B85042"/>
                </a:solidFill>
              </a:rPr>
              <a:t>→</a:t>
            </a:r>
            <a:endParaRPr/>
          </a:p>
        </p:txBody>
      </p:sp>
      <p:sp>
        <p:nvSpPr>
          <p:cNvPr id="2034" name="Google Shape;2034;p31"/>
          <p:cNvSpPr/>
          <p:nvPr/>
        </p:nvSpPr>
        <p:spPr>
          <a:xfrm>
            <a:off x="7743825" y="2409825"/>
            <a:ext cx="219075" cy="2667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en-US" sz="1650">
                <a:solidFill>
                  <a:srgbClr val="B85042"/>
                </a:solidFill>
              </a:rPr>
              <a:t>→</a:t>
            </a:r>
            <a:endParaRPr/>
          </a:p>
        </p:txBody>
      </p:sp>
      <p:sp>
        <p:nvSpPr>
          <p:cNvPr id="2035" name="Google Shape;2035;p31"/>
          <p:cNvSpPr/>
          <p:nvPr/>
        </p:nvSpPr>
        <p:spPr>
          <a:xfrm>
            <a:off x="9810750" y="1724025"/>
            <a:ext cx="1695450" cy="1514475"/>
          </a:xfrm>
          <a:prstGeom prst="roundRect">
            <a:avLst>
              <a:gd fmla="val 5031" name="adj"/>
            </a:avLst>
          </a:prstGeom>
          <a:solidFill>
            <a:srgbClr val="E8EFF9"/>
          </a:solidFill>
          <a:ln cap="flat" cmpd="sng" w="9525">
            <a:solidFill>
              <a:srgbClr val="3B6EB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36" name="Google Shape;2036;p31"/>
          <p:cNvSpPr/>
          <p:nvPr/>
        </p:nvSpPr>
        <p:spPr>
          <a:xfrm>
            <a:off x="9963150" y="1895475"/>
            <a:ext cx="1390650" cy="190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en-US" sz="713">
                <a:solidFill>
                  <a:srgbClr val="3B6EBF"/>
                </a:solidFill>
              </a:rPr>
              <a:t>PROTECTED FALLBACK</a:t>
            </a:r>
            <a:endParaRPr/>
          </a:p>
        </p:txBody>
      </p:sp>
      <p:sp>
        <p:nvSpPr>
          <p:cNvPr id="2037" name="Google Shape;2037;p31"/>
          <p:cNvSpPr/>
          <p:nvPr/>
        </p:nvSpPr>
        <p:spPr>
          <a:xfrm>
            <a:off x="9963150" y="2133600"/>
            <a:ext cx="1390650" cy="3619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en-US" sz="1875">
                <a:solidFill>
                  <a:srgbClr val="1A1A2E"/>
                </a:solidFill>
              </a:rPr>
              <a:t>v0.3.7</a:t>
            </a:r>
            <a:endParaRPr/>
          </a:p>
        </p:txBody>
      </p:sp>
      <p:sp>
        <p:nvSpPr>
          <p:cNvPr id="2038" name="Google Shape;2038;p31"/>
          <p:cNvSpPr/>
          <p:nvPr/>
        </p:nvSpPr>
        <p:spPr>
          <a:xfrm>
            <a:off x="9982200" y="2571750"/>
            <a:ext cx="1352550" cy="44767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788">
                <a:solidFill>
                  <a:srgbClr val="666B70"/>
                </a:solidFill>
              </a:rPr>
              <a:t>Exact live workflow snapshot retained unchanged for rollback.</a:t>
            </a:r>
            <a:endParaRPr/>
          </a:p>
        </p:txBody>
      </p:sp>
      <p:sp>
        <p:nvSpPr>
          <p:cNvPr id="2039" name="Google Shape;2039;p31"/>
          <p:cNvSpPr/>
          <p:nvPr/>
        </p:nvSpPr>
        <p:spPr>
          <a:xfrm>
            <a:off x="685800" y="3533775"/>
            <a:ext cx="6915150" cy="1971675"/>
          </a:xfrm>
          <a:prstGeom prst="roundRect">
            <a:avLst>
              <a:gd fmla="val 3865" name="adj"/>
            </a:avLst>
          </a:prstGeom>
          <a:solidFill>
            <a:srgbClr val="FFFFFF"/>
          </a:solidFill>
          <a:ln cap="flat" cmpd="sng" w="9525">
            <a:solidFill>
              <a:srgbClr val="DED8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0" name="Google Shape;2040;p31"/>
          <p:cNvSpPr/>
          <p:nvPr/>
        </p:nvSpPr>
        <p:spPr>
          <a:xfrm>
            <a:off x="685800" y="3533775"/>
            <a:ext cx="6915150" cy="66675"/>
          </a:xfrm>
          <a:prstGeom prst="rect">
            <a:avLst/>
          </a:prstGeom>
          <a:solidFill>
            <a:srgbClr val="3B6EBF"/>
          </a:solidFill>
          <a:ln cap="flat" cmpd="sng" w="9525">
            <a:solidFill>
              <a:srgbClr val="3B6EB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1" name="Google Shape;2041;p31"/>
          <p:cNvSpPr/>
          <p:nvPr/>
        </p:nvSpPr>
        <p:spPr>
          <a:xfrm>
            <a:off x="914400" y="3743325"/>
            <a:ext cx="2286000" cy="2095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en-US" sz="788">
                <a:solidFill>
                  <a:srgbClr val="3B6EBF"/>
                </a:solidFill>
              </a:rPr>
              <a:t>ROLLBACK RECEIPTS</a:t>
            </a:r>
            <a:endParaRPr/>
          </a:p>
        </p:txBody>
      </p:sp>
      <p:sp>
        <p:nvSpPr>
          <p:cNvPr id="2042" name="Google Shape;2042;p31"/>
          <p:cNvSpPr/>
          <p:nvPr/>
        </p:nvSpPr>
        <p:spPr>
          <a:xfrm>
            <a:off x="914400" y="3981450"/>
            <a:ext cx="6191250" cy="3238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en-US" sz="1500">
                <a:solidFill>
                  <a:srgbClr val="1A1A2E"/>
                </a:solidFill>
              </a:rPr>
              <a:t>The prior production state is recoverable—not reconstructed</a:t>
            </a:r>
            <a:endParaRPr/>
          </a:p>
        </p:txBody>
      </p:sp>
      <p:sp>
        <p:nvSpPr>
          <p:cNvPr id="2043" name="Google Shape;2043;p31"/>
          <p:cNvSpPr/>
          <p:nvPr/>
        </p:nvSpPr>
        <p:spPr>
          <a:xfrm>
            <a:off x="933450" y="4505325"/>
            <a:ext cx="114300" cy="114300"/>
          </a:xfrm>
          <a:prstGeom prst="rect">
            <a:avLst/>
          </a:prstGeom>
          <a:solidFill>
            <a:srgbClr val="3B6EBF"/>
          </a:solidFill>
          <a:ln cap="flat" cmpd="sng" w="9525">
            <a:solidFill>
              <a:srgbClr val="3B6EB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4" name="Google Shape;2044;p31"/>
          <p:cNvSpPr/>
          <p:nvPr/>
        </p:nvSpPr>
        <p:spPr>
          <a:xfrm>
            <a:off x="1152525" y="4448175"/>
            <a:ext cx="1809750" cy="2286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en-US" sz="840">
                <a:solidFill>
                  <a:srgbClr val="1A1A2E"/>
                </a:solidFill>
              </a:rPr>
              <a:t>Exact workflow snapshot</a:t>
            </a:r>
            <a:endParaRPr/>
          </a:p>
        </p:txBody>
      </p:sp>
      <p:sp>
        <p:nvSpPr>
          <p:cNvPr id="2045" name="Google Shape;2045;p31"/>
          <p:cNvSpPr/>
          <p:nvPr/>
        </p:nvSpPr>
        <p:spPr>
          <a:xfrm>
            <a:off x="3048000" y="4448175"/>
            <a:ext cx="1562100" cy="2286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en-US" sz="795">
                <a:solidFill>
                  <a:srgbClr val="3B6EBF"/>
                </a:solidFill>
              </a:rPr>
              <a:t>c5ae311</a:t>
            </a:r>
            <a:endParaRPr/>
          </a:p>
        </p:txBody>
      </p:sp>
      <p:sp>
        <p:nvSpPr>
          <p:cNvPr id="2046" name="Google Shape;2046;p31"/>
          <p:cNvSpPr/>
          <p:nvPr/>
        </p:nvSpPr>
        <p:spPr>
          <a:xfrm>
            <a:off x="4695825" y="4448175"/>
            <a:ext cx="2609850" cy="2286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765">
                <a:solidFill>
                  <a:srgbClr val="666B70"/>
                </a:solidFill>
              </a:rPr>
              <a:t>Nine v0.3.7 live-production JSON exports</a:t>
            </a:r>
            <a:endParaRPr/>
          </a:p>
        </p:txBody>
      </p:sp>
      <p:sp>
        <p:nvSpPr>
          <p:cNvPr id="2047" name="Google Shape;2047;p31"/>
          <p:cNvSpPr/>
          <p:nvPr/>
        </p:nvSpPr>
        <p:spPr>
          <a:xfrm>
            <a:off x="933450" y="4810125"/>
            <a:ext cx="114300" cy="114300"/>
          </a:xfrm>
          <a:prstGeom prst="rect">
            <a:avLst/>
          </a:prstGeom>
          <a:solidFill>
            <a:srgbClr val="3B6EBF"/>
          </a:solidFill>
          <a:ln cap="flat" cmpd="sng" w="9525">
            <a:solidFill>
              <a:srgbClr val="3B6EB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8" name="Google Shape;2048;p31"/>
          <p:cNvSpPr/>
          <p:nvPr/>
        </p:nvSpPr>
        <p:spPr>
          <a:xfrm>
            <a:off x="1152525" y="4752975"/>
            <a:ext cx="1809750" cy="2286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en-US" sz="840">
                <a:solidFill>
                  <a:srgbClr val="1A1A2E"/>
                </a:solidFill>
              </a:rPr>
              <a:t>Merged checkpoint</a:t>
            </a:r>
            <a:endParaRPr/>
          </a:p>
        </p:txBody>
      </p:sp>
      <p:sp>
        <p:nvSpPr>
          <p:cNvPr id="2049" name="Google Shape;2049;p31"/>
          <p:cNvSpPr/>
          <p:nvPr/>
        </p:nvSpPr>
        <p:spPr>
          <a:xfrm>
            <a:off x="3048000" y="4752975"/>
            <a:ext cx="1562100" cy="2286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en-US" sz="795">
                <a:solidFill>
                  <a:srgbClr val="3B6EBF"/>
                </a:solidFill>
              </a:rPr>
              <a:t>57618f6 · PR #16</a:t>
            </a:r>
            <a:endParaRPr/>
          </a:p>
        </p:txBody>
      </p:sp>
      <p:sp>
        <p:nvSpPr>
          <p:cNvPr id="2050" name="Google Shape;2050;p31"/>
          <p:cNvSpPr/>
          <p:nvPr/>
        </p:nvSpPr>
        <p:spPr>
          <a:xfrm>
            <a:off x="4695825" y="4752975"/>
            <a:ext cx="2609850" cy="2286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765">
                <a:solidFill>
                  <a:srgbClr val="666B70"/>
                </a:solidFill>
              </a:rPr>
              <a:t>Versioned evidence preserved on main</a:t>
            </a:r>
            <a:endParaRPr/>
          </a:p>
        </p:txBody>
      </p:sp>
      <p:sp>
        <p:nvSpPr>
          <p:cNvPr id="2051" name="Google Shape;2051;p31"/>
          <p:cNvSpPr/>
          <p:nvPr/>
        </p:nvSpPr>
        <p:spPr>
          <a:xfrm>
            <a:off x="933450" y="5114925"/>
            <a:ext cx="114300" cy="114300"/>
          </a:xfrm>
          <a:prstGeom prst="rect">
            <a:avLst/>
          </a:prstGeom>
          <a:solidFill>
            <a:srgbClr val="3B6EBF"/>
          </a:solidFill>
          <a:ln cap="flat" cmpd="sng" w="9525">
            <a:solidFill>
              <a:srgbClr val="3B6EB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2" name="Google Shape;2052;p31"/>
          <p:cNvSpPr/>
          <p:nvPr/>
        </p:nvSpPr>
        <p:spPr>
          <a:xfrm>
            <a:off x="1152525" y="5057775"/>
            <a:ext cx="1809750" cy="2286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en-US" sz="840">
                <a:solidFill>
                  <a:srgbClr val="1A1A2E"/>
                </a:solidFill>
              </a:rPr>
              <a:t>Protected controls</a:t>
            </a:r>
            <a:endParaRPr/>
          </a:p>
        </p:txBody>
      </p:sp>
      <p:sp>
        <p:nvSpPr>
          <p:cNvPr id="2053" name="Google Shape;2053;p31"/>
          <p:cNvSpPr/>
          <p:nvPr/>
        </p:nvSpPr>
        <p:spPr>
          <a:xfrm>
            <a:off x="3048000" y="5057775"/>
            <a:ext cx="1562100" cy="2286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en-US" sz="795">
                <a:solidFill>
                  <a:srgbClr val="3B6EBF"/>
                </a:solidFill>
              </a:rPr>
              <a:t>Manual trigger · Agreement Gate</a:t>
            </a:r>
            <a:endParaRPr/>
          </a:p>
        </p:txBody>
      </p:sp>
      <p:sp>
        <p:nvSpPr>
          <p:cNvPr id="2054" name="Google Shape;2054;p31"/>
          <p:cNvSpPr/>
          <p:nvPr/>
        </p:nvSpPr>
        <p:spPr>
          <a:xfrm>
            <a:off x="4695825" y="5057775"/>
            <a:ext cx="2609850" cy="2286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765">
                <a:solidFill>
                  <a:srgbClr val="666B70"/>
                </a:solidFill>
              </a:rPr>
              <a:t>Stable intake, approval, validator, and export</a:t>
            </a:r>
            <a:endParaRPr/>
          </a:p>
        </p:txBody>
      </p:sp>
      <p:sp>
        <p:nvSpPr>
          <p:cNvPr id="2055" name="Google Shape;2055;p31"/>
          <p:cNvSpPr/>
          <p:nvPr/>
        </p:nvSpPr>
        <p:spPr>
          <a:xfrm>
            <a:off x="7848600" y="3533775"/>
            <a:ext cx="3657600" cy="1971675"/>
          </a:xfrm>
          <a:prstGeom prst="roundRect">
            <a:avLst>
              <a:gd fmla="val 3865" name="adj"/>
            </a:avLst>
          </a:prstGeom>
          <a:solidFill>
            <a:srgbClr val="E6F0EB"/>
          </a:solidFill>
          <a:ln cap="flat" cmpd="sng" w="9525">
            <a:solidFill>
              <a:srgbClr val="2F6F5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6" name="Google Shape;2056;p31"/>
          <p:cNvSpPr/>
          <p:nvPr/>
        </p:nvSpPr>
        <p:spPr>
          <a:xfrm>
            <a:off x="8096250" y="3743325"/>
            <a:ext cx="3162300" cy="2095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en-US" sz="788">
                <a:solidFill>
                  <a:srgbClr val="2F6F57"/>
                </a:solidFill>
              </a:rPr>
              <a:t>v0.3.8 PROMOTION RECEIPTS</a:t>
            </a:r>
            <a:endParaRPr/>
          </a:p>
        </p:txBody>
      </p:sp>
      <p:sp>
        <p:nvSpPr>
          <p:cNvPr id="2057" name="Google Shape;2057;p31"/>
          <p:cNvSpPr/>
          <p:nvPr/>
        </p:nvSpPr>
        <p:spPr>
          <a:xfrm>
            <a:off x="8096250" y="4038600"/>
            <a:ext cx="3162300" cy="33337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en-US" sz="1875">
                <a:solidFill>
                  <a:srgbClr val="1A1A2E"/>
                </a:solidFill>
              </a:rPr>
              <a:t>077f77c</a:t>
            </a:r>
            <a:endParaRPr/>
          </a:p>
        </p:txBody>
      </p:sp>
      <p:sp>
        <p:nvSpPr>
          <p:cNvPr id="2058" name="Google Shape;2058;p31"/>
          <p:cNvSpPr/>
          <p:nvPr/>
        </p:nvSpPr>
        <p:spPr>
          <a:xfrm>
            <a:off x="8096250" y="4352925"/>
            <a:ext cx="3162300" cy="2095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788">
                <a:solidFill>
                  <a:srgbClr val="666B70"/>
                </a:solidFill>
              </a:rPr>
              <a:t>accepted submission package merged to main</a:t>
            </a:r>
            <a:endParaRPr/>
          </a:p>
        </p:txBody>
      </p:sp>
      <p:sp>
        <p:nvSpPr>
          <p:cNvPr id="2059" name="Google Shape;2059;p31"/>
          <p:cNvSpPr/>
          <p:nvPr/>
        </p:nvSpPr>
        <p:spPr>
          <a:xfrm>
            <a:off x="8096250" y="4676775"/>
            <a:ext cx="3162300" cy="495300"/>
          </a:xfrm>
          <a:prstGeom prst="roundRect">
            <a:avLst>
              <a:gd fmla="val 15385" name="adj"/>
            </a:avLst>
          </a:prstGeom>
          <a:solidFill>
            <a:srgbClr val="FFFFFF"/>
          </a:solidFill>
          <a:ln cap="flat" cmpd="sng" w="9525">
            <a:solidFill>
              <a:srgbClr val="2F6F5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60" name="Google Shape;2060;p31"/>
          <p:cNvSpPr/>
          <p:nvPr/>
        </p:nvSpPr>
        <p:spPr>
          <a:xfrm>
            <a:off x="8191500" y="4743450"/>
            <a:ext cx="2971800" cy="171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en-US" sz="788">
                <a:solidFill>
                  <a:srgbClr val="2F6F57"/>
                </a:solidFill>
              </a:rPr>
              <a:t>Execution 11901  ·  RUN-S2-11902-16e7090e</a:t>
            </a:r>
            <a:endParaRPr/>
          </a:p>
        </p:txBody>
      </p:sp>
      <p:sp>
        <p:nvSpPr>
          <p:cNvPr id="2061" name="Google Shape;2061;p31"/>
          <p:cNvSpPr/>
          <p:nvPr/>
        </p:nvSpPr>
        <p:spPr>
          <a:xfrm>
            <a:off x="8191500" y="4943475"/>
            <a:ext cx="2971800" cy="1619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713">
                <a:solidFill>
                  <a:srgbClr val="666B70"/>
                </a:solidFill>
              </a:rPr>
              <a:t>7 outputs  ·  11/11 sizing  ·  Release Authorized</a:t>
            </a:r>
            <a:endParaRPr/>
          </a:p>
        </p:txBody>
      </p:sp>
      <p:sp>
        <p:nvSpPr>
          <p:cNvPr id="2062" name="Google Shape;2062;p31"/>
          <p:cNvSpPr/>
          <p:nvPr/>
        </p:nvSpPr>
        <p:spPr>
          <a:xfrm>
            <a:off x="685800" y="5715000"/>
            <a:ext cx="10820400" cy="342900"/>
          </a:xfrm>
          <a:prstGeom prst="roundRect">
            <a:avLst>
              <a:gd fmla="val 22222" name="adj"/>
            </a:avLst>
          </a:prstGeom>
          <a:solidFill>
            <a:srgbClr val="E6F0EB"/>
          </a:solidFill>
          <a:ln cap="flat" cmpd="sng" w="9525">
            <a:solidFill>
              <a:srgbClr val="2F6F5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63" name="Google Shape;2063;p31"/>
          <p:cNvSpPr/>
          <p:nvPr/>
        </p:nvSpPr>
        <p:spPr>
          <a:xfrm>
            <a:off x="876300" y="5781675"/>
            <a:ext cx="10439400" cy="2095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en-US" sz="878">
                <a:solidFill>
                  <a:srgbClr val="2F6F57"/>
                </a:solidFill>
              </a:rPr>
              <a:t>Promotion is reversible because code, workflow IDs, run evidence, and the prior production checkpoint are preserved together.</a:t>
            </a:r>
            <a:endParaRPr/>
          </a:p>
        </p:txBody>
      </p:sp>
      <p:sp>
        <p:nvSpPr>
          <p:cNvPr id="2064" name="Google Shape;2064;p31"/>
          <p:cNvSpPr/>
          <p:nvPr/>
        </p:nvSpPr>
        <p:spPr>
          <a:xfrm>
            <a:off x="0" y="6267450"/>
            <a:ext cx="12192000" cy="590550"/>
          </a:xfrm>
          <a:prstGeom prst="rect">
            <a:avLst/>
          </a:prstGeom>
          <a:solidFill>
            <a:srgbClr val="1A1A2E"/>
          </a:solidFill>
          <a:ln cap="flat" cmpd="sng" w="9525">
            <a:solidFill>
              <a:srgbClr val="1A1A2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65" name="Google Shape;2065;p31"/>
          <p:cNvSpPr/>
          <p:nvPr/>
        </p:nvSpPr>
        <p:spPr>
          <a:xfrm>
            <a:off x="781050" y="6391275"/>
            <a:ext cx="1905000" cy="190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en-US" sz="825">
                <a:solidFill>
                  <a:srgbClr val="C9C6D8"/>
                </a:solidFill>
              </a:rPr>
              <a:t>APPENDIX A12</a:t>
            </a:r>
            <a:endParaRPr/>
          </a:p>
        </p:txBody>
      </p:sp>
      <p:sp>
        <p:nvSpPr>
          <p:cNvPr id="2066" name="Google Shape;2066;p31"/>
          <p:cNvSpPr/>
          <p:nvPr/>
        </p:nvSpPr>
        <p:spPr>
          <a:xfrm>
            <a:off x="2705100" y="6353175"/>
            <a:ext cx="8705850" cy="29527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en-US" sz="1050">
                <a:solidFill>
                  <a:srgbClr val="FFFFFF"/>
                </a:solidFill>
              </a:rPr>
              <a:t>Controlled promotion keeps the accepted candidate current and the last proven production state immediately recoverable.</a:t>
            </a:r>
            <a:endParaRPr/>
          </a:p>
        </p:txBody>
      </p:sp>
    </p:spTree>
  </p:cSld>
  <p:clrMapOvr>
    <a:masterClrMapping/>
  </p:clrMapOvr>
</p:sld>
</file>

<file path=ppt/theme/theme1.xml><?xml version="1.0" encoding="utf-8"?>
<a:theme xmlns:a="http://schemas.openxmlformats.org/drawingml/2006/main" xmlns:r="http://schemas.openxmlformats.org/officeDocument/2006/relationships"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